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notesSlides/notesSlide15.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Lst>
  <p:notesMasterIdLst>
    <p:notesMasterId r:id="rId93"/>
  </p:notesMasterIdLst>
  <p:sldIdLst>
    <p:sldId id="392" r:id="rId4"/>
    <p:sldId id="342" r:id="rId5"/>
    <p:sldId id="320" r:id="rId6"/>
    <p:sldId id="261" r:id="rId7"/>
    <p:sldId id="366" r:id="rId8"/>
    <p:sldId id="259" r:id="rId9"/>
    <p:sldId id="269" r:id="rId10"/>
    <p:sldId id="270" r:id="rId11"/>
    <p:sldId id="271" r:id="rId12"/>
    <p:sldId id="272" r:id="rId13"/>
    <p:sldId id="273" r:id="rId14"/>
    <p:sldId id="274" r:id="rId15"/>
    <p:sldId id="311" r:id="rId16"/>
    <p:sldId id="319" r:id="rId17"/>
    <p:sldId id="313" r:id="rId18"/>
    <p:sldId id="275" r:id="rId19"/>
    <p:sldId id="276" r:id="rId20"/>
    <p:sldId id="277" r:id="rId21"/>
    <p:sldId id="339" r:id="rId22"/>
    <p:sldId id="278" r:id="rId23"/>
    <p:sldId id="279" r:id="rId24"/>
    <p:sldId id="380" r:id="rId25"/>
    <p:sldId id="314" r:id="rId26"/>
    <p:sldId id="359" r:id="rId27"/>
    <p:sldId id="280" r:id="rId28"/>
    <p:sldId id="281" r:id="rId29"/>
    <p:sldId id="296" r:id="rId30"/>
    <p:sldId id="326" r:id="rId31"/>
    <p:sldId id="297" r:id="rId32"/>
    <p:sldId id="298" r:id="rId33"/>
    <p:sldId id="299" r:id="rId34"/>
    <p:sldId id="300" r:id="rId35"/>
    <p:sldId id="324" r:id="rId36"/>
    <p:sldId id="332" r:id="rId37"/>
    <p:sldId id="301" r:id="rId38"/>
    <p:sldId id="302" r:id="rId39"/>
    <p:sldId id="303" r:id="rId40"/>
    <p:sldId id="335" r:id="rId41"/>
    <p:sldId id="330" r:id="rId42"/>
    <p:sldId id="376" r:id="rId43"/>
    <p:sldId id="336" r:id="rId44"/>
    <p:sldId id="312" r:id="rId45"/>
    <p:sldId id="334" r:id="rId46"/>
    <p:sldId id="360" r:id="rId47"/>
    <p:sldId id="377" r:id="rId48"/>
    <p:sldId id="284" r:id="rId49"/>
    <p:sldId id="341" r:id="rId50"/>
    <p:sldId id="340" r:id="rId51"/>
    <p:sldId id="285" r:id="rId52"/>
    <p:sldId id="286" r:id="rId53"/>
    <p:sldId id="288" r:id="rId54"/>
    <p:sldId id="289" r:id="rId55"/>
    <p:sldId id="290" r:id="rId56"/>
    <p:sldId id="309" r:id="rId57"/>
    <p:sldId id="331" r:id="rId58"/>
    <p:sldId id="294" r:id="rId59"/>
    <p:sldId id="371" r:id="rId60"/>
    <p:sldId id="345" r:id="rId61"/>
    <p:sldId id="361" r:id="rId62"/>
    <p:sldId id="441" r:id="rId63"/>
    <p:sldId id="442" r:id="rId64"/>
    <p:sldId id="443" r:id="rId65"/>
    <p:sldId id="444" r:id="rId66"/>
    <p:sldId id="445" r:id="rId67"/>
    <p:sldId id="446" r:id="rId68"/>
    <p:sldId id="447" r:id="rId69"/>
    <p:sldId id="448" r:id="rId70"/>
    <p:sldId id="321" r:id="rId71"/>
    <p:sldId id="370" r:id="rId72"/>
    <p:sldId id="372" r:id="rId73"/>
    <p:sldId id="373" r:id="rId74"/>
    <p:sldId id="378" r:id="rId75"/>
    <p:sldId id="374" r:id="rId76"/>
    <p:sldId id="375" r:id="rId77"/>
    <p:sldId id="379" r:id="rId78"/>
    <p:sldId id="440" r:id="rId79"/>
    <p:sldId id="266" r:id="rId80"/>
    <p:sldId id="316" r:id="rId81"/>
    <p:sldId id="347" r:id="rId82"/>
    <p:sldId id="325" r:id="rId83"/>
    <p:sldId id="351" r:id="rId84"/>
    <p:sldId id="367" r:id="rId85"/>
    <p:sldId id="369" r:id="rId86"/>
    <p:sldId id="349" r:id="rId87"/>
    <p:sldId id="343" r:id="rId88"/>
    <p:sldId id="267" r:id="rId89"/>
    <p:sldId id="357" r:id="rId90"/>
    <p:sldId id="352" r:id="rId91"/>
    <p:sldId id="295" r:id="rId9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003366"/>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845" autoAdjust="0"/>
    <p:restoredTop sz="79005" autoAdjust="0"/>
  </p:normalViewPr>
  <p:slideViewPr>
    <p:cSldViewPr snapToGrid="0">
      <p:cViewPr varScale="1">
        <p:scale>
          <a:sx n="74" d="100"/>
          <a:sy n="74" d="100"/>
        </p:scale>
        <p:origin x="1378" y="67"/>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viewProps" Target="viewProps.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tableStyles" Target="tableStyles.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A0351D-DC77-A845-815A-CA7E3B427425}" type="datetimeFigureOut">
              <a:rPr kumimoji="1" lang="zh-CN" altLang="en-US" smtClean="0"/>
              <a:t>2026/4/26</a:t>
            </a:fld>
            <a:endParaRPr kumimoji="1"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0BE021-5935-B145-90F5-A16BFE31A5F5}"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zh-CN" altLang="en-US" dirty="0"/>
              <a:t>****补充使用这些类的客户代码：</a:t>
            </a:r>
          </a:p>
          <a:p>
            <a:endParaRPr kumimoji="1" lang="zh-CN" altLang="en-US" dirty="0"/>
          </a:p>
        </p:txBody>
      </p:sp>
      <p:sp>
        <p:nvSpPr>
          <p:cNvPr id="4" name="幻灯片编号占位符 3"/>
          <p:cNvSpPr>
            <a:spLocks noGrp="1"/>
          </p:cNvSpPr>
          <p:nvPr>
            <p:ph type="sldNum" sz="quarter" idx="10"/>
          </p:nvPr>
        </p:nvSpPr>
        <p:spPr/>
        <p:txBody>
          <a:bodyPr/>
          <a:lstStyle/>
          <a:p>
            <a:fld id="{0F0BE021-5935-B145-90F5-A16BFE31A5F5}" type="slidenum">
              <a:rPr kumimoji="1" lang="zh-CN" altLang="en-US" smtClean="0"/>
              <a:t>4</a:t>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zh-CN" altLang="en-US" dirty="0"/>
              <a:t>****补充使用这些类的客户代码：</a:t>
            </a:r>
          </a:p>
          <a:p>
            <a:endParaRPr kumimoji="1" lang="zh-CN" altLang="en-US" dirty="0"/>
          </a:p>
        </p:txBody>
      </p:sp>
      <p:sp>
        <p:nvSpPr>
          <p:cNvPr id="4" name="幻灯片编号占位符 3"/>
          <p:cNvSpPr>
            <a:spLocks noGrp="1"/>
          </p:cNvSpPr>
          <p:nvPr>
            <p:ph type="sldNum" sz="quarter" idx="10"/>
          </p:nvPr>
        </p:nvSpPr>
        <p:spPr/>
        <p:txBody>
          <a:bodyPr/>
          <a:lstStyle/>
          <a:p>
            <a:fld id="{0F0BE021-5935-B145-90F5-A16BFE31A5F5}" type="slidenum">
              <a:rPr kumimoji="1" lang="zh-CN" altLang="en-US" smtClean="0"/>
              <a:t>5</a:t>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这一页要表达的</a:t>
            </a:r>
            <a:r>
              <a:rPr kumimoji="1" lang="en-US" altLang="zh-CN" dirty="0"/>
              <a:t>point</a:t>
            </a:r>
            <a:r>
              <a:rPr kumimoji="1" lang="zh-CN" altLang="en-US" dirty="0"/>
              <a:t>是什么？</a:t>
            </a:r>
          </a:p>
        </p:txBody>
      </p:sp>
      <p:sp>
        <p:nvSpPr>
          <p:cNvPr id="4" name="幻灯片编号占位符 3"/>
          <p:cNvSpPr>
            <a:spLocks noGrp="1"/>
          </p:cNvSpPr>
          <p:nvPr>
            <p:ph type="sldNum" sz="quarter" idx="10"/>
          </p:nvPr>
        </p:nvSpPr>
        <p:spPr/>
        <p:txBody>
          <a:bodyPr/>
          <a:lstStyle/>
          <a:p>
            <a:fld id="{0F0BE021-5935-B145-90F5-A16BFE31A5F5}" type="slidenum">
              <a:rPr kumimoji="1" lang="zh-CN" altLang="en-US" smtClean="0"/>
              <a:t>13</a:t>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红色部分是我们课程涉及的内容</a:t>
            </a:r>
          </a:p>
        </p:txBody>
      </p:sp>
      <p:sp>
        <p:nvSpPr>
          <p:cNvPr id="4" name="灯片编号占位符 3"/>
          <p:cNvSpPr>
            <a:spLocks noGrp="1"/>
          </p:cNvSpPr>
          <p:nvPr>
            <p:ph type="sldNum" sz="quarter" idx="5"/>
          </p:nvPr>
        </p:nvSpPr>
        <p:spPr/>
        <p:txBody>
          <a:bodyPr/>
          <a:lstStyle/>
          <a:p>
            <a:fld id="{0F0BE021-5935-B145-90F5-A16BFE31A5F5}" type="slidenum">
              <a:rPr kumimoji="1" lang="zh-CN" altLang="en-US" smtClean="0"/>
              <a:t>15</a:t>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删除：</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创建：</a:t>
            </a:r>
            <a:r>
              <a:rPr lang="en-US" altLang="zh-CN" b="1" kern="100" dirty="0" err="1">
                <a:latin typeface="Consolas" panose="020B0609020204030204" pitchFamily="49" charset="0"/>
                <a:ea typeface="华文楷体" panose="02010600040101010101" pitchFamily="2" charset="-122"/>
                <a:cs typeface="STKaiti" panose="02010600040101010101" charset="-122"/>
              </a:rPr>
              <a:t>forward_as_tuple</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函数</a:t>
            </a:r>
            <a:r>
              <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返回右值引用的元组</a:t>
            </a:r>
            <a:endParaRPr kumimoji="1" lang="zh-CN" altLang="en-US" dirty="0"/>
          </a:p>
        </p:txBody>
      </p:sp>
      <p:sp>
        <p:nvSpPr>
          <p:cNvPr id="4" name="幻灯片编号占位符 3"/>
          <p:cNvSpPr>
            <a:spLocks noGrp="1"/>
          </p:cNvSpPr>
          <p:nvPr>
            <p:ph type="sldNum" sz="quarter" idx="10"/>
          </p:nvPr>
        </p:nvSpPr>
        <p:spPr/>
        <p:txBody>
          <a:bodyPr/>
          <a:lstStyle/>
          <a:p>
            <a:fld id="{0F0BE021-5935-B145-90F5-A16BFE31A5F5}" type="slidenum">
              <a:rPr kumimoji="1" lang="zh-CN" altLang="en-US" smtClean="0"/>
              <a:t>21</a:t>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0F0BE021-5935-B145-90F5-A16BFE31A5F5}" type="slidenum">
              <a:rPr kumimoji="1" lang="zh-CN" altLang="en-US" smtClean="0"/>
              <a:t>23</a:t>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解析：</a:t>
            </a:r>
            <a:r>
              <a:rPr kumimoji="1" lang="en-US" altLang="zh-CN" dirty="0"/>
              <a:t>Tuple</a:t>
            </a:r>
            <a:r>
              <a:rPr kumimoji="1" lang="zh-CN" altLang="en-US" dirty="0"/>
              <a:t>长度只在编译时确定，</a:t>
            </a:r>
            <a:r>
              <a:rPr kumimoji="1" lang="en-US" altLang="zh-CN" dirty="0"/>
              <a:t>pair</a:t>
            </a:r>
            <a:r>
              <a:rPr kumimoji="1" lang="zh-CN" altLang="en-US" dirty="0"/>
              <a:t>两成员类型可以不同</a:t>
            </a:r>
          </a:p>
        </p:txBody>
      </p:sp>
      <p:sp>
        <p:nvSpPr>
          <p:cNvPr id="4" name="灯片编号占位符 3"/>
          <p:cNvSpPr>
            <a:spLocks noGrp="1"/>
          </p:cNvSpPr>
          <p:nvPr>
            <p:ph type="sldNum" sz="quarter" idx="5"/>
          </p:nvPr>
        </p:nvSpPr>
        <p:spPr/>
        <p:txBody>
          <a:bodyPr/>
          <a:lstStyle/>
          <a:p>
            <a:fld id="{0F0BE021-5935-B145-90F5-A16BFE31A5F5}" type="slidenum">
              <a:rPr kumimoji="1" lang="zh-CN" altLang="en-US" smtClean="0"/>
              <a:t>24</a:t>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左值引用：可以取地址</a:t>
            </a:r>
          </a:p>
        </p:txBody>
      </p:sp>
      <p:sp>
        <p:nvSpPr>
          <p:cNvPr id="4" name="幻灯片编号占位符 3"/>
          <p:cNvSpPr>
            <a:spLocks noGrp="1"/>
          </p:cNvSpPr>
          <p:nvPr>
            <p:ph type="sldNum" sz="quarter" idx="10"/>
          </p:nvPr>
        </p:nvSpPr>
        <p:spPr/>
        <p:txBody>
          <a:bodyPr/>
          <a:lstStyle/>
          <a:p>
            <a:fld id="{0F0BE021-5935-B145-90F5-A16BFE31A5F5}" type="slidenum">
              <a:rPr kumimoji="1" lang="zh-CN" altLang="en-US" smtClean="0"/>
              <a:t>30</a:t>
            </a:fld>
            <a:endParaRPr kumimoji="1"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F0BE021-5935-B145-90F5-A16BFE31A5F5}" type="slidenum">
              <a:rPr kumimoji="1" lang="zh-CN" altLang="en-US" smtClean="0"/>
              <a:t>33</a:t>
            </a:fld>
            <a:endParaRPr kumimoji="1"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err="1"/>
              <a:t>Push_back</a:t>
            </a:r>
            <a:r>
              <a:rPr kumimoji="1" lang="zh-CN" altLang="en-US" dirty="0"/>
              <a:t>到了一定程度之后，可能会造成数组的整体移动，导致所有的内存地址发生改变。</a:t>
            </a:r>
          </a:p>
        </p:txBody>
      </p:sp>
      <p:sp>
        <p:nvSpPr>
          <p:cNvPr id="4" name="幻灯片编号占位符 3"/>
          <p:cNvSpPr>
            <a:spLocks noGrp="1"/>
          </p:cNvSpPr>
          <p:nvPr>
            <p:ph type="sldNum" sz="quarter" idx="10"/>
          </p:nvPr>
        </p:nvSpPr>
        <p:spPr/>
        <p:txBody>
          <a:bodyPr/>
          <a:lstStyle/>
          <a:p>
            <a:fld id="{0F0BE021-5935-B145-90F5-A16BFE31A5F5}" type="slidenum">
              <a:rPr kumimoji="1" lang="zh-CN" altLang="en-US" smtClean="0"/>
              <a:t>36</a:t>
            </a:fld>
            <a:endParaRPr kumimoji="1"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0F0BE021-5935-B145-90F5-A16BFE31A5F5}" type="slidenum">
              <a:rPr kumimoji="1" lang="zh-CN" altLang="en-US" smtClean="0"/>
              <a:t>43</a:t>
            </a:fld>
            <a:endParaRPr kumimoji="1"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解析：</a:t>
            </a:r>
            <a:r>
              <a:rPr kumimoji="1" lang="en-US" altLang="zh-CN" dirty="0" err="1"/>
              <a:t>vec.end</a:t>
            </a:r>
            <a:r>
              <a:rPr kumimoji="1" lang="en-US" altLang="zh-CN" dirty="0"/>
              <a:t>()</a:t>
            </a:r>
            <a:r>
              <a:rPr kumimoji="1" lang="zh-CN" altLang="en-US" dirty="0"/>
              <a:t>为最后一个元素之后一位置的迭代器</a:t>
            </a:r>
            <a:endParaRPr kumimoji="1" lang="en-US" altLang="zh-CN" dirty="0"/>
          </a:p>
          <a:p>
            <a:r>
              <a:rPr kumimoji="1" lang="en-US" altLang="zh-CN" dirty="0"/>
              <a:t>【A】</a:t>
            </a:r>
            <a:r>
              <a:rPr kumimoji="1" lang="zh-CN" altLang="en-US" dirty="0"/>
              <a:t>注意，</a:t>
            </a:r>
            <a:r>
              <a:rPr kumimoji="1" lang="en-US" altLang="zh-CN" dirty="0"/>
              <a:t>A</a:t>
            </a:r>
            <a:r>
              <a:rPr kumimoji="1" lang="zh-CN" altLang="en-US" dirty="0"/>
              <a:t>答案</a:t>
            </a:r>
            <a:r>
              <a:rPr kumimoji="1" lang="zh-CN" altLang="en-US"/>
              <a:t>是错的。</a:t>
            </a:r>
            <a:endParaRPr kumimoji="1" lang="zh-CN" altLang="en-US" dirty="0"/>
          </a:p>
        </p:txBody>
      </p:sp>
      <p:sp>
        <p:nvSpPr>
          <p:cNvPr id="4" name="灯片编号占位符 3"/>
          <p:cNvSpPr>
            <a:spLocks noGrp="1"/>
          </p:cNvSpPr>
          <p:nvPr>
            <p:ph type="sldNum" sz="quarter" idx="5"/>
          </p:nvPr>
        </p:nvSpPr>
        <p:spPr/>
        <p:txBody>
          <a:bodyPr/>
          <a:lstStyle/>
          <a:p>
            <a:fld id="{0F0BE021-5935-B145-90F5-A16BFE31A5F5}" type="slidenum">
              <a:rPr kumimoji="1" lang="zh-CN" altLang="en-US" smtClean="0"/>
              <a:t>44</a:t>
            </a:fld>
            <a:endParaRPr kumimoji="1"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函数对象：</a:t>
            </a:r>
            <a:endParaRPr kumimoji="1" lang="en-US" altLang="zh-CN" dirty="0"/>
          </a:p>
          <a:p>
            <a:r>
              <a:rPr lang="en-US" altLang="zh-CN" sz="1200" b="0" i="0" kern="1200" dirty="0">
                <a:solidFill>
                  <a:schemeClr val="tx1"/>
                </a:solidFill>
                <a:effectLst/>
                <a:latin typeface="+mn-lt"/>
                <a:ea typeface="+mn-ea"/>
                <a:cs typeface="+mn-cs"/>
              </a:rPr>
              <a:t>class Compare</a:t>
            </a:r>
          </a:p>
          <a:p>
            <a:r>
              <a:rPr lang="en-US" altLang="zh-CN" sz="1200" b="0" i="0" kern="1200" dirty="0">
                <a:solidFill>
                  <a:schemeClr val="tx1"/>
                </a:solidFill>
                <a:effectLst/>
                <a:latin typeface="+mn-lt"/>
                <a:ea typeface="+mn-ea"/>
                <a:cs typeface="+mn-cs"/>
              </a:rPr>
              <a:t>{</a:t>
            </a:r>
          </a:p>
          <a:p>
            <a:r>
              <a:rPr lang="en-US" altLang="zh-CN" sz="1200" b="0" i="0" kern="1200" dirty="0">
                <a:solidFill>
                  <a:schemeClr val="tx1"/>
                </a:solidFill>
                <a:effectLst/>
                <a:latin typeface="+mn-lt"/>
                <a:ea typeface="+mn-ea"/>
                <a:cs typeface="+mn-cs"/>
              </a:rPr>
              <a:t>public:</a:t>
            </a:r>
          </a:p>
          <a:p>
            <a:r>
              <a:rPr lang="en-US" altLang="zh-CN" sz="1200" b="0" i="0" kern="1200" dirty="0">
                <a:solidFill>
                  <a:schemeClr val="tx1"/>
                </a:solidFill>
                <a:effectLst/>
                <a:latin typeface="+mn-lt"/>
                <a:ea typeface="+mn-ea"/>
                <a:cs typeface="+mn-cs"/>
              </a:rPr>
              <a:t>bool operator() (</a:t>
            </a:r>
            <a:r>
              <a:rPr lang="en-US" altLang="zh-CN" sz="1200" b="0" i="0" kern="1200" dirty="0" err="1">
                <a:solidFill>
                  <a:schemeClr val="tx1"/>
                </a:solidFill>
                <a:effectLst/>
                <a:latin typeface="+mn-lt"/>
                <a:ea typeface="+mn-ea"/>
                <a:cs typeface="+mn-cs"/>
              </a:rPr>
              <a:t>const</a:t>
            </a:r>
            <a:r>
              <a:rPr lang="en-US" altLang="zh-CN" sz="1200" b="0" i="0" kern="1200" dirty="0">
                <a:solidFill>
                  <a:schemeClr val="tx1"/>
                </a:solidFill>
                <a:effectLst/>
                <a:latin typeface="+mn-lt"/>
                <a:ea typeface="+mn-ea"/>
                <a:cs typeface="+mn-cs"/>
              </a:rPr>
              <a:t> string &amp;str1, </a:t>
            </a:r>
            <a:r>
              <a:rPr lang="en-US" altLang="zh-CN" sz="1200" b="0" i="0" kern="1200" dirty="0" err="1">
                <a:solidFill>
                  <a:schemeClr val="tx1"/>
                </a:solidFill>
                <a:effectLst/>
                <a:latin typeface="+mn-lt"/>
                <a:ea typeface="+mn-ea"/>
                <a:cs typeface="+mn-cs"/>
              </a:rPr>
              <a:t>const</a:t>
            </a:r>
            <a:r>
              <a:rPr lang="en-US" altLang="zh-CN" sz="1200" b="0" i="0" kern="1200" dirty="0">
                <a:solidFill>
                  <a:schemeClr val="tx1"/>
                </a:solidFill>
                <a:effectLst/>
                <a:latin typeface="+mn-lt"/>
                <a:ea typeface="+mn-ea"/>
                <a:cs typeface="+mn-cs"/>
              </a:rPr>
              <a:t> string &amp;str2) </a:t>
            </a:r>
            <a:r>
              <a:rPr lang="en-US" altLang="zh-CN" sz="1200" b="0" i="0" kern="1200" dirty="0" err="1">
                <a:solidFill>
                  <a:schemeClr val="tx1"/>
                </a:solidFill>
                <a:effectLst/>
                <a:latin typeface="+mn-lt"/>
                <a:ea typeface="+mn-ea"/>
                <a:cs typeface="+mn-cs"/>
              </a:rPr>
              <a:t>const</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a:t>
            </a:r>
          </a:p>
          <a:p>
            <a:r>
              <a:rPr lang="en-US" altLang="zh-CN" sz="1200" b="0" i="0" kern="1200" dirty="0">
                <a:solidFill>
                  <a:schemeClr val="tx1"/>
                </a:solidFill>
                <a:effectLst/>
                <a:latin typeface="+mn-lt"/>
                <a:ea typeface="+mn-ea"/>
                <a:cs typeface="+mn-cs"/>
              </a:rPr>
              <a:t>return str1 &gt; str2;</a:t>
            </a:r>
          </a:p>
          <a:p>
            <a:r>
              <a:rPr lang="en-US" altLang="zh-CN" sz="1200" b="0" i="0" kern="1200" dirty="0">
                <a:solidFill>
                  <a:schemeClr val="tx1"/>
                </a:solidFill>
                <a:effectLst/>
                <a:latin typeface="+mn-lt"/>
                <a:ea typeface="+mn-ea"/>
                <a:cs typeface="+mn-cs"/>
              </a:rPr>
              <a:t>}</a:t>
            </a:r>
          </a:p>
          <a:p>
            <a:r>
              <a:rPr lang="en-US" altLang="zh-CN" sz="1200" b="0" i="0" kern="1200" dirty="0">
                <a:solidFill>
                  <a:schemeClr val="tx1"/>
                </a:solidFill>
                <a:effectLst/>
                <a:latin typeface="+mn-lt"/>
                <a:ea typeface="+mn-ea"/>
                <a:cs typeface="+mn-cs"/>
              </a:rPr>
              <a:t>};</a:t>
            </a:r>
          </a:p>
        </p:txBody>
      </p:sp>
      <p:sp>
        <p:nvSpPr>
          <p:cNvPr id="4" name="灯片编号占位符 3"/>
          <p:cNvSpPr>
            <a:spLocks noGrp="1"/>
          </p:cNvSpPr>
          <p:nvPr>
            <p:ph type="sldNum" sz="quarter" idx="5"/>
          </p:nvPr>
        </p:nvSpPr>
        <p:spPr/>
        <p:txBody>
          <a:bodyPr/>
          <a:lstStyle/>
          <a:p>
            <a:fld id="{0F0BE021-5935-B145-90F5-A16BFE31A5F5}" type="slidenum">
              <a:rPr kumimoji="1" lang="zh-CN" altLang="en-US" smtClean="0"/>
              <a:t>49</a:t>
            </a:fld>
            <a:endParaRPr kumimoji="1"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多数操作复杂度为</a:t>
            </a:r>
            <a:r>
              <a:rPr lang="en-US" altLang="zh-CN" dirty="0"/>
              <a:t>O(</a:t>
            </a:r>
            <a:r>
              <a:rPr lang="en-US" altLang="zh-CN" dirty="0" err="1"/>
              <a:t>logn</a:t>
            </a:r>
            <a:r>
              <a:rPr lang="en-US" altLang="zh-CN" dirty="0"/>
              <a:t>)</a:t>
            </a:r>
            <a:endParaRPr lang="zh-CN" altLang="en-US" dirty="0"/>
          </a:p>
        </p:txBody>
      </p:sp>
      <p:sp>
        <p:nvSpPr>
          <p:cNvPr id="4" name="灯片编号占位符 3"/>
          <p:cNvSpPr>
            <a:spLocks noGrp="1"/>
          </p:cNvSpPr>
          <p:nvPr>
            <p:ph type="sldNum" sz="quarter" idx="10"/>
          </p:nvPr>
        </p:nvSpPr>
        <p:spPr/>
        <p:txBody>
          <a:bodyPr/>
          <a:lstStyle/>
          <a:p>
            <a:fld id="{0F0BE021-5935-B145-90F5-A16BFE31A5F5}" type="slidenum">
              <a:rPr kumimoji="1" lang="zh-CN" altLang="en-US" smtClean="0"/>
              <a:t>50</a:t>
            </a:fld>
            <a:endParaRPr kumimoji="1"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解析：</a:t>
            </a:r>
            <a:r>
              <a:rPr kumimoji="1" lang="en-US" altLang="zh-CN" dirty="0"/>
              <a:t>list</a:t>
            </a:r>
            <a:r>
              <a:rPr lang="zh-CN" altLang="en-US" b="1" kern="100" dirty="0">
                <a:solidFill>
                  <a:srgbClr val="003366"/>
                </a:solidFill>
                <a:latin typeface="华文楷体" panose="02010600040101010101" pitchFamily="2" charset="-122"/>
                <a:ea typeface="华文楷体" panose="02010600040101010101" pitchFamily="2" charset="-122"/>
              </a:rPr>
              <a:t>底层实现是</a:t>
            </a:r>
            <a:r>
              <a:rPr lang="zh-CN" altLang="en-US" b="1" kern="100" dirty="0">
                <a:solidFill>
                  <a:srgbClr val="FF0000"/>
                </a:solidFill>
                <a:latin typeface="华文楷体" panose="02010600040101010101" pitchFamily="2" charset="-122"/>
                <a:ea typeface="华文楷体" panose="02010600040101010101" pitchFamily="2" charset="-122"/>
              </a:rPr>
              <a:t>双向链表，下标访问复杂度为</a:t>
            </a:r>
            <a:r>
              <a:rPr lang="en-US" altLang="zh-CN" b="1" kern="100" dirty="0">
                <a:solidFill>
                  <a:srgbClr val="FF0000"/>
                </a:solidFill>
                <a:latin typeface="华文楷体" panose="02010600040101010101" pitchFamily="2" charset="-122"/>
                <a:ea typeface="华文楷体" panose="02010600040101010101" pitchFamily="2" charset="-122"/>
              </a:rPr>
              <a:t>O(n)</a:t>
            </a:r>
            <a:r>
              <a:rPr lang="zh-CN" altLang="en-US" b="1" kern="100" dirty="0">
                <a:solidFill>
                  <a:srgbClr val="FF0000"/>
                </a:solidFill>
                <a:latin typeface="华文楷体" panose="02010600040101010101" pitchFamily="2" charset="-122"/>
                <a:ea typeface="华文楷体" panose="02010600040101010101" pitchFamily="2" charset="-122"/>
              </a:rPr>
              <a:t>，</a:t>
            </a:r>
            <a:r>
              <a:rPr lang="en-US" altLang="zh-CN" b="1" kern="100" dirty="0">
                <a:solidFill>
                  <a:srgbClr val="FF0000"/>
                </a:solidFill>
                <a:latin typeface="华文楷体" panose="02010600040101010101" pitchFamily="2" charset="-122"/>
                <a:ea typeface="华文楷体" panose="02010600040101010101" pitchFamily="2" charset="-122"/>
              </a:rPr>
              <a:t>map</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下标访问时如果元素不存在，则创建对应元素。</a:t>
            </a:r>
            <a:endParaRPr kumimoji="1" lang="zh-CN" altLang="en-US" dirty="0"/>
          </a:p>
        </p:txBody>
      </p:sp>
      <p:sp>
        <p:nvSpPr>
          <p:cNvPr id="4" name="灯片编号占位符 3"/>
          <p:cNvSpPr>
            <a:spLocks noGrp="1"/>
          </p:cNvSpPr>
          <p:nvPr>
            <p:ph type="sldNum" sz="quarter" idx="5"/>
          </p:nvPr>
        </p:nvSpPr>
        <p:spPr/>
        <p:txBody>
          <a:bodyPr/>
          <a:lstStyle/>
          <a:p>
            <a:fld id="{0F0BE021-5935-B145-90F5-A16BFE31A5F5}" type="slidenum">
              <a:rPr kumimoji="1" lang="zh-CN" altLang="en-US" smtClean="0"/>
              <a:t>58</a:t>
            </a:fld>
            <a:endParaRPr kumimoji="1"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解析：</a:t>
            </a:r>
            <a:r>
              <a:rPr kumimoji="1" lang="en-US" altLang="zh-CN" dirty="0"/>
              <a:t>list</a:t>
            </a:r>
            <a:r>
              <a:rPr kumimoji="1" lang="zh-CN" altLang="en-US" dirty="0"/>
              <a:t>下标访问复杂度为</a:t>
            </a:r>
            <a:r>
              <a:rPr kumimoji="1" lang="en-US" altLang="zh-CN" dirty="0"/>
              <a:t>O(n)</a:t>
            </a:r>
            <a:r>
              <a:rPr kumimoji="1" lang="zh-CN" altLang="en-US" dirty="0"/>
              <a:t>，</a:t>
            </a:r>
            <a:r>
              <a:rPr kumimoji="1" lang="en-US" altLang="zh-CN" dirty="0"/>
              <a:t>vector</a:t>
            </a:r>
            <a:r>
              <a:rPr kumimoji="1" lang="zh-CN" altLang="en-US" dirty="0"/>
              <a:t>插入删除复杂度为</a:t>
            </a:r>
            <a:r>
              <a:rPr kumimoji="1" lang="en-US" altLang="zh-CN" dirty="0"/>
              <a:t>O(n)</a:t>
            </a:r>
            <a:r>
              <a:rPr kumimoji="1" lang="zh-CN" altLang="en-US" dirty="0"/>
              <a:t>，</a:t>
            </a:r>
            <a:r>
              <a:rPr kumimoji="1" lang="en-US" altLang="zh-CN" dirty="0"/>
              <a:t>vector</a:t>
            </a:r>
            <a:r>
              <a:rPr kumimoji="1" lang="zh-CN" altLang="en-US" dirty="0"/>
              <a:t>尾部插入平均复杂度为</a:t>
            </a:r>
            <a:r>
              <a:rPr kumimoji="1" lang="en-US" altLang="zh-CN" dirty="0"/>
              <a:t>O(1)</a:t>
            </a:r>
            <a:r>
              <a:rPr kumimoji="1" lang="zh-CN" altLang="en-US" dirty="0"/>
              <a:t>，头部为</a:t>
            </a:r>
            <a:r>
              <a:rPr kumimoji="1" lang="en-US" altLang="zh-CN" dirty="0"/>
              <a:t>O(n)</a:t>
            </a:r>
            <a:endParaRPr kumimoji="1" lang="zh-CN" altLang="en-US" dirty="0"/>
          </a:p>
        </p:txBody>
      </p:sp>
      <p:sp>
        <p:nvSpPr>
          <p:cNvPr id="4" name="灯片编号占位符 3"/>
          <p:cNvSpPr>
            <a:spLocks noGrp="1"/>
          </p:cNvSpPr>
          <p:nvPr>
            <p:ph type="sldNum" sz="quarter" idx="5"/>
          </p:nvPr>
        </p:nvSpPr>
        <p:spPr/>
        <p:txBody>
          <a:bodyPr/>
          <a:lstStyle/>
          <a:p>
            <a:fld id="{0F0BE021-5935-B145-90F5-A16BFE31A5F5}" type="slidenum">
              <a:rPr kumimoji="1" lang="zh-CN" altLang="en-US" smtClean="0"/>
              <a:t>59</a:t>
            </a:fld>
            <a:endParaRPr kumimoji="1"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Vector&lt;char&gt;</a:t>
            </a:r>
            <a:r>
              <a:rPr kumimoji="1" lang="zh-CN" altLang="en-US" dirty="0"/>
              <a:t>使用上很不方便，</a:t>
            </a:r>
            <a:r>
              <a:rPr kumimoji="1" lang="zh-CN" altLang="en-US" dirty="0">
                <a:sym typeface="+mn-ea"/>
              </a:rPr>
              <a:t>性能不如</a:t>
            </a:r>
            <a:r>
              <a:rPr kumimoji="1" lang="en-US" altLang="zh-CN" dirty="0">
                <a:sym typeface="+mn-ea"/>
              </a:rPr>
              <a:t>string</a:t>
            </a:r>
            <a:r>
              <a:rPr kumimoji="1" lang="zh-CN" altLang="en-US" dirty="0">
                <a:sym typeface="+mn-ea"/>
              </a:rPr>
              <a:t>，同时还涉及内存管理的问题</a:t>
            </a:r>
            <a:endParaRPr kumimoji="1" lang="zh-CN" altLang="en-US" dirty="0"/>
          </a:p>
          <a:p>
            <a:endParaRPr kumimoji="1" lang="zh-CN" altLang="en-US" dirty="0"/>
          </a:p>
        </p:txBody>
      </p:sp>
      <p:sp>
        <p:nvSpPr>
          <p:cNvPr id="4" name="幻灯片编号占位符 3"/>
          <p:cNvSpPr>
            <a:spLocks noGrp="1"/>
          </p:cNvSpPr>
          <p:nvPr>
            <p:ph type="sldNum" sz="quarter" idx="10"/>
          </p:nvPr>
        </p:nvSpPr>
        <p:spPr/>
        <p:txBody>
          <a:bodyPr/>
          <a:lstStyle/>
          <a:p>
            <a:pPr>
              <a:defRPr/>
            </a:pPr>
            <a:fld id="{3C31A4FB-AB0B-4200-BC82-17C94E69ADE4}" type="slidenum">
              <a:rPr lang="en-US" altLang="zh-CN" smtClean="0"/>
              <a:t>61</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通过cin输入不可能得到空字符串，需要读取空格要用</a:t>
            </a:r>
            <a:r>
              <a:rPr lang="en-US" altLang="zh-CN" dirty="0" err="1">
                <a:sym typeface="+mn-ea"/>
              </a:rPr>
              <a:t>getline</a:t>
            </a:r>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Why?</a:t>
            </a:r>
            <a:r>
              <a:rPr kumimoji="1" lang="zh-CN" altLang="en-US" dirty="0"/>
              <a:t> </a:t>
            </a:r>
            <a:r>
              <a:rPr kumimoji="1" lang="en-US" altLang="zh-CN" dirty="0"/>
              <a:t>---</a:t>
            </a:r>
            <a:r>
              <a:rPr kumimoji="1" lang="zh-CN" altLang="en-US" dirty="0"/>
              <a:t>每次要移动</a:t>
            </a:r>
            <a:r>
              <a:rPr kumimoji="1" lang="en-US" altLang="zh-CN" dirty="0" err="1"/>
              <a:t>allname</a:t>
            </a:r>
            <a:r>
              <a:rPr kumimoji="1" lang="zh-CN" altLang="en-US" dirty="0"/>
              <a:t>中的内容</a:t>
            </a:r>
            <a:endParaRPr kumimoji="1" lang="en-US" altLang="zh-CN" dirty="0"/>
          </a:p>
          <a:p>
            <a:endParaRPr kumimoji="1" lang="en-US" altLang="zh-CN" dirty="0"/>
          </a:p>
          <a:p>
            <a:r>
              <a:rPr lang="en-US" altLang="zh-CN" sz="1200" dirty="0" err="1"/>
              <a:t>stringstream</a:t>
            </a:r>
            <a:r>
              <a:rPr lang="zh-CN" altLang="en-US" sz="1200" dirty="0"/>
              <a:t> 稍后介绍</a:t>
            </a:r>
            <a:endParaRPr kumimoji="1" lang="zh-CN" altLang="en-US" dirty="0"/>
          </a:p>
        </p:txBody>
      </p:sp>
      <p:sp>
        <p:nvSpPr>
          <p:cNvPr id="4" name="灯片编号占位符 3"/>
          <p:cNvSpPr>
            <a:spLocks noGrp="1"/>
          </p:cNvSpPr>
          <p:nvPr>
            <p:ph type="sldNum" sz="quarter" idx="5"/>
          </p:nvPr>
        </p:nvSpPr>
        <p:spPr/>
        <p:txBody>
          <a:bodyPr/>
          <a:lstStyle/>
          <a:p>
            <a:pPr>
              <a:defRPr/>
            </a:pPr>
            <a:fld id="{3C31A4FB-AB0B-4200-BC82-17C94E69ADE4}" type="slidenum">
              <a:rPr lang="en-US" altLang="zh-CN" smtClean="0"/>
              <a:t>65</a:t>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sym typeface="+mn-ea"/>
              </a:rPr>
              <a:t>to_string</a:t>
            </a:r>
            <a:r>
              <a:rPr lang="zh-CN" altLang="en-US" dirty="0" err="1">
                <a:sym typeface="+mn-ea"/>
              </a:rPr>
              <a:t>默认</a:t>
            </a:r>
            <a:r>
              <a:rPr kumimoji="1" lang="en-US" altLang="zh-CN" dirty="0">
                <a:sym typeface="+mn-ea"/>
              </a:rPr>
              <a:t>保留6位小数</a:t>
            </a:r>
            <a:endParaRPr kumimoji="1" lang="en-US" altLang="zh-CN" dirty="0"/>
          </a:p>
          <a:p>
            <a:r>
              <a:rPr kumimoji="1" lang="en-US" altLang="zh-CN" dirty="0">
                <a:sym typeface="+mn-ea"/>
              </a:rPr>
              <a:t>stoi</a:t>
            </a:r>
            <a:r>
              <a:rPr kumimoji="1" lang="zh-CN" altLang="en-US" dirty="0">
                <a:sym typeface="+mn-ea"/>
              </a:rPr>
              <a:t>三个参数含义分别为要转换的字符串、转换结束的位置、转换时使用的进制</a:t>
            </a:r>
            <a:endParaRPr kumimoji="1" lang="zh-CN" altLang="en-US" dirty="0"/>
          </a:p>
          <a:p>
            <a:r>
              <a:rPr kumimoji="1" lang="en-US" altLang="zh-CN" dirty="0">
                <a:sym typeface="+mn-ea"/>
              </a:rPr>
              <a:t>s</a:t>
            </a:r>
            <a:r>
              <a:rPr kumimoji="1" lang="zh-CN" altLang="en-US" dirty="0">
                <a:sym typeface="+mn-ea"/>
              </a:rPr>
              <a:t>表示</a:t>
            </a:r>
            <a:r>
              <a:rPr kumimoji="1" lang="en-US" altLang="zh-CN" dirty="0">
                <a:sym typeface="+mn-ea"/>
              </a:rPr>
              <a:t>string</a:t>
            </a:r>
            <a:r>
              <a:rPr kumimoji="1" lang="zh-CN" altLang="en-US" dirty="0">
                <a:sym typeface="+mn-ea"/>
              </a:rPr>
              <a:t>；</a:t>
            </a:r>
            <a:r>
              <a:rPr kumimoji="1" lang="en-US" altLang="zh-CN" dirty="0" err="1">
                <a:sym typeface="+mn-ea"/>
              </a:rPr>
              <a:t>i,d,f</a:t>
            </a:r>
            <a:r>
              <a:rPr kumimoji="1" lang="zh-CN" altLang="en-US" dirty="0">
                <a:sym typeface="+mn-ea"/>
              </a:rPr>
              <a:t>表示目标的类型</a:t>
            </a:r>
            <a:endParaRPr kumimoji="1" lang="en-US" altLang="zh-CN" dirty="0"/>
          </a:p>
          <a:p>
            <a:endParaRPr kumimoji="1" lang="en-US" altLang="zh-CN" dirty="0"/>
          </a:p>
          <a:p>
            <a:r>
              <a:rPr lang="en-US" altLang="zh-CN" dirty="0" err="1">
                <a:sym typeface="+mn-ea"/>
              </a:rPr>
              <a:t>std</a:t>
            </a:r>
            <a:r>
              <a:rPr lang="en-US" altLang="zh-CN" dirty="0">
                <a:sym typeface="+mn-ea"/>
              </a:rPr>
              <a:t>::string::</a:t>
            </a:r>
            <a:r>
              <a:rPr lang="en-US" altLang="zh-CN" dirty="0" err="1">
                <a:sym typeface="+mn-ea"/>
              </a:rPr>
              <a:t>size_type</a:t>
            </a:r>
            <a:r>
              <a:rPr lang="en-US" altLang="zh-CN" dirty="0">
                <a:sym typeface="+mn-ea"/>
              </a:rPr>
              <a:t> </a:t>
            </a:r>
            <a:r>
              <a:rPr lang="en-US" altLang="zh-CN" dirty="0" err="1">
                <a:sym typeface="+mn-ea"/>
              </a:rPr>
              <a:t>sz</a:t>
            </a:r>
            <a:r>
              <a:rPr lang="en-US" altLang="zh-CN" dirty="0">
                <a:sym typeface="+mn-ea"/>
              </a:rPr>
              <a:t>;</a:t>
            </a:r>
            <a:r>
              <a:rPr lang="zh-CN" altLang="en-US" dirty="0">
                <a:sym typeface="+mn-ea"/>
              </a:rPr>
              <a:t> </a:t>
            </a:r>
            <a:endParaRPr lang="en-US" altLang="zh-CN" dirty="0"/>
          </a:p>
          <a:p>
            <a:endParaRPr kumimoji="1" lang="en-US" altLang="zh-CN" dirty="0"/>
          </a:p>
          <a:p>
            <a:r>
              <a:rPr kumimoji="1" lang="en-US" altLang="zh-CN" dirty="0" err="1">
                <a:sym typeface="+mn-ea"/>
              </a:rPr>
              <a:t>Size_t</a:t>
            </a:r>
            <a:r>
              <a:rPr kumimoji="1" lang="en-US" altLang="zh-CN" dirty="0">
                <a:sym typeface="+mn-ea"/>
              </a:rPr>
              <a:t>:</a:t>
            </a:r>
            <a:r>
              <a:rPr kumimoji="1" lang="zh-CN" altLang="en-US" dirty="0">
                <a:sym typeface="+mn-ea"/>
              </a:rPr>
              <a:t> </a:t>
            </a:r>
            <a:r>
              <a:rPr kumimoji="1" lang="en-US" altLang="zh-CN" dirty="0">
                <a:sym typeface="+mn-ea"/>
              </a:rPr>
              <a:t>unsigned</a:t>
            </a:r>
            <a:r>
              <a:rPr kumimoji="1" lang="zh-CN" altLang="en-US" dirty="0">
                <a:sym typeface="+mn-ea"/>
              </a:rPr>
              <a:t> </a:t>
            </a:r>
            <a:r>
              <a:rPr kumimoji="1" lang="en-US" altLang="zh-CN" dirty="0">
                <a:sym typeface="+mn-ea"/>
              </a:rPr>
              <a:t>integers</a:t>
            </a:r>
            <a:endParaRPr kumimoji="1" lang="en-US" altLang="zh-CN" dirty="0"/>
          </a:p>
          <a:p>
            <a:endParaRPr kumimoji="1" lang="zh-CN" altLang="en-US" dirty="0"/>
          </a:p>
        </p:txBody>
      </p:sp>
      <p:sp>
        <p:nvSpPr>
          <p:cNvPr id="4" name="幻灯片编号占位符 3"/>
          <p:cNvSpPr>
            <a:spLocks noGrp="1"/>
          </p:cNvSpPr>
          <p:nvPr>
            <p:ph type="sldNum" sz="quarter" idx="10"/>
          </p:nvPr>
        </p:nvSpPr>
        <p:spPr/>
        <p:txBody>
          <a:bodyPr/>
          <a:lstStyle/>
          <a:p>
            <a:pPr>
              <a:defRPr/>
            </a:pPr>
            <a:fld id="{3C31A4FB-AB0B-4200-BC82-17C94E69ADE4}" type="slidenum">
              <a:rPr lang="en-US" altLang="zh-CN" smtClean="0"/>
              <a:t>66</a:t>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zh-CN"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不能部分</a:t>
            </a:r>
            <a:r>
              <a:rPr lang="zh-CN"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特化</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r>
              <a:rPr kumimoji="1" lang="zh-CN" altLang="en-US" dirty="0"/>
              <a:t>具体的例子（即不允许的情况）</a:t>
            </a:r>
          </a:p>
        </p:txBody>
      </p:sp>
      <p:sp>
        <p:nvSpPr>
          <p:cNvPr id="4" name="幻灯片编号占位符 3"/>
          <p:cNvSpPr>
            <a:spLocks noGrp="1"/>
          </p:cNvSpPr>
          <p:nvPr>
            <p:ph type="sldNum" sz="quarter" idx="10"/>
          </p:nvPr>
        </p:nvSpPr>
        <p:spPr/>
        <p:txBody>
          <a:bodyPr/>
          <a:lstStyle/>
          <a:p>
            <a:fld id="{0F0BE021-5935-B145-90F5-A16BFE31A5F5}" type="slidenum">
              <a:rPr kumimoji="1" lang="zh-CN" altLang="en-US" smtClean="0"/>
              <a:t>77</a:t>
            </a:fld>
            <a:endParaRPr kumimoji="1"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这一页</a:t>
            </a:r>
          </a:p>
        </p:txBody>
      </p:sp>
      <p:sp>
        <p:nvSpPr>
          <p:cNvPr id="4" name="幻灯片编号占位符 3"/>
          <p:cNvSpPr>
            <a:spLocks noGrp="1"/>
          </p:cNvSpPr>
          <p:nvPr>
            <p:ph type="sldNum" sz="quarter" idx="10"/>
          </p:nvPr>
        </p:nvSpPr>
        <p:spPr/>
        <p:txBody>
          <a:bodyPr/>
          <a:lstStyle/>
          <a:p>
            <a:fld id="{0F0BE021-5935-B145-90F5-A16BFE31A5F5}" type="slidenum">
              <a:rPr kumimoji="1" lang="zh-CN" altLang="en-US" smtClean="0"/>
              <a:t>78</a:t>
            </a:fld>
            <a:endParaRPr kumimoji="1"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zh-CN"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不能部分</a:t>
            </a:r>
            <a:r>
              <a:rPr lang="zh-CN"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特化</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r>
              <a:rPr kumimoji="1" lang="zh-CN" altLang="en-US" dirty="0"/>
              <a:t>具体的例子（即不允许的情况）</a:t>
            </a:r>
          </a:p>
        </p:txBody>
      </p:sp>
      <p:sp>
        <p:nvSpPr>
          <p:cNvPr id="4" name="幻灯片编号占位符 3"/>
          <p:cNvSpPr>
            <a:spLocks noGrp="1"/>
          </p:cNvSpPr>
          <p:nvPr>
            <p:ph type="sldNum" sz="quarter" idx="10"/>
          </p:nvPr>
        </p:nvSpPr>
        <p:spPr/>
        <p:txBody>
          <a:bodyPr/>
          <a:lstStyle/>
          <a:p>
            <a:fld id="{0F0BE021-5935-B145-90F5-A16BFE31A5F5}" type="slidenum">
              <a:rPr kumimoji="1" lang="zh-CN" altLang="en-US" smtClean="0"/>
              <a:t>79</a:t>
            </a:fld>
            <a:endParaRPr kumimoji="1"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kumimoji="1" lang="zh-CN" altLang="en-US" dirty="0"/>
          </a:p>
        </p:txBody>
      </p:sp>
      <p:sp>
        <p:nvSpPr>
          <p:cNvPr id="4" name="幻灯片编号占位符 3"/>
          <p:cNvSpPr>
            <a:spLocks noGrp="1"/>
          </p:cNvSpPr>
          <p:nvPr>
            <p:ph type="sldNum" sz="quarter" idx="10"/>
          </p:nvPr>
        </p:nvSpPr>
        <p:spPr/>
        <p:txBody>
          <a:bodyPr/>
          <a:lstStyle/>
          <a:p>
            <a:fld id="{0F0BE021-5935-B145-90F5-A16BFE31A5F5}" type="slidenum">
              <a:rPr kumimoji="1" lang="zh-CN" altLang="en-US" smtClean="0"/>
              <a:t>82</a:t>
            </a:fld>
            <a:endParaRPr kumimoji="1"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zh-CN" altLang="en-US" dirty="0"/>
              <a:t>两个例子，只是更换了一下</a:t>
            </a:r>
            <a:r>
              <a:rPr kumimoji="1" lang="en-US" altLang="zh-CN" dirty="0"/>
              <a:t>func2</a:t>
            </a:r>
            <a:r>
              <a:rPr kumimoji="1" lang="zh-CN" altLang="en-US" dirty="0"/>
              <a:t>和</a:t>
            </a:r>
            <a:r>
              <a:rPr kumimoji="1" lang="en-US" altLang="zh-CN" dirty="0"/>
              <a:t>func3</a:t>
            </a:r>
            <a:r>
              <a:rPr kumimoji="1" lang="zh-CN" altLang="en-US" dirty="0"/>
              <a:t>的顺序，为什么会造成结果上的区别呢？</a:t>
            </a:r>
          </a:p>
          <a:p>
            <a:pPr marL="0" marR="0" indent="0" algn="l" defTabSz="914400" rtl="0" eaLnBrk="1" fontAlgn="auto" latinLnBrk="0" hangingPunct="1">
              <a:lnSpc>
                <a:spcPct val="100000"/>
              </a:lnSpc>
              <a:spcBef>
                <a:spcPts val="0"/>
              </a:spcBef>
              <a:spcAft>
                <a:spcPts val="0"/>
              </a:spcAft>
              <a:buClrTx/>
              <a:buSzTx/>
              <a:buFontTx/>
              <a:buNone/>
              <a:defRPr/>
            </a:pPr>
            <a:r>
              <a:rPr kumimoji="1" lang="zh-CN" altLang="en-US" dirty="0"/>
              <a:t>首先，</a:t>
            </a:r>
            <a:r>
              <a:rPr kumimoji="1" lang="en-US" altLang="zh-CN" dirty="0"/>
              <a:t>C++</a:t>
            </a:r>
            <a:r>
              <a:rPr kumimoji="1" lang="zh-CN" altLang="en-US" dirty="0"/>
              <a:t>的函数匹配过程中，重载是优先于模板特化的，这是因为：</a:t>
            </a:r>
            <a:r>
              <a:rPr kumimoji="1" lang="en-US" altLang="zh-CN" dirty="0"/>
              <a:t>C++</a:t>
            </a:r>
            <a:r>
              <a:rPr kumimoji="1" lang="zh-CN" altLang="en-US" dirty="0"/>
              <a:t>标准委员会认为如果因为程序员随意写了一个函数模版的全特化版本，而使得原先的重载函数模板匹配结果发生改变</a:t>
            </a:r>
            <a:r>
              <a:rPr kumimoji="1" lang="en-US" altLang="zh-CN" dirty="0"/>
              <a:t>(</a:t>
            </a:r>
            <a:r>
              <a:rPr kumimoji="1" lang="zh-CN" altLang="en-US" dirty="0"/>
              <a:t>也就是改变了约定的重载解析规则</a:t>
            </a:r>
            <a:r>
              <a:rPr kumimoji="1" lang="en-US" altLang="zh-CN" dirty="0"/>
              <a:t>)</a:t>
            </a:r>
            <a:r>
              <a:rPr kumimoji="1" lang="zh-CN" altLang="en-US" dirty="0"/>
              <a:t>，是不能接受的。</a:t>
            </a:r>
          </a:p>
          <a:p>
            <a:pPr marL="0" marR="0" indent="0" algn="l" defTabSz="914400" rtl="0" eaLnBrk="1" fontAlgn="auto" latinLnBrk="0" hangingPunct="1">
              <a:lnSpc>
                <a:spcPct val="100000"/>
              </a:lnSpc>
              <a:spcBef>
                <a:spcPts val="0"/>
              </a:spcBef>
              <a:spcAft>
                <a:spcPts val="0"/>
              </a:spcAft>
              <a:buClrTx/>
              <a:buSzTx/>
              <a:buFontTx/>
              <a:buNone/>
              <a:defRPr/>
            </a:pPr>
            <a:r>
              <a:rPr kumimoji="1" lang="zh-CN" altLang="en-US" dirty="0"/>
              <a:t>因此调用时会先在两个基础模板（</a:t>
            </a:r>
            <a:r>
              <a:rPr kumimoji="1" lang="en-US" altLang="zh-CN" dirty="0"/>
              <a:t>func1</a:t>
            </a:r>
            <a:r>
              <a:rPr kumimoji="1" lang="zh-CN" altLang="en-US" dirty="0"/>
              <a:t>和</a:t>
            </a:r>
            <a:r>
              <a:rPr kumimoji="1" lang="en-US" altLang="zh-CN" dirty="0"/>
              <a:t>func2</a:t>
            </a:r>
            <a:r>
              <a:rPr kumimoji="1" lang="zh-CN" altLang="en-US" dirty="0"/>
              <a:t>）中挑选更匹配的模板</a:t>
            </a:r>
          </a:p>
          <a:p>
            <a:pPr marL="0" marR="0" indent="0" algn="l" defTabSz="914400" rtl="0" eaLnBrk="1" fontAlgn="auto" latinLnBrk="0" hangingPunct="1">
              <a:lnSpc>
                <a:spcPct val="100000"/>
              </a:lnSpc>
              <a:spcBef>
                <a:spcPts val="0"/>
              </a:spcBef>
              <a:spcAft>
                <a:spcPts val="0"/>
              </a:spcAft>
              <a:buClrTx/>
              <a:buSzTx/>
              <a:buFontTx/>
              <a:buNone/>
              <a:defRPr/>
            </a:pPr>
            <a:r>
              <a:rPr kumimoji="1" lang="zh-CN" altLang="en-US" dirty="0"/>
              <a:t>其次，函数模版的全特化到底是哪个函数基础模版的特化，需要参考可见原则，也就是说当特化版本声明时，它只可能特化的是当前编译单元已经定义的函数基础模版。</a:t>
            </a:r>
          </a:p>
          <a:p>
            <a:pPr marL="0" marR="0" indent="0" algn="l" defTabSz="914400" rtl="0" eaLnBrk="1" fontAlgn="auto" latinLnBrk="0" hangingPunct="1">
              <a:lnSpc>
                <a:spcPct val="100000"/>
              </a:lnSpc>
              <a:spcBef>
                <a:spcPts val="0"/>
              </a:spcBef>
              <a:spcAft>
                <a:spcPts val="0"/>
              </a:spcAft>
              <a:buClrTx/>
              <a:buSzTx/>
              <a:buFontTx/>
              <a:buNone/>
              <a:defRPr/>
            </a:pPr>
            <a:r>
              <a:rPr kumimoji="1" lang="zh-CN" altLang="en-US" dirty="0"/>
              <a:t>因此当这张</a:t>
            </a:r>
            <a:r>
              <a:rPr kumimoji="1" lang="en-US" altLang="zh-CN" dirty="0"/>
              <a:t>PPT</a:t>
            </a:r>
            <a:r>
              <a:rPr kumimoji="1" lang="zh-CN" altLang="en-US" dirty="0"/>
              <a:t>中，</a:t>
            </a:r>
            <a:r>
              <a:rPr kumimoji="1" lang="en-US" altLang="zh-CN" dirty="0"/>
              <a:t>func3</a:t>
            </a:r>
            <a:r>
              <a:rPr kumimoji="1" lang="zh-CN" altLang="en-US" dirty="0"/>
              <a:t>在</a:t>
            </a:r>
            <a:r>
              <a:rPr kumimoji="1" lang="en-US" altLang="zh-CN" dirty="0"/>
              <a:t>func1</a:t>
            </a:r>
            <a:r>
              <a:rPr kumimoji="1" lang="zh-CN" altLang="en-US" dirty="0"/>
              <a:t>后时，它就为</a:t>
            </a:r>
            <a:r>
              <a:rPr kumimoji="1" lang="en-US" altLang="zh-CN" dirty="0"/>
              <a:t>func1</a:t>
            </a:r>
            <a:r>
              <a:rPr kumimoji="1" lang="zh-CN" altLang="en-US" dirty="0"/>
              <a:t>的特化版本。而</a:t>
            </a:r>
            <a:r>
              <a:rPr kumimoji="1" lang="en-US" altLang="zh-CN" dirty="0"/>
              <a:t>C++</a:t>
            </a:r>
            <a:r>
              <a:rPr kumimoji="1" lang="zh-CN" altLang="en-US" dirty="0"/>
              <a:t>函数匹配中重载优先于特化，所以优先匹配到了</a:t>
            </a:r>
            <a:r>
              <a:rPr kumimoji="1" lang="en-US" altLang="zh-CN" dirty="0"/>
              <a:t>func2</a:t>
            </a:r>
            <a:r>
              <a:rPr kumimoji="1" lang="zh-CN" altLang="en-US" dirty="0"/>
              <a:t>，此时</a:t>
            </a:r>
            <a:r>
              <a:rPr kumimoji="1" lang="en-US" altLang="zh-CN" dirty="0"/>
              <a:t>func2</a:t>
            </a:r>
            <a:r>
              <a:rPr kumimoji="1" lang="zh-CN" altLang="en-US" dirty="0"/>
              <a:t>没有特化版本，所以直接调用了</a:t>
            </a:r>
            <a:r>
              <a:rPr kumimoji="1" lang="en-US" altLang="zh-CN" dirty="0"/>
              <a:t>func2</a:t>
            </a:r>
            <a:r>
              <a:rPr kumimoji="1" lang="zh-CN" altLang="en-US"/>
              <a:t>模板。</a:t>
            </a:r>
          </a:p>
          <a:p>
            <a:pPr marL="0" marR="0" indent="0" algn="l" defTabSz="914400" rtl="0" eaLnBrk="1" fontAlgn="auto" latinLnBrk="0" hangingPunct="1">
              <a:lnSpc>
                <a:spcPct val="100000"/>
              </a:lnSpc>
              <a:spcBef>
                <a:spcPts val="0"/>
              </a:spcBef>
              <a:spcAft>
                <a:spcPts val="0"/>
              </a:spcAft>
              <a:buClrTx/>
              <a:buSzTx/>
              <a:buFontTx/>
              <a:buNone/>
              <a:defRPr/>
            </a:pPr>
            <a:endParaRPr kumimoji="1" lang="zh-CN" altLang="en-US" dirty="0"/>
          </a:p>
        </p:txBody>
      </p:sp>
      <p:sp>
        <p:nvSpPr>
          <p:cNvPr id="4" name="幻灯片编号占位符 3"/>
          <p:cNvSpPr>
            <a:spLocks noGrp="1"/>
          </p:cNvSpPr>
          <p:nvPr>
            <p:ph type="sldNum" sz="quarter" idx="10"/>
          </p:nvPr>
        </p:nvSpPr>
        <p:spPr/>
        <p:txBody>
          <a:bodyPr/>
          <a:lstStyle/>
          <a:p>
            <a:fld id="{0F0BE021-5935-B145-90F5-A16BFE31A5F5}" type="slidenum">
              <a:rPr kumimoji="1" lang="zh-CN" altLang="en-US" smtClean="0"/>
              <a:t>83</a:t>
            </a:fld>
            <a:endParaRPr kumimoji="1"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0F0BE021-5935-B145-90F5-A16BFE31A5F5}" type="slidenum">
              <a:rPr kumimoji="1" lang="zh-CN" altLang="en-US" smtClean="0"/>
              <a:t>84</a:t>
            </a:fld>
            <a:endParaRPr kumimoji="1"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0F0BE021-5935-B145-90F5-A16BFE31A5F5}" type="slidenum">
              <a:rPr kumimoji="1" lang="zh-CN" altLang="en-US" smtClean="0"/>
              <a:t>85</a:t>
            </a:fld>
            <a:endParaRPr kumimoji="1"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0F0BE021-5935-B145-90F5-A16BFE31A5F5}" type="slidenum">
              <a:rPr kumimoji="1" lang="zh-CN" altLang="en-US" smtClean="0"/>
              <a:t>86</a:t>
            </a:fld>
            <a:endParaRPr kumimoji="1"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0F0BE021-5935-B145-90F5-A16BFE31A5F5}" type="slidenum">
              <a:rPr kumimoji="1" lang="zh-CN" altLang="en-US" smtClean="0"/>
              <a:t>87</a:t>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2B316CD0-B21C-4E0E-9991-CFABC5B9F3F3}" type="datetimeFigureOut">
              <a:rPr lang="zh-CN" altLang="en-US" smtClean="0"/>
              <a:t>2026/4/26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E3974CB-F90C-42EB-85A9-915E3DFCF262}"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2B316CD0-B21C-4E0E-9991-CFABC5B9F3F3}" type="datetimeFigureOut">
              <a:rPr lang="zh-CN" altLang="en-US" smtClean="0"/>
              <a:t>2026/4/26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E3974CB-F90C-42EB-85A9-915E3DFCF262}"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2B316CD0-B21C-4E0E-9991-CFABC5B9F3F3}" type="datetimeFigureOut">
              <a:rPr lang="zh-CN" altLang="en-US" smtClean="0"/>
              <a:t>2026/4/26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E3974CB-F90C-42EB-85A9-915E3DFCF262}"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2B316CD0-B21C-4E0E-9991-CFABC5B9F3F3}" type="datetimeFigureOut">
              <a:rPr lang="zh-CN" altLang="en-US" smtClean="0"/>
              <a:t>2026/4/26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E3974CB-F90C-42EB-85A9-915E3DFCF262}"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2B316CD0-B21C-4E0E-9991-CFABC5B9F3F3}" type="datetimeFigureOut">
              <a:rPr lang="zh-CN" altLang="en-US" smtClean="0"/>
              <a:t>2026/4/26</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CE3974CB-F90C-42EB-85A9-915E3DFCF262}"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B316CD0-B21C-4E0E-9991-CFABC5B9F3F3}" type="datetimeFigureOut">
              <a:rPr lang="zh-CN" altLang="en-US" smtClean="0"/>
              <a:t>2026/4/26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CE3974CB-F90C-42EB-85A9-915E3DFCF262}"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316CD0-B21C-4E0E-9991-CFABC5B9F3F3}" type="datetimeFigureOut">
              <a:rPr lang="zh-CN" altLang="en-US" smtClean="0"/>
              <a:t>2026/4/26</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CE3974CB-F90C-42EB-85A9-915E3DFCF262}"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B316CD0-B21C-4E0E-9991-CFABC5B9F3F3}" type="datetimeFigureOut">
              <a:rPr lang="zh-CN" altLang="en-US" smtClean="0"/>
              <a:t>2026/4/26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E3974CB-F90C-42EB-85A9-915E3DFCF262}"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B316CD0-B21C-4E0E-9991-CFABC5B9F3F3}" type="datetimeFigureOut">
              <a:rPr lang="zh-CN" altLang="en-US" smtClean="0"/>
              <a:t>2026/4/26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E3974CB-F90C-42EB-85A9-915E3DFCF262}"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2B316CD0-B21C-4E0E-9991-CFABC5B9F3F3}" type="datetimeFigureOut">
              <a:rPr lang="zh-CN" altLang="en-US" smtClean="0"/>
              <a:t>2026/4/26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E3974CB-F90C-42EB-85A9-915E3DFCF262}"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2B316CD0-B21C-4E0E-9991-CFABC5B9F3F3}" type="datetimeFigureOut">
              <a:rPr lang="zh-CN" altLang="en-US" smtClean="0"/>
              <a:t>2026/4/26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E3974CB-F90C-42EB-85A9-915E3DFCF262}"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E5375CB7-C50A-49C3-BF10-448E10BBECBB}" type="slidenum">
              <a:rPr lang="en-US" altLang="zh-CN"/>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79512" y="116632"/>
            <a:ext cx="7886700" cy="1325563"/>
          </a:xfrm>
        </p:spPr>
        <p:txBody>
          <a:bodyPr/>
          <a:lstStyle>
            <a:lvl1pPr>
              <a:defRPr b="1">
                <a:latin typeface="微软雅黑" panose="020B0503020204020204" pitchFamily="34" charset="-122"/>
                <a:ea typeface="微软雅黑" panose="020B0503020204020204" pitchFamily="34" charset="-122"/>
              </a:defRPr>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628650" y="1628800"/>
            <a:ext cx="8047806" cy="4749029"/>
          </a:xfrm>
        </p:spPr>
        <p:txBody>
          <a:bodyPr/>
          <a:lstStyle>
            <a:lvl1pPr marL="228600" indent="-228600">
              <a:buSzPct val="75000"/>
              <a:buFont typeface="Wingdings" panose="05000000000000000000" pitchFamily="2" charset="2"/>
              <a:buChar char="n"/>
              <a:defRPr b="1" baseline="0">
                <a:solidFill>
                  <a:srgbClr val="003366"/>
                </a:solidFill>
                <a:latin typeface="Consolas" panose="020B0609020204030204" pitchFamily="49" charset="0"/>
                <a:ea typeface="华文楷体" panose="02010600040101010101" pitchFamily="2" charset="-122"/>
              </a:defRPr>
            </a:lvl1pPr>
            <a:lvl2pPr>
              <a:defRPr baseline="0">
                <a:latin typeface="Consolas" panose="020B0609020204030204" pitchFamily="49" charset="0"/>
                <a:ea typeface="华文楷体" panose="02010600040101010101" pitchFamily="2" charset="-122"/>
              </a:defRPr>
            </a:lvl2pPr>
            <a:lvl3pPr>
              <a:defRPr baseline="0">
                <a:latin typeface="Consolas" panose="020B0609020204030204" pitchFamily="49" charset="0"/>
                <a:ea typeface="华文楷体" panose="02010600040101010101" pitchFamily="2" charset="-122"/>
              </a:defRPr>
            </a:lvl3pPr>
            <a:lvl4pPr>
              <a:defRPr baseline="0">
                <a:latin typeface="Consolas" panose="020B0609020204030204" pitchFamily="49" charset="0"/>
                <a:ea typeface="华文楷体" panose="02010600040101010101" pitchFamily="2" charset="-122"/>
              </a:defRPr>
            </a:lvl4pPr>
            <a:lvl5pPr>
              <a:defRPr baseline="0">
                <a:latin typeface="Consolas" panose="020B0609020204030204" pitchFamily="49" charset="0"/>
                <a:ea typeface="华文楷体" panose="02010600040101010101" pitchFamily="2" charset="-122"/>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6" name="Slide Number Placeholder 5"/>
          <p:cNvSpPr>
            <a:spLocks noGrp="1"/>
          </p:cNvSpPr>
          <p:nvPr>
            <p:ph type="sldNum" sz="quarter" idx="12"/>
          </p:nvPr>
        </p:nvSpPr>
        <p:spPr>
          <a:xfrm>
            <a:off x="6948264" y="6377830"/>
            <a:ext cx="2057400" cy="365125"/>
          </a:xfrm>
        </p:spPr>
        <p:txBody>
          <a:bodyPr/>
          <a:lstStyle>
            <a:lvl1pPr>
              <a:defRPr/>
            </a:lvl1pPr>
          </a:lstStyle>
          <a:p>
            <a:pPr>
              <a:defRPr/>
            </a:pPr>
            <a:fld id="{BFD7BE51-03DD-4CCA-8227-D775462981B4}" type="slidenum">
              <a:rPr lang="en-US" altLang="zh-CN"/>
              <a:t>‹#›</a:t>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56A36992-6990-409A-985D-C59BD1CB152B}" type="slidenum">
              <a:rPr lang="en-US" altLang="zh-CN"/>
              <a:t>‹#›</a:t>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3"/>
          <p:cNvSpPr>
            <a:spLocks noGrp="1"/>
          </p:cNvSpPr>
          <p:nvPr>
            <p:ph type="dt" sz="half" idx="10"/>
          </p:nvPr>
        </p:nvSpPr>
        <p:spPr/>
        <p:txBody>
          <a:bodyPr/>
          <a:lstStyle>
            <a:lvl1pPr>
              <a:defRPr/>
            </a:lvl1pPr>
          </a:lstStyle>
          <a:p>
            <a:pPr>
              <a:defRPr/>
            </a:pPr>
            <a:endParaRPr lang="en-US" altLang="zh-CN"/>
          </a:p>
        </p:txBody>
      </p:sp>
      <p:sp>
        <p:nvSpPr>
          <p:cNvPr id="6" name="Footer Placeholder 4"/>
          <p:cNvSpPr>
            <a:spLocks noGrp="1"/>
          </p:cNvSpPr>
          <p:nvPr>
            <p:ph type="ftr" sz="quarter" idx="11"/>
          </p:nvPr>
        </p:nvSpPr>
        <p:spPr/>
        <p:txBody>
          <a:bodyPr/>
          <a:lstStyle>
            <a:lvl1pPr>
              <a:defRPr/>
            </a:lvl1pPr>
          </a:lstStyle>
          <a:p>
            <a:pPr>
              <a:defRPr/>
            </a:pPr>
            <a:endParaRPr lang="en-US" altLang="zh-CN"/>
          </a:p>
        </p:txBody>
      </p:sp>
      <p:sp>
        <p:nvSpPr>
          <p:cNvPr id="7" name="Slide Number Placeholder 5"/>
          <p:cNvSpPr>
            <a:spLocks noGrp="1"/>
          </p:cNvSpPr>
          <p:nvPr>
            <p:ph type="sldNum" sz="quarter" idx="12"/>
          </p:nvPr>
        </p:nvSpPr>
        <p:spPr/>
        <p:txBody>
          <a:bodyPr/>
          <a:lstStyle>
            <a:lvl1pPr>
              <a:defRPr/>
            </a:lvl1pPr>
          </a:lstStyle>
          <a:p>
            <a:pPr>
              <a:defRPr/>
            </a:pPr>
            <a:fld id="{E8EEA948-DC3E-4FC8-BEDF-6D0D5F7E4CBF}" type="slidenum">
              <a:rPr lang="en-US" altLang="zh-CN"/>
              <a:t>‹#›</a:t>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hasCustomPrompt="1"/>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hasCustomPrompt="1"/>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3"/>
          <p:cNvSpPr>
            <a:spLocks noGrp="1"/>
          </p:cNvSpPr>
          <p:nvPr>
            <p:ph type="dt" sz="half" idx="10"/>
          </p:nvPr>
        </p:nvSpPr>
        <p:spPr/>
        <p:txBody>
          <a:bodyPr/>
          <a:lstStyle>
            <a:lvl1pPr>
              <a:defRPr/>
            </a:lvl1pPr>
          </a:lstStyle>
          <a:p>
            <a:pPr>
              <a:defRPr/>
            </a:pPr>
            <a:endParaRPr lang="en-US" altLang="zh-CN"/>
          </a:p>
        </p:txBody>
      </p:sp>
      <p:sp>
        <p:nvSpPr>
          <p:cNvPr id="8" name="Footer Placeholder 4"/>
          <p:cNvSpPr>
            <a:spLocks noGrp="1"/>
          </p:cNvSpPr>
          <p:nvPr>
            <p:ph type="ftr" sz="quarter" idx="11"/>
          </p:nvPr>
        </p:nvSpPr>
        <p:spPr/>
        <p:txBody>
          <a:bodyPr/>
          <a:lstStyle>
            <a:lvl1pPr>
              <a:defRPr/>
            </a:lvl1pPr>
          </a:lstStyle>
          <a:p>
            <a:pPr>
              <a:defRPr/>
            </a:pPr>
            <a:endParaRPr lang="en-US" altLang="zh-CN"/>
          </a:p>
        </p:txBody>
      </p:sp>
      <p:sp>
        <p:nvSpPr>
          <p:cNvPr id="9" name="Slide Number Placeholder 5"/>
          <p:cNvSpPr>
            <a:spLocks noGrp="1"/>
          </p:cNvSpPr>
          <p:nvPr>
            <p:ph type="sldNum" sz="quarter" idx="12"/>
          </p:nvPr>
        </p:nvSpPr>
        <p:spPr/>
        <p:txBody>
          <a:bodyPr/>
          <a:lstStyle>
            <a:lvl1pPr>
              <a:defRPr/>
            </a:lvl1pPr>
          </a:lstStyle>
          <a:p>
            <a:pPr>
              <a:defRPr/>
            </a:pPr>
            <a:fld id="{99D87F4C-F228-4387-9ECA-2FC048F220FE}" type="slidenum">
              <a:rPr lang="en-US" altLang="zh-CN"/>
              <a:t>‹#›</a:t>
            </a:fld>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Date Placeholder 3"/>
          <p:cNvSpPr>
            <a:spLocks noGrp="1"/>
          </p:cNvSpPr>
          <p:nvPr>
            <p:ph type="dt" sz="half" idx="10"/>
          </p:nvPr>
        </p:nvSpPr>
        <p:spPr/>
        <p:txBody>
          <a:bodyPr/>
          <a:lstStyle>
            <a:lvl1pPr>
              <a:defRPr/>
            </a:lvl1pPr>
          </a:lstStyle>
          <a:p>
            <a:pPr>
              <a:defRPr/>
            </a:pPr>
            <a:endParaRPr lang="en-US" altLang="zh-CN"/>
          </a:p>
        </p:txBody>
      </p:sp>
      <p:sp>
        <p:nvSpPr>
          <p:cNvPr id="4" name="Footer Placeholder 4"/>
          <p:cNvSpPr>
            <a:spLocks noGrp="1"/>
          </p:cNvSpPr>
          <p:nvPr>
            <p:ph type="ftr" sz="quarter" idx="11"/>
          </p:nvPr>
        </p:nvSpPr>
        <p:spPr/>
        <p:txBody>
          <a:bodyPr/>
          <a:lstStyle>
            <a:lvl1pPr>
              <a:defRPr/>
            </a:lvl1pPr>
          </a:lstStyle>
          <a:p>
            <a:pPr>
              <a:defRPr/>
            </a:pPr>
            <a:endParaRPr lang="en-US" altLang="zh-CN"/>
          </a:p>
        </p:txBody>
      </p:sp>
      <p:sp>
        <p:nvSpPr>
          <p:cNvPr id="5" name="Slide Number Placeholder 5"/>
          <p:cNvSpPr>
            <a:spLocks noGrp="1"/>
          </p:cNvSpPr>
          <p:nvPr>
            <p:ph type="sldNum" sz="quarter" idx="12"/>
          </p:nvPr>
        </p:nvSpPr>
        <p:spPr/>
        <p:txBody>
          <a:bodyPr/>
          <a:lstStyle>
            <a:lvl1pPr>
              <a:defRPr/>
            </a:lvl1pPr>
          </a:lstStyle>
          <a:p>
            <a:pPr>
              <a:defRPr/>
            </a:pPr>
            <a:fld id="{20CAB157-5D5D-45D8-AA5F-3FBCA9A54B3E}" type="slidenum">
              <a:rPr lang="en-US" altLang="zh-CN"/>
              <a:t>‹#›</a:t>
            </a:fld>
            <a:endParaRPr lang="en-US" altLang="zh-CN"/>
          </a:p>
        </p:txBody>
      </p:sp>
      <p:sp>
        <p:nvSpPr>
          <p:cNvPr id="6" name="Title 1"/>
          <p:cNvSpPr>
            <a:spLocks noGrp="1"/>
          </p:cNvSpPr>
          <p:nvPr>
            <p:ph type="title"/>
          </p:nvPr>
        </p:nvSpPr>
        <p:spPr>
          <a:xfrm>
            <a:off x="179512" y="116632"/>
            <a:ext cx="7886700" cy="1325563"/>
          </a:xfrm>
        </p:spPr>
        <p:txBody>
          <a:bodyPr/>
          <a:lstStyle>
            <a:lvl1pPr>
              <a:defRPr b="1">
                <a:latin typeface="微软雅黑" panose="020B0503020204020204" pitchFamily="34" charset="-122"/>
                <a:ea typeface="微软雅黑" panose="020B0503020204020204" pitchFamily="34" charset="-122"/>
              </a:defRPr>
            </a:lvl1pPr>
          </a:lstStyle>
          <a:p>
            <a:r>
              <a:rPr lang="zh-CN" altLang="en-US"/>
              <a:t>单击此处编辑母版标题样式</a:t>
            </a:r>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ltLang="zh-CN"/>
          </a:p>
        </p:txBody>
      </p:sp>
      <p:sp>
        <p:nvSpPr>
          <p:cNvPr id="3" name="Footer Placeholder 4"/>
          <p:cNvSpPr>
            <a:spLocks noGrp="1"/>
          </p:cNvSpPr>
          <p:nvPr>
            <p:ph type="ftr" sz="quarter" idx="11"/>
          </p:nvPr>
        </p:nvSpPr>
        <p:spPr/>
        <p:txBody>
          <a:bodyPr/>
          <a:lstStyle>
            <a:lvl1pPr>
              <a:defRPr/>
            </a:lvl1pPr>
          </a:lstStyle>
          <a:p>
            <a:pPr>
              <a:defRPr/>
            </a:pPr>
            <a:endParaRPr lang="en-US" altLang="zh-CN"/>
          </a:p>
        </p:txBody>
      </p:sp>
      <p:sp>
        <p:nvSpPr>
          <p:cNvPr id="4" name="Slide Number Placeholder 5"/>
          <p:cNvSpPr>
            <a:spLocks noGrp="1"/>
          </p:cNvSpPr>
          <p:nvPr>
            <p:ph type="sldNum" sz="quarter" idx="12"/>
          </p:nvPr>
        </p:nvSpPr>
        <p:spPr/>
        <p:txBody>
          <a:bodyPr/>
          <a:lstStyle>
            <a:lvl1pPr>
              <a:defRPr/>
            </a:lvl1pPr>
          </a:lstStyle>
          <a:p>
            <a:pPr>
              <a:defRPr/>
            </a:pPr>
            <a:fld id="{C34C3BD7-260C-4BC9-9C17-940D7F59C4D1}" type="slidenum">
              <a:rPr lang="en-US" altLang="zh-CN"/>
              <a:t>‹#›</a:t>
            </a:fld>
            <a:endParaRPr lang="en-US"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3"/>
          <p:cNvSpPr>
            <a:spLocks noGrp="1"/>
          </p:cNvSpPr>
          <p:nvPr>
            <p:ph type="dt" sz="half" idx="10"/>
          </p:nvPr>
        </p:nvSpPr>
        <p:spPr/>
        <p:txBody>
          <a:bodyPr/>
          <a:lstStyle>
            <a:lvl1pPr>
              <a:defRPr/>
            </a:lvl1pPr>
          </a:lstStyle>
          <a:p>
            <a:pPr>
              <a:defRPr/>
            </a:pPr>
            <a:endParaRPr lang="en-US" altLang="zh-CN"/>
          </a:p>
        </p:txBody>
      </p:sp>
      <p:sp>
        <p:nvSpPr>
          <p:cNvPr id="6" name="Footer Placeholder 4"/>
          <p:cNvSpPr>
            <a:spLocks noGrp="1"/>
          </p:cNvSpPr>
          <p:nvPr>
            <p:ph type="ftr" sz="quarter" idx="11"/>
          </p:nvPr>
        </p:nvSpPr>
        <p:spPr/>
        <p:txBody>
          <a:bodyPr/>
          <a:lstStyle>
            <a:lvl1pPr>
              <a:defRPr/>
            </a:lvl1pPr>
          </a:lstStyle>
          <a:p>
            <a:pPr>
              <a:defRPr/>
            </a:pPr>
            <a:endParaRPr lang="en-US" altLang="zh-CN"/>
          </a:p>
        </p:txBody>
      </p:sp>
      <p:sp>
        <p:nvSpPr>
          <p:cNvPr id="7" name="Slide Number Placeholder 5"/>
          <p:cNvSpPr>
            <a:spLocks noGrp="1"/>
          </p:cNvSpPr>
          <p:nvPr>
            <p:ph type="sldNum" sz="quarter" idx="12"/>
          </p:nvPr>
        </p:nvSpPr>
        <p:spPr/>
        <p:txBody>
          <a:bodyPr/>
          <a:lstStyle>
            <a:lvl1pPr>
              <a:defRPr/>
            </a:lvl1pPr>
          </a:lstStyle>
          <a:p>
            <a:pPr>
              <a:defRPr/>
            </a:pPr>
            <a:fld id="{6ACE6C39-29C4-400B-8A62-388FF04E56DD}" type="slidenum">
              <a:rPr lang="en-US" altLang="zh-CN"/>
              <a:t>‹#›</a:t>
            </a:fld>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en-US" noProof="0"/>
          </a:p>
        </p:txBody>
      </p:sp>
      <p:sp>
        <p:nvSpPr>
          <p:cNvPr id="4" name="Text Placeholder 3"/>
          <p:cNvSpPr>
            <a:spLocks noGrp="1"/>
          </p:cNvSpPr>
          <p:nvPr>
            <p:ph type="body" sz="half" idx="2" hasCustomPrompt="1"/>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3"/>
          <p:cNvSpPr>
            <a:spLocks noGrp="1"/>
          </p:cNvSpPr>
          <p:nvPr>
            <p:ph type="dt" sz="half" idx="10"/>
          </p:nvPr>
        </p:nvSpPr>
        <p:spPr/>
        <p:txBody>
          <a:bodyPr/>
          <a:lstStyle>
            <a:lvl1pPr>
              <a:defRPr/>
            </a:lvl1pPr>
          </a:lstStyle>
          <a:p>
            <a:pPr>
              <a:defRPr/>
            </a:pPr>
            <a:endParaRPr lang="en-US" altLang="zh-CN"/>
          </a:p>
        </p:txBody>
      </p:sp>
      <p:sp>
        <p:nvSpPr>
          <p:cNvPr id="6" name="Footer Placeholder 4"/>
          <p:cNvSpPr>
            <a:spLocks noGrp="1"/>
          </p:cNvSpPr>
          <p:nvPr>
            <p:ph type="ftr" sz="quarter" idx="11"/>
          </p:nvPr>
        </p:nvSpPr>
        <p:spPr/>
        <p:txBody>
          <a:bodyPr/>
          <a:lstStyle>
            <a:lvl1pPr>
              <a:defRPr/>
            </a:lvl1pPr>
          </a:lstStyle>
          <a:p>
            <a:pPr>
              <a:defRPr/>
            </a:pPr>
            <a:endParaRPr lang="en-US" altLang="zh-CN"/>
          </a:p>
        </p:txBody>
      </p:sp>
      <p:sp>
        <p:nvSpPr>
          <p:cNvPr id="7" name="Slide Number Placeholder 5"/>
          <p:cNvSpPr>
            <a:spLocks noGrp="1"/>
          </p:cNvSpPr>
          <p:nvPr>
            <p:ph type="sldNum" sz="quarter" idx="12"/>
          </p:nvPr>
        </p:nvSpPr>
        <p:spPr/>
        <p:txBody>
          <a:bodyPr/>
          <a:lstStyle>
            <a:lvl1pPr>
              <a:defRPr/>
            </a:lvl1pPr>
          </a:lstStyle>
          <a:p>
            <a:pPr>
              <a:defRPr/>
            </a:pPr>
            <a:fld id="{65A6EBAE-B12E-4D6F-8E93-26479E22C411}" type="slidenum">
              <a:rPr lang="en-US" altLang="zh-CN"/>
              <a:t>‹#›</a:t>
            </a:fld>
            <a:endParaRPr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E17DFA39-F49E-4E32-9F7F-DC3B6C5436DB}" type="slidenum">
              <a:rPr lang="en-US" altLang="zh-CN"/>
              <a:t>‹#›</a:t>
            </a:fld>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21A70E48-0FCB-4A72-B125-9E5A77787C51}" type="slidenum">
              <a:rPr lang="en-US" altLang="zh-CN"/>
              <a:t>‹#›</a:t>
            </a:fld>
            <a:endParaRPr lang="en-US" alt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E5375CB7-C50A-49C3-BF10-448E10BBECBB}" type="slidenum">
              <a:rPr lang="en-US" altLang="zh-CN"/>
              <a:t>‹#›</a:t>
            </a:fld>
            <a:endParaRPr lang="en-US" altLang="zh-C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79512" y="116632"/>
            <a:ext cx="7886700" cy="1325563"/>
          </a:xfrm>
        </p:spPr>
        <p:txBody>
          <a:bodyPr/>
          <a:lstStyle>
            <a:lvl1pPr>
              <a:defRPr b="1">
                <a:latin typeface="微软雅黑" panose="020B0503020204020204" pitchFamily="34" charset="-122"/>
                <a:ea typeface="微软雅黑" panose="020B0503020204020204" pitchFamily="34" charset="-122"/>
              </a:defRPr>
            </a:lvl1pPr>
          </a:lstStyle>
          <a:p>
            <a:r>
              <a:rPr lang="zh-CN" altLang="en-US"/>
              <a:t>单击此处编辑母版标题样式</a:t>
            </a:r>
            <a:endParaRPr lang="en-US" dirty="0"/>
          </a:p>
        </p:txBody>
      </p:sp>
      <p:sp>
        <p:nvSpPr>
          <p:cNvPr id="3" name="Content Placeholder 2"/>
          <p:cNvSpPr>
            <a:spLocks noGrp="1"/>
          </p:cNvSpPr>
          <p:nvPr>
            <p:ph idx="1"/>
          </p:nvPr>
        </p:nvSpPr>
        <p:spPr>
          <a:xfrm>
            <a:off x="628650" y="1628800"/>
            <a:ext cx="8047806" cy="4749029"/>
          </a:xfrm>
        </p:spPr>
        <p:txBody>
          <a:bodyPr/>
          <a:lstStyle>
            <a:lvl1pPr marL="228600" indent="-228600">
              <a:buSzPct val="75000"/>
              <a:buFont typeface="Wingdings" panose="05000000000000000000" pitchFamily="2" charset="2"/>
              <a:buChar char="n"/>
              <a:defRPr b="1" baseline="0">
                <a:solidFill>
                  <a:srgbClr val="003366"/>
                </a:solidFill>
                <a:latin typeface="Consolas" panose="020B0609020204030204" pitchFamily="49" charset="0"/>
                <a:ea typeface="华文楷体" panose="02010600040101010101" pitchFamily="2" charset="-122"/>
              </a:defRPr>
            </a:lvl1pPr>
            <a:lvl2pPr>
              <a:defRPr baseline="0">
                <a:latin typeface="Consolas" panose="020B0609020204030204" pitchFamily="49" charset="0"/>
                <a:ea typeface="华文楷体" panose="02010600040101010101" pitchFamily="2" charset="-122"/>
              </a:defRPr>
            </a:lvl2pPr>
            <a:lvl3pPr>
              <a:defRPr baseline="0">
                <a:latin typeface="Consolas" panose="020B0609020204030204" pitchFamily="49" charset="0"/>
                <a:ea typeface="华文楷体" panose="02010600040101010101" pitchFamily="2" charset="-122"/>
              </a:defRPr>
            </a:lvl3pPr>
            <a:lvl4pPr>
              <a:defRPr baseline="0">
                <a:latin typeface="Consolas" panose="020B0609020204030204" pitchFamily="49" charset="0"/>
                <a:ea typeface="华文楷体" panose="02010600040101010101" pitchFamily="2" charset="-122"/>
              </a:defRPr>
            </a:lvl4pPr>
            <a:lvl5pPr>
              <a:defRPr baseline="0">
                <a:latin typeface="Consolas" panose="020B0609020204030204" pitchFamily="49" charset="0"/>
                <a:ea typeface="华文楷体" panose="02010600040101010101" pitchFamily="2"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6" name="Slide Number Placeholder 5"/>
          <p:cNvSpPr>
            <a:spLocks noGrp="1"/>
          </p:cNvSpPr>
          <p:nvPr>
            <p:ph type="sldNum" sz="quarter" idx="12"/>
          </p:nvPr>
        </p:nvSpPr>
        <p:spPr>
          <a:xfrm>
            <a:off x="6948264" y="6377830"/>
            <a:ext cx="2057400" cy="365125"/>
          </a:xfrm>
        </p:spPr>
        <p:txBody>
          <a:bodyPr/>
          <a:lstStyle>
            <a:lvl1pPr>
              <a:defRPr/>
            </a:lvl1pPr>
          </a:lstStyle>
          <a:p>
            <a:pPr>
              <a:defRPr/>
            </a:pPr>
            <a:fld id="{BFD7BE51-03DD-4CCA-8227-D775462981B4}" type="slidenum">
              <a:rPr lang="en-US" altLang="zh-CN"/>
              <a:t>‹#›</a:t>
            </a:fld>
            <a:endParaRPr lang="en-US" altLang="zh-C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56A36992-6990-409A-985D-C59BD1CB152B}" type="slidenum">
              <a:rPr lang="en-US" altLang="zh-CN"/>
              <a:t>‹#›</a:t>
            </a:fld>
            <a:endParaRPr lang="en-US" altLang="zh-C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3"/>
          <p:cNvSpPr>
            <a:spLocks noGrp="1"/>
          </p:cNvSpPr>
          <p:nvPr>
            <p:ph type="dt" sz="half" idx="10"/>
          </p:nvPr>
        </p:nvSpPr>
        <p:spPr/>
        <p:txBody>
          <a:bodyPr/>
          <a:lstStyle>
            <a:lvl1pPr>
              <a:defRPr/>
            </a:lvl1pPr>
          </a:lstStyle>
          <a:p>
            <a:pPr>
              <a:defRPr/>
            </a:pPr>
            <a:endParaRPr lang="en-US" altLang="zh-CN"/>
          </a:p>
        </p:txBody>
      </p:sp>
      <p:sp>
        <p:nvSpPr>
          <p:cNvPr id="6" name="Footer Placeholder 4"/>
          <p:cNvSpPr>
            <a:spLocks noGrp="1"/>
          </p:cNvSpPr>
          <p:nvPr>
            <p:ph type="ftr" sz="quarter" idx="11"/>
          </p:nvPr>
        </p:nvSpPr>
        <p:spPr/>
        <p:txBody>
          <a:bodyPr/>
          <a:lstStyle>
            <a:lvl1pPr>
              <a:defRPr/>
            </a:lvl1pPr>
          </a:lstStyle>
          <a:p>
            <a:pPr>
              <a:defRPr/>
            </a:pPr>
            <a:endParaRPr lang="en-US" altLang="zh-CN"/>
          </a:p>
        </p:txBody>
      </p:sp>
      <p:sp>
        <p:nvSpPr>
          <p:cNvPr id="7" name="Slide Number Placeholder 5"/>
          <p:cNvSpPr>
            <a:spLocks noGrp="1"/>
          </p:cNvSpPr>
          <p:nvPr>
            <p:ph type="sldNum" sz="quarter" idx="12"/>
          </p:nvPr>
        </p:nvSpPr>
        <p:spPr/>
        <p:txBody>
          <a:bodyPr/>
          <a:lstStyle>
            <a:lvl1pPr>
              <a:defRPr/>
            </a:lvl1pPr>
          </a:lstStyle>
          <a:p>
            <a:pPr>
              <a:defRPr/>
            </a:pPr>
            <a:fld id="{E8EEA948-DC3E-4FC8-BEDF-6D0D5F7E4CBF}" type="slidenum">
              <a:rPr lang="en-US" altLang="zh-CN"/>
              <a:t>‹#›</a:t>
            </a:fld>
            <a:endParaRPr lang="en-US" altLang="zh-C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3"/>
          <p:cNvSpPr>
            <a:spLocks noGrp="1"/>
          </p:cNvSpPr>
          <p:nvPr>
            <p:ph type="dt" sz="half" idx="10"/>
          </p:nvPr>
        </p:nvSpPr>
        <p:spPr/>
        <p:txBody>
          <a:bodyPr/>
          <a:lstStyle>
            <a:lvl1pPr>
              <a:defRPr/>
            </a:lvl1pPr>
          </a:lstStyle>
          <a:p>
            <a:pPr>
              <a:defRPr/>
            </a:pPr>
            <a:endParaRPr lang="en-US" altLang="zh-CN"/>
          </a:p>
        </p:txBody>
      </p:sp>
      <p:sp>
        <p:nvSpPr>
          <p:cNvPr id="8" name="Footer Placeholder 4"/>
          <p:cNvSpPr>
            <a:spLocks noGrp="1"/>
          </p:cNvSpPr>
          <p:nvPr>
            <p:ph type="ftr" sz="quarter" idx="11"/>
          </p:nvPr>
        </p:nvSpPr>
        <p:spPr/>
        <p:txBody>
          <a:bodyPr/>
          <a:lstStyle>
            <a:lvl1pPr>
              <a:defRPr/>
            </a:lvl1pPr>
          </a:lstStyle>
          <a:p>
            <a:pPr>
              <a:defRPr/>
            </a:pPr>
            <a:endParaRPr lang="en-US" altLang="zh-CN"/>
          </a:p>
        </p:txBody>
      </p:sp>
      <p:sp>
        <p:nvSpPr>
          <p:cNvPr id="9" name="Slide Number Placeholder 5"/>
          <p:cNvSpPr>
            <a:spLocks noGrp="1"/>
          </p:cNvSpPr>
          <p:nvPr>
            <p:ph type="sldNum" sz="quarter" idx="12"/>
          </p:nvPr>
        </p:nvSpPr>
        <p:spPr/>
        <p:txBody>
          <a:bodyPr/>
          <a:lstStyle>
            <a:lvl1pPr>
              <a:defRPr/>
            </a:lvl1pPr>
          </a:lstStyle>
          <a:p>
            <a:pPr>
              <a:defRPr/>
            </a:pPr>
            <a:fld id="{99D87F4C-F228-4387-9ECA-2FC048F220FE}" type="slidenum">
              <a:rPr lang="en-US" altLang="zh-CN"/>
              <a:t>‹#›</a:t>
            </a:fld>
            <a:endParaRPr lang="en-US" altLang="zh-C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Date Placeholder 3"/>
          <p:cNvSpPr>
            <a:spLocks noGrp="1"/>
          </p:cNvSpPr>
          <p:nvPr>
            <p:ph type="dt" sz="half" idx="10"/>
          </p:nvPr>
        </p:nvSpPr>
        <p:spPr/>
        <p:txBody>
          <a:bodyPr/>
          <a:lstStyle>
            <a:lvl1pPr>
              <a:defRPr/>
            </a:lvl1pPr>
          </a:lstStyle>
          <a:p>
            <a:pPr>
              <a:defRPr/>
            </a:pPr>
            <a:endParaRPr lang="en-US" altLang="zh-CN"/>
          </a:p>
        </p:txBody>
      </p:sp>
      <p:sp>
        <p:nvSpPr>
          <p:cNvPr id="4" name="Footer Placeholder 4"/>
          <p:cNvSpPr>
            <a:spLocks noGrp="1"/>
          </p:cNvSpPr>
          <p:nvPr>
            <p:ph type="ftr" sz="quarter" idx="11"/>
          </p:nvPr>
        </p:nvSpPr>
        <p:spPr/>
        <p:txBody>
          <a:bodyPr/>
          <a:lstStyle>
            <a:lvl1pPr>
              <a:defRPr/>
            </a:lvl1pPr>
          </a:lstStyle>
          <a:p>
            <a:pPr>
              <a:defRPr/>
            </a:pPr>
            <a:endParaRPr lang="en-US" altLang="zh-CN"/>
          </a:p>
        </p:txBody>
      </p:sp>
      <p:sp>
        <p:nvSpPr>
          <p:cNvPr id="5" name="Slide Number Placeholder 5"/>
          <p:cNvSpPr>
            <a:spLocks noGrp="1"/>
          </p:cNvSpPr>
          <p:nvPr>
            <p:ph type="sldNum" sz="quarter" idx="12"/>
          </p:nvPr>
        </p:nvSpPr>
        <p:spPr/>
        <p:txBody>
          <a:bodyPr/>
          <a:lstStyle>
            <a:lvl1pPr>
              <a:defRPr/>
            </a:lvl1pPr>
          </a:lstStyle>
          <a:p>
            <a:pPr>
              <a:defRPr/>
            </a:pPr>
            <a:fld id="{20CAB157-5D5D-45D8-AA5F-3FBCA9A54B3E}" type="slidenum">
              <a:rPr lang="en-US" altLang="zh-CN"/>
              <a:t>‹#›</a:t>
            </a:fld>
            <a:endParaRPr lang="en-US" altLang="zh-CN"/>
          </a:p>
        </p:txBody>
      </p:sp>
      <p:sp>
        <p:nvSpPr>
          <p:cNvPr id="6" name="Title 1"/>
          <p:cNvSpPr>
            <a:spLocks noGrp="1"/>
          </p:cNvSpPr>
          <p:nvPr>
            <p:ph type="title"/>
          </p:nvPr>
        </p:nvSpPr>
        <p:spPr>
          <a:xfrm>
            <a:off x="179512" y="116632"/>
            <a:ext cx="7886700" cy="1325563"/>
          </a:xfrm>
        </p:spPr>
        <p:txBody>
          <a:bodyPr/>
          <a:lstStyle>
            <a:lvl1pPr>
              <a:defRPr b="1">
                <a:latin typeface="微软雅黑" panose="020B0503020204020204" pitchFamily="34" charset="-122"/>
                <a:ea typeface="微软雅黑" panose="020B0503020204020204" pitchFamily="34" charset="-122"/>
              </a:defRPr>
            </a:lvl1pPr>
          </a:lstStyle>
          <a:p>
            <a:r>
              <a:rPr lang="zh-CN" altLang="en-US"/>
              <a:t>单击此处编辑母版标题样式</a:t>
            </a:r>
            <a:endParaRPr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ltLang="zh-CN"/>
          </a:p>
        </p:txBody>
      </p:sp>
      <p:sp>
        <p:nvSpPr>
          <p:cNvPr id="3" name="Footer Placeholder 4"/>
          <p:cNvSpPr>
            <a:spLocks noGrp="1"/>
          </p:cNvSpPr>
          <p:nvPr>
            <p:ph type="ftr" sz="quarter" idx="11"/>
          </p:nvPr>
        </p:nvSpPr>
        <p:spPr/>
        <p:txBody>
          <a:bodyPr/>
          <a:lstStyle>
            <a:lvl1pPr>
              <a:defRPr/>
            </a:lvl1pPr>
          </a:lstStyle>
          <a:p>
            <a:pPr>
              <a:defRPr/>
            </a:pPr>
            <a:endParaRPr lang="en-US" altLang="zh-CN"/>
          </a:p>
        </p:txBody>
      </p:sp>
      <p:sp>
        <p:nvSpPr>
          <p:cNvPr id="4" name="Slide Number Placeholder 5"/>
          <p:cNvSpPr>
            <a:spLocks noGrp="1"/>
          </p:cNvSpPr>
          <p:nvPr>
            <p:ph type="sldNum" sz="quarter" idx="12"/>
          </p:nvPr>
        </p:nvSpPr>
        <p:spPr/>
        <p:txBody>
          <a:bodyPr/>
          <a:lstStyle>
            <a:lvl1pPr>
              <a:defRPr/>
            </a:lvl1pPr>
          </a:lstStyle>
          <a:p>
            <a:pPr>
              <a:defRPr/>
            </a:pPr>
            <a:fld id="{C34C3BD7-260C-4BC9-9C17-940D7F59C4D1}" type="slidenum">
              <a:rPr lang="en-US" altLang="zh-CN"/>
              <a:t>‹#›</a:t>
            </a:fld>
            <a:endParaRPr lang="en-US" altLang="zh-C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3"/>
          <p:cNvSpPr>
            <a:spLocks noGrp="1"/>
          </p:cNvSpPr>
          <p:nvPr>
            <p:ph type="dt" sz="half" idx="10"/>
          </p:nvPr>
        </p:nvSpPr>
        <p:spPr/>
        <p:txBody>
          <a:bodyPr/>
          <a:lstStyle>
            <a:lvl1pPr>
              <a:defRPr/>
            </a:lvl1pPr>
          </a:lstStyle>
          <a:p>
            <a:pPr>
              <a:defRPr/>
            </a:pPr>
            <a:endParaRPr lang="en-US" altLang="zh-CN"/>
          </a:p>
        </p:txBody>
      </p:sp>
      <p:sp>
        <p:nvSpPr>
          <p:cNvPr id="6" name="Footer Placeholder 4"/>
          <p:cNvSpPr>
            <a:spLocks noGrp="1"/>
          </p:cNvSpPr>
          <p:nvPr>
            <p:ph type="ftr" sz="quarter" idx="11"/>
          </p:nvPr>
        </p:nvSpPr>
        <p:spPr/>
        <p:txBody>
          <a:bodyPr/>
          <a:lstStyle>
            <a:lvl1pPr>
              <a:defRPr/>
            </a:lvl1pPr>
          </a:lstStyle>
          <a:p>
            <a:pPr>
              <a:defRPr/>
            </a:pPr>
            <a:endParaRPr lang="en-US" altLang="zh-CN"/>
          </a:p>
        </p:txBody>
      </p:sp>
      <p:sp>
        <p:nvSpPr>
          <p:cNvPr id="7" name="Slide Number Placeholder 5"/>
          <p:cNvSpPr>
            <a:spLocks noGrp="1"/>
          </p:cNvSpPr>
          <p:nvPr>
            <p:ph type="sldNum" sz="quarter" idx="12"/>
          </p:nvPr>
        </p:nvSpPr>
        <p:spPr/>
        <p:txBody>
          <a:bodyPr/>
          <a:lstStyle>
            <a:lvl1pPr>
              <a:defRPr/>
            </a:lvl1pPr>
          </a:lstStyle>
          <a:p>
            <a:pPr>
              <a:defRPr/>
            </a:pPr>
            <a:fld id="{6ACE6C39-29C4-400B-8A62-388FF04E56DD}" type="slidenum">
              <a:rPr lang="en-US" altLang="zh-CN"/>
              <a:t>‹#›</a:t>
            </a:fld>
            <a:endParaRPr lang="en-US" altLang="zh-C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hasCustomPrompt="1"/>
          </p:nvPr>
        </p:nvSpPr>
        <p:spPr>
          <a:xfrm>
            <a:off x="3887391" y="987426"/>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将图片拖动到占位符，或单击添加图标</a:t>
            </a:r>
            <a:endParaRPr lang="en-US" noProof="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3"/>
          <p:cNvSpPr>
            <a:spLocks noGrp="1"/>
          </p:cNvSpPr>
          <p:nvPr>
            <p:ph type="dt" sz="half" idx="10"/>
          </p:nvPr>
        </p:nvSpPr>
        <p:spPr/>
        <p:txBody>
          <a:bodyPr/>
          <a:lstStyle>
            <a:lvl1pPr>
              <a:defRPr/>
            </a:lvl1pPr>
          </a:lstStyle>
          <a:p>
            <a:pPr>
              <a:defRPr/>
            </a:pPr>
            <a:endParaRPr lang="en-US" altLang="zh-CN"/>
          </a:p>
        </p:txBody>
      </p:sp>
      <p:sp>
        <p:nvSpPr>
          <p:cNvPr id="6" name="Footer Placeholder 4"/>
          <p:cNvSpPr>
            <a:spLocks noGrp="1"/>
          </p:cNvSpPr>
          <p:nvPr>
            <p:ph type="ftr" sz="quarter" idx="11"/>
          </p:nvPr>
        </p:nvSpPr>
        <p:spPr/>
        <p:txBody>
          <a:bodyPr/>
          <a:lstStyle>
            <a:lvl1pPr>
              <a:defRPr/>
            </a:lvl1pPr>
          </a:lstStyle>
          <a:p>
            <a:pPr>
              <a:defRPr/>
            </a:pPr>
            <a:endParaRPr lang="en-US" altLang="zh-CN"/>
          </a:p>
        </p:txBody>
      </p:sp>
      <p:sp>
        <p:nvSpPr>
          <p:cNvPr id="7" name="Slide Number Placeholder 5"/>
          <p:cNvSpPr>
            <a:spLocks noGrp="1"/>
          </p:cNvSpPr>
          <p:nvPr>
            <p:ph type="sldNum" sz="quarter" idx="12"/>
          </p:nvPr>
        </p:nvSpPr>
        <p:spPr/>
        <p:txBody>
          <a:bodyPr/>
          <a:lstStyle>
            <a:lvl1pPr>
              <a:defRPr/>
            </a:lvl1pPr>
          </a:lstStyle>
          <a:p>
            <a:pPr>
              <a:defRPr/>
            </a:pPr>
            <a:fld id="{65A6EBAE-B12E-4D6F-8E93-26479E22C411}" type="slidenum">
              <a:rPr lang="en-US" altLang="zh-CN"/>
              <a:t>‹#›</a:t>
            </a:fld>
            <a:endParaRPr lang="en-US" altLang="zh-C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E17DFA39-F49E-4E32-9F7F-DC3B6C5436DB}" type="slidenum">
              <a:rPr lang="en-US" altLang="zh-CN"/>
              <a:t>‹#›</a:t>
            </a:fld>
            <a:endParaRPr lang="en-US" altLang="zh-C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21A70E48-0FCB-4A72-B125-9E5A77787C51}"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316CD0-B21C-4E0E-9991-CFABC5B9F3F3}" type="datetimeFigureOut">
              <a:rPr lang="zh-CN" altLang="en-US" smtClean="0"/>
              <a:t>2026/4/26</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3974CB-F90C-42EB-85A9-915E3DFCF26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28650" y="365125"/>
            <a:ext cx="7886700" cy="1325563"/>
          </a:xfrm>
          <a:prstGeom prst="rect">
            <a:avLst/>
          </a:prstGeom>
          <a:noFill/>
          <a:ln>
            <a:noFill/>
          </a:ln>
        </p:spPr>
        <p:txBody>
          <a:bodyPr vert="horz" wrap="square" lIns="91440" tIns="45720" rIns="91440" bIns="45720" numCol="1" anchor="ctr" anchorCtr="0" compatLnSpc="1"/>
          <a:lstStyle/>
          <a:p>
            <a:pPr lvl="0"/>
            <a:r>
              <a:rPr lang="zh-CN" altLang="en-US"/>
              <a:t>单击此处编辑母版标题样式</a:t>
            </a:r>
          </a:p>
        </p:txBody>
      </p:sp>
      <p:sp>
        <p:nvSpPr>
          <p:cNvPr id="1027" name="Text Placeholder 2"/>
          <p:cNvSpPr>
            <a:spLocks noGrp="1"/>
          </p:cNvSpPr>
          <p:nvPr>
            <p:ph type="body" idx="1"/>
          </p:nvPr>
        </p:nvSpPr>
        <p:spPr bwMode="auto">
          <a:xfrm>
            <a:off x="628650" y="1825625"/>
            <a:ext cx="7886700" cy="4351338"/>
          </a:xfrm>
          <a:prstGeom prst="rect">
            <a:avLst/>
          </a:prstGeom>
          <a:noFill/>
          <a:ln>
            <a:noFill/>
          </a:ln>
        </p:spPr>
        <p:txBody>
          <a:bodyPr vert="horz" wrap="square" lIns="91440" tIns="45720" rIns="91440" bIns="45720" numCol="1" anchor="t" anchorCtr="0" compatLnSpc="1"/>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endParaRPr lang="en-US" altLang="zh-CN"/>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ltLang="zh-CN"/>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chemeClr val="tx1">
                    <a:tint val="75000"/>
                  </a:schemeClr>
                </a:solidFill>
                <a:latin typeface="+mn-lt"/>
              </a:defRPr>
            </a:lvl1pPr>
          </a:lstStyle>
          <a:p>
            <a:pPr>
              <a:defRPr/>
            </a:pPr>
            <a:fld id="{E20A63EA-D302-4CF6-848F-ACE1D644E656}"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fontAlgn="base">
        <a:lnSpc>
          <a:spcPct val="90000"/>
        </a:lnSpc>
        <a:spcBef>
          <a:spcPct val="0"/>
        </a:spcBef>
        <a:spcAft>
          <a:spcPct val="0"/>
        </a:spcAft>
        <a:defRPr sz="4400" b="1" kern="1200">
          <a:solidFill>
            <a:schemeClr val="tx1"/>
          </a:solidFill>
          <a:latin typeface="微软雅黑" panose="020B0503020204020204" pitchFamily="34" charset="-122"/>
          <a:ea typeface="微软雅黑" panose="020B0503020204020204" pitchFamily="34" charset="-122"/>
          <a:cs typeface="+mj-cs"/>
        </a:defRPr>
      </a:lvl1pPr>
      <a:lvl2pPr algn="l" rtl="0" fontAlgn="base">
        <a:lnSpc>
          <a:spcPct val="90000"/>
        </a:lnSpc>
        <a:spcBef>
          <a:spcPct val="0"/>
        </a:spcBef>
        <a:spcAft>
          <a:spcPct val="0"/>
        </a:spcAft>
        <a:defRPr sz="4400">
          <a:solidFill>
            <a:schemeClr val="tx1"/>
          </a:solidFill>
          <a:latin typeface="Calibri Light" charset="0"/>
        </a:defRPr>
      </a:lvl2pPr>
      <a:lvl3pPr algn="l" rtl="0" fontAlgn="base">
        <a:lnSpc>
          <a:spcPct val="90000"/>
        </a:lnSpc>
        <a:spcBef>
          <a:spcPct val="0"/>
        </a:spcBef>
        <a:spcAft>
          <a:spcPct val="0"/>
        </a:spcAft>
        <a:defRPr sz="4400">
          <a:solidFill>
            <a:schemeClr val="tx1"/>
          </a:solidFill>
          <a:latin typeface="Calibri Light" charset="0"/>
        </a:defRPr>
      </a:lvl3pPr>
      <a:lvl4pPr algn="l" rtl="0" fontAlgn="base">
        <a:lnSpc>
          <a:spcPct val="90000"/>
        </a:lnSpc>
        <a:spcBef>
          <a:spcPct val="0"/>
        </a:spcBef>
        <a:spcAft>
          <a:spcPct val="0"/>
        </a:spcAft>
        <a:defRPr sz="4400">
          <a:solidFill>
            <a:schemeClr val="tx1"/>
          </a:solidFill>
          <a:latin typeface="Calibri Light" charset="0"/>
        </a:defRPr>
      </a:lvl4pPr>
      <a:lvl5pPr algn="l" rtl="0" fontAlgn="base">
        <a:lnSpc>
          <a:spcPct val="90000"/>
        </a:lnSpc>
        <a:spcBef>
          <a:spcPct val="0"/>
        </a:spcBef>
        <a:spcAft>
          <a:spcPct val="0"/>
        </a:spcAft>
        <a:defRPr sz="4400">
          <a:solidFill>
            <a:schemeClr val="tx1"/>
          </a:solidFill>
          <a:latin typeface="Calibri Light" charset="0"/>
        </a:defRPr>
      </a:lvl5pPr>
      <a:lvl6pPr marL="457200" algn="l" rtl="0" fontAlgn="base">
        <a:lnSpc>
          <a:spcPct val="90000"/>
        </a:lnSpc>
        <a:spcBef>
          <a:spcPct val="0"/>
        </a:spcBef>
        <a:spcAft>
          <a:spcPct val="0"/>
        </a:spcAft>
        <a:defRPr sz="4400">
          <a:solidFill>
            <a:schemeClr val="tx1"/>
          </a:solidFill>
          <a:latin typeface="Calibri Light" charset="0"/>
        </a:defRPr>
      </a:lvl6pPr>
      <a:lvl7pPr marL="914400" algn="l" rtl="0" fontAlgn="base">
        <a:lnSpc>
          <a:spcPct val="90000"/>
        </a:lnSpc>
        <a:spcBef>
          <a:spcPct val="0"/>
        </a:spcBef>
        <a:spcAft>
          <a:spcPct val="0"/>
        </a:spcAft>
        <a:defRPr sz="4400">
          <a:solidFill>
            <a:schemeClr val="tx1"/>
          </a:solidFill>
          <a:latin typeface="Calibri Light" charset="0"/>
        </a:defRPr>
      </a:lvl7pPr>
      <a:lvl8pPr marL="1371600" algn="l" rtl="0" fontAlgn="base">
        <a:lnSpc>
          <a:spcPct val="90000"/>
        </a:lnSpc>
        <a:spcBef>
          <a:spcPct val="0"/>
        </a:spcBef>
        <a:spcAft>
          <a:spcPct val="0"/>
        </a:spcAft>
        <a:defRPr sz="4400">
          <a:solidFill>
            <a:schemeClr val="tx1"/>
          </a:solidFill>
          <a:latin typeface="Calibri Light" charset="0"/>
        </a:defRPr>
      </a:lvl8pPr>
      <a:lvl9pPr marL="1828800" algn="l" rtl="0" fontAlgn="base">
        <a:lnSpc>
          <a:spcPct val="90000"/>
        </a:lnSpc>
        <a:spcBef>
          <a:spcPct val="0"/>
        </a:spcBef>
        <a:spcAft>
          <a:spcPct val="0"/>
        </a:spcAft>
        <a:defRPr sz="4400">
          <a:solidFill>
            <a:schemeClr val="tx1"/>
          </a:solidFill>
          <a:latin typeface="Calibri Light" charset="0"/>
        </a:defRPr>
      </a:lvl9pPr>
    </p:titleStyle>
    <p:bodyStyle>
      <a:lvl1pPr marL="228600" indent="-228600" algn="l" rtl="0" fontAlgn="base">
        <a:lnSpc>
          <a:spcPct val="90000"/>
        </a:lnSpc>
        <a:spcBef>
          <a:spcPts val="1000"/>
        </a:spcBef>
        <a:spcAft>
          <a:spcPct val="0"/>
        </a:spcAft>
        <a:buFont typeface="Arial" panose="020B0604020202090204" pitchFamily="34" charset="0"/>
        <a:buChar char="•"/>
        <a:defRPr sz="2800" kern="1200">
          <a:solidFill>
            <a:schemeClr val="tx1"/>
          </a:solidFill>
          <a:latin typeface="Consolas" panose="020B0609020204030204" pitchFamily="49" charset="0"/>
          <a:ea typeface="华文楷体" panose="02010600040101010101" pitchFamily="2" charset="-122"/>
          <a:cs typeface="+mn-cs"/>
        </a:defRPr>
      </a:lvl1pPr>
      <a:lvl2pPr marL="685800" indent="-228600" algn="l" rtl="0" fontAlgn="base">
        <a:lnSpc>
          <a:spcPct val="90000"/>
        </a:lnSpc>
        <a:spcBef>
          <a:spcPts val="500"/>
        </a:spcBef>
        <a:spcAft>
          <a:spcPct val="0"/>
        </a:spcAft>
        <a:buFont typeface="Arial" panose="020B0604020202090204" pitchFamily="34" charset="0"/>
        <a:buChar char="•"/>
        <a:defRPr sz="2400" kern="1200">
          <a:solidFill>
            <a:schemeClr val="tx1"/>
          </a:solidFill>
          <a:latin typeface="Consolas" panose="020B0609020204030204" pitchFamily="49" charset="0"/>
          <a:ea typeface="华文楷体" panose="02010600040101010101" pitchFamily="2" charset="-122"/>
          <a:cs typeface="+mn-cs"/>
        </a:defRPr>
      </a:lvl2pPr>
      <a:lvl3pPr marL="1143000" indent="-228600" algn="l" rtl="0" fontAlgn="base">
        <a:lnSpc>
          <a:spcPct val="90000"/>
        </a:lnSpc>
        <a:spcBef>
          <a:spcPts val="500"/>
        </a:spcBef>
        <a:spcAft>
          <a:spcPct val="0"/>
        </a:spcAft>
        <a:buFont typeface="Arial" panose="020B0604020202090204" pitchFamily="34" charset="0"/>
        <a:buChar char="•"/>
        <a:defRPr sz="2000" kern="1200">
          <a:solidFill>
            <a:schemeClr val="tx1"/>
          </a:solidFill>
          <a:latin typeface="Consolas" panose="020B0609020204030204" pitchFamily="49" charset="0"/>
          <a:ea typeface="华文楷体" panose="02010600040101010101" pitchFamily="2" charset="-122"/>
          <a:cs typeface="+mn-cs"/>
        </a:defRPr>
      </a:lvl3pPr>
      <a:lvl4pPr marL="1600200" indent="-228600" algn="l" rtl="0" fontAlgn="base">
        <a:lnSpc>
          <a:spcPct val="90000"/>
        </a:lnSpc>
        <a:spcBef>
          <a:spcPts val="500"/>
        </a:spcBef>
        <a:spcAft>
          <a:spcPct val="0"/>
        </a:spcAft>
        <a:buFont typeface="Arial" panose="020B0604020202090204" pitchFamily="34" charset="0"/>
        <a:buChar char="•"/>
        <a:defRPr kern="1200">
          <a:solidFill>
            <a:schemeClr val="tx1"/>
          </a:solidFill>
          <a:latin typeface="Consolas" panose="020B0609020204030204" pitchFamily="49" charset="0"/>
          <a:ea typeface="华文楷体" panose="02010600040101010101" pitchFamily="2" charset="-122"/>
          <a:cs typeface="+mn-cs"/>
        </a:defRPr>
      </a:lvl4pPr>
      <a:lvl5pPr marL="2057400" indent="-228600" algn="l" rtl="0" fontAlgn="base">
        <a:lnSpc>
          <a:spcPct val="90000"/>
        </a:lnSpc>
        <a:spcBef>
          <a:spcPts val="500"/>
        </a:spcBef>
        <a:spcAft>
          <a:spcPct val="0"/>
        </a:spcAft>
        <a:buFont typeface="Arial" panose="020B0604020202090204" pitchFamily="34" charset="0"/>
        <a:buChar char="•"/>
        <a:defRPr kern="1200">
          <a:solidFill>
            <a:schemeClr val="tx1"/>
          </a:solidFill>
          <a:latin typeface="Consolas" panose="020B0609020204030204" pitchFamily="49" charset="0"/>
          <a:ea typeface="华文楷体"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Text Placeholder 2"/>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endParaRPr lang="en-US" altLang="zh-CN"/>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ltLang="zh-CN"/>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chemeClr val="tx1">
                    <a:tint val="75000"/>
                  </a:schemeClr>
                </a:solidFill>
                <a:latin typeface="+mn-lt"/>
              </a:defRPr>
            </a:lvl1pPr>
          </a:lstStyle>
          <a:p>
            <a:pPr>
              <a:defRPr/>
            </a:pPr>
            <a:fld id="{E20A63EA-D302-4CF6-848F-ACE1D644E656}"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rtl="0" eaLnBrk="1" fontAlgn="base" hangingPunct="1">
        <a:lnSpc>
          <a:spcPct val="90000"/>
        </a:lnSpc>
        <a:spcBef>
          <a:spcPct val="0"/>
        </a:spcBef>
        <a:spcAft>
          <a:spcPct val="0"/>
        </a:spcAft>
        <a:defRPr sz="4400" b="1" kern="1200">
          <a:solidFill>
            <a:schemeClr val="tx1"/>
          </a:solidFill>
          <a:latin typeface="微软雅黑" panose="020B0503020204020204" pitchFamily="34" charset="-122"/>
          <a:ea typeface="微软雅黑" panose="020B0503020204020204" pitchFamily="34" charset="-122"/>
          <a:cs typeface="+mj-cs"/>
        </a:defRPr>
      </a:lvl1pPr>
      <a:lvl2pPr algn="l" rtl="0" eaLnBrk="1" fontAlgn="base" hangingPunct="1">
        <a:lnSpc>
          <a:spcPct val="90000"/>
        </a:lnSpc>
        <a:spcBef>
          <a:spcPct val="0"/>
        </a:spcBef>
        <a:spcAft>
          <a:spcPct val="0"/>
        </a:spcAft>
        <a:defRPr sz="4400">
          <a:solidFill>
            <a:schemeClr val="tx1"/>
          </a:solidFill>
          <a:latin typeface="Calibri Light" charset="0"/>
        </a:defRPr>
      </a:lvl2pPr>
      <a:lvl3pPr algn="l" rtl="0" eaLnBrk="1" fontAlgn="base" hangingPunct="1">
        <a:lnSpc>
          <a:spcPct val="90000"/>
        </a:lnSpc>
        <a:spcBef>
          <a:spcPct val="0"/>
        </a:spcBef>
        <a:spcAft>
          <a:spcPct val="0"/>
        </a:spcAft>
        <a:defRPr sz="4400">
          <a:solidFill>
            <a:schemeClr val="tx1"/>
          </a:solidFill>
          <a:latin typeface="Calibri Light" charset="0"/>
        </a:defRPr>
      </a:lvl3pPr>
      <a:lvl4pPr algn="l" rtl="0" eaLnBrk="1" fontAlgn="base" hangingPunct="1">
        <a:lnSpc>
          <a:spcPct val="90000"/>
        </a:lnSpc>
        <a:spcBef>
          <a:spcPct val="0"/>
        </a:spcBef>
        <a:spcAft>
          <a:spcPct val="0"/>
        </a:spcAft>
        <a:defRPr sz="4400">
          <a:solidFill>
            <a:schemeClr val="tx1"/>
          </a:solidFill>
          <a:latin typeface="Calibri Light" charset="0"/>
        </a:defRPr>
      </a:lvl4pPr>
      <a:lvl5pPr algn="l" rtl="0" eaLnBrk="1" fontAlgn="base" hangingPunct="1">
        <a:lnSpc>
          <a:spcPct val="90000"/>
        </a:lnSpc>
        <a:spcBef>
          <a:spcPct val="0"/>
        </a:spcBef>
        <a:spcAft>
          <a:spcPct val="0"/>
        </a:spcAft>
        <a:defRPr sz="4400">
          <a:solidFill>
            <a:schemeClr val="tx1"/>
          </a:solidFill>
          <a:latin typeface="Calibri Light" charset="0"/>
        </a:defRPr>
      </a:lvl5pPr>
      <a:lvl6pPr marL="457200" algn="l" rtl="0" eaLnBrk="1" fontAlgn="base" hangingPunct="1">
        <a:lnSpc>
          <a:spcPct val="90000"/>
        </a:lnSpc>
        <a:spcBef>
          <a:spcPct val="0"/>
        </a:spcBef>
        <a:spcAft>
          <a:spcPct val="0"/>
        </a:spcAft>
        <a:defRPr sz="4400">
          <a:solidFill>
            <a:schemeClr val="tx1"/>
          </a:solidFill>
          <a:latin typeface="Calibri Light" charset="0"/>
        </a:defRPr>
      </a:lvl6pPr>
      <a:lvl7pPr marL="914400" algn="l" rtl="0" eaLnBrk="1" fontAlgn="base" hangingPunct="1">
        <a:lnSpc>
          <a:spcPct val="90000"/>
        </a:lnSpc>
        <a:spcBef>
          <a:spcPct val="0"/>
        </a:spcBef>
        <a:spcAft>
          <a:spcPct val="0"/>
        </a:spcAft>
        <a:defRPr sz="4400">
          <a:solidFill>
            <a:schemeClr val="tx1"/>
          </a:solidFill>
          <a:latin typeface="Calibri Light" charset="0"/>
        </a:defRPr>
      </a:lvl7pPr>
      <a:lvl8pPr marL="1371600" algn="l" rtl="0" eaLnBrk="1" fontAlgn="base" hangingPunct="1">
        <a:lnSpc>
          <a:spcPct val="90000"/>
        </a:lnSpc>
        <a:spcBef>
          <a:spcPct val="0"/>
        </a:spcBef>
        <a:spcAft>
          <a:spcPct val="0"/>
        </a:spcAft>
        <a:defRPr sz="4400">
          <a:solidFill>
            <a:schemeClr val="tx1"/>
          </a:solidFill>
          <a:latin typeface="Calibri Light" charset="0"/>
        </a:defRPr>
      </a:lvl8pPr>
      <a:lvl9pPr marL="1828800" algn="l" rtl="0" eaLnBrk="1" fontAlgn="base" hangingPunct="1">
        <a:lnSpc>
          <a:spcPct val="90000"/>
        </a:lnSpc>
        <a:spcBef>
          <a:spcPct val="0"/>
        </a:spcBef>
        <a:spcAft>
          <a:spcPct val="0"/>
        </a:spcAft>
        <a:defRPr sz="4400">
          <a:solidFill>
            <a:schemeClr val="tx1"/>
          </a:solidFill>
          <a:latin typeface="Calibri Light" charset="0"/>
        </a:defRPr>
      </a:lvl9pPr>
    </p:titleStyle>
    <p:bodyStyle>
      <a:lvl1pPr marL="228600" indent="-228600" algn="l" rtl="0" eaLnBrk="1" fontAlgn="base" hangingPunct="1">
        <a:lnSpc>
          <a:spcPct val="90000"/>
        </a:lnSpc>
        <a:spcBef>
          <a:spcPts val="1000"/>
        </a:spcBef>
        <a:spcAft>
          <a:spcPct val="0"/>
        </a:spcAft>
        <a:buFont typeface="Arial" panose="020B0604020202090204" pitchFamily="34" charset="0"/>
        <a:buChar char="•"/>
        <a:defRPr sz="2800" kern="1200">
          <a:solidFill>
            <a:schemeClr val="tx1"/>
          </a:solidFill>
          <a:latin typeface="Consolas" panose="020B0609020204030204" pitchFamily="49" charset="0"/>
          <a:ea typeface="华文楷体" panose="02010600040101010101" pitchFamily="2" charset="-122"/>
          <a:cs typeface="+mn-cs"/>
        </a:defRPr>
      </a:lvl1pPr>
      <a:lvl2pPr marL="685800" indent="-228600" algn="l" rtl="0" eaLnBrk="1" fontAlgn="base" hangingPunct="1">
        <a:lnSpc>
          <a:spcPct val="90000"/>
        </a:lnSpc>
        <a:spcBef>
          <a:spcPts val="500"/>
        </a:spcBef>
        <a:spcAft>
          <a:spcPct val="0"/>
        </a:spcAft>
        <a:buFont typeface="Arial" panose="020B0604020202090204" pitchFamily="34" charset="0"/>
        <a:buChar char="•"/>
        <a:defRPr sz="2400" kern="1200">
          <a:solidFill>
            <a:schemeClr val="tx1"/>
          </a:solidFill>
          <a:latin typeface="Consolas" panose="020B0609020204030204" pitchFamily="49" charset="0"/>
          <a:ea typeface="华文楷体" panose="02010600040101010101" pitchFamily="2" charset="-122"/>
          <a:cs typeface="+mn-cs"/>
        </a:defRPr>
      </a:lvl2pPr>
      <a:lvl3pPr marL="1143000" indent="-228600" algn="l" rtl="0" eaLnBrk="1" fontAlgn="base" hangingPunct="1">
        <a:lnSpc>
          <a:spcPct val="90000"/>
        </a:lnSpc>
        <a:spcBef>
          <a:spcPts val="500"/>
        </a:spcBef>
        <a:spcAft>
          <a:spcPct val="0"/>
        </a:spcAft>
        <a:buFont typeface="Arial" panose="020B0604020202090204" pitchFamily="34" charset="0"/>
        <a:buChar char="•"/>
        <a:defRPr sz="2000" kern="1200">
          <a:solidFill>
            <a:schemeClr val="tx1"/>
          </a:solidFill>
          <a:latin typeface="Consolas" panose="020B0609020204030204" pitchFamily="49" charset="0"/>
          <a:ea typeface="华文楷体" panose="02010600040101010101" pitchFamily="2" charset="-122"/>
          <a:cs typeface="+mn-cs"/>
        </a:defRPr>
      </a:lvl3pPr>
      <a:lvl4pPr marL="1600200" indent="-228600" algn="l" rtl="0" eaLnBrk="1" fontAlgn="base" hangingPunct="1">
        <a:lnSpc>
          <a:spcPct val="90000"/>
        </a:lnSpc>
        <a:spcBef>
          <a:spcPts val="500"/>
        </a:spcBef>
        <a:spcAft>
          <a:spcPct val="0"/>
        </a:spcAft>
        <a:buFont typeface="Arial" panose="020B0604020202090204" pitchFamily="34" charset="0"/>
        <a:buChar char="•"/>
        <a:defRPr kern="1200">
          <a:solidFill>
            <a:schemeClr val="tx1"/>
          </a:solidFill>
          <a:latin typeface="Consolas" panose="020B0609020204030204" pitchFamily="49" charset="0"/>
          <a:ea typeface="华文楷体" panose="02010600040101010101" pitchFamily="2" charset="-122"/>
          <a:cs typeface="+mn-cs"/>
        </a:defRPr>
      </a:lvl4pPr>
      <a:lvl5pPr marL="2057400" indent="-228600" algn="l" rtl="0" eaLnBrk="1" fontAlgn="base" hangingPunct="1">
        <a:lnSpc>
          <a:spcPct val="90000"/>
        </a:lnSpc>
        <a:spcBef>
          <a:spcPts val="500"/>
        </a:spcBef>
        <a:spcAft>
          <a:spcPct val="0"/>
        </a:spcAft>
        <a:buFont typeface="Arial" panose="020B0604020202090204" pitchFamily="34" charset="0"/>
        <a:buChar char="•"/>
        <a:defRPr kern="1200">
          <a:solidFill>
            <a:schemeClr val="tx1"/>
          </a:solidFill>
          <a:latin typeface="Consolas" panose="020B0609020204030204" pitchFamily="49" charset="0"/>
          <a:ea typeface="华文楷体"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juren1987.github.io/" TargetMode="External"/><Relationship Id="rId2" Type="http://schemas.openxmlformats.org/officeDocument/2006/relationships/hyperlink" Target="mailto:renju@tsinghua.edu.cn" TargetMode="Externa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notesSlide" Target="../notesSlides/notesSlide7.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slideLayout" Target="../slideLayouts/slideLayout7.xml"/><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cplusplus.com/reference/vector/vector/push_back/"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tags" Target="../tags/tag35.xml"/><Relationship Id="rId13" Type="http://schemas.openxmlformats.org/officeDocument/2006/relationships/tags" Target="../tags/tag40.xml"/><Relationship Id="rId18" Type="http://schemas.openxmlformats.org/officeDocument/2006/relationships/tags" Target="../tags/tag45.xml"/><Relationship Id="rId26" Type="http://schemas.openxmlformats.org/officeDocument/2006/relationships/tags" Target="../tags/tag53.xml"/><Relationship Id="rId3" Type="http://schemas.openxmlformats.org/officeDocument/2006/relationships/tags" Target="../tags/tag30.xml"/><Relationship Id="rId21" Type="http://schemas.openxmlformats.org/officeDocument/2006/relationships/tags" Target="../tags/tag48.xml"/><Relationship Id="rId7" Type="http://schemas.openxmlformats.org/officeDocument/2006/relationships/tags" Target="../tags/tag34.xml"/><Relationship Id="rId12" Type="http://schemas.openxmlformats.org/officeDocument/2006/relationships/tags" Target="../tags/tag39.xml"/><Relationship Id="rId17" Type="http://schemas.openxmlformats.org/officeDocument/2006/relationships/tags" Target="../tags/tag44.xml"/><Relationship Id="rId25" Type="http://schemas.openxmlformats.org/officeDocument/2006/relationships/tags" Target="../tags/tag52.xml"/><Relationship Id="rId2" Type="http://schemas.openxmlformats.org/officeDocument/2006/relationships/tags" Target="../tags/tag29.xml"/><Relationship Id="rId16" Type="http://schemas.openxmlformats.org/officeDocument/2006/relationships/tags" Target="../tags/tag43.xml"/><Relationship Id="rId20" Type="http://schemas.openxmlformats.org/officeDocument/2006/relationships/tags" Target="../tags/tag47.xml"/><Relationship Id="rId29" Type="http://schemas.openxmlformats.org/officeDocument/2006/relationships/notesSlide" Target="../notesSlides/notesSlide12.xml"/><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tags" Target="../tags/tag38.xml"/><Relationship Id="rId24" Type="http://schemas.openxmlformats.org/officeDocument/2006/relationships/tags" Target="../tags/tag51.xml"/><Relationship Id="rId5" Type="http://schemas.openxmlformats.org/officeDocument/2006/relationships/tags" Target="../tags/tag32.xml"/><Relationship Id="rId15" Type="http://schemas.openxmlformats.org/officeDocument/2006/relationships/tags" Target="../tags/tag42.xml"/><Relationship Id="rId23" Type="http://schemas.openxmlformats.org/officeDocument/2006/relationships/tags" Target="../tags/tag50.xml"/><Relationship Id="rId28" Type="http://schemas.openxmlformats.org/officeDocument/2006/relationships/slideLayout" Target="../slideLayouts/slideLayout7.xml"/><Relationship Id="rId10" Type="http://schemas.openxmlformats.org/officeDocument/2006/relationships/tags" Target="../tags/tag37.xml"/><Relationship Id="rId19" Type="http://schemas.openxmlformats.org/officeDocument/2006/relationships/tags" Target="../tags/tag46.xml"/><Relationship Id="rId4" Type="http://schemas.openxmlformats.org/officeDocument/2006/relationships/tags" Target="../tags/tag31.xml"/><Relationship Id="rId9" Type="http://schemas.openxmlformats.org/officeDocument/2006/relationships/tags" Target="../tags/tag36.xml"/><Relationship Id="rId14" Type="http://schemas.openxmlformats.org/officeDocument/2006/relationships/tags" Target="../tags/tag41.xml"/><Relationship Id="rId22" Type="http://schemas.openxmlformats.org/officeDocument/2006/relationships/tags" Target="../tags/tag49.xml"/><Relationship Id="rId27" Type="http://schemas.openxmlformats.org/officeDocument/2006/relationships/tags" Target="../tags/tag54.xml"/><Relationship Id="rId30"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en.cppreference.com/w/cpp/memory/allocator"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8" Type="http://schemas.openxmlformats.org/officeDocument/2006/relationships/tags" Target="../tags/tag62.xml"/><Relationship Id="rId13" Type="http://schemas.openxmlformats.org/officeDocument/2006/relationships/tags" Target="../tags/tag67.xml"/><Relationship Id="rId18" Type="http://schemas.openxmlformats.org/officeDocument/2006/relationships/tags" Target="../tags/tag72.xml"/><Relationship Id="rId26" Type="http://schemas.openxmlformats.org/officeDocument/2006/relationships/tags" Target="../tags/tag80.xml"/><Relationship Id="rId3" Type="http://schemas.openxmlformats.org/officeDocument/2006/relationships/tags" Target="../tags/tag57.xml"/><Relationship Id="rId21" Type="http://schemas.openxmlformats.org/officeDocument/2006/relationships/tags" Target="../tags/tag75.xml"/><Relationship Id="rId7" Type="http://schemas.openxmlformats.org/officeDocument/2006/relationships/tags" Target="../tags/tag61.xml"/><Relationship Id="rId12" Type="http://schemas.openxmlformats.org/officeDocument/2006/relationships/tags" Target="../tags/tag66.xml"/><Relationship Id="rId17" Type="http://schemas.openxmlformats.org/officeDocument/2006/relationships/tags" Target="../tags/tag71.xml"/><Relationship Id="rId25" Type="http://schemas.openxmlformats.org/officeDocument/2006/relationships/tags" Target="../tags/tag79.xml"/><Relationship Id="rId2" Type="http://schemas.openxmlformats.org/officeDocument/2006/relationships/tags" Target="../tags/tag56.xml"/><Relationship Id="rId16" Type="http://schemas.openxmlformats.org/officeDocument/2006/relationships/tags" Target="../tags/tag70.xml"/><Relationship Id="rId20" Type="http://schemas.openxmlformats.org/officeDocument/2006/relationships/tags" Target="../tags/tag74.xml"/><Relationship Id="rId29" Type="http://schemas.openxmlformats.org/officeDocument/2006/relationships/notesSlide" Target="../notesSlides/notesSlide15.xml"/><Relationship Id="rId1" Type="http://schemas.openxmlformats.org/officeDocument/2006/relationships/tags" Target="../tags/tag55.xml"/><Relationship Id="rId6" Type="http://schemas.openxmlformats.org/officeDocument/2006/relationships/tags" Target="../tags/tag60.xml"/><Relationship Id="rId11" Type="http://schemas.openxmlformats.org/officeDocument/2006/relationships/tags" Target="../tags/tag65.xml"/><Relationship Id="rId24" Type="http://schemas.openxmlformats.org/officeDocument/2006/relationships/tags" Target="../tags/tag78.xml"/><Relationship Id="rId5" Type="http://schemas.openxmlformats.org/officeDocument/2006/relationships/tags" Target="../tags/tag59.xml"/><Relationship Id="rId15" Type="http://schemas.openxmlformats.org/officeDocument/2006/relationships/tags" Target="../tags/tag69.xml"/><Relationship Id="rId23" Type="http://schemas.openxmlformats.org/officeDocument/2006/relationships/tags" Target="../tags/tag77.xml"/><Relationship Id="rId28" Type="http://schemas.openxmlformats.org/officeDocument/2006/relationships/slideLayout" Target="../slideLayouts/slideLayout7.xml"/><Relationship Id="rId10" Type="http://schemas.openxmlformats.org/officeDocument/2006/relationships/tags" Target="../tags/tag64.xml"/><Relationship Id="rId19" Type="http://schemas.openxmlformats.org/officeDocument/2006/relationships/tags" Target="../tags/tag73.xml"/><Relationship Id="rId4" Type="http://schemas.openxmlformats.org/officeDocument/2006/relationships/tags" Target="../tags/tag58.xml"/><Relationship Id="rId9" Type="http://schemas.openxmlformats.org/officeDocument/2006/relationships/tags" Target="../tags/tag63.xml"/><Relationship Id="rId14" Type="http://schemas.openxmlformats.org/officeDocument/2006/relationships/tags" Target="../tags/tag68.xml"/><Relationship Id="rId22" Type="http://schemas.openxmlformats.org/officeDocument/2006/relationships/tags" Target="../tags/tag76.xml"/><Relationship Id="rId27" Type="http://schemas.openxmlformats.org/officeDocument/2006/relationships/tags" Target="../tags/tag81.xml"/><Relationship Id="rId30" Type="http://schemas.openxmlformats.org/officeDocument/2006/relationships/image" Target="../media/image2.png"/></Relationships>
</file>

<file path=ppt/slides/_rels/slide59.xml.rels><?xml version="1.0" encoding="UTF-8" standalone="yes"?>
<Relationships xmlns="http://schemas.openxmlformats.org/package/2006/relationships"><Relationship Id="rId8" Type="http://schemas.openxmlformats.org/officeDocument/2006/relationships/tags" Target="../tags/tag89.xml"/><Relationship Id="rId13" Type="http://schemas.openxmlformats.org/officeDocument/2006/relationships/tags" Target="../tags/tag94.xml"/><Relationship Id="rId18" Type="http://schemas.openxmlformats.org/officeDocument/2006/relationships/tags" Target="../tags/tag99.xml"/><Relationship Id="rId26" Type="http://schemas.openxmlformats.org/officeDocument/2006/relationships/tags" Target="../tags/tag107.xml"/><Relationship Id="rId3" Type="http://schemas.openxmlformats.org/officeDocument/2006/relationships/tags" Target="../tags/tag84.xml"/><Relationship Id="rId21" Type="http://schemas.openxmlformats.org/officeDocument/2006/relationships/tags" Target="../tags/tag102.xml"/><Relationship Id="rId7" Type="http://schemas.openxmlformats.org/officeDocument/2006/relationships/tags" Target="../tags/tag88.xml"/><Relationship Id="rId12" Type="http://schemas.openxmlformats.org/officeDocument/2006/relationships/tags" Target="../tags/tag93.xml"/><Relationship Id="rId17" Type="http://schemas.openxmlformats.org/officeDocument/2006/relationships/tags" Target="../tags/tag98.xml"/><Relationship Id="rId25" Type="http://schemas.openxmlformats.org/officeDocument/2006/relationships/tags" Target="../tags/tag106.xml"/><Relationship Id="rId2" Type="http://schemas.openxmlformats.org/officeDocument/2006/relationships/tags" Target="../tags/tag83.xml"/><Relationship Id="rId16" Type="http://schemas.openxmlformats.org/officeDocument/2006/relationships/tags" Target="../tags/tag97.xml"/><Relationship Id="rId20" Type="http://schemas.openxmlformats.org/officeDocument/2006/relationships/tags" Target="../tags/tag101.xml"/><Relationship Id="rId29" Type="http://schemas.openxmlformats.org/officeDocument/2006/relationships/notesSlide" Target="../notesSlides/notesSlide16.xml"/><Relationship Id="rId1" Type="http://schemas.openxmlformats.org/officeDocument/2006/relationships/tags" Target="../tags/tag82.xml"/><Relationship Id="rId6" Type="http://schemas.openxmlformats.org/officeDocument/2006/relationships/tags" Target="../tags/tag87.xml"/><Relationship Id="rId11" Type="http://schemas.openxmlformats.org/officeDocument/2006/relationships/tags" Target="../tags/tag92.xml"/><Relationship Id="rId24" Type="http://schemas.openxmlformats.org/officeDocument/2006/relationships/tags" Target="../tags/tag105.xml"/><Relationship Id="rId5" Type="http://schemas.openxmlformats.org/officeDocument/2006/relationships/tags" Target="../tags/tag86.xml"/><Relationship Id="rId15" Type="http://schemas.openxmlformats.org/officeDocument/2006/relationships/tags" Target="../tags/tag96.xml"/><Relationship Id="rId23" Type="http://schemas.openxmlformats.org/officeDocument/2006/relationships/tags" Target="../tags/tag104.xml"/><Relationship Id="rId28" Type="http://schemas.openxmlformats.org/officeDocument/2006/relationships/slideLayout" Target="../slideLayouts/slideLayout7.xml"/><Relationship Id="rId10" Type="http://schemas.openxmlformats.org/officeDocument/2006/relationships/tags" Target="../tags/tag91.xml"/><Relationship Id="rId19" Type="http://schemas.openxmlformats.org/officeDocument/2006/relationships/tags" Target="../tags/tag100.xml"/><Relationship Id="rId4" Type="http://schemas.openxmlformats.org/officeDocument/2006/relationships/tags" Target="../tags/tag85.xml"/><Relationship Id="rId9" Type="http://schemas.openxmlformats.org/officeDocument/2006/relationships/tags" Target="../tags/tag90.xml"/><Relationship Id="rId14" Type="http://schemas.openxmlformats.org/officeDocument/2006/relationships/tags" Target="../tags/tag95.xml"/><Relationship Id="rId22" Type="http://schemas.openxmlformats.org/officeDocument/2006/relationships/tags" Target="../tags/tag103.xml"/><Relationship Id="rId27" Type="http://schemas.openxmlformats.org/officeDocument/2006/relationships/tags" Target="../tags/tag108.xml"/><Relationship Id="rId30" Type="http://schemas.openxmlformats.org/officeDocument/2006/relationships/image" Target="../media/image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8" Type="http://schemas.openxmlformats.org/officeDocument/2006/relationships/tags" Target="../tags/tag116.xml"/><Relationship Id="rId13" Type="http://schemas.openxmlformats.org/officeDocument/2006/relationships/tags" Target="../tags/tag121.xml"/><Relationship Id="rId18" Type="http://schemas.openxmlformats.org/officeDocument/2006/relationships/tags" Target="../tags/tag126.xml"/><Relationship Id="rId26" Type="http://schemas.openxmlformats.org/officeDocument/2006/relationships/tags" Target="../tags/tag134.xml"/><Relationship Id="rId3" Type="http://schemas.openxmlformats.org/officeDocument/2006/relationships/tags" Target="../tags/tag111.xml"/><Relationship Id="rId21" Type="http://schemas.openxmlformats.org/officeDocument/2006/relationships/tags" Target="../tags/tag129.xml"/><Relationship Id="rId7" Type="http://schemas.openxmlformats.org/officeDocument/2006/relationships/tags" Target="../tags/tag115.xml"/><Relationship Id="rId12" Type="http://schemas.openxmlformats.org/officeDocument/2006/relationships/tags" Target="../tags/tag120.xml"/><Relationship Id="rId17" Type="http://schemas.openxmlformats.org/officeDocument/2006/relationships/tags" Target="../tags/tag125.xml"/><Relationship Id="rId25" Type="http://schemas.openxmlformats.org/officeDocument/2006/relationships/tags" Target="../tags/tag133.xml"/><Relationship Id="rId2" Type="http://schemas.openxmlformats.org/officeDocument/2006/relationships/tags" Target="../tags/tag110.xml"/><Relationship Id="rId16" Type="http://schemas.openxmlformats.org/officeDocument/2006/relationships/tags" Target="../tags/tag124.xml"/><Relationship Id="rId20" Type="http://schemas.openxmlformats.org/officeDocument/2006/relationships/tags" Target="../tags/tag128.xml"/><Relationship Id="rId29" Type="http://schemas.openxmlformats.org/officeDocument/2006/relationships/image" Target="../media/image2.png"/><Relationship Id="rId1" Type="http://schemas.openxmlformats.org/officeDocument/2006/relationships/tags" Target="../tags/tag109.xml"/><Relationship Id="rId6" Type="http://schemas.openxmlformats.org/officeDocument/2006/relationships/tags" Target="../tags/tag114.xml"/><Relationship Id="rId11" Type="http://schemas.openxmlformats.org/officeDocument/2006/relationships/tags" Target="../tags/tag119.xml"/><Relationship Id="rId24" Type="http://schemas.openxmlformats.org/officeDocument/2006/relationships/tags" Target="../tags/tag132.xml"/><Relationship Id="rId5" Type="http://schemas.openxmlformats.org/officeDocument/2006/relationships/tags" Target="../tags/tag113.xml"/><Relationship Id="rId15" Type="http://schemas.openxmlformats.org/officeDocument/2006/relationships/tags" Target="../tags/tag123.xml"/><Relationship Id="rId23" Type="http://schemas.openxmlformats.org/officeDocument/2006/relationships/tags" Target="../tags/tag131.xml"/><Relationship Id="rId28" Type="http://schemas.openxmlformats.org/officeDocument/2006/relationships/slideLayout" Target="../slideLayouts/slideLayout18.xml"/><Relationship Id="rId10" Type="http://schemas.openxmlformats.org/officeDocument/2006/relationships/tags" Target="../tags/tag118.xml"/><Relationship Id="rId19" Type="http://schemas.openxmlformats.org/officeDocument/2006/relationships/tags" Target="../tags/tag127.xml"/><Relationship Id="rId4" Type="http://schemas.openxmlformats.org/officeDocument/2006/relationships/tags" Target="../tags/tag112.xml"/><Relationship Id="rId9" Type="http://schemas.openxmlformats.org/officeDocument/2006/relationships/tags" Target="../tags/tag117.xml"/><Relationship Id="rId14" Type="http://schemas.openxmlformats.org/officeDocument/2006/relationships/tags" Target="../tags/tag122.xml"/><Relationship Id="rId22" Type="http://schemas.openxmlformats.org/officeDocument/2006/relationships/tags" Target="../tags/tag130.xml"/><Relationship Id="rId27" Type="http://schemas.openxmlformats.org/officeDocument/2006/relationships/tags" Target="../tags/tag13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573088" y="1340768"/>
            <a:ext cx="8062912" cy="2952328"/>
          </a:xfrm>
        </p:spPr>
        <p:txBody>
          <a:bodyPr rtlCol="0" anchor="ctr">
            <a:normAutofit/>
          </a:bodyPr>
          <a:lstStyle/>
          <a:p>
            <a:pPr fontAlgn="auto">
              <a:lnSpc>
                <a:spcPct val="150000"/>
              </a:lnSpc>
              <a:spcAft>
                <a:spcPts val="0"/>
              </a:spcAft>
              <a:defRPr/>
            </a:pPr>
            <a:r>
              <a:rPr lang="zh-CN" altLang="en-US" b="1" dirty="0">
                <a:solidFill>
                  <a:srgbClr val="0066CC"/>
                </a:solidFill>
                <a:latin typeface="微软雅黑" panose="020B0503020204020204" pitchFamily="34" charset="-122"/>
                <a:ea typeface="微软雅黑" panose="020B0503020204020204" pitchFamily="34" charset="-122"/>
              </a:rPr>
              <a:t>面向对象程序设计基础</a:t>
            </a:r>
            <a:br>
              <a:rPr lang="zh-CN" altLang="en-US" b="1" dirty="0">
                <a:solidFill>
                  <a:srgbClr val="0066CC"/>
                </a:solidFill>
                <a:latin typeface="微软雅黑" panose="020B0503020204020204" pitchFamily="34" charset="-122"/>
                <a:ea typeface="微软雅黑" panose="020B0503020204020204" pitchFamily="34" charset="-122"/>
              </a:rPr>
            </a:br>
            <a:r>
              <a:rPr lang="zh-CN" altLang="en-US" dirty="0">
                <a:solidFill>
                  <a:srgbClr val="0066CC"/>
                </a:solidFill>
              </a:rPr>
              <a:t>（</a:t>
            </a:r>
            <a:r>
              <a:rPr lang="en-US" altLang="zh-CN" dirty="0">
                <a:solidFill>
                  <a:srgbClr val="0066CC"/>
                </a:solidFill>
              </a:rPr>
              <a:t>OOP</a:t>
            </a:r>
            <a:r>
              <a:rPr lang="zh-CN" altLang="en-US" dirty="0">
                <a:solidFill>
                  <a:srgbClr val="0066CC"/>
                </a:solidFill>
              </a:rPr>
              <a:t>）</a:t>
            </a:r>
            <a:endParaRPr lang="zh-CN" altLang="en-US" b="1" dirty="0">
              <a:solidFill>
                <a:srgbClr val="0066CC"/>
              </a:solidFill>
              <a:latin typeface="微软雅黑" panose="020B0503020204020204" pitchFamily="34" charset="-122"/>
              <a:ea typeface="微软雅黑" panose="020B0503020204020204" pitchFamily="34" charset="-122"/>
            </a:endParaRPr>
          </a:p>
        </p:txBody>
      </p:sp>
      <p:sp>
        <p:nvSpPr>
          <p:cNvPr id="6" name="副标题 2">
            <a:extLst>
              <a:ext uri="{FF2B5EF4-FFF2-40B4-BE49-F238E27FC236}">
                <a16:creationId xmlns:a16="http://schemas.microsoft.com/office/drawing/2014/main" id="{0BF091DB-3FE1-09B9-B567-F80A22F92D86}"/>
              </a:ext>
            </a:extLst>
          </p:cNvPr>
          <p:cNvSpPr>
            <a:spLocks noGrp="1"/>
          </p:cNvSpPr>
          <p:nvPr>
            <p:ph type="subTitle" idx="1"/>
          </p:nvPr>
        </p:nvSpPr>
        <p:spPr>
          <a:xfrm>
            <a:off x="0" y="4509120"/>
            <a:ext cx="9144000" cy="2348880"/>
          </a:xfrm>
        </p:spPr>
        <p:txBody>
          <a:bodyPr/>
          <a:lstStyle/>
          <a:p>
            <a:r>
              <a:rPr lang="zh-CN" altLang="en-US" sz="3600" b="1" dirty="0"/>
              <a:t>任炬</a:t>
            </a:r>
            <a:endParaRPr lang="en-US" altLang="zh-CN" sz="3600" b="1" dirty="0"/>
          </a:p>
          <a:p>
            <a:r>
              <a:rPr lang="en-US" altLang="zh-CN" sz="2800" b="1" dirty="0">
                <a:hlinkClick r:id="rId2"/>
              </a:rPr>
              <a:t>renju@tsinghua.edu.cn</a:t>
            </a:r>
            <a:endParaRPr lang="en-US" altLang="zh-CN" sz="2800" b="1" dirty="0"/>
          </a:p>
          <a:p>
            <a:r>
              <a:rPr lang="en-US" altLang="zh-CN" sz="2800" b="1" dirty="0">
                <a:hlinkClick r:id="rId3"/>
              </a:rPr>
              <a:t>https://juren1987.github.io</a:t>
            </a:r>
            <a:r>
              <a:rPr lang="zh-CN" altLang="en-US" sz="2800" b="1" dirty="0"/>
              <a:t>  </a:t>
            </a:r>
            <a:endParaRPr lang="en-US" altLang="zh-CN" sz="2800" b="1" dirty="0"/>
          </a:p>
          <a:p>
            <a:r>
              <a:rPr lang="zh-CN" altLang="en-US" b="1" dirty="0"/>
              <a:t>课程团队：黄民烈 刘知远 任炬</a:t>
            </a:r>
          </a:p>
        </p:txBody>
      </p:sp>
    </p:spTree>
    <p:extLst>
      <p:ext uri="{BB962C8B-B14F-4D97-AF65-F5344CB8AC3E}">
        <p14:creationId xmlns:p14="http://schemas.microsoft.com/office/powerpoint/2010/main" val="2439927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p:cNvSpPr>
            <a:spLocks noGrp="1"/>
          </p:cNvSpPr>
          <p:nvPr>
            <p:ph type="sldNum" sz="quarter" idx="12"/>
          </p:nvPr>
        </p:nvSpPr>
        <p:spPr/>
        <p:txBody>
          <a:bodyPr/>
          <a:lstStyle/>
          <a:p>
            <a:pPr>
              <a:defRPr/>
            </a:pPr>
            <a:fld id="{C34C3BD7-260C-4BC9-9C17-940D7F59C4D1}" type="slidenum">
              <a:rPr lang="en-US" altLang="zh-CN" smtClean="0"/>
              <a:t>2</a:t>
            </a:fld>
            <a:endParaRPr lang="en-US" altLang="zh-CN"/>
          </a:p>
        </p:txBody>
      </p:sp>
      <p:sp>
        <p:nvSpPr>
          <p:cNvPr id="9" name="标题 2"/>
          <p:cNvSpPr>
            <a:spLocks noGrp="1"/>
          </p:cNvSpPr>
          <p:nvPr>
            <p:ph type="title"/>
          </p:nvPr>
        </p:nvSpPr>
        <p:spPr>
          <a:xfrm>
            <a:off x="628650" y="303237"/>
            <a:ext cx="7886700" cy="1325563"/>
          </a:xfrm>
        </p:spPr>
        <p:txBody>
          <a:bodyPr/>
          <a:lstStyle/>
          <a:p>
            <a:pPr fontAlgn="base">
              <a:spcAft>
                <a:spcPct val="0"/>
              </a:spcAft>
            </a:pPr>
            <a:r>
              <a:rPr lang="zh-CN" altLang="en-US" b="1" dirty="0">
                <a:latin typeface="微软雅黑" panose="020B0503020204020204" pitchFamily="34" charset="-122"/>
                <a:ea typeface="微软雅黑" panose="020B0503020204020204" pitchFamily="34" charset="-122"/>
              </a:rPr>
              <a:t>上期要点回顾</a:t>
            </a:r>
            <a:endParaRPr lang="en-US" b="1" dirty="0">
              <a:latin typeface="微软雅黑" panose="020B0503020204020204" pitchFamily="34" charset="-122"/>
              <a:ea typeface="微软雅黑" panose="020B0503020204020204" pitchFamily="34" charset="-122"/>
            </a:endParaRPr>
          </a:p>
        </p:txBody>
      </p:sp>
      <p:sp>
        <p:nvSpPr>
          <p:cNvPr id="10" name="内容占位符 3"/>
          <p:cNvSpPr>
            <a:spLocks noGrp="1"/>
          </p:cNvSpPr>
          <p:nvPr>
            <p:ph idx="1"/>
          </p:nvPr>
        </p:nvSpPr>
        <p:spPr>
          <a:xfrm>
            <a:off x="628650" y="1789884"/>
            <a:ext cx="8047806" cy="4749029"/>
          </a:xfrm>
        </p:spPr>
        <p:txBody>
          <a:bodyPr/>
          <a:lstStyle/>
          <a:p>
            <a:pPr fontAlgn="base">
              <a:spcAft>
                <a:spcPct val="0"/>
              </a:spcAft>
              <a:buSzPct val="75000"/>
              <a:buFont typeface="Wingdings" panose="05000000000000000000" pitchFamily="2" charset="2"/>
              <a:buChar char="n"/>
            </a:pPr>
            <a:r>
              <a:rPr lang="zh-CN" altLang="en-US" b="1" dirty="0">
                <a:solidFill>
                  <a:srgbClr val="003366"/>
                </a:solidFill>
                <a:latin typeface="Consolas" panose="020B0609020204030204" pitchFamily="49" charset="0"/>
                <a:ea typeface="华文楷体" panose="02010600040101010101" pitchFamily="2" charset="-122"/>
              </a:rPr>
              <a:t> 纯虚函数与抽象类</a:t>
            </a:r>
          </a:p>
          <a:p>
            <a:pPr fontAlgn="base">
              <a:spcAft>
                <a:spcPct val="0"/>
              </a:spcAft>
              <a:buSzPct val="75000"/>
              <a:buFont typeface="Wingdings" panose="05000000000000000000" pitchFamily="2" charset="2"/>
              <a:buChar char="n"/>
            </a:pPr>
            <a:r>
              <a:rPr lang="zh-CN" altLang="en-US" b="1" dirty="0">
                <a:solidFill>
                  <a:srgbClr val="003366"/>
                </a:solidFill>
                <a:latin typeface="Consolas" panose="020B0609020204030204" pitchFamily="49" charset="0"/>
                <a:ea typeface="华文楷体" panose="02010600040101010101" pitchFamily="2" charset="-122"/>
              </a:rPr>
              <a:t> 向下类型转换</a:t>
            </a:r>
          </a:p>
          <a:p>
            <a:pPr fontAlgn="base">
              <a:spcAft>
                <a:spcPct val="0"/>
              </a:spcAft>
              <a:buSzPct val="75000"/>
              <a:buFont typeface="Wingdings" panose="05000000000000000000" pitchFamily="2" charset="2"/>
              <a:buChar char="n"/>
            </a:pPr>
            <a:r>
              <a:rPr lang="zh-CN" altLang="en-US" b="1" dirty="0">
                <a:solidFill>
                  <a:srgbClr val="003366"/>
                </a:solidFill>
                <a:latin typeface="Consolas" panose="020B0609020204030204" pitchFamily="49" charset="0"/>
                <a:ea typeface="华文楷体" panose="02010600040101010101" pitchFamily="2" charset="-122"/>
              </a:rPr>
              <a:t> 多重继承的利弊</a:t>
            </a:r>
            <a:endParaRPr lang="en-US" altLang="zh-CN" b="1" dirty="0">
              <a:solidFill>
                <a:srgbClr val="003366"/>
              </a:solidFill>
              <a:latin typeface="Consolas" panose="020B0609020204030204" pitchFamily="49" charset="0"/>
              <a:ea typeface="华文楷体" panose="02010600040101010101" pitchFamily="2" charset="-122"/>
            </a:endParaRPr>
          </a:p>
          <a:p>
            <a:pPr fontAlgn="base">
              <a:spcAft>
                <a:spcPct val="0"/>
              </a:spcAft>
              <a:buSzPct val="75000"/>
              <a:buFont typeface="Wingdings" panose="05000000000000000000" pitchFamily="2" charset="2"/>
              <a:buChar char="n"/>
            </a:pPr>
            <a:r>
              <a:rPr lang="zh-CN" altLang="en-US" b="1" dirty="0">
                <a:solidFill>
                  <a:srgbClr val="003366"/>
                </a:solidFill>
                <a:latin typeface="Consolas" panose="020B0609020204030204" pitchFamily="49" charset="0"/>
                <a:ea typeface="华文楷体" panose="02010600040101010101" pitchFamily="2" charset="-122"/>
              </a:rPr>
              <a:t> 多态</a:t>
            </a:r>
            <a:endParaRPr lang="en-US" altLang="zh-CN" b="1" dirty="0">
              <a:solidFill>
                <a:srgbClr val="003366"/>
              </a:solidFill>
              <a:latin typeface="Consolas" panose="020B0609020204030204" pitchFamily="49" charset="0"/>
              <a:ea typeface="华文楷体" panose="02010600040101010101" pitchFamily="2" charset="-122"/>
            </a:endParaRPr>
          </a:p>
          <a:p>
            <a:pPr fontAlgn="base">
              <a:spcAft>
                <a:spcPct val="0"/>
              </a:spcAft>
              <a:buSzPct val="75000"/>
              <a:buFont typeface="Wingdings" panose="05000000000000000000" pitchFamily="2" charset="2"/>
              <a:buChar char="n"/>
            </a:pPr>
            <a:r>
              <a:rPr lang="zh-CN" altLang="en-US" b="1" dirty="0">
                <a:solidFill>
                  <a:srgbClr val="003366"/>
                </a:solidFill>
                <a:latin typeface="Consolas" panose="020B0609020204030204" pitchFamily="49" charset="0"/>
                <a:ea typeface="华文楷体" panose="02010600040101010101" pitchFamily="2" charset="-122"/>
              </a:rPr>
              <a:t> 函数模板和类模板</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fontAlgn="base">
              <a:spcAft>
                <a:spcPct val="0"/>
              </a:spcAft>
            </a:pPr>
            <a:r>
              <a:rPr lang="zh-CN" altLang="en-US" b="1" dirty="0">
                <a:latin typeface="微软雅黑" panose="020B0503020204020204" pitchFamily="34" charset="-122"/>
                <a:ea typeface="微软雅黑" panose="020B0503020204020204" pitchFamily="34" charset="-122"/>
              </a:rPr>
              <a:t>本讲内容提要</a:t>
            </a:r>
            <a:endParaRPr lang="en-US" b="1" dirty="0">
              <a:latin typeface="微软雅黑" panose="020B0503020204020204" pitchFamily="34" charset="-122"/>
              <a:ea typeface="微软雅黑" panose="020B0503020204020204" pitchFamily="34" charset="-122"/>
            </a:endParaRPr>
          </a:p>
        </p:txBody>
      </p:sp>
      <p:sp>
        <p:nvSpPr>
          <p:cNvPr id="4" name="内容占位符 3"/>
          <p:cNvSpPr>
            <a:spLocks noGrp="1"/>
          </p:cNvSpPr>
          <p:nvPr>
            <p:ph idx="1"/>
          </p:nvPr>
        </p:nvSpPr>
        <p:spPr/>
        <p:txBody>
          <a:bodyPr/>
          <a:lstStyle/>
          <a:p>
            <a:pPr fontAlgn="base">
              <a:spcAft>
                <a:spcPct val="0"/>
              </a:spcAft>
              <a:buSzPct val="75000"/>
              <a:buFont typeface="Wingdings" panose="05000000000000000000" pitchFamily="2" charset="2"/>
              <a:buChar char="n"/>
            </a:pPr>
            <a:r>
              <a:rPr lang="zh-CN" altLang="en-US" b="1" dirty="0">
                <a:solidFill>
                  <a:srgbClr val="003366"/>
                </a:solidFill>
                <a:latin typeface="Consolas" panose="020B0609020204030204" pitchFamily="49" charset="0"/>
                <a:ea typeface="华文楷体" panose="02010600040101010101" pitchFamily="2" charset="-122"/>
              </a:rPr>
              <a:t> 命名空间</a:t>
            </a:r>
          </a:p>
          <a:p>
            <a:pPr fontAlgn="base">
              <a:spcAft>
                <a:spcPct val="0"/>
              </a:spcAft>
              <a:buSzPct val="75000"/>
              <a:buFont typeface="Wingdings" panose="05000000000000000000" pitchFamily="2" charset="2"/>
              <a:buChar char="n"/>
            </a:pPr>
            <a:r>
              <a:rPr lang="en-US" altLang="zh-CN" b="1" dirty="0">
                <a:solidFill>
                  <a:srgbClr val="003366"/>
                </a:solidFill>
                <a:latin typeface="Consolas" panose="020B0609020204030204" pitchFamily="49" charset="0"/>
                <a:ea typeface="华文楷体" panose="02010600040101010101" pitchFamily="2" charset="-122"/>
              </a:rPr>
              <a:t> STL</a:t>
            </a:r>
            <a:r>
              <a:rPr lang="zh-CN" altLang="en-US" b="1" dirty="0">
                <a:solidFill>
                  <a:srgbClr val="003366"/>
                </a:solidFill>
                <a:latin typeface="Consolas" panose="020B0609020204030204" pitchFamily="49" charset="0"/>
                <a:ea typeface="华文楷体" panose="02010600040101010101" pitchFamily="2" charset="-122"/>
              </a:rPr>
              <a:t>初步</a:t>
            </a:r>
            <a:r>
              <a:rPr lang="en-US" altLang="zh-CN" b="1" dirty="0">
                <a:solidFill>
                  <a:srgbClr val="003366"/>
                </a:solidFill>
                <a:latin typeface="Consolas" panose="020B0609020204030204" pitchFamily="49" charset="0"/>
                <a:ea typeface="华文楷体" panose="02010600040101010101" pitchFamily="2" charset="-122"/>
              </a:rPr>
              <a:t>——</a:t>
            </a:r>
            <a:r>
              <a:rPr lang="zh-CN" altLang="en-US" b="1" dirty="0">
                <a:solidFill>
                  <a:srgbClr val="003366"/>
                </a:solidFill>
                <a:latin typeface="Consolas" panose="020B0609020204030204" pitchFamily="49" charset="0"/>
                <a:ea typeface="华文楷体" panose="02010600040101010101" pitchFamily="2" charset="-122"/>
              </a:rPr>
              <a:t>容器与迭代器</a:t>
            </a:r>
            <a:endParaRPr lang="en-US" altLang="zh-CN" b="1" dirty="0">
              <a:solidFill>
                <a:srgbClr val="003366"/>
              </a:solidFill>
              <a:latin typeface="Consolas" panose="020B0609020204030204" pitchFamily="49" charset="0"/>
              <a:ea typeface="华文楷体" panose="02010600040101010101" pitchFamily="2" charset="-122"/>
            </a:endParaRPr>
          </a:p>
          <a:p>
            <a:pPr fontAlgn="base">
              <a:spcAft>
                <a:spcPct val="0"/>
              </a:spcAft>
              <a:buSzPct val="75000"/>
              <a:buFont typeface="Wingdings" panose="05000000000000000000" pitchFamily="2" charset="2"/>
              <a:buChar char="n"/>
            </a:pPr>
            <a:r>
              <a:rPr lang="en-US" altLang="zh-CN" b="1" dirty="0">
                <a:solidFill>
                  <a:srgbClr val="003366"/>
                </a:solidFill>
                <a:latin typeface="Consolas" panose="020B0609020204030204" pitchFamily="49" charset="0"/>
                <a:ea typeface="华文楷体" panose="02010600040101010101" pitchFamily="2" charset="-122"/>
                <a:cs typeface="+mn-ea"/>
                <a:sym typeface="+mn-ea"/>
              </a:rPr>
              <a:t> string</a:t>
            </a:r>
            <a:r>
              <a:rPr lang="zh-CN" altLang="en-US" b="1" dirty="0">
                <a:solidFill>
                  <a:srgbClr val="003366"/>
                </a:solidFill>
                <a:latin typeface="Consolas" panose="020B0609020204030204" pitchFamily="49" charset="0"/>
                <a:ea typeface="华文楷体" panose="02010600040101010101" pitchFamily="2" charset="-122"/>
                <a:cs typeface="+mn-ea"/>
                <a:sym typeface="+mn-ea"/>
              </a:rPr>
              <a:t>字符串类</a:t>
            </a:r>
          </a:p>
          <a:p>
            <a:pPr fontAlgn="base">
              <a:spcAft>
                <a:spcPct val="0"/>
              </a:spcAft>
              <a:buSzPct val="75000"/>
              <a:buFont typeface="Wingdings" panose="05000000000000000000" pitchFamily="2" charset="2"/>
              <a:buChar char="n"/>
            </a:pPr>
            <a:r>
              <a:rPr lang="en-US" altLang="zh-CN" b="1" dirty="0">
                <a:solidFill>
                  <a:srgbClr val="003366"/>
                </a:solidFill>
                <a:latin typeface="Consolas" panose="020B0609020204030204" pitchFamily="49" charset="0"/>
                <a:ea typeface="华文楷体" panose="02010600040101010101" pitchFamily="2" charset="-122"/>
              </a:rPr>
              <a:t> STL</a:t>
            </a:r>
            <a:r>
              <a:rPr lang="zh-CN" altLang="en-US" b="1" dirty="0">
                <a:solidFill>
                  <a:srgbClr val="003366"/>
                </a:solidFill>
                <a:latin typeface="Consolas" panose="020B0609020204030204" pitchFamily="49" charset="0"/>
                <a:ea typeface="华文楷体" panose="02010600040101010101" pitchFamily="2" charset="-122"/>
              </a:rPr>
              <a:t>容器示例：同义词查询库</a:t>
            </a:r>
            <a:r>
              <a:rPr lang="en-US" altLang="zh-CN" b="1" dirty="0">
                <a:solidFill>
                  <a:srgbClr val="003366"/>
                </a:solidFill>
                <a:latin typeface="Consolas" panose="020B0609020204030204" pitchFamily="49" charset="0"/>
                <a:ea typeface="华文楷体" panose="02010600040101010101" pitchFamily="2" charset="-122"/>
              </a:rPr>
              <a:t>（</a:t>
            </a:r>
            <a:r>
              <a:rPr lang="zh-CN" altLang="en-US" b="1" dirty="0">
                <a:solidFill>
                  <a:srgbClr val="003366"/>
                </a:solidFill>
                <a:latin typeface="Consolas" panose="020B0609020204030204" pitchFamily="49" charset="0"/>
                <a:ea typeface="华文楷体" panose="02010600040101010101" pitchFamily="2" charset="-122"/>
              </a:rPr>
              <a:t>自学</a:t>
            </a:r>
            <a:r>
              <a:rPr lang="en-US" altLang="zh-CN" b="1" dirty="0">
                <a:solidFill>
                  <a:srgbClr val="003366"/>
                </a:solidFill>
                <a:latin typeface="Consolas" panose="020B0609020204030204" pitchFamily="49" charset="0"/>
                <a:ea typeface="华文楷体" panose="02010600040101010101" pitchFamily="2" charset="-122"/>
              </a:rPr>
              <a:t>）</a:t>
            </a:r>
            <a:endParaRPr lang="zh-CN" altLang="en-US" b="1" dirty="0">
              <a:solidFill>
                <a:srgbClr val="003366"/>
              </a:solidFill>
              <a:latin typeface="Consolas" panose="020B0609020204030204" pitchFamily="49" charset="0"/>
              <a:ea typeface="华文楷体" panose="02010600040101010101" pitchFamily="2" charset="-122"/>
            </a:endParaRPr>
          </a:p>
          <a:p>
            <a:pPr fontAlgn="base">
              <a:spcAft>
                <a:spcPct val="0"/>
              </a:spcAft>
              <a:buSzPct val="75000"/>
              <a:buFont typeface="Wingdings" panose="05000000000000000000" pitchFamily="2" charset="2"/>
              <a:buChar char="n"/>
            </a:pPr>
            <a:r>
              <a:rPr lang="en-US" altLang="zh-CN" b="1" dirty="0">
                <a:solidFill>
                  <a:srgbClr val="003366"/>
                </a:solidFill>
                <a:latin typeface="Consolas" panose="020B0609020204030204" pitchFamily="49" charset="0"/>
                <a:ea typeface="华文楷体" panose="02010600040101010101" pitchFamily="2" charset="-122"/>
              </a:rPr>
              <a:t> </a:t>
            </a:r>
            <a:r>
              <a:rPr lang="zh-CN" altLang="en-US" b="1" dirty="0">
                <a:solidFill>
                  <a:srgbClr val="003366"/>
                </a:solidFill>
                <a:latin typeface="Consolas" panose="020B0609020204030204" pitchFamily="49" charset="0"/>
                <a:ea typeface="华文楷体" panose="02010600040101010101" pitchFamily="2" charset="-122"/>
              </a:rPr>
              <a:t>函数模板与类模板特化（自学）</a:t>
            </a:r>
          </a:p>
          <a:p>
            <a:pPr fontAlgn="base">
              <a:spcAft>
                <a:spcPct val="0"/>
              </a:spcAft>
              <a:buSzPct val="75000"/>
              <a:buFont typeface="Wingdings" panose="05000000000000000000" pitchFamily="2" charset="2"/>
              <a:buChar char="n"/>
            </a:pPr>
            <a:endParaRPr lang="en-US" altLang="zh-CN" b="1" dirty="0">
              <a:solidFill>
                <a:srgbClr val="003366"/>
              </a:solidFill>
              <a:latin typeface="Consolas" panose="020B0609020204030204" pitchFamily="49" charset="0"/>
              <a:ea typeface="华文楷体" panose="02010600040101010101" pitchFamily="2" charset="-122"/>
            </a:endParaRPr>
          </a:p>
          <a:p>
            <a:pPr fontAlgn="base">
              <a:spcAft>
                <a:spcPct val="0"/>
              </a:spcAft>
              <a:buSzPct val="75000"/>
              <a:buFont typeface="Wingdings" panose="05000000000000000000" pitchFamily="2" charset="2"/>
              <a:buChar char="n"/>
            </a:pPr>
            <a:endParaRPr lang="zh-CN" altLang="en-US" b="1" dirty="0">
              <a:solidFill>
                <a:srgbClr val="003366"/>
              </a:solidFill>
              <a:latin typeface="Consolas" panose="020B0609020204030204" pitchFamily="49" charset="0"/>
              <a:ea typeface="华文楷体" panose="02010600040101010101" pitchFamily="2" charset="-122"/>
            </a:endParaRPr>
          </a:p>
        </p:txBody>
      </p:sp>
      <p:sp>
        <p:nvSpPr>
          <p:cNvPr id="2" name="幻灯片编号占位符 1"/>
          <p:cNvSpPr>
            <a:spLocks noGrp="1"/>
          </p:cNvSpPr>
          <p:nvPr>
            <p:ph type="sldNum" sz="quarter" idx="12"/>
          </p:nvPr>
        </p:nvSpPr>
        <p:spPr/>
        <p:txBody>
          <a:bodyPr/>
          <a:lstStyle/>
          <a:p>
            <a:pPr>
              <a:defRPr/>
            </a:pPr>
            <a:fld id="{C34C3BD7-260C-4BC9-9C17-940D7F59C4D1}" type="slidenum">
              <a:rPr lang="en-US" altLang="zh-CN" smtClean="0"/>
              <a:t>3</a:t>
            </a:fld>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回顾：类模板</a:t>
            </a:r>
          </a:p>
        </p:txBody>
      </p:sp>
      <p:sp>
        <p:nvSpPr>
          <p:cNvPr id="3" name="内容占位符 2"/>
          <p:cNvSpPr>
            <a:spLocks noGrp="1"/>
          </p:cNvSpPr>
          <p:nvPr>
            <p:ph idx="1"/>
          </p:nvPr>
        </p:nvSpPr>
        <p:spPr>
          <a:xfrm>
            <a:off x="611560" y="1477708"/>
            <a:ext cx="8047806" cy="5243768"/>
          </a:xfrm>
        </p:spPr>
        <p:txBody>
          <a:bodyPr>
            <a:normAutofit fontScale="92500" lnSpcReduction="10000"/>
          </a:bodyPr>
          <a:lstStyle/>
          <a:p>
            <a:pPr>
              <a:lnSpc>
                <a:spcPct val="110000"/>
              </a:lnSpc>
              <a:buSzPct val="75000"/>
              <a:buFont typeface="Wingdings" panose="05000000000000000000" pitchFamily="2" charset="2"/>
              <a:buChar char="n"/>
            </a:pPr>
            <a:r>
              <a:rPr kumimoji="1" lang="zh-CN" altLang="en-US" b="1" dirty="0">
                <a:solidFill>
                  <a:srgbClr val="003366"/>
                </a:solidFill>
                <a:latin typeface="华文楷体" panose="02010600040101010101" pitchFamily="2" charset="-122"/>
                <a:ea typeface="华文楷体" panose="02010600040101010101" pitchFamily="2" charset="-122"/>
              </a:rPr>
              <a:t>在定义类时也可以将一些类型信息抽取出来，用模板参数来替换，从而使类更具通用性。这种类被称为“类模板”。例如：</a:t>
            </a:r>
            <a:endParaRPr kumimoji="1" lang="en-US" altLang="zh-CN" b="1" dirty="0">
              <a:solidFill>
                <a:srgbClr val="003366"/>
              </a:solidFill>
              <a:latin typeface="华文楷体" panose="02010600040101010101" pitchFamily="2" charset="-122"/>
              <a:ea typeface="华文楷体" panose="02010600040101010101" pitchFamily="2" charset="-122"/>
            </a:endParaRPr>
          </a:p>
          <a:p>
            <a:pPr marL="457200" lvl="1" indent="0">
              <a:buNone/>
            </a:pPr>
            <a:r>
              <a:rPr lang="en-US" altLang="zh-CN" sz="2000" dirty="0">
                <a:solidFill>
                  <a:srgbClr val="6E200D"/>
                </a:solidFill>
                <a:latin typeface="Consolas" panose="020B0609020204030204" pitchFamily="49" charset="0"/>
                <a:ea typeface="Consolas" panose="020B0609020204030204" pitchFamily="49" charset="0"/>
                <a:cs typeface="Consolas" panose="020B0609020204030204" pitchFamily="49" charset="0"/>
              </a:rPr>
              <a:t>#include </a:t>
            </a:r>
            <a:r>
              <a:rPr lang="en-US" altLang="zh-CN" sz="2000" dirty="0">
                <a:solidFill>
                  <a:srgbClr val="BA0011"/>
                </a:solidFill>
                <a:latin typeface="Consolas" panose="020B0609020204030204" pitchFamily="49" charset="0"/>
                <a:ea typeface="Consolas" panose="020B0609020204030204" pitchFamily="49" charset="0"/>
                <a:cs typeface="Consolas" panose="020B0609020204030204" pitchFamily="49" charset="0"/>
              </a:rPr>
              <a:t>&lt;iostream&gt;</a:t>
            </a:r>
            <a:endParaRPr lang="en-US" altLang="zh-CN" sz="2000" dirty="0">
              <a:solidFill>
                <a:srgbClr val="6E200D"/>
              </a:solidFill>
              <a:latin typeface="Consolas" panose="020B0609020204030204" pitchFamily="49" charset="0"/>
              <a:ea typeface="Consolas" panose="020B0609020204030204" pitchFamily="49" charset="0"/>
              <a:cs typeface="Consolas" panose="020B0609020204030204" pitchFamily="49" charset="0"/>
            </a:endParaRPr>
          </a:p>
          <a:p>
            <a:pPr marL="457200" lvl="1" indent="0">
              <a:buNone/>
            </a:pPr>
            <a:r>
              <a:rPr lang="en-US" altLang="zh-CN" sz="2000" dirty="0">
                <a:solidFill>
                  <a:srgbClr val="B40062"/>
                </a:solidFill>
                <a:latin typeface="Consolas" panose="020B0609020204030204" pitchFamily="49" charset="0"/>
                <a:ea typeface="Consolas" panose="020B0609020204030204" pitchFamily="49" charset="0"/>
                <a:cs typeface="Consolas" panose="020B0609020204030204" pitchFamily="49" charset="0"/>
              </a:rPr>
              <a:t>using</a:t>
            </a:r>
            <a:r>
              <a:rPr lang="en-US" altLang="zh-CN" sz="2000" dirty="0">
                <a:solidFill>
                  <a:srgbClr val="000000"/>
                </a:solidFill>
                <a:latin typeface="Consolas" panose="020B0609020204030204" pitchFamily="49" charset="0"/>
                <a:ea typeface="Consolas" panose="020B0609020204030204" pitchFamily="49" charset="0"/>
                <a:cs typeface="Consolas" panose="020B0609020204030204" pitchFamily="49" charset="0"/>
              </a:rPr>
              <a:t> </a:t>
            </a:r>
            <a:r>
              <a:rPr lang="en-US" altLang="zh-CN" sz="2000" dirty="0">
                <a:solidFill>
                  <a:srgbClr val="B40062"/>
                </a:solidFill>
                <a:latin typeface="Consolas" panose="020B0609020204030204" pitchFamily="49" charset="0"/>
                <a:ea typeface="Consolas" panose="020B0609020204030204" pitchFamily="49" charset="0"/>
                <a:cs typeface="Consolas" panose="020B0609020204030204" pitchFamily="49" charset="0"/>
              </a:rPr>
              <a:t>namespace</a:t>
            </a:r>
            <a:r>
              <a:rPr lang="en-US" altLang="zh-CN" sz="2000" dirty="0">
                <a:solidFill>
                  <a:srgbClr val="000000"/>
                </a:solidFill>
                <a:latin typeface="Consolas" panose="020B0609020204030204" pitchFamily="49" charset="0"/>
                <a:ea typeface="Consolas" panose="020B0609020204030204" pitchFamily="49" charset="0"/>
                <a:cs typeface="Consolas" panose="020B0609020204030204" pitchFamily="49" charset="0"/>
              </a:rPr>
              <a:t> std;</a:t>
            </a:r>
          </a:p>
          <a:p>
            <a:pPr marL="457200" lvl="1" indent="0">
              <a:buNone/>
            </a:pPr>
            <a:endParaRPr kumimoji="1" lang="en-US" altLang="zh-CN" sz="2000" dirty="0">
              <a:solidFill>
                <a:srgbClr val="FF0000"/>
              </a:solidFill>
              <a:latin typeface="Consolas" panose="020B0609020204030204" pitchFamily="49" charset="0"/>
              <a:ea typeface="华文楷体" panose="02010600040101010101" pitchFamily="2" charset="-122"/>
            </a:endParaRPr>
          </a:p>
          <a:p>
            <a:pPr marL="457200" lvl="1" indent="0">
              <a:buNone/>
            </a:pPr>
            <a:r>
              <a:rPr kumimoji="1" lang="en-US" altLang="zh-CN" sz="2000" dirty="0">
                <a:solidFill>
                  <a:srgbClr val="FF0000"/>
                </a:solidFill>
                <a:latin typeface="Consolas" panose="020B0609020204030204" pitchFamily="49" charset="0"/>
                <a:ea typeface="华文楷体" panose="02010600040101010101" pitchFamily="2" charset="-122"/>
              </a:rPr>
              <a:t>template</a:t>
            </a:r>
            <a:r>
              <a:rPr kumimoji="1" lang="zh-CN" altLang="en-US" sz="2000" dirty="0">
                <a:solidFill>
                  <a:srgbClr val="FF0000"/>
                </a:solidFill>
                <a:latin typeface="Consolas" panose="020B0609020204030204" pitchFamily="49" charset="0"/>
                <a:ea typeface="华文楷体" panose="02010600040101010101" pitchFamily="2" charset="-122"/>
              </a:rPr>
              <a:t> </a:t>
            </a:r>
            <a:r>
              <a:rPr kumimoji="1" lang="en-US" altLang="zh-CN" sz="2000" dirty="0">
                <a:solidFill>
                  <a:srgbClr val="FF0000"/>
                </a:solidFill>
                <a:latin typeface="Consolas" panose="020B0609020204030204" pitchFamily="49" charset="0"/>
                <a:ea typeface="华文楷体" panose="02010600040101010101" pitchFamily="2" charset="-122"/>
              </a:rPr>
              <a:t>&lt;</a:t>
            </a:r>
            <a:r>
              <a:rPr kumimoji="1" lang="en-US" altLang="zh-CN" sz="2000" dirty="0" err="1">
                <a:solidFill>
                  <a:srgbClr val="FF0000"/>
                </a:solidFill>
                <a:latin typeface="Consolas" panose="020B0609020204030204" pitchFamily="49" charset="0"/>
                <a:ea typeface="华文楷体" panose="02010600040101010101" pitchFamily="2" charset="-122"/>
              </a:rPr>
              <a:t>typename</a:t>
            </a:r>
            <a:r>
              <a:rPr kumimoji="1" lang="zh-CN" altLang="en-US" sz="2000" dirty="0">
                <a:solidFill>
                  <a:srgbClr val="FF0000"/>
                </a:solidFill>
                <a:latin typeface="Consolas" panose="020B0609020204030204" pitchFamily="49" charset="0"/>
                <a:ea typeface="华文楷体" panose="02010600040101010101" pitchFamily="2" charset="-122"/>
              </a:rPr>
              <a:t> </a:t>
            </a:r>
            <a:r>
              <a:rPr kumimoji="1" lang="en-US" altLang="zh-CN" sz="2000" dirty="0">
                <a:solidFill>
                  <a:srgbClr val="FF0000"/>
                </a:solidFill>
                <a:latin typeface="Consolas" panose="020B0609020204030204" pitchFamily="49" charset="0"/>
                <a:ea typeface="华文楷体" panose="02010600040101010101" pitchFamily="2" charset="-122"/>
              </a:rPr>
              <a:t>T&gt;</a:t>
            </a:r>
            <a:r>
              <a:rPr kumimoji="1" lang="zh-CN" altLang="en-US" sz="2000" dirty="0">
                <a:solidFill>
                  <a:srgbClr val="FF0000"/>
                </a:solidFill>
                <a:latin typeface="Consolas" panose="020B0609020204030204" pitchFamily="49" charset="0"/>
                <a:ea typeface="华文楷体" panose="02010600040101010101" pitchFamily="2" charset="-122"/>
              </a:rPr>
              <a:t> </a:t>
            </a:r>
            <a:r>
              <a:rPr kumimoji="1" lang="en-US" altLang="zh-CN" sz="2000" dirty="0">
                <a:latin typeface="Consolas" panose="020B0609020204030204" pitchFamily="49" charset="0"/>
                <a:ea typeface="华文楷体" panose="02010600040101010101" pitchFamily="2" charset="-122"/>
              </a:rPr>
              <a:t>class</a:t>
            </a:r>
            <a:r>
              <a:rPr kumimoji="1" lang="zh-CN" altLang="en-US" sz="2000" dirty="0">
                <a:latin typeface="Consolas" panose="020B0609020204030204" pitchFamily="49" charset="0"/>
                <a:ea typeface="华文楷体" panose="02010600040101010101" pitchFamily="2" charset="-122"/>
              </a:rPr>
              <a:t> </a:t>
            </a:r>
            <a:r>
              <a:rPr kumimoji="1" lang="en-US" altLang="zh-CN" sz="2000" dirty="0">
                <a:latin typeface="Consolas" panose="020B0609020204030204" pitchFamily="49" charset="0"/>
                <a:ea typeface="华文楷体" panose="02010600040101010101" pitchFamily="2" charset="-122"/>
              </a:rPr>
              <a:t>A</a:t>
            </a:r>
            <a:r>
              <a:rPr kumimoji="1" lang="zh-CN" altLang="en-US" sz="2000" dirty="0">
                <a:latin typeface="Consolas" panose="020B0609020204030204" pitchFamily="49" charset="0"/>
                <a:ea typeface="华文楷体" panose="02010600040101010101" pitchFamily="2" charset="-122"/>
              </a:rPr>
              <a:t> </a:t>
            </a:r>
            <a:r>
              <a:rPr kumimoji="1" lang="en-US" altLang="zh-CN" sz="2000" dirty="0">
                <a:latin typeface="Consolas" panose="020B0609020204030204" pitchFamily="49" charset="0"/>
                <a:ea typeface="华文楷体" panose="02010600040101010101" pitchFamily="2" charset="-122"/>
              </a:rPr>
              <a:t>{</a:t>
            </a:r>
            <a:endParaRPr kumimoji="1" lang="zh-CN" altLang="en-US" sz="2000" dirty="0">
              <a:latin typeface="Consolas" panose="020B0609020204030204" pitchFamily="49" charset="0"/>
              <a:ea typeface="华文楷体" panose="02010600040101010101" pitchFamily="2" charset="-122"/>
            </a:endParaRPr>
          </a:p>
          <a:p>
            <a:pPr marL="457200" lvl="1" indent="0">
              <a:buNone/>
            </a:pPr>
            <a:r>
              <a:rPr kumimoji="1" lang="zh-CN" altLang="en-US" sz="2000" dirty="0">
                <a:latin typeface="Consolas" panose="020B0609020204030204" pitchFamily="49" charset="0"/>
                <a:ea typeface="华文楷体" panose="02010600040101010101" pitchFamily="2" charset="-122"/>
              </a:rPr>
              <a:t>	</a:t>
            </a:r>
            <a:r>
              <a:rPr kumimoji="1" lang="en-US" altLang="zh-CN" sz="2000" dirty="0">
                <a:solidFill>
                  <a:srgbClr val="FF0000"/>
                </a:solidFill>
                <a:latin typeface="Consolas" panose="020B0609020204030204" pitchFamily="49" charset="0"/>
                <a:ea typeface="华文楷体" panose="02010600040101010101" pitchFamily="2" charset="-122"/>
              </a:rPr>
              <a:t>T</a:t>
            </a:r>
            <a:r>
              <a:rPr kumimoji="1" lang="zh-CN" altLang="en-US" sz="2000" dirty="0">
                <a:solidFill>
                  <a:srgbClr val="FF0000"/>
                </a:solidFill>
                <a:latin typeface="Consolas" panose="020B0609020204030204" pitchFamily="49" charset="0"/>
                <a:ea typeface="华文楷体" panose="02010600040101010101" pitchFamily="2" charset="-122"/>
              </a:rPr>
              <a:t> </a:t>
            </a:r>
            <a:r>
              <a:rPr kumimoji="1" lang="en-US" altLang="zh-CN" sz="2000" dirty="0">
                <a:solidFill>
                  <a:srgbClr val="FF0000"/>
                </a:solidFill>
                <a:latin typeface="Consolas" panose="020B0609020204030204" pitchFamily="49" charset="0"/>
                <a:ea typeface="华文楷体" panose="02010600040101010101" pitchFamily="2" charset="-122"/>
              </a:rPr>
              <a:t>data;</a:t>
            </a:r>
            <a:endParaRPr kumimoji="1" lang="zh-CN" altLang="en-US" sz="2000" dirty="0">
              <a:solidFill>
                <a:srgbClr val="FF0000"/>
              </a:solidFill>
              <a:latin typeface="Consolas" panose="020B0609020204030204" pitchFamily="49" charset="0"/>
              <a:ea typeface="华文楷体" panose="02010600040101010101" pitchFamily="2" charset="-122"/>
            </a:endParaRPr>
          </a:p>
          <a:p>
            <a:pPr marL="457200" lvl="1" indent="0">
              <a:buNone/>
            </a:pPr>
            <a:r>
              <a:rPr kumimoji="1" lang="en-US" altLang="zh-CN" sz="2000" dirty="0">
                <a:latin typeface="Consolas" panose="020B0609020204030204" pitchFamily="49" charset="0"/>
                <a:ea typeface="华文楷体" panose="02010600040101010101" pitchFamily="2" charset="-122"/>
              </a:rPr>
              <a:t>public:</a:t>
            </a:r>
            <a:endParaRPr kumimoji="1" lang="zh-CN" altLang="en-US" sz="2000" dirty="0">
              <a:latin typeface="Consolas" panose="020B0609020204030204" pitchFamily="49" charset="0"/>
              <a:ea typeface="华文楷体" panose="02010600040101010101" pitchFamily="2" charset="-122"/>
            </a:endParaRPr>
          </a:p>
          <a:p>
            <a:pPr marL="457200" lvl="1" indent="0">
              <a:buNone/>
            </a:pPr>
            <a:r>
              <a:rPr kumimoji="1" lang="zh-CN" altLang="en-US" sz="2000" dirty="0">
                <a:latin typeface="Consolas" panose="020B0609020204030204" pitchFamily="49" charset="0"/>
                <a:ea typeface="华文楷体" panose="02010600040101010101" pitchFamily="2" charset="-122"/>
              </a:rPr>
              <a:t>	</a:t>
            </a:r>
            <a:r>
              <a:rPr kumimoji="1" lang="en-US" altLang="zh-CN" sz="2000" dirty="0">
                <a:latin typeface="Consolas" panose="020B0609020204030204" pitchFamily="49" charset="0"/>
                <a:ea typeface="华文楷体" panose="02010600040101010101" pitchFamily="2" charset="-122"/>
              </a:rPr>
              <a:t>void</a:t>
            </a:r>
            <a:r>
              <a:rPr kumimoji="1" lang="zh-CN" altLang="en-US" sz="2000" dirty="0">
                <a:latin typeface="Consolas" panose="020B0609020204030204" pitchFamily="49" charset="0"/>
                <a:ea typeface="华文楷体" panose="02010600040101010101" pitchFamily="2" charset="-122"/>
              </a:rPr>
              <a:t> </a:t>
            </a:r>
            <a:r>
              <a:rPr kumimoji="1" lang="en-US" altLang="zh-CN" sz="2000" dirty="0">
                <a:latin typeface="Consolas" panose="020B0609020204030204" pitchFamily="49" charset="0"/>
                <a:ea typeface="华文楷体" panose="02010600040101010101" pitchFamily="2" charset="-122"/>
              </a:rPr>
              <a:t>print()</a:t>
            </a:r>
            <a:r>
              <a:rPr kumimoji="1" lang="zh-CN" altLang="en-US" sz="2000" dirty="0">
                <a:latin typeface="Consolas" panose="020B0609020204030204" pitchFamily="49" charset="0"/>
                <a:ea typeface="华文楷体" panose="02010600040101010101" pitchFamily="2" charset="-122"/>
              </a:rPr>
              <a:t> </a:t>
            </a:r>
            <a:r>
              <a:rPr kumimoji="1" lang="en-US" altLang="zh-CN" sz="2000" dirty="0">
                <a:latin typeface="Consolas" panose="020B0609020204030204" pitchFamily="49" charset="0"/>
                <a:ea typeface="华文楷体" panose="02010600040101010101" pitchFamily="2" charset="-122"/>
              </a:rPr>
              <a:t>{</a:t>
            </a:r>
            <a:r>
              <a:rPr kumimoji="1" lang="zh-CN" altLang="en-US" sz="2000" dirty="0">
                <a:latin typeface="Consolas" panose="020B0609020204030204" pitchFamily="49" charset="0"/>
                <a:ea typeface="华文楷体" panose="02010600040101010101" pitchFamily="2" charset="-122"/>
              </a:rPr>
              <a:t> </a:t>
            </a:r>
            <a:r>
              <a:rPr kumimoji="1" lang="en-US" altLang="zh-CN" sz="2000" dirty="0" err="1">
                <a:latin typeface="Consolas" panose="020B0609020204030204" pitchFamily="49" charset="0"/>
                <a:ea typeface="华文楷体" panose="02010600040101010101" pitchFamily="2" charset="-122"/>
              </a:rPr>
              <a:t>cout</a:t>
            </a:r>
            <a:r>
              <a:rPr kumimoji="1" lang="zh-CN" altLang="en-US" sz="2000" dirty="0">
                <a:latin typeface="Consolas" panose="020B0609020204030204" pitchFamily="49" charset="0"/>
                <a:ea typeface="华文楷体" panose="02010600040101010101" pitchFamily="2" charset="-122"/>
              </a:rPr>
              <a:t> </a:t>
            </a:r>
            <a:r>
              <a:rPr kumimoji="1" lang="en-US" altLang="zh-CN" sz="2000" dirty="0">
                <a:latin typeface="Consolas" panose="020B0609020204030204" pitchFamily="49" charset="0"/>
                <a:ea typeface="华文楷体" panose="02010600040101010101" pitchFamily="2" charset="-122"/>
              </a:rPr>
              <a:t>&lt;&lt;</a:t>
            </a:r>
            <a:r>
              <a:rPr kumimoji="1" lang="zh-CN" altLang="en-US" sz="2000" dirty="0">
                <a:latin typeface="Consolas" panose="020B0609020204030204" pitchFamily="49" charset="0"/>
                <a:ea typeface="华文楷体" panose="02010600040101010101" pitchFamily="2" charset="-122"/>
              </a:rPr>
              <a:t> </a:t>
            </a:r>
            <a:r>
              <a:rPr kumimoji="1" lang="en-US" altLang="zh-CN" sz="2000" dirty="0">
                <a:latin typeface="Consolas" panose="020B0609020204030204" pitchFamily="49" charset="0"/>
                <a:ea typeface="华文楷体" panose="02010600040101010101" pitchFamily="2" charset="-122"/>
              </a:rPr>
              <a:t>data</a:t>
            </a:r>
            <a:r>
              <a:rPr kumimoji="1" lang="zh-CN" altLang="en-US" sz="2000" dirty="0">
                <a:latin typeface="Consolas" panose="020B0609020204030204" pitchFamily="49" charset="0"/>
                <a:ea typeface="华文楷体" panose="02010600040101010101" pitchFamily="2" charset="-122"/>
              </a:rPr>
              <a:t> </a:t>
            </a:r>
            <a:r>
              <a:rPr kumimoji="1" lang="en-US" altLang="zh-CN" sz="2000" dirty="0">
                <a:latin typeface="Consolas" panose="020B0609020204030204" pitchFamily="49" charset="0"/>
                <a:ea typeface="华文楷体" panose="02010600040101010101" pitchFamily="2" charset="-122"/>
              </a:rPr>
              <a:t>&lt;&lt;</a:t>
            </a:r>
            <a:r>
              <a:rPr kumimoji="1" lang="zh-CN" altLang="en-US" sz="2000" dirty="0">
                <a:latin typeface="Consolas" panose="020B0609020204030204" pitchFamily="49" charset="0"/>
                <a:ea typeface="华文楷体" panose="02010600040101010101" pitchFamily="2" charset="-122"/>
              </a:rPr>
              <a:t> </a:t>
            </a:r>
            <a:r>
              <a:rPr kumimoji="1" lang="en-US" altLang="zh-CN" sz="2000" dirty="0" err="1">
                <a:latin typeface="Consolas" panose="020B0609020204030204" pitchFamily="49" charset="0"/>
                <a:ea typeface="华文楷体" panose="02010600040101010101" pitchFamily="2" charset="-122"/>
              </a:rPr>
              <a:t>endl</a:t>
            </a:r>
            <a:r>
              <a:rPr kumimoji="1" lang="en-US" altLang="zh-CN" sz="2000" dirty="0">
                <a:latin typeface="Consolas" panose="020B0609020204030204" pitchFamily="49" charset="0"/>
                <a:ea typeface="华文楷体" panose="02010600040101010101" pitchFamily="2" charset="-122"/>
              </a:rPr>
              <a:t>;</a:t>
            </a:r>
            <a:r>
              <a:rPr kumimoji="1" lang="zh-CN" altLang="en-US" sz="2000" dirty="0">
                <a:latin typeface="Consolas" panose="020B0609020204030204" pitchFamily="49" charset="0"/>
                <a:ea typeface="华文楷体" panose="02010600040101010101" pitchFamily="2" charset="-122"/>
              </a:rPr>
              <a:t> </a:t>
            </a:r>
            <a:r>
              <a:rPr kumimoji="1" lang="en-US" altLang="zh-CN" sz="2000" dirty="0">
                <a:latin typeface="Consolas" panose="020B0609020204030204" pitchFamily="49" charset="0"/>
                <a:ea typeface="华文楷体" panose="02010600040101010101" pitchFamily="2" charset="-122"/>
              </a:rPr>
              <a:t>}</a:t>
            </a:r>
            <a:endParaRPr kumimoji="1" lang="zh-CN" altLang="en-US" sz="2000" dirty="0">
              <a:latin typeface="Consolas" panose="020B0609020204030204" pitchFamily="49" charset="0"/>
              <a:ea typeface="华文楷体" panose="02010600040101010101" pitchFamily="2" charset="-122"/>
            </a:endParaRPr>
          </a:p>
          <a:p>
            <a:pPr marL="457200" lvl="1" indent="0">
              <a:buNone/>
            </a:pPr>
            <a:r>
              <a:rPr kumimoji="1" lang="en-US" altLang="zh-CN" sz="2000" dirty="0">
                <a:latin typeface="Consolas" panose="020B0609020204030204" pitchFamily="49" charset="0"/>
                <a:ea typeface="华文楷体" panose="02010600040101010101" pitchFamily="2" charset="-122"/>
              </a:rPr>
              <a:t>};</a:t>
            </a:r>
            <a:r>
              <a:rPr kumimoji="1" lang="zh-CN" altLang="en-US" sz="2000" dirty="0">
                <a:latin typeface="Consolas" panose="020B0609020204030204" pitchFamily="49" charset="0"/>
                <a:ea typeface="华文楷体" panose="02010600040101010101" pitchFamily="2" charset="-122"/>
              </a:rPr>
              <a:t> </a:t>
            </a:r>
            <a:endParaRPr kumimoji="1" lang="en-US" altLang="zh-CN" sz="2000" dirty="0">
              <a:latin typeface="Consolas" panose="020B0609020204030204" pitchFamily="49" charset="0"/>
              <a:ea typeface="华文楷体" panose="02010600040101010101" pitchFamily="2" charset="-122"/>
            </a:endParaRPr>
          </a:p>
          <a:p>
            <a:pPr marL="457200" lvl="1" indent="0">
              <a:buNone/>
            </a:pPr>
            <a:r>
              <a:rPr kumimoji="1" lang="en-US" altLang="zh-CN" sz="2000" dirty="0" err="1">
                <a:latin typeface="Consolas" panose="020B0609020204030204" pitchFamily="49" charset="0"/>
                <a:ea typeface="华文楷体" panose="02010600040101010101" pitchFamily="2" charset="-122"/>
              </a:rPr>
              <a:t>int</a:t>
            </a:r>
            <a:r>
              <a:rPr kumimoji="1" lang="en-US" altLang="zh-CN" sz="2000" dirty="0">
                <a:latin typeface="Consolas" panose="020B0609020204030204" pitchFamily="49" charset="0"/>
                <a:ea typeface="华文楷体" panose="02010600040101010101" pitchFamily="2" charset="-122"/>
              </a:rPr>
              <a:t> main() {</a:t>
            </a:r>
          </a:p>
          <a:p>
            <a:pPr marL="457200" lvl="1" indent="0">
              <a:buNone/>
            </a:pPr>
            <a:r>
              <a:rPr kumimoji="1" lang="zh-CN" altLang="en-US" sz="2000" dirty="0">
                <a:latin typeface="Consolas" panose="020B0609020204030204" pitchFamily="49" charset="0"/>
                <a:ea typeface="华文楷体" panose="02010600040101010101" pitchFamily="2" charset="-122"/>
              </a:rPr>
              <a:t>	</a:t>
            </a:r>
            <a:r>
              <a:rPr kumimoji="1" lang="en-US" altLang="zh-CN" sz="2000" dirty="0">
                <a:latin typeface="Consolas" panose="020B0609020204030204" pitchFamily="49" charset="0"/>
                <a:ea typeface="华文楷体" panose="02010600040101010101" pitchFamily="2" charset="-122"/>
              </a:rPr>
              <a:t>A</a:t>
            </a:r>
            <a:r>
              <a:rPr kumimoji="1" lang="en-US" altLang="zh-CN" sz="2000" dirty="0">
                <a:solidFill>
                  <a:srgbClr val="FF0000"/>
                </a:solidFill>
                <a:latin typeface="Consolas" panose="020B0609020204030204" pitchFamily="49" charset="0"/>
                <a:ea typeface="华文楷体" panose="02010600040101010101" pitchFamily="2" charset="-122"/>
              </a:rPr>
              <a:t>&lt;</a:t>
            </a:r>
            <a:r>
              <a:rPr kumimoji="1" lang="en-US" altLang="zh-CN" sz="2000" dirty="0" err="1">
                <a:solidFill>
                  <a:srgbClr val="FF0000"/>
                </a:solidFill>
                <a:latin typeface="Consolas" panose="020B0609020204030204" pitchFamily="49" charset="0"/>
                <a:ea typeface="华文楷体" panose="02010600040101010101" pitchFamily="2" charset="-122"/>
              </a:rPr>
              <a:t>int</a:t>
            </a:r>
            <a:r>
              <a:rPr kumimoji="1" lang="en-US" altLang="zh-CN" sz="2000" dirty="0">
                <a:solidFill>
                  <a:srgbClr val="FF0000"/>
                </a:solidFill>
                <a:latin typeface="Consolas" panose="020B0609020204030204" pitchFamily="49" charset="0"/>
                <a:ea typeface="华文楷体" panose="02010600040101010101" pitchFamily="2" charset="-122"/>
              </a:rPr>
              <a:t>&gt;</a:t>
            </a:r>
            <a:r>
              <a:rPr kumimoji="1" lang="en-US" altLang="zh-CN" sz="2000" dirty="0">
                <a:latin typeface="Consolas" panose="020B0609020204030204" pitchFamily="49" charset="0"/>
                <a:ea typeface="华文楷体" panose="02010600040101010101" pitchFamily="2" charset="-122"/>
              </a:rPr>
              <a:t> a;</a:t>
            </a:r>
          </a:p>
          <a:p>
            <a:pPr marL="457200" lvl="1" indent="0">
              <a:buNone/>
            </a:pPr>
            <a:r>
              <a:rPr kumimoji="1" lang="zh-CN" altLang="en-US" sz="2000" dirty="0">
                <a:latin typeface="Consolas" panose="020B0609020204030204" pitchFamily="49" charset="0"/>
                <a:ea typeface="华文楷体" panose="02010600040101010101" pitchFamily="2" charset="-122"/>
              </a:rPr>
              <a:t>	</a:t>
            </a:r>
            <a:r>
              <a:rPr kumimoji="1" lang="en-US" altLang="zh-CN" sz="2000" dirty="0" err="1">
                <a:latin typeface="Consolas" panose="020B0609020204030204" pitchFamily="49" charset="0"/>
                <a:ea typeface="华文楷体" panose="02010600040101010101" pitchFamily="2" charset="-122"/>
              </a:rPr>
              <a:t>a.print</a:t>
            </a:r>
            <a:r>
              <a:rPr kumimoji="1" lang="en-US" altLang="zh-CN" sz="2000" dirty="0">
                <a:latin typeface="Consolas" panose="020B0609020204030204" pitchFamily="49" charset="0"/>
                <a:ea typeface="华文楷体" panose="02010600040101010101" pitchFamily="2" charset="-122"/>
              </a:rPr>
              <a:t>();</a:t>
            </a:r>
          </a:p>
          <a:p>
            <a:pPr marL="457200" lvl="1" indent="0">
              <a:buNone/>
            </a:pPr>
            <a:r>
              <a:rPr kumimoji="1" lang="en-US" altLang="zh-CN" sz="2000" dirty="0">
                <a:latin typeface="Consolas" panose="020B0609020204030204" pitchFamily="49" charset="0"/>
                <a:ea typeface="华文楷体" panose="02010600040101010101" pitchFamily="2" charset="-122"/>
              </a:rPr>
              <a:t>	return 0;</a:t>
            </a:r>
          </a:p>
          <a:p>
            <a:pPr marL="457200" lvl="1" indent="0">
              <a:buNone/>
            </a:pPr>
            <a:r>
              <a:rPr kumimoji="1" lang="en-US" altLang="zh-CN" sz="2000" dirty="0">
                <a:latin typeface="Consolas" panose="020B0609020204030204" pitchFamily="49" charset="0"/>
                <a:ea typeface="华文楷体" panose="02010600040101010101" pitchFamily="2" charset="-122"/>
              </a:rPr>
              <a:t>}</a:t>
            </a:r>
            <a:endParaRPr kumimoji="1" lang="zh-CN" altLang="en-US" sz="2000" dirty="0">
              <a:latin typeface="Consolas" panose="020B0609020204030204" pitchFamily="49" charset="0"/>
              <a:ea typeface="华文楷体" panose="02010600040101010101" pitchFamily="2" charset="-122"/>
            </a:endParaRPr>
          </a:p>
        </p:txBody>
      </p:sp>
      <p:sp>
        <p:nvSpPr>
          <p:cNvPr id="4" name="幻灯片编号占位符 3"/>
          <p:cNvSpPr>
            <a:spLocks noGrp="1"/>
          </p:cNvSpPr>
          <p:nvPr>
            <p:ph type="sldNum" sz="quarter" idx="12"/>
          </p:nvPr>
        </p:nvSpPr>
        <p:spPr/>
        <p:txBody>
          <a:bodyPr/>
          <a:lstStyle/>
          <a:p>
            <a:pPr>
              <a:defRPr/>
            </a:pPr>
            <a:fld id="{BFD7BE51-03DD-4CCA-8227-D775462981B4}" type="slidenum">
              <a:rPr lang="en-US" altLang="zh-CN" smtClean="0"/>
              <a:t>4</a:t>
            </a:fld>
            <a:endParaRPr lang="en-US"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回顾：类模板</a:t>
            </a:r>
          </a:p>
        </p:txBody>
      </p:sp>
      <p:sp>
        <p:nvSpPr>
          <p:cNvPr id="3" name="内容占位符 2"/>
          <p:cNvSpPr>
            <a:spLocks noGrp="1"/>
          </p:cNvSpPr>
          <p:nvPr>
            <p:ph idx="1"/>
          </p:nvPr>
        </p:nvSpPr>
        <p:spPr>
          <a:xfrm>
            <a:off x="611560" y="1477708"/>
            <a:ext cx="8047806" cy="5243768"/>
          </a:xfrm>
        </p:spPr>
        <p:txBody>
          <a:bodyPr>
            <a:normAutofit lnSpcReduction="10000"/>
          </a:bodyPr>
          <a:lstStyle/>
          <a:p>
            <a:pPr>
              <a:lnSpc>
                <a:spcPct val="110000"/>
              </a:lnSpc>
              <a:buSzPct val="75000"/>
              <a:buFont typeface="Wingdings" panose="05000000000000000000" pitchFamily="2" charset="2"/>
              <a:buChar char="n"/>
            </a:pPr>
            <a:r>
              <a:rPr kumimoji="1" lang="zh-CN" altLang="en-US" sz="2600" b="1" dirty="0">
                <a:solidFill>
                  <a:srgbClr val="003366"/>
                </a:solidFill>
                <a:latin typeface="华文楷体" panose="02010600040101010101" pitchFamily="2" charset="-122"/>
                <a:ea typeface="华文楷体" panose="02010600040101010101" pitchFamily="2" charset="-122"/>
              </a:rPr>
              <a:t>类模板除了</a:t>
            </a:r>
            <a:r>
              <a:rPr kumimoji="1" lang="zh-CN" altLang="en-US" sz="2600" b="1">
                <a:solidFill>
                  <a:srgbClr val="003366"/>
                </a:solidFill>
                <a:latin typeface="华文楷体" panose="02010600040101010101" pitchFamily="2" charset="-122"/>
                <a:ea typeface="华文楷体" panose="02010600040101010101" pitchFamily="2" charset="-122"/>
              </a:rPr>
              <a:t>可以用于指定成员</a:t>
            </a:r>
            <a:r>
              <a:rPr kumimoji="1" lang="zh-CN" altLang="en-US" sz="2600" b="1" dirty="0">
                <a:solidFill>
                  <a:srgbClr val="003366"/>
                </a:solidFill>
                <a:latin typeface="华文楷体" panose="02010600040101010101" pitchFamily="2" charset="-122"/>
                <a:ea typeface="华文楷体" panose="02010600040101010101" pitchFamily="2" charset="-122"/>
              </a:rPr>
              <a:t>变量的类型，还可以约束成员函数的</a:t>
            </a:r>
            <a:r>
              <a:rPr kumimoji="1" lang="zh-CN" altLang="en-US" sz="2600" b="1" dirty="0">
                <a:solidFill>
                  <a:srgbClr val="FF0000"/>
                </a:solidFill>
                <a:latin typeface="华文楷体" panose="02010600040101010101" pitchFamily="2" charset="-122"/>
                <a:ea typeface="华文楷体" panose="02010600040101010101" pitchFamily="2" charset="-122"/>
              </a:rPr>
              <a:t>返回值类型</a:t>
            </a:r>
            <a:r>
              <a:rPr kumimoji="1" lang="zh-CN" altLang="en-US" sz="2600" b="1" dirty="0">
                <a:solidFill>
                  <a:srgbClr val="003366"/>
                </a:solidFill>
                <a:latin typeface="华文楷体" panose="02010600040101010101" pitchFamily="2" charset="-122"/>
                <a:ea typeface="华文楷体" panose="02010600040101010101" pitchFamily="2" charset="-122"/>
              </a:rPr>
              <a:t>和</a:t>
            </a:r>
            <a:r>
              <a:rPr kumimoji="1" lang="zh-CN" altLang="en-US" sz="2600" b="1" dirty="0">
                <a:solidFill>
                  <a:srgbClr val="FF0000"/>
                </a:solidFill>
                <a:latin typeface="华文楷体" panose="02010600040101010101" pitchFamily="2" charset="-122"/>
                <a:ea typeface="华文楷体" panose="02010600040101010101" pitchFamily="2" charset="-122"/>
              </a:rPr>
              <a:t>参数类型</a:t>
            </a:r>
            <a:r>
              <a:rPr kumimoji="1" lang="zh-CN" altLang="en-US" sz="2600" b="1" dirty="0">
                <a:solidFill>
                  <a:srgbClr val="003366"/>
                </a:solidFill>
                <a:latin typeface="华文楷体" panose="02010600040101010101" pitchFamily="2" charset="-122"/>
                <a:ea typeface="华文楷体" panose="02010600040101010101" pitchFamily="2" charset="-122"/>
              </a:rPr>
              <a:t>。例如：</a:t>
            </a:r>
            <a:endParaRPr kumimoji="1" lang="en-US" altLang="zh-CN" sz="2600" b="1" dirty="0">
              <a:solidFill>
                <a:srgbClr val="003366"/>
              </a:solidFill>
              <a:latin typeface="华文楷体" panose="02010600040101010101" pitchFamily="2" charset="-122"/>
              <a:ea typeface="华文楷体" panose="02010600040101010101" pitchFamily="2" charset="-122"/>
            </a:endParaRPr>
          </a:p>
          <a:p>
            <a:pPr marL="457200" lvl="1" indent="0">
              <a:buNone/>
            </a:pPr>
            <a:r>
              <a:rPr lang="en-US" altLang="zh-CN" sz="2000" dirty="0">
                <a:solidFill>
                  <a:srgbClr val="6E200D"/>
                </a:solidFill>
                <a:latin typeface="Consolas" panose="020B0609020204030204" pitchFamily="49" charset="0"/>
                <a:ea typeface="Consolas" panose="020B0609020204030204" pitchFamily="49" charset="0"/>
                <a:cs typeface="Consolas" panose="020B0609020204030204" pitchFamily="49" charset="0"/>
              </a:rPr>
              <a:t>#include </a:t>
            </a:r>
            <a:r>
              <a:rPr lang="en-US" altLang="zh-CN" sz="2000" dirty="0">
                <a:solidFill>
                  <a:srgbClr val="BA0011"/>
                </a:solidFill>
                <a:latin typeface="Consolas" panose="020B0609020204030204" pitchFamily="49" charset="0"/>
                <a:ea typeface="Consolas" panose="020B0609020204030204" pitchFamily="49" charset="0"/>
                <a:cs typeface="Consolas" panose="020B0609020204030204" pitchFamily="49" charset="0"/>
              </a:rPr>
              <a:t>&lt;iostream&gt;</a:t>
            </a:r>
            <a:endParaRPr lang="en-US" altLang="zh-CN" sz="2000" dirty="0">
              <a:solidFill>
                <a:srgbClr val="6E200D"/>
              </a:solidFill>
              <a:latin typeface="Consolas" panose="020B0609020204030204" pitchFamily="49" charset="0"/>
              <a:ea typeface="Consolas" panose="020B0609020204030204" pitchFamily="49" charset="0"/>
              <a:cs typeface="Consolas" panose="020B0609020204030204" pitchFamily="49" charset="0"/>
            </a:endParaRPr>
          </a:p>
          <a:p>
            <a:pPr marL="457200" lvl="1" indent="0">
              <a:buNone/>
            </a:pPr>
            <a:r>
              <a:rPr lang="en-US" altLang="zh-CN" sz="2000" dirty="0">
                <a:solidFill>
                  <a:srgbClr val="B40062"/>
                </a:solidFill>
                <a:latin typeface="Consolas" panose="020B0609020204030204" pitchFamily="49" charset="0"/>
                <a:ea typeface="Consolas" panose="020B0609020204030204" pitchFamily="49" charset="0"/>
                <a:cs typeface="Consolas" panose="020B0609020204030204" pitchFamily="49" charset="0"/>
              </a:rPr>
              <a:t>using</a:t>
            </a:r>
            <a:r>
              <a:rPr lang="en-US" altLang="zh-CN" sz="2000" dirty="0">
                <a:solidFill>
                  <a:srgbClr val="000000"/>
                </a:solidFill>
                <a:latin typeface="Consolas" panose="020B0609020204030204" pitchFamily="49" charset="0"/>
                <a:ea typeface="Consolas" panose="020B0609020204030204" pitchFamily="49" charset="0"/>
                <a:cs typeface="Consolas" panose="020B0609020204030204" pitchFamily="49" charset="0"/>
              </a:rPr>
              <a:t> </a:t>
            </a:r>
            <a:r>
              <a:rPr lang="en-US" altLang="zh-CN" sz="2000" dirty="0">
                <a:solidFill>
                  <a:srgbClr val="B40062"/>
                </a:solidFill>
                <a:latin typeface="Consolas" panose="020B0609020204030204" pitchFamily="49" charset="0"/>
                <a:ea typeface="Consolas" panose="020B0609020204030204" pitchFamily="49" charset="0"/>
                <a:cs typeface="Consolas" panose="020B0609020204030204" pitchFamily="49" charset="0"/>
              </a:rPr>
              <a:t>namespace</a:t>
            </a:r>
            <a:r>
              <a:rPr lang="en-US" altLang="zh-CN" sz="2000" dirty="0">
                <a:solidFill>
                  <a:srgbClr val="000000"/>
                </a:solidFill>
                <a:latin typeface="Consolas" panose="020B0609020204030204" pitchFamily="49" charset="0"/>
                <a:ea typeface="Consolas" panose="020B0609020204030204" pitchFamily="49" charset="0"/>
                <a:cs typeface="Consolas" panose="020B0609020204030204" pitchFamily="49" charset="0"/>
              </a:rPr>
              <a:t> std;</a:t>
            </a:r>
          </a:p>
          <a:p>
            <a:pPr marL="457200" lvl="1" indent="0">
              <a:buNone/>
            </a:pPr>
            <a:endParaRPr kumimoji="1" lang="en-US" altLang="zh-CN" sz="2000" dirty="0">
              <a:solidFill>
                <a:srgbClr val="FF0000"/>
              </a:solidFill>
              <a:latin typeface="Consolas" panose="020B0609020204030204" pitchFamily="49" charset="0"/>
              <a:ea typeface="华文楷体" panose="02010600040101010101" pitchFamily="2" charset="-122"/>
            </a:endParaRPr>
          </a:p>
          <a:p>
            <a:pPr marL="457200" lvl="1" indent="0">
              <a:buNone/>
            </a:pPr>
            <a:r>
              <a:rPr kumimoji="1" lang="en-US" altLang="zh-CN" sz="2000" dirty="0">
                <a:solidFill>
                  <a:srgbClr val="FF0000"/>
                </a:solidFill>
                <a:latin typeface="Consolas" panose="020B0609020204030204" pitchFamily="49" charset="0"/>
                <a:ea typeface="华文楷体" panose="02010600040101010101" pitchFamily="2" charset="-122"/>
              </a:rPr>
              <a:t>template</a:t>
            </a:r>
            <a:r>
              <a:rPr kumimoji="1" lang="zh-CN" altLang="en-US" sz="2000" dirty="0">
                <a:solidFill>
                  <a:srgbClr val="FF0000"/>
                </a:solidFill>
                <a:latin typeface="Consolas" panose="020B0609020204030204" pitchFamily="49" charset="0"/>
                <a:ea typeface="华文楷体" panose="02010600040101010101" pitchFamily="2" charset="-122"/>
              </a:rPr>
              <a:t> </a:t>
            </a:r>
            <a:r>
              <a:rPr kumimoji="1" lang="en-US" altLang="zh-CN" sz="2000" dirty="0">
                <a:solidFill>
                  <a:srgbClr val="FF0000"/>
                </a:solidFill>
                <a:latin typeface="Consolas" panose="020B0609020204030204" pitchFamily="49" charset="0"/>
                <a:ea typeface="华文楷体" panose="02010600040101010101" pitchFamily="2" charset="-122"/>
              </a:rPr>
              <a:t>&lt;</a:t>
            </a:r>
            <a:r>
              <a:rPr kumimoji="1" lang="en-US" altLang="zh-CN" sz="2000" dirty="0" err="1">
                <a:solidFill>
                  <a:srgbClr val="FF0000"/>
                </a:solidFill>
                <a:latin typeface="Consolas" panose="020B0609020204030204" pitchFamily="49" charset="0"/>
                <a:ea typeface="华文楷体" panose="02010600040101010101" pitchFamily="2" charset="-122"/>
              </a:rPr>
              <a:t>typename</a:t>
            </a:r>
            <a:r>
              <a:rPr kumimoji="1" lang="zh-CN" altLang="en-US" sz="2000" dirty="0">
                <a:solidFill>
                  <a:srgbClr val="FF0000"/>
                </a:solidFill>
                <a:latin typeface="Consolas" panose="020B0609020204030204" pitchFamily="49" charset="0"/>
                <a:ea typeface="华文楷体" panose="02010600040101010101" pitchFamily="2" charset="-122"/>
              </a:rPr>
              <a:t> </a:t>
            </a:r>
            <a:r>
              <a:rPr kumimoji="1" lang="en-US" altLang="zh-CN" sz="2000" dirty="0">
                <a:solidFill>
                  <a:srgbClr val="FF0000"/>
                </a:solidFill>
                <a:latin typeface="Consolas" panose="020B0609020204030204" pitchFamily="49" charset="0"/>
                <a:ea typeface="华文楷体" panose="02010600040101010101" pitchFamily="2" charset="-122"/>
              </a:rPr>
              <a:t>T&gt;</a:t>
            </a:r>
            <a:r>
              <a:rPr kumimoji="1" lang="zh-CN" altLang="en-US" sz="2000" dirty="0">
                <a:solidFill>
                  <a:srgbClr val="FF0000"/>
                </a:solidFill>
                <a:latin typeface="Consolas" panose="020B0609020204030204" pitchFamily="49" charset="0"/>
                <a:ea typeface="华文楷体" panose="02010600040101010101" pitchFamily="2" charset="-122"/>
              </a:rPr>
              <a:t> </a:t>
            </a:r>
            <a:r>
              <a:rPr kumimoji="1" lang="en-US" altLang="zh-CN" sz="2000" dirty="0">
                <a:latin typeface="Consolas" panose="020B0609020204030204" pitchFamily="49" charset="0"/>
                <a:ea typeface="华文楷体" panose="02010600040101010101" pitchFamily="2" charset="-122"/>
              </a:rPr>
              <a:t>class</a:t>
            </a:r>
            <a:r>
              <a:rPr kumimoji="1" lang="zh-CN" altLang="en-US" sz="2000" dirty="0">
                <a:latin typeface="Consolas" panose="020B0609020204030204" pitchFamily="49" charset="0"/>
                <a:ea typeface="华文楷体" panose="02010600040101010101" pitchFamily="2" charset="-122"/>
              </a:rPr>
              <a:t> </a:t>
            </a:r>
            <a:r>
              <a:rPr kumimoji="1" lang="en-US" altLang="zh-CN" sz="2000" dirty="0">
                <a:latin typeface="Consolas" panose="020B0609020204030204" pitchFamily="49" charset="0"/>
                <a:ea typeface="华文楷体" panose="02010600040101010101" pitchFamily="2" charset="-122"/>
              </a:rPr>
              <a:t>A</a:t>
            </a:r>
            <a:r>
              <a:rPr kumimoji="1" lang="zh-CN" altLang="en-US" sz="2000" dirty="0">
                <a:latin typeface="Consolas" panose="020B0609020204030204" pitchFamily="49" charset="0"/>
                <a:ea typeface="华文楷体" panose="02010600040101010101" pitchFamily="2" charset="-122"/>
              </a:rPr>
              <a:t> </a:t>
            </a:r>
            <a:r>
              <a:rPr kumimoji="1" lang="en-US" altLang="zh-CN" sz="2000" dirty="0">
                <a:latin typeface="Consolas" panose="020B0609020204030204" pitchFamily="49" charset="0"/>
                <a:ea typeface="华文楷体" panose="02010600040101010101" pitchFamily="2" charset="-122"/>
              </a:rPr>
              <a:t>{</a:t>
            </a:r>
            <a:endParaRPr kumimoji="1" lang="zh-CN" altLang="en-US" sz="2000" dirty="0">
              <a:latin typeface="Consolas" panose="020B0609020204030204" pitchFamily="49" charset="0"/>
              <a:ea typeface="华文楷体" panose="02010600040101010101" pitchFamily="2" charset="-122"/>
            </a:endParaRPr>
          </a:p>
          <a:p>
            <a:pPr marL="457200" lvl="1" indent="0">
              <a:buNone/>
            </a:pPr>
            <a:r>
              <a:rPr kumimoji="1" lang="zh-CN" altLang="en-US" sz="2000" dirty="0">
                <a:latin typeface="Consolas" panose="020B0609020204030204" pitchFamily="49" charset="0"/>
                <a:ea typeface="华文楷体" panose="02010600040101010101" pitchFamily="2" charset="-122"/>
              </a:rPr>
              <a:t>	</a:t>
            </a:r>
            <a:r>
              <a:rPr kumimoji="1" lang="en-US" altLang="zh-CN" sz="2000" dirty="0" err="1">
                <a:latin typeface="Consolas" panose="020B0609020204030204" pitchFamily="49" charset="0"/>
                <a:ea typeface="华文楷体" panose="02010600040101010101" pitchFamily="2" charset="-122"/>
              </a:rPr>
              <a:t>int</a:t>
            </a:r>
            <a:r>
              <a:rPr kumimoji="1" lang="zh-CN" altLang="en-US" sz="2000" dirty="0">
                <a:latin typeface="Consolas" panose="020B0609020204030204" pitchFamily="49" charset="0"/>
                <a:ea typeface="华文楷体" panose="02010600040101010101" pitchFamily="2" charset="-122"/>
              </a:rPr>
              <a:t> </a:t>
            </a:r>
            <a:r>
              <a:rPr kumimoji="1" lang="en-US" altLang="zh-CN" sz="2000" dirty="0">
                <a:latin typeface="Consolas" panose="020B0609020204030204" pitchFamily="49" charset="0"/>
                <a:ea typeface="华文楷体" panose="02010600040101010101" pitchFamily="2" charset="-122"/>
              </a:rPr>
              <a:t>data;</a:t>
            </a:r>
            <a:endParaRPr kumimoji="1" lang="zh-CN" altLang="en-US" sz="2000" dirty="0">
              <a:latin typeface="Consolas" panose="020B0609020204030204" pitchFamily="49" charset="0"/>
              <a:ea typeface="华文楷体" panose="02010600040101010101" pitchFamily="2" charset="-122"/>
            </a:endParaRPr>
          </a:p>
          <a:p>
            <a:pPr marL="457200" lvl="1" indent="0">
              <a:buNone/>
            </a:pPr>
            <a:r>
              <a:rPr kumimoji="1" lang="en-US" altLang="zh-CN" sz="2000" dirty="0">
                <a:latin typeface="Consolas" panose="020B0609020204030204" pitchFamily="49" charset="0"/>
                <a:ea typeface="华文楷体" panose="02010600040101010101" pitchFamily="2" charset="-122"/>
              </a:rPr>
              <a:t>public:</a:t>
            </a:r>
            <a:endParaRPr kumimoji="1" lang="zh-CN" altLang="en-US" sz="2000" dirty="0">
              <a:latin typeface="Consolas" panose="020B0609020204030204" pitchFamily="49" charset="0"/>
              <a:ea typeface="华文楷体" panose="02010600040101010101" pitchFamily="2" charset="-122"/>
            </a:endParaRPr>
          </a:p>
          <a:p>
            <a:pPr marL="457200" lvl="1" indent="0">
              <a:buNone/>
            </a:pPr>
            <a:r>
              <a:rPr kumimoji="1" lang="zh-CN" altLang="en-US" sz="2000" dirty="0">
                <a:latin typeface="Consolas" panose="020B0609020204030204" pitchFamily="49" charset="0"/>
                <a:ea typeface="华文楷体" panose="02010600040101010101" pitchFamily="2" charset="-122"/>
              </a:rPr>
              <a:t>	</a:t>
            </a:r>
            <a:r>
              <a:rPr kumimoji="1" lang="en-US" altLang="zh-CN" sz="2000" dirty="0">
                <a:solidFill>
                  <a:srgbClr val="FF0000"/>
                </a:solidFill>
                <a:latin typeface="Consolas" panose="020B0609020204030204" pitchFamily="49" charset="0"/>
                <a:ea typeface="华文楷体" panose="02010600040101010101" pitchFamily="2" charset="-122"/>
              </a:rPr>
              <a:t>T</a:t>
            </a:r>
            <a:r>
              <a:rPr kumimoji="1" lang="zh-CN" altLang="en-US" sz="2000" dirty="0">
                <a:solidFill>
                  <a:srgbClr val="FF0000"/>
                </a:solidFill>
                <a:latin typeface="Consolas" panose="020B0609020204030204" pitchFamily="49" charset="0"/>
                <a:ea typeface="华文楷体" panose="02010600040101010101" pitchFamily="2" charset="-122"/>
              </a:rPr>
              <a:t> </a:t>
            </a:r>
            <a:r>
              <a:rPr kumimoji="1" lang="en-US" altLang="zh-CN" sz="2000" dirty="0">
                <a:solidFill>
                  <a:srgbClr val="FF0000"/>
                </a:solidFill>
                <a:latin typeface="Consolas" panose="020B0609020204030204" pitchFamily="49" charset="0"/>
                <a:ea typeface="华文楷体" panose="02010600040101010101" pitchFamily="2" charset="-122"/>
              </a:rPr>
              <a:t>sum(T a, T b)</a:t>
            </a:r>
            <a:r>
              <a:rPr kumimoji="1" lang="zh-CN" altLang="en-US" sz="2000" dirty="0">
                <a:latin typeface="Consolas" panose="020B0609020204030204" pitchFamily="49" charset="0"/>
                <a:ea typeface="华文楷体" panose="02010600040101010101" pitchFamily="2" charset="-122"/>
              </a:rPr>
              <a:t> </a:t>
            </a:r>
            <a:r>
              <a:rPr kumimoji="1" lang="en-US" altLang="zh-CN" sz="2000" dirty="0">
                <a:latin typeface="Consolas" panose="020B0609020204030204" pitchFamily="49" charset="0"/>
                <a:ea typeface="华文楷体" panose="02010600040101010101" pitchFamily="2" charset="-122"/>
              </a:rPr>
              <a:t>{</a:t>
            </a:r>
            <a:r>
              <a:rPr kumimoji="1" lang="zh-CN" altLang="en-US" sz="2000" dirty="0">
                <a:latin typeface="Consolas" panose="020B0609020204030204" pitchFamily="49" charset="0"/>
                <a:ea typeface="华文楷体" panose="02010600040101010101" pitchFamily="2" charset="-122"/>
              </a:rPr>
              <a:t> </a:t>
            </a:r>
            <a:r>
              <a:rPr kumimoji="1" lang="en-US" altLang="zh-CN" sz="2000" dirty="0">
                <a:latin typeface="Consolas" panose="020B0609020204030204" pitchFamily="49" charset="0"/>
                <a:ea typeface="华文楷体" panose="02010600040101010101" pitchFamily="2" charset="-122"/>
              </a:rPr>
              <a:t>return a + b;</a:t>
            </a:r>
            <a:r>
              <a:rPr kumimoji="1" lang="zh-CN" altLang="en-US" sz="2000" dirty="0">
                <a:latin typeface="Consolas" panose="020B0609020204030204" pitchFamily="49" charset="0"/>
                <a:ea typeface="华文楷体" panose="02010600040101010101" pitchFamily="2" charset="-122"/>
              </a:rPr>
              <a:t> </a:t>
            </a:r>
            <a:r>
              <a:rPr kumimoji="1" lang="en-US" altLang="zh-CN" sz="2000" dirty="0">
                <a:latin typeface="Consolas" panose="020B0609020204030204" pitchFamily="49" charset="0"/>
                <a:ea typeface="华文楷体" panose="02010600040101010101" pitchFamily="2" charset="-122"/>
              </a:rPr>
              <a:t>}</a:t>
            </a:r>
            <a:endParaRPr kumimoji="1" lang="zh-CN" altLang="en-US" sz="2000" dirty="0">
              <a:latin typeface="Consolas" panose="020B0609020204030204" pitchFamily="49" charset="0"/>
              <a:ea typeface="华文楷体" panose="02010600040101010101" pitchFamily="2" charset="-122"/>
            </a:endParaRPr>
          </a:p>
          <a:p>
            <a:pPr marL="457200" lvl="1" indent="0">
              <a:buNone/>
            </a:pPr>
            <a:r>
              <a:rPr kumimoji="1" lang="en-US" altLang="zh-CN" sz="2000" dirty="0">
                <a:latin typeface="Consolas" panose="020B0609020204030204" pitchFamily="49" charset="0"/>
                <a:ea typeface="华文楷体" panose="02010600040101010101" pitchFamily="2" charset="-122"/>
              </a:rPr>
              <a:t>};</a:t>
            </a:r>
            <a:r>
              <a:rPr kumimoji="1" lang="zh-CN" altLang="en-US" sz="2000" dirty="0">
                <a:latin typeface="Consolas" panose="020B0609020204030204" pitchFamily="49" charset="0"/>
                <a:ea typeface="华文楷体" panose="02010600040101010101" pitchFamily="2" charset="-122"/>
              </a:rPr>
              <a:t> </a:t>
            </a:r>
            <a:endParaRPr kumimoji="1" lang="en-US" altLang="zh-CN" sz="2000" dirty="0">
              <a:latin typeface="Consolas" panose="020B0609020204030204" pitchFamily="49" charset="0"/>
              <a:ea typeface="华文楷体" panose="02010600040101010101" pitchFamily="2" charset="-122"/>
            </a:endParaRPr>
          </a:p>
          <a:p>
            <a:pPr marL="457200" lvl="1" indent="0">
              <a:buNone/>
            </a:pPr>
            <a:r>
              <a:rPr kumimoji="1" lang="en-US" altLang="zh-CN" sz="2000" dirty="0" err="1">
                <a:latin typeface="Consolas" panose="020B0609020204030204" pitchFamily="49" charset="0"/>
                <a:ea typeface="华文楷体" panose="02010600040101010101" pitchFamily="2" charset="-122"/>
              </a:rPr>
              <a:t>int</a:t>
            </a:r>
            <a:r>
              <a:rPr kumimoji="1" lang="en-US" altLang="zh-CN" sz="2000" dirty="0">
                <a:latin typeface="Consolas" panose="020B0609020204030204" pitchFamily="49" charset="0"/>
                <a:ea typeface="华文楷体" panose="02010600040101010101" pitchFamily="2" charset="-122"/>
              </a:rPr>
              <a:t> main() {</a:t>
            </a:r>
          </a:p>
          <a:p>
            <a:pPr marL="457200" lvl="1" indent="0">
              <a:buNone/>
            </a:pPr>
            <a:r>
              <a:rPr kumimoji="1" lang="zh-CN" altLang="en-US" sz="2000" dirty="0">
                <a:latin typeface="Consolas" panose="020B0609020204030204" pitchFamily="49" charset="0"/>
                <a:ea typeface="华文楷体" panose="02010600040101010101" pitchFamily="2" charset="-122"/>
              </a:rPr>
              <a:t>	</a:t>
            </a:r>
            <a:r>
              <a:rPr kumimoji="1" lang="en-US" altLang="zh-CN" sz="2000" dirty="0">
                <a:latin typeface="Consolas" panose="020B0609020204030204" pitchFamily="49" charset="0"/>
                <a:ea typeface="华文楷体" panose="02010600040101010101" pitchFamily="2" charset="-122"/>
              </a:rPr>
              <a:t>A</a:t>
            </a:r>
            <a:r>
              <a:rPr kumimoji="1" lang="en-US" altLang="zh-CN" sz="2000" dirty="0">
                <a:solidFill>
                  <a:srgbClr val="FF0000"/>
                </a:solidFill>
                <a:latin typeface="Consolas" panose="020B0609020204030204" pitchFamily="49" charset="0"/>
                <a:ea typeface="华文楷体" panose="02010600040101010101" pitchFamily="2" charset="-122"/>
              </a:rPr>
              <a:t>&lt;</a:t>
            </a:r>
            <a:r>
              <a:rPr kumimoji="1" lang="en-US" altLang="zh-CN" sz="2000" dirty="0" err="1">
                <a:solidFill>
                  <a:srgbClr val="FF0000"/>
                </a:solidFill>
                <a:latin typeface="Consolas" panose="020B0609020204030204" pitchFamily="49" charset="0"/>
                <a:ea typeface="华文楷体" panose="02010600040101010101" pitchFamily="2" charset="-122"/>
              </a:rPr>
              <a:t>int</a:t>
            </a:r>
            <a:r>
              <a:rPr kumimoji="1" lang="en-US" altLang="zh-CN" sz="2000" dirty="0">
                <a:solidFill>
                  <a:srgbClr val="FF0000"/>
                </a:solidFill>
                <a:latin typeface="Consolas" panose="020B0609020204030204" pitchFamily="49" charset="0"/>
                <a:ea typeface="华文楷体" panose="02010600040101010101" pitchFamily="2" charset="-122"/>
              </a:rPr>
              <a:t>&gt;</a:t>
            </a:r>
            <a:r>
              <a:rPr kumimoji="1" lang="en-US" altLang="zh-CN" sz="2000" dirty="0">
                <a:latin typeface="Consolas" panose="020B0609020204030204" pitchFamily="49" charset="0"/>
                <a:ea typeface="华文楷体" panose="02010600040101010101" pitchFamily="2" charset="-122"/>
              </a:rPr>
              <a:t> a;</a:t>
            </a:r>
          </a:p>
          <a:p>
            <a:pPr marL="457200" lvl="1" indent="0">
              <a:buNone/>
            </a:pPr>
            <a:r>
              <a:rPr kumimoji="1" lang="zh-CN" altLang="en-US" sz="2000" dirty="0">
                <a:latin typeface="Consolas" panose="020B0609020204030204" pitchFamily="49" charset="0"/>
                <a:ea typeface="华文楷体" panose="02010600040101010101" pitchFamily="2" charset="-122"/>
              </a:rPr>
              <a:t>	</a:t>
            </a:r>
            <a:r>
              <a:rPr kumimoji="1" lang="en-US" altLang="zh-CN" sz="2000" dirty="0" err="1">
                <a:latin typeface="Consolas" panose="020B0609020204030204" pitchFamily="49" charset="0"/>
                <a:ea typeface="华文楷体" panose="02010600040101010101" pitchFamily="2" charset="-122"/>
              </a:rPr>
              <a:t>cout</a:t>
            </a:r>
            <a:r>
              <a:rPr kumimoji="1" lang="en-US" altLang="zh-CN" sz="2000" dirty="0">
                <a:latin typeface="Consolas" panose="020B0609020204030204" pitchFamily="49" charset="0"/>
                <a:ea typeface="华文楷体" panose="02010600040101010101" pitchFamily="2" charset="-122"/>
              </a:rPr>
              <a:t>&lt;&lt;</a:t>
            </a:r>
            <a:r>
              <a:rPr kumimoji="1" lang="en-US" altLang="zh-CN" sz="2000" dirty="0" err="1">
                <a:latin typeface="Consolas" panose="020B0609020204030204" pitchFamily="49" charset="0"/>
                <a:ea typeface="华文楷体" panose="02010600040101010101" pitchFamily="2" charset="-122"/>
              </a:rPr>
              <a:t>a.sum</a:t>
            </a:r>
            <a:r>
              <a:rPr kumimoji="1" lang="en-US" altLang="zh-CN" sz="2000" dirty="0">
                <a:latin typeface="Consolas" panose="020B0609020204030204" pitchFamily="49" charset="0"/>
                <a:ea typeface="华文楷体" panose="02010600040101010101" pitchFamily="2" charset="-122"/>
              </a:rPr>
              <a:t>(1, 2)&lt;&lt;</a:t>
            </a:r>
            <a:r>
              <a:rPr kumimoji="1" lang="en-US" altLang="zh-CN" sz="2000" dirty="0" err="1">
                <a:latin typeface="Consolas" panose="020B0609020204030204" pitchFamily="49" charset="0"/>
                <a:ea typeface="华文楷体" panose="02010600040101010101" pitchFamily="2" charset="-122"/>
              </a:rPr>
              <a:t>endl</a:t>
            </a:r>
            <a:r>
              <a:rPr kumimoji="1" lang="en-US" altLang="zh-CN" sz="2000" dirty="0">
                <a:latin typeface="Consolas" panose="020B0609020204030204" pitchFamily="49" charset="0"/>
                <a:ea typeface="华文楷体" panose="02010600040101010101" pitchFamily="2" charset="-122"/>
              </a:rPr>
              <a:t>;</a:t>
            </a:r>
          </a:p>
          <a:p>
            <a:pPr marL="457200" lvl="1" indent="0">
              <a:buNone/>
            </a:pPr>
            <a:r>
              <a:rPr kumimoji="1" lang="en-US" altLang="zh-CN" sz="2000" dirty="0">
                <a:latin typeface="Consolas" panose="020B0609020204030204" pitchFamily="49" charset="0"/>
                <a:ea typeface="华文楷体" panose="02010600040101010101" pitchFamily="2" charset="-122"/>
              </a:rPr>
              <a:t>	return 0;</a:t>
            </a:r>
          </a:p>
          <a:p>
            <a:pPr marL="457200" lvl="1" indent="0">
              <a:buNone/>
            </a:pPr>
            <a:r>
              <a:rPr kumimoji="1" lang="en-US" altLang="zh-CN" sz="2000" dirty="0">
                <a:latin typeface="Consolas" panose="020B0609020204030204" pitchFamily="49" charset="0"/>
                <a:ea typeface="华文楷体" panose="02010600040101010101" pitchFamily="2" charset="-122"/>
              </a:rPr>
              <a:t>}</a:t>
            </a:r>
            <a:endParaRPr kumimoji="1" lang="zh-CN" altLang="en-US" sz="2000" dirty="0">
              <a:latin typeface="Consolas" panose="020B0609020204030204" pitchFamily="49" charset="0"/>
              <a:ea typeface="华文楷体" panose="02010600040101010101" pitchFamily="2" charset="-122"/>
            </a:endParaRPr>
          </a:p>
        </p:txBody>
      </p:sp>
      <p:sp>
        <p:nvSpPr>
          <p:cNvPr id="4" name="幻灯片编号占位符 3"/>
          <p:cNvSpPr>
            <a:spLocks noGrp="1"/>
          </p:cNvSpPr>
          <p:nvPr>
            <p:ph type="sldNum" sz="quarter" idx="12"/>
          </p:nvPr>
        </p:nvSpPr>
        <p:spPr/>
        <p:txBody>
          <a:bodyPr/>
          <a:lstStyle/>
          <a:p>
            <a:pPr>
              <a:defRPr/>
            </a:pPr>
            <a:fld id="{BFD7BE51-03DD-4CCA-8227-D775462981B4}" type="slidenum">
              <a:rPr lang="en-US" altLang="zh-CN" smtClean="0"/>
              <a:t>5</a:t>
            </a:fld>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回顾：函数模板</a:t>
            </a:r>
          </a:p>
        </p:txBody>
      </p:sp>
      <p:sp>
        <p:nvSpPr>
          <p:cNvPr id="3" name="内容占位符 2"/>
          <p:cNvSpPr>
            <a:spLocks noGrp="1"/>
          </p:cNvSpPr>
          <p:nvPr>
            <p:ph idx="1"/>
          </p:nvPr>
        </p:nvSpPr>
        <p:spPr>
          <a:xfrm>
            <a:off x="628650" y="1690689"/>
            <a:ext cx="8214267" cy="4462283"/>
          </a:xfrm>
        </p:spPr>
        <p:txBody>
          <a:bodyPr/>
          <a:lstStyle/>
          <a:p>
            <a:pPr>
              <a:buSzPct val="75000"/>
              <a:buFont typeface="Wingdings" panose="05000000000000000000" pitchFamily="2" charset="2"/>
              <a:buChar char="n"/>
            </a:pPr>
            <a:r>
              <a:rPr kumimoji="1" lang="zh-CN" altLang="en-US" b="1" dirty="0">
                <a:solidFill>
                  <a:srgbClr val="003366"/>
                </a:solidFill>
                <a:latin typeface="华文楷体" panose="02010600040101010101" pitchFamily="2" charset="-122"/>
                <a:ea typeface="华文楷体" panose="02010600040101010101" pitchFamily="2" charset="-122"/>
              </a:rPr>
              <a:t>有些算法实现与类型无关，所以可以将函数的参数类型也定义为一种特殊的“参数”，这样就得到了“函数模板”。</a:t>
            </a:r>
          </a:p>
          <a:p>
            <a:pPr>
              <a:buSzPct val="75000"/>
              <a:buFont typeface="Wingdings" panose="05000000000000000000" pitchFamily="2" charset="2"/>
              <a:buChar char="n"/>
            </a:pPr>
            <a:r>
              <a:rPr kumimoji="1" lang="zh-CN" altLang="en-US" b="1" dirty="0">
                <a:solidFill>
                  <a:srgbClr val="003366"/>
                </a:solidFill>
                <a:latin typeface="华文楷体" panose="02010600040101010101" pitchFamily="2" charset="-122"/>
                <a:ea typeface="华文楷体" panose="02010600040101010101" pitchFamily="2" charset="-122"/>
              </a:rPr>
              <a:t>定义函数模板的方法</a:t>
            </a:r>
          </a:p>
          <a:p>
            <a:pPr marL="457200" lvl="1" indent="0">
              <a:buNone/>
            </a:pPr>
            <a:r>
              <a:rPr kumimoji="1" lang="en-US" altLang="zh-CN" dirty="0">
                <a:latin typeface="Consolas" panose="020B0609020204030204" pitchFamily="49" charset="0"/>
                <a:ea typeface="华文楷体" panose="02010600040101010101" pitchFamily="2" charset="-122"/>
              </a:rPr>
              <a:t>template</a:t>
            </a:r>
            <a:r>
              <a:rPr kumimoji="1" lang="zh-CN" altLang="en-US" dirty="0">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&lt;</a:t>
            </a:r>
            <a:r>
              <a:rPr kumimoji="1" lang="en-US" altLang="zh-CN" dirty="0" err="1">
                <a:latin typeface="Consolas" panose="020B0609020204030204" pitchFamily="49" charset="0"/>
                <a:ea typeface="华文楷体" panose="02010600040101010101" pitchFamily="2" charset="-122"/>
              </a:rPr>
              <a:t>typename</a:t>
            </a:r>
            <a:r>
              <a:rPr kumimoji="1" lang="zh-CN" altLang="en-US" dirty="0">
                <a:latin typeface="Consolas" panose="020B0609020204030204" pitchFamily="49" charset="0"/>
                <a:ea typeface="华文楷体" panose="02010600040101010101" pitchFamily="2" charset="-122"/>
              </a:rPr>
              <a:t> </a:t>
            </a:r>
            <a:r>
              <a:rPr kumimoji="1" lang="en-US" altLang="zh-CN" dirty="0">
                <a:latin typeface="Consolas" panose="020B0609020204030204" pitchFamily="49" charset="0"/>
                <a:ea typeface="华文楷体" panose="02010600040101010101" pitchFamily="2" charset="-122"/>
              </a:rPr>
              <a:t>T&gt;</a:t>
            </a:r>
            <a:r>
              <a:rPr kumimoji="1" lang="zh-CN" altLang="en-US" dirty="0">
                <a:latin typeface="Consolas" panose="020B0609020204030204" pitchFamily="49" charset="0"/>
                <a:ea typeface="华文楷体" panose="02010600040101010101" pitchFamily="2" charset="-122"/>
              </a:rPr>
              <a:t> </a:t>
            </a:r>
            <a:r>
              <a:rPr kumimoji="1" lang="en-US" altLang="zh-CN" dirty="0" err="1">
                <a:latin typeface="Consolas" panose="020B0609020204030204" pitchFamily="49" charset="0"/>
                <a:ea typeface="华文楷体" panose="02010600040101010101" pitchFamily="2" charset="-122"/>
              </a:rPr>
              <a:t>ReturnType</a:t>
            </a:r>
            <a:r>
              <a:rPr kumimoji="1" lang="zh-CN" altLang="en-US" dirty="0">
                <a:latin typeface="Consolas" panose="020B0609020204030204" pitchFamily="49" charset="0"/>
                <a:ea typeface="华文楷体" panose="02010600040101010101" pitchFamily="2" charset="-122"/>
              </a:rPr>
              <a:t> </a:t>
            </a:r>
            <a:r>
              <a:rPr kumimoji="1" lang="en-US" altLang="zh-CN" dirty="0" err="1">
                <a:latin typeface="Consolas" panose="020B0609020204030204" pitchFamily="49" charset="0"/>
                <a:ea typeface="华文楷体" panose="02010600040101010101" pitchFamily="2" charset="-122"/>
              </a:rPr>
              <a:t>Func</a:t>
            </a:r>
            <a:r>
              <a:rPr kumimoji="1" lang="en-US" altLang="zh-CN" dirty="0">
                <a:latin typeface="Consolas" panose="020B0609020204030204" pitchFamily="49" charset="0"/>
                <a:ea typeface="华文楷体" panose="02010600040101010101" pitchFamily="2" charset="-122"/>
              </a:rPr>
              <a:t>(</a:t>
            </a:r>
            <a:r>
              <a:rPr kumimoji="1" lang="en-US" altLang="zh-CN" dirty="0" err="1">
                <a:latin typeface="Consolas" panose="020B0609020204030204" pitchFamily="49" charset="0"/>
                <a:ea typeface="华文楷体" panose="02010600040101010101" pitchFamily="2" charset="-122"/>
              </a:rPr>
              <a:t>Args</a:t>
            </a:r>
            <a:r>
              <a:rPr kumimoji="1" lang="en-US" altLang="zh-CN" dirty="0">
                <a:latin typeface="Consolas" panose="020B0609020204030204" pitchFamily="49" charset="0"/>
                <a:ea typeface="华文楷体" panose="02010600040101010101" pitchFamily="2" charset="-122"/>
              </a:rPr>
              <a:t>)</a:t>
            </a:r>
            <a:r>
              <a:rPr kumimoji="1" lang="zh-CN" altLang="en-US" dirty="0">
                <a:latin typeface="Consolas" panose="020B0609020204030204" pitchFamily="49" charset="0"/>
                <a:ea typeface="华文楷体" panose="02010600040101010101" pitchFamily="2" charset="-122"/>
              </a:rPr>
              <a:t>；</a:t>
            </a:r>
          </a:p>
          <a:p>
            <a:pPr>
              <a:buSzPct val="75000"/>
              <a:buFont typeface="Wingdings" panose="05000000000000000000" pitchFamily="2" charset="2"/>
              <a:buChar char="n"/>
            </a:pPr>
            <a:r>
              <a:rPr kumimoji="1" lang="zh-CN" altLang="en-US" b="1" dirty="0">
                <a:solidFill>
                  <a:srgbClr val="003366"/>
                </a:solidFill>
                <a:latin typeface="华文楷体" panose="02010600040101010101" pitchFamily="2" charset="-122"/>
                <a:ea typeface="华文楷体" panose="02010600040101010101" pitchFamily="2" charset="-122"/>
              </a:rPr>
              <a:t>如：任意类型两个变量相加的“函数模板”</a:t>
            </a:r>
          </a:p>
          <a:p>
            <a:pPr marL="457200" lvl="1" indent="0">
              <a:buNone/>
            </a:pPr>
            <a:r>
              <a:rPr kumimoji="1" lang="en-US" altLang="zh-CN" dirty="0">
                <a:solidFill>
                  <a:srgbClr val="FF0000"/>
                </a:solidFill>
                <a:latin typeface="Consolas" panose="020B0609020204030204" pitchFamily="49" charset="0"/>
                <a:ea typeface="华文楷体" panose="02010600040101010101" pitchFamily="2" charset="-122"/>
              </a:rPr>
              <a:t>template</a:t>
            </a:r>
            <a:r>
              <a:rPr kumimoji="1" lang="zh-CN" altLang="en-US" dirty="0">
                <a:solidFill>
                  <a:srgbClr val="FF0000"/>
                </a:solidFill>
                <a:latin typeface="Consolas" panose="020B0609020204030204" pitchFamily="49" charset="0"/>
                <a:ea typeface="华文楷体" panose="02010600040101010101" pitchFamily="2" charset="-122"/>
              </a:rPr>
              <a:t> </a:t>
            </a:r>
            <a:r>
              <a:rPr kumimoji="1" lang="en-US" altLang="zh-CN" dirty="0">
                <a:solidFill>
                  <a:srgbClr val="FF0000"/>
                </a:solidFill>
                <a:latin typeface="Consolas" panose="020B0609020204030204" pitchFamily="49" charset="0"/>
                <a:ea typeface="华文楷体" panose="02010600040101010101" pitchFamily="2" charset="-122"/>
              </a:rPr>
              <a:t>&lt;</a:t>
            </a:r>
            <a:r>
              <a:rPr kumimoji="1" lang="en-US" altLang="zh-CN" dirty="0" err="1">
                <a:solidFill>
                  <a:srgbClr val="FF0000"/>
                </a:solidFill>
                <a:latin typeface="Consolas" panose="020B0609020204030204" pitchFamily="49" charset="0"/>
                <a:ea typeface="华文楷体" panose="02010600040101010101" pitchFamily="2" charset="-122"/>
              </a:rPr>
              <a:t>typename</a:t>
            </a:r>
            <a:r>
              <a:rPr kumimoji="1" lang="zh-CN" altLang="en-US" dirty="0">
                <a:solidFill>
                  <a:srgbClr val="FF0000"/>
                </a:solidFill>
                <a:latin typeface="Consolas" panose="020B0609020204030204" pitchFamily="49" charset="0"/>
                <a:ea typeface="华文楷体" panose="02010600040101010101" pitchFamily="2" charset="-122"/>
              </a:rPr>
              <a:t> </a:t>
            </a:r>
            <a:r>
              <a:rPr kumimoji="1" lang="en-US" altLang="zh-CN" dirty="0">
                <a:solidFill>
                  <a:srgbClr val="FF0000"/>
                </a:solidFill>
                <a:latin typeface="Consolas" panose="020B0609020204030204" pitchFamily="49" charset="0"/>
                <a:ea typeface="华文楷体" panose="02010600040101010101" pitchFamily="2" charset="-122"/>
              </a:rPr>
              <a:t>T&gt;</a:t>
            </a:r>
            <a:r>
              <a:rPr kumimoji="1" lang="zh-CN" altLang="en-US" dirty="0">
                <a:solidFill>
                  <a:srgbClr val="FF0000"/>
                </a:solidFill>
                <a:latin typeface="Consolas" panose="020B0609020204030204" pitchFamily="49" charset="0"/>
                <a:ea typeface="华文楷体" panose="02010600040101010101" pitchFamily="2" charset="-122"/>
              </a:rPr>
              <a:t> </a:t>
            </a:r>
          </a:p>
          <a:p>
            <a:pPr marL="457200" lvl="1" indent="0">
              <a:buNone/>
            </a:pPr>
            <a:r>
              <a:rPr kumimoji="1" lang="en-US" altLang="zh-CN" dirty="0">
                <a:solidFill>
                  <a:srgbClr val="FF0000"/>
                </a:solidFill>
                <a:latin typeface="Consolas" panose="020B0609020204030204" pitchFamily="49" charset="0"/>
                <a:ea typeface="华文楷体" panose="02010600040101010101" pitchFamily="2" charset="-122"/>
              </a:rPr>
              <a:t>T</a:t>
            </a:r>
            <a:r>
              <a:rPr kumimoji="1" lang="zh-CN" altLang="en-US" dirty="0">
                <a:solidFill>
                  <a:srgbClr val="FF0000"/>
                </a:solidFill>
                <a:latin typeface="Consolas" panose="020B0609020204030204" pitchFamily="49" charset="0"/>
                <a:ea typeface="华文楷体" panose="02010600040101010101" pitchFamily="2" charset="-122"/>
              </a:rPr>
              <a:t> </a:t>
            </a:r>
            <a:r>
              <a:rPr kumimoji="1" lang="en-US" altLang="zh-CN" dirty="0">
                <a:solidFill>
                  <a:srgbClr val="FF0000"/>
                </a:solidFill>
                <a:latin typeface="Consolas" panose="020B0609020204030204" pitchFamily="49" charset="0"/>
                <a:ea typeface="华文楷体" panose="02010600040101010101" pitchFamily="2" charset="-122"/>
              </a:rPr>
              <a:t>sum(T</a:t>
            </a:r>
            <a:r>
              <a:rPr kumimoji="1" lang="zh-CN" altLang="en-US" dirty="0">
                <a:solidFill>
                  <a:srgbClr val="FF0000"/>
                </a:solidFill>
                <a:latin typeface="Consolas" panose="020B0609020204030204" pitchFamily="49" charset="0"/>
                <a:ea typeface="华文楷体" panose="02010600040101010101" pitchFamily="2" charset="-122"/>
              </a:rPr>
              <a:t> </a:t>
            </a:r>
            <a:r>
              <a:rPr kumimoji="1" lang="en-US" altLang="zh-CN" dirty="0">
                <a:solidFill>
                  <a:srgbClr val="FF0000"/>
                </a:solidFill>
                <a:latin typeface="Consolas" panose="020B0609020204030204" pitchFamily="49" charset="0"/>
                <a:ea typeface="华文楷体" panose="02010600040101010101" pitchFamily="2" charset="-122"/>
              </a:rPr>
              <a:t>a,</a:t>
            </a:r>
            <a:r>
              <a:rPr kumimoji="1" lang="zh-CN" altLang="en-US" dirty="0">
                <a:solidFill>
                  <a:srgbClr val="FF0000"/>
                </a:solidFill>
                <a:latin typeface="Consolas" panose="020B0609020204030204" pitchFamily="49" charset="0"/>
                <a:ea typeface="华文楷体" panose="02010600040101010101" pitchFamily="2" charset="-122"/>
              </a:rPr>
              <a:t> </a:t>
            </a:r>
            <a:r>
              <a:rPr kumimoji="1" lang="en-US" altLang="zh-CN" dirty="0">
                <a:solidFill>
                  <a:srgbClr val="FF0000"/>
                </a:solidFill>
                <a:latin typeface="Consolas" panose="020B0609020204030204" pitchFamily="49" charset="0"/>
                <a:ea typeface="华文楷体" panose="02010600040101010101" pitchFamily="2" charset="-122"/>
              </a:rPr>
              <a:t>T</a:t>
            </a:r>
            <a:r>
              <a:rPr kumimoji="1" lang="zh-CN" altLang="en-US" dirty="0">
                <a:solidFill>
                  <a:srgbClr val="FF0000"/>
                </a:solidFill>
                <a:latin typeface="Consolas" panose="020B0609020204030204" pitchFamily="49" charset="0"/>
                <a:ea typeface="华文楷体" panose="02010600040101010101" pitchFamily="2" charset="-122"/>
              </a:rPr>
              <a:t> </a:t>
            </a:r>
            <a:r>
              <a:rPr kumimoji="1" lang="en-US" altLang="zh-CN" dirty="0">
                <a:solidFill>
                  <a:srgbClr val="FF0000"/>
                </a:solidFill>
                <a:latin typeface="Consolas" panose="020B0609020204030204" pitchFamily="49" charset="0"/>
                <a:ea typeface="华文楷体" panose="02010600040101010101" pitchFamily="2" charset="-122"/>
              </a:rPr>
              <a:t>b)</a:t>
            </a:r>
            <a:r>
              <a:rPr kumimoji="1" lang="zh-CN" altLang="en-US" dirty="0">
                <a:solidFill>
                  <a:srgbClr val="FF0000"/>
                </a:solidFill>
                <a:latin typeface="Consolas" panose="020B0609020204030204" pitchFamily="49" charset="0"/>
                <a:ea typeface="华文楷体" panose="02010600040101010101" pitchFamily="2" charset="-122"/>
              </a:rPr>
              <a:t> </a:t>
            </a:r>
            <a:r>
              <a:rPr kumimoji="1" lang="en-US" altLang="zh-CN" dirty="0">
                <a:solidFill>
                  <a:srgbClr val="FF0000"/>
                </a:solidFill>
                <a:latin typeface="Consolas" panose="020B0609020204030204" pitchFamily="49" charset="0"/>
                <a:ea typeface="华文楷体" panose="02010600040101010101" pitchFamily="2" charset="-122"/>
              </a:rPr>
              <a:t>{</a:t>
            </a:r>
            <a:r>
              <a:rPr kumimoji="1" lang="zh-CN" altLang="en-US" dirty="0">
                <a:solidFill>
                  <a:srgbClr val="FF0000"/>
                </a:solidFill>
                <a:latin typeface="Consolas" panose="020B0609020204030204" pitchFamily="49" charset="0"/>
                <a:ea typeface="华文楷体" panose="02010600040101010101" pitchFamily="2" charset="-122"/>
              </a:rPr>
              <a:t> </a:t>
            </a:r>
            <a:r>
              <a:rPr kumimoji="1" lang="en-US" altLang="zh-CN" dirty="0">
                <a:solidFill>
                  <a:srgbClr val="FF0000"/>
                </a:solidFill>
                <a:latin typeface="Consolas" panose="020B0609020204030204" pitchFamily="49" charset="0"/>
                <a:ea typeface="华文楷体" panose="02010600040101010101" pitchFamily="2" charset="-122"/>
              </a:rPr>
              <a:t>return</a:t>
            </a:r>
            <a:r>
              <a:rPr kumimoji="1" lang="zh-CN" altLang="en-US" dirty="0">
                <a:solidFill>
                  <a:srgbClr val="FF0000"/>
                </a:solidFill>
                <a:latin typeface="Consolas" panose="020B0609020204030204" pitchFamily="49" charset="0"/>
                <a:ea typeface="华文楷体" panose="02010600040101010101" pitchFamily="2" charset="-122"/>
              </a:rPr>
              <a:t> </a:t>
            </a:r>
            <a:r>
              <a:rPr kumimoji="1" lang="en-US" altLang="zh-CN" dirty="0">
                <a:solidFill>
                  <a:srgbClr val="FF0000"/>
                </a:solidFill>
                <a:latin typeface="Consolas" panose="020B0609020204030204" pitchFamily="49" charset="0"/>
                <a:ea typeface="华文楷体" panose="02010600040101010101" pitchFamily="2" charset="-122"/>
              </a:rPr>
              <a:t>a</a:t>
            </a:r>
            <a:r>
              <a:rPr kumimoji="1" lang="zh-CN" altLang="en-US" dirty="0">
                <a:solidFill>
                  <a:srgbClr val="FF0000"/>
                </a:solidFill>
                <a:latin typeface="Consolas" panose="020B0609020204030204" pitchFamily="49" charset="0"/>
                <a:ea typeface="华文楷体" panose="02010600040101010101" pitchFamily="2" charset="-122"/>
              </a:rPr>
              <a:t> </a:t>
            </a:r>
            <a:r>
              <a:rPr kumimoji="1" lang="en-US" altLang="zh-CN" dirty="0">
                <a:solidFill>
                  <a:srgbClr val="FF0000"/>
                </a:solidFill>
                <a:latin typeface="Consolas" panose="020B0609020204030204" pitchFamily="49" charset="0"/>
                <a:ea typeface="华文楷体" panose="02010600040101010101" pitchFamily="2" charset="-122"/>
              </a:rPr>
              <a:t>+</a:t>
            </a:r>
            <a:r>
              <a:rPr kumimoji="1" lang="zh-CN" altLang="en-US" dirty="0">
                <a:solidFill>
                  <a:srgbClr val="FF0000"/>
                </a:solidFill>
                <a:latin typeface="Consolas" panose="020B0609020204030204" pitchFamily="49" charset="0"/>
                <a:ea typeface="华文楷体" panose="02010600040101010101" pitchFamily="2" charset="-122"/>
              </a:rPr>
              <a:t> </a:t>
            </a:r>
            <a:r>
              <a:rPr kumimoji="1" lang="en-US" altLang="zh-CN" dirty="0">
                <a:solidFill>
                  <a:srgbClr val="FF0000"/>
                </a:solidFill>
                <a:latin typeface="Consolas" panose="020B0609020204030204" pitchFamily="49" charset="0"/>
                <a:ea typeface="华文楷体" panose="02010600040101010101" pitchFamily="2" charset="-122"/>
              </a:rPr>
              <a:t>b;</a:t>
            </a:r>
            <a:r>
              <a:rPr kumimoji="1" lang="zh-CN" altLang="en-US" dirty="0">
                <a:solidFill>
                  <a:srgbClr val="FF0000"/>
                </a:solidFill>
                <a:latin typeface="Consolas" panose="020B0609020204030204" pitchFamily="49" charset="0"/>
                <a:ea typeface="华文楷体" panose="02010600040101010101" pitchFamily="2" charset="-122"/>
              </a:rPr>
              <a:t> </a:t>
            </a:r>
            <a:r>
              <a:rPr kumimoji="1" lang="en-US" altLang="zh-CN" dirty="0">
                <a:solidFill>
                  <a:srgbClr val="FF0000"/>
                </a:solidFill>
                <a:latin typeface="Consolas" panose="020B0609020204030204" pitchFamily="49" charset="0"/>
                <a:ea typeface="华文楷体" panose="02010600040101010101" pitchFamily="2" charset="-122"/>
              </a:rPr>
              <a:t>}</a:t>
            </a:r>
          </a:p>
        </p:txBody>
      </p:sp>
      <p:sp>
        <p:nvSpPr>
          <p:cNvPr id="4" name="幻灯片编号占位符 3"/>
          <p:cNvSpPr>
            <a:spLocks noGrp="1"/>
          </p:cNvSpPr>
          <p:nvPr>
            <p:ph type="sldNum" sz="quarter" idx="12"/>
          </p:nvPr>
        </p:nvSpPr>
        <p:spPr/>
        <p:txBody>
          <a:bodyPr/>
          <a:lstStyle/>
          <a:p>
            <a:pPr>
              <a:defRPr/>
            </a:pPr>
            <a:fld id="{BFD7BE51-03DD-4CCA-8227-D775462981B4}" type="slidenum">
              <a:rPr lang="en-US" altLang="zh-CN" smtClean="0"/>
              <a:t>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598725" y="1879155"/>
            <a:ext cx="8062912" cy="29523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defRPr/>
            </a:pPr>
            <a:r>
              <a:rPr lang="zh-CN" altLang="en-US" sz="5400" b="1" dirty="0">
                <a:solidFill>
                  <a:srgbClr val="0066CC"/>
                </a:solidFill>
                <a:latin typeface="微软雅黑" panose="020B0503020204020204" pitchFamily="34" charset="-122"/>
                <a:ea typeface="微软雅黑" panose="020B0503020204020204" pitchFamily="34" charset="-122"/>
              </a:rPr>
              <a:t>命名空间</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命名空间（</a:t>
            </a:r>
            <a:r>
              <a:rPr kumimoji="1" lang="en-US" altLang="zh-CN" b="1" dirty="0">
                <a:latin typeface="微软雅黑" panose="020B0503020204020204" pitchFamily="34" charset="-122"/>
                <a:ea typeface="微软雅黑" panose="020B0503020204020204" pitchFamily="34" charset="-122"/>
              </a:rPr>
              <a:t>1</a:t>
            </a:r>
            <a:r>
              <a:rPr kumimoji="1" lang="zh-CN" altLang="en-US" b="1" dirty="0">
                <a:latin typeface="微软雅黑" panose="020B0503020204020204" pitchFamily="34" charset="-122"/>
                <a:ea typeface="微软雅黑" panose="020B0503020204020204" pitchFamily="34" charset="-122"/>
              </a:rPr>
              <a:t>）</a:t>
            </a:r>
          </a:p>
        </p:txBody>
      </p:sp>
      <p:sp>
        <p:nvSpPr>
          <p:cNvPr id="3" name="内容占位符 2"/>
          <p:cNvSpPr>
            <a:spLocks noGrp="1"/>
          </p:cNvSpPr>
          <p:nvPr>
            <p:ph idx="1"/>
          </p:nvPr>
        </p:nvSpPr>
        <p:spPr>
          <a:xfrm>
            <a:off x="628650" y="1690689"/>
            <a:ext cx="8047806" cy="4009356"/>
          </a:xfrm>
        </p:spPr>
        <p:txBody>
          <a:bodyPr>
            <a:normAutofit lnSpcReduction="10000"/>
          </a:bodyPr>
          <a:lstStyle/>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为了避免在大规模程序的设计中，以及在程序员使用各种各样的</a:t>
            </a:r>
            <a:r>
              <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C++</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库时，标识符的命名发生冲突，标准</a:t>
            </a:r>
            <a:r>
              <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C++</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引入了关键字</a:t>
            </a:r>
            <a:r>
              <a:rPr lang="en-US" altLang="zh-CN" b="1" kern="100" dirty="0">
                <a:solidFill>
                  <a:srgbClr val="FF0000"/>
                </a:solidFill>
                <a:latin typeface="Consolas" panose="020B0609020204030204" pitchFamily="49" charset="0"/>
                <a:ea typeface="华文楷体" panose="02010600040101010101" pitchFamily="2" charset="-122"/>
                <a:cs typeface="STKaiti" panose="02010600040101010101" charset="-122"/>
              </a:rPr>
              <a:t>namespace</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（命名空间），可以更好地控制标识符的作用域。</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标准</a:t>
            </a:r>
            <a:r>
              <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C++</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库（不包括标准</a:t>
            </a:r>
            <a:r>
              <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C</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库）中所包含的所有内容（包括常量、变量、结构、类和函数等）都被定义在命名空间</a:t>
            </a:r>
            <a:r>
              <a:rPr lang="en-US" altLang="zh-CN" b="1" kern="100" dirty="0" err="1">
                <a:solidFill>
                  <a:srgbClr val="003366"/>
                </a:solidFill>
                <a:latin typeface="Consolas" panose="020B0609020204030204" pitchFamily="49" charset="0"/>
                <a:ea typeface="华文楷体" panose="02010600040101010101" pitchFamily="2" charset="-122"/>
                <a:cs typeface="STKaiti" panose="02010600040101010101" charset="-122"/>
              </a:rPr>
              <a:t>std</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r>
              <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rPr>
              <a:t>standard</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标准）中。</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lvl="1">
              <a:lnSpc>
                <a:spcPct val="100000"/>
              </a:lnSpc>
              <a:buSzPct val="75000"/>
              <a:buFont typeface="Wingdings" panose="05000000000000000000" pitchFamily="2" charset="2"/>
              <a:buChar char="n"/>
            </a:pPr>
            <a:r>
              <a:rPr lang="en-US" altLang="zh-CN" b="1" kern="100" dirty="0" err="1">
                <a:solidFill>
                  <a:srgbClr val="003366"/>
                </a:solidFill>
                <a:latin typeface="华文楷体" panose="02010600040101010101" pitchFamily="2" charset="-122"/>
                <a:ea typeface="华文楷体" panose="02010600040101010101" pitchFamily="2" charset="-122"/>
                <a:cs typeface="STKaiti" panose="02010600040101010101" charset="-122"/>
              </a:rPr>
              <a:t>cout</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r>
              <a:rPr lang="en-US" altLang="zh-CN" b="1" kern="100" dirty="0" err="1">
                <a:solidFill>
                  <a:srgbClr val="003366"/>
                </a:solidFill>
                <a:latin typeface="华文楷体" panose="02010600040101010101" pitchFamily="2" charset="-122"/>
                <a:ea typeface="华文楷体" panose="02010600040101010101" pitchFamily="2" charset="-122"/>
                <a:cs typeface="STKaiti" panose="02010600040101010101" charset="-122"/>
              </a:rPr>
              <a:t>cin</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lvl="1">
              <a:lnSpc>
                <a:spcPct val="100000"/>
              </a:lnSpc>
              <a:buSzPct val="75000"/>
              <a:buFont typeface="Wingdings" panose="05000000000000000000" pitchFamily="2" charset="2"/>
              <a:buChar char="n"/>
            </a:pPr>
            <a:r>
              <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vector</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r>
              <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set</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r>
              <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map</a:t>
            </a: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8</a:t>
            </a:fld>
            <a:endParaRPr lang="en-US" altLang="zh-C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命名空间（</a:t>
            </a:r>
            <a:r>
              <a:rPr kumimoji="1" lang="en-US" altLang="zh-CN" b="1" dirty="0">
                <a:latin typeface="微软雅黑" panose="020B0503020204020204" pitchFamily="34" charset="-122"/>
                <a:ea typeface="微软雅黑" panose="020B0503020204020204" pitchFamily="34" charset="-122"/>
              </a:rPr>
              <a:t>2</a:t>
            </a:r>
            <a:r>
              <a:rPr kumimoji="1" lang="zh-CN" altLang="en-US" b="1" dirty="0">
                <a:latin typeface="微软雅黑" panose="020B0503020204020204" pitchFamily="34" charset="-122"/>
                <a:ea typeface="微软雅黑" panose="020B0503020204020204" pitchFamily="34" charset="-122"/>
              </a:rPr>
              <a:t>）</a:t>
            </a:r>
          </a:p>
        </p:txBody>
      </p:sp>
      <p:sp>
        <p:nvSpPr>
          <p:cNvPr id="3" name="内容占位符 2"/>
          <p:cNvSpPr>
            <a:spLocks noGrp="1"/>
          </p:cNvSpPr>
          <p:nvPr>
            <p:ph idx="1"/>
          </p:nvPr>
        </p:nvSpPr>
        <p:spPr>
          <a:xfrm>
            <a:off x="628650" y="1690688"/>
            <a:ext cx="8047806" cy="4890585"/>
          </a:xfrm>
        </p:spPr>
        <p:txBody>
          <a:bodyPr>
            <a:normAutofit/>
          </a:bodyPr>
          <a:lstStyle/>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定义命名空间：</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en-US" altLang="zh-CN" kern="100" dirty="0">
                <a:solidFill>
                  <a:srgbClr val="003366"/>
                </a:solidFill>
                <a:latin typeface="Consolas" panose="020B0609020204030204" pitchFamily="49" charset="0"/>
                <a:ea typeface="华文楷体" panose="02010600040101010101" pitchFamily="2" charset="-122"/>
                <a:cs typeface="STKaiti" panose="02010600040101010101" charset="-122"/>
              </a:rPr>
              <a:t>    </a:t>
            </a:r>
            <a:r>
              <a:rPr lang="en-US" altLang="zh-CN" kern="100" dirty="0">
                <a:solidFill>
                  <a:srgbClr val="FF0000"/>
                </a:solidFill>
                <a:latin typeface="Consolas" panose="020B0609020204030204" pitchFamily="49" charset="0"/>
                <a:ea typeface="华文楷体" panose="02010600040101010101" pitchFamily="2" charset="-122"/>
                <a:cs typeface="STKaiti" panose="02010600040101010101" charset="-122"/>
              </a:rPr>
              <a:t>namespace</a:t>
            </a:r>
            <a:r>
              <a:rPr lang="en-US" altLang="zh-CN" kern="100" dirty="0">
                <a:solidFill>
                  <a:srgbClr val="003366"/>
                </a:solidFill>
                <a:latin typeface="Consolas" panose="020B0609020204030204" pitchFamily="49" charset="0"/>
                <a:ea typeface="华文楷体" panose="02010600040101010101" pitchFamily="2" charset="-122"/>
                <a:cs typeface="STKaiti" panose="02010600040101010101" charset="-122"/>
              </a:rPr>
              <a:t> </a:t>
            </a:r>
            <a:r>
              <a:rPr lang="en-US" altLang="zh-CN" kern="100" dirty="0">
                <a:latin typeface="Consolas" panose="020B0609020204030204" pitchFamily="49" charset="0"/>
                <a:ea typeface="华文楷体" panose="02010600040101010101" pitchFamily="2" charset="-122"/>
                <a:cs typeface="STKaiti" panose="02010600040101010101" charset="-122"/>
              </a:rPr>
              <a:t>A {</a:t>
            </a:r>
          </a:p>
          <a:p>
            <a:pPr marL="0" indent="0">
              <a:lnSpc>
                <a:spcPct val="100000"/>
              </a:lnSpc>
              <a:buSzPct val="75000"/>
              <a:buNone/>
            </a:pPr>
            <a:r>
              <a:rPr lang="en-US" altLang="zh-CN" kern="100" dirty="0">
                <a:latin typeface="Consolas" panose="020B0609020204030204" pitchFamily="49" charset="0"/>
                <a:ea typeface="华文楷体" panose="02010600040101010101" pitchFamily="2" charset="-122"/>
                <a:cs typeface="STKaiti" panose="02010600040101010101" charset="-122"/>
              </a:rPr>
              <a:t>        </a:t>
            </a:r>
            <a:r>
              <a:rPr lang="en-US" altLang="zh-CN" kern="100" dirty="0" err="1">
                <a:latin typeface="Consolas" panose="020B0609020204030204" pitchFamily="49" charset="0"/>
                <a:ea typeface="华文楷体" panose="02010600040101010101" pitchFamily="2" charset="-122"/>
                <a:cs typeface="STKaiti" panose="02010600040101010101" charset="-122"/>
              </a:rPr>
              <a:t>int</a:t>
            </a:r>
            <a:r>
              <a:rPr lang="en-US" altLang="zh-CN" kern="100" dirty="0">
                <a:latin typeface="Consolas" panose="020B0609020204030204" pitchFamily="49" charset="0"/>
                <a:ea typeface="华文楷体" panose="02010600040101010101" pitchFamily="2" charset="-122"/>
                <a:cs typeface="STKaiti" panose="02010600040101010101" charset="-122"/>
              </a:rPr>
              <a:t> x, y;</a:t>
            </a:r>
          </a:p>
          <a:p>
            <a:pPr marL="0" indent="0">
              <a:lnSpc>
                <a:spcPct val="100000"/>
              </a:lnSpc>
              <a:buSzPct val="75000"/>
              <a:buNone/>
            </a:pPr>
            <a:r>
              <a:rPr lang="en-US" altLang="zh-CN" kern="100" dirty="0">
                <a:latin typeface="Consolas" panose="020B0609020204030204" pitchFamily="49" charset="0"/>
                <a:ea typeface="华文楷体" panose="02010600040101010101" pitchFamily="2" charset="-122"/>
                <a:cs typeface="STKaiti" panose="02010600040101010101" charset="-122"/>
              </a:rPr>
              <a:t>    }</a:t>
            </a: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使用命名空间：</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en-US" altLang="zh-CN" kern="100" dirty="0">
                <a:solidFill>
                  <a:srgbClr val="003366"/>
                </a:solidFill>
                <a:latin typeface="Consolas" panose="020B0609020204030204" pitchFamily="49" charset="0"/>
                <a:ea typeface="华文楷体" panose="02010600040101010101" pitchFamily="2" charset="-122"/>
                <a:cs typeface="STKaiti" panose="02010600040101010101" charset="-122"/>
              </a:rPr>
              <a:t>    </a:t>
            </a:r>
            <a:r>
              <a:rPr lang="en-US" altLang="zh-CN" kern="100" dirty="0">
                <a:solidFill>
                  <a:srgbClr val="FF0000"/>
                </a:solidFill>
                <a:latin typeface="Consolas" panose="020B0609020204030204" pitchFamily="49" charset="0"/>
                <a:ea typeface="华文楷体" panose="02010600040101010101" pitchFamily="2" charset="-122"/>
                <a:cs typeface="STKaiti" panose="02010600040101010101" charset="-122"/>
              </a:rPr>
              <a:t>A::</a:t>
            </a:r>
            <a:r>
              <a:rPr lang="en-US" altLang="zh-CN" kern="100" dirty="0">
                <a:latin typeface="Consolas" panose="020B0609020204030204" pitchFamily="49" charset="0"/>
                <a:ea typeface="华文楷体" panose="02010600040101010101" pitchFamily="2" charset="-122"/>
                <a:cs typeface="STKaiti" panose="02010600040101010101" charset="-122"/>
              </a:rPr>
              <a:t>x = 3;</a:t>
            </a:r>
          </a:p>
          <a:p>
            <a:pPr marL="0" indent="0">
              <a:lnSpc>
                <a:spcPct val="100000"/>
              </a:lnSpc>
              <a:buSzPct val="75000"/>
              <a:buNone/>
            </a:pPr>
            <a:r>
              <a:rPr lang="en-US" altLang="zh-CN" kern="100" dirty="0">
                <a:solidFill>
                  <a:srgbClr val="003366"/>
                </a:solidFill>
                <a:latin typeface="Consolas" panose="020B0609020204030204" pitchFamily="49" charset="0"/>
                <a:ea typeface="华文楷体" panose="02010600040101010101" pitchFamily="2" charset="-122"/>
                <a:cs typeface="STKaiti" panose="02010600040101010101" charset="-122"/>
              </a:rPr>
              <a:t>    </a:t>
            </a:r>
            <a:r>
              <a:rPr lang="en-US" altLang="zh-CN" kern="100" dirty="0">
                <a:solidFill>
                  <a:srgbClr val="FF0000"/>
                </a:solidFill>
                <a:latin typeface="Consolas" panose="020B0609020204030204" pitchFamily="49" charset="0"/>
                <a:ea typeface="华文楷体" panose="02010600040101010101" pitchFamily="2" charset="-122"/>
                <a:cs typeface="STKaiti" panose="02010600040101010101" charset="-122"/>
              </a:rPr>
              <a:t>A::</a:t>
            </a:r>
            <a:r>
              <a:rPr lang="en-US" altLang="zh-CN" kern="100" dirty="0">
                <a:latin typeface="Consolas" panose="020B0609020204030204" pitchFamily="49" charset="0"/>
                <a:ea typeface="华文楷体" panose="02010600040101010101" pitchFamily="2" charset="-122"/>
                <a:cs typeface="STKaiti" panose="02010600040101010101" charset="-122"/>
              </a:rPr>
              <a:t>y = 6;</a:t>
            </a:r>
          </a:p>
          <a:p>
            <a:pPr>
              <a:lnSpc>
                <a:spcPct val="100000"/>
              </a:lnSpc>
              <a:buSzPct val="75000"/>
              <a:buFont typeface="Wingdings" panose="05000000000000000000" pitchFamily="2" charset="2"/>
              <a:buChar char="n"/>
            </a:pPr>
            <a:endParaRPr lang="en-US" altLang="zh-CN"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9</a:t>
            </a:fld>
            <a:endParaRPr lang="en-US" altLang="zh-C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命名空间（</a:t>
            </a:r>
            <a:r>
              <a:rPr kumimoji="1" lang="en-US" altLang="zh-CN" b="1" dirty="0">
                <a:latin typeface="微软雅黑" panose="020B0503020204020204" pitchFamily="34" charset="-122"/>
                <a:ea typeface="微软雅黑" panose="020B0503020204020204" pitchFamily="34" charset="-122"/>
              </a:rPr>
              <a:t>3</a:t>
            </a:r>
            <a:r>
              <a:rPr kumimoji="1" lang="zh-CN" altLang="en-US" b="1" dirty="0">
                <a:latin typeface="微软雅黑" panose="020B0503020204020204" pitchFamily="34" charset="-122"/>
                <a:ea typeface="微软雅黑" panose="020B0503020204020204" pitchFamily="34" charset="-122"/>
              </a:rPr>
              <a:t>）</a:t>
            </a:r>
          </a:p>
        </p:txBody>
      </p:sp>
      <p:sp>
        <p:nvSpPr>
          <p:cNvPr id="3" name="内容占位符 2"/>
          <p:cNvSpPr>
            <a:spLocks noGrp="1"/>
          </p:cNvSpPr>
          <p:nvPr>
            <p:ph idx="1"/>
          </p:nvPr>
        </p:nvSpPr>
        <p:spPr>
          <a:xfrm>
            <a:off x="628650" y="1690688"/>
            <a:ext cx="8047806" cy="4890585"/>
          </a:xfrm>
        </p:spPr>
        <p:txBody>
          <a:bodyPr>
            <a:normAutofit/>
          </a:bodyPr>
          <a:lstStyle/>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使用</a:t>
            </a:r>
            <a:r>
              <a:rPr lang="en-US" altLang="zh-CN" b="1" kern="100" dirty="0">
                <a:solidFill>
                  <a:srgbClr val="FF0000"/>
                </a:solidFill>
                <a:latin typeface="Consolas" panose="020B0609020204030204" pitchFamily="49" charset="0"/>
                <a:ea typeface="华文楷体" panose="02010600040101010101" pitchFamily="2" charset="-122"/>
                <a:cs typeface="STKaiti" panose="02010600040101010101" charset="-122"/>
              </a:rPr>
              <a:t>using</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声明简化命名空间使用</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使用整个命名空间：所有成员都直接可用</a:t>
            </a:r>
            <a:endParaRPr lang="en-US" altLang="zh-CN" b="1" kern="100" dirty="0">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en-US" altLang="zh-CN" kern="100" dirty="0">
                <a:solidFill>
                  <a:srgbClr val="003366"/>
                </a:solidFill>
                <a:latin typeface="Consolas" panose="020B0609020204030204" pitchFamily="49" charset="0"/>
                <a:ea typeface="华文楷体" panose="02010600040101010101" pitchFamily="2" charset="-122"/>
                <a:cs typeface="STKaiti" panose="02010600040101010101" charset="-122"/>
              </a:rPr>
              <a:t>    </a:t>
            </a:r>
            <a:r>
              <a:rPr lang="en-US" altLang="zh-CN" kern="100" dirty="0">
                <a:solidFill>
                  <a:srgbClr val="FF0000"/>
                </a:solidFill>
                <a:latin typeface="Consolas" panose="020B0609020204030204" pitchFamily="49" charset="0"/>
                <a:ea typeface="华文楷体" panose="02010600040101010101" pitchFamily="2" charset="-122"/>
                <a:cs typeface="STKaiti" panose="02010600040101010101" charset="-122"/>
              </a:rPr>
              <a:t>using </a:t>
            </a:r>
            <a:r>
              <a:rPr lang="en-US" altLang="zh-CN" kern="100" dirty="0">
                <a:latin typeface="Consolas" panose="020B0609020204030204" pitchFamily="49" charset="0"/>
                <a:ea typeface="华文楷体" panose="02010600040101010101" pitchFamily="2" charset="-122"/>
                <a:cs typeface="STKaiti" panose="02010600040101010101" charset="-122"/>
              </a:rPr>
              <a:t>namespace A;</a:t>
            </a:r>
          </a:p>
          <a:p>
            <a:pPr marL="0" indent="0">
              <a:lnSpc>
                <a:spcPct val="100000"/>
              </a:lnSpc>
              <a:buSzPct val="75000"/>
              <a:buNone/>
            </a:pPr>
            <a:r>
              <a:rPr lang="en-US" altLang="zh-CN" kern="100" dirty="0">
                <a:latin typeface="Consolas" panose="020B0609020204030204" pitchFamily="49" charset="0"/>
                <a:ea typeface="华文楷体" panose="02010600040101010101" pitchFamily="2" charset="-122"/>
                <a:cs typeface="STKaiti" panose="02010600040101010101" charset="-122"/>
              </a:rPr>
              <a:t>    x = 3; y = 6;</a:t>
            </a: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使用部分成员：所选成员可直接使用</a:t>
            </a:r>
            <a:endParaRPr lang="en-US" altLang="zh-CN" b="1" kern="100" dirty="0">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en-US" altLang="zh-CN" kern="100" dirty="0">
                <a:solidFill>
                  <a:srgbClr val="003366"/>
                </a:solidFill>
                <a:latin typeface="Consolas" panose="020B0609020204030204" pitchFamily="49" charset="0"/>
                <a:ea typeface="华文楷体" panose="02010600040101010101" pitchFamily="2" charset="-122"/>
                <a:cs typeface="STKaiti" panose="02010600040101010101" charset="-122"/>
              </a:rPr>
              <a:t>    </a:t>
            </a:r>
            <a:r>
              <a:rPr lang="en-US" altLang="zh-CN" kern="100" dirty="0">
                <a:solidFill>
                  <a:srgbClr val="FF0000"/>
                </a:solidFill>
                <a:latin typeface="Consolas" panose="020B0609020204030204" pitchFamily="49" charset="0"/>
                <a:ea typeface="华文楷体" panose="02010600040101010101" pitchFamily="2" charset="-122"/>
                <a:cs typeface="STKaiti" panose="02010600040101010101" charset="-122"/>
              </a:rPr>
              <a:t>using A::</a:t>
            </a:r>
            <a:r>
              <a:rPr lang="en-US" altLang="zh-CN" kern="100" dirty="0">
                <a:latin typeface="Consolas" panose="020B0609020204030204" pitchFamily="49" charset="0"/>
                <a:ea typeface="华文楷体" panose="02010600040101010101" pitchFamily="2" charset="-122"/>
                <a:cs typeface="STKaiti" panose="02010600040101010101" charset="-122"/>
              </a:rPr>
              <a:t>x;</a:t>
            </a:r>
          </a:p>
          <a:p>
            <a:pPr marL="0" indent="0">
              <a:lnSpc>
                <a:spcPct val="100000"/>
              </a:lnSpc>
              <a:buSzPct val="75000"/>
              <a:buNone/>
            </a:pPr>
            <a:r>
              <a:rPr lang="en-US" altLang="zh-CN" kern="100" dirty="0">
                <a:latin typeface="Consolas" panose="020B0609020204030204" pitchFamily="49" charset="0"/>
                <a:ea typeface="华文楷体" panose="02010600040101010101" pitchFamily="2" charset="-122"/>
                <a:cs typeface="STKaiti" panose="02010600040101010101" charset="-122"/>
              </a:rPr>
              <a:t>    x = 3; </a:t>
            </a:r>
            <a:r>
              <a:rPr lang="en-US" altLang="zh-CN" kern="100" dirty="0">
                <a:solidFill>
                  <a:srgbClr val="FF0000"/>
                </a:solidFill>
                <a:latin typeface="Consolas" panose="020B0609020204030204" pitchFamily="49" charset="0"/>
                <a:ea typeface="华文楷体" panose="02010600040101010101" pitchFamily="2" charset="-122"/>
                <a:cs typeface="STKaiti" panose="02010600040101010101" charset="-122"/>
              </a:rPr>
              <a:t>A::</a:t>
            </a:r>
            <a:r>
              <a:rPr lang="en-US" altLang="zh-CN" kern="100" dirty="0">
                <a:latin typeface="Consolas" panose="020B0609020204030204" pitchFamily="49" charset="0"/>
                <a:ea typeface="华文楷体" panose="02010600040101010101" pitchFamily="2" charset="-122"/>
                <a:cs typeface="STKaiti" panose="02010600040101010101" charset="-122"/>
              </a:rPr>
              <a:t>y = 6;</a:t>
            </a:r>
            <a:endParaRPr lang="en-US" altLang="zh-CN" kern="100" dirty="0">
              <a:solidFill>
                <a:srgbClr val="003366"/>
              </a:solidFill>
              <a:latin typeface="Consolas" panose="020B0609020204030204" pitchFamily="49" charset="0"/>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任何情况下，都</a:t>
            </a: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不应出现命名冲突</a:t>
            </a:r>
            <a:endParaRPr lang="en-US" altLang="zh-CN" b="1" kern="100" dirty="0">
              <a:solidFill>
                <a:srgbClr val="FF0000"/>
              </a:solidFill>
              <a:latin typeface="华文楷体" panose="02010600040101010101" pitchFamily="2" charset="-122"/>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10</a:t>
            </a:fld>
            <a:endParaRPr lang="en-US" altLang="zh-C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598725" y="1879155"/>
            <a:ext cx="8062912" cy="29523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defRPr/>
            </a:pPr>
            <a:r>
              <a:rPr lang="en-US" altLang="zh-CN" sz="5400" b="1" dirty="0">
                <a:solidFill>
                  <a:srgbClr val="0066CC"/>
                </a:solidFill>
                <a:latin typeface="微软雅黑" panose="020B0503020204020204" pitchFamily="34" charset="-122"/>
                <a:ea typeface="微软雅黑" panose="020B0503020204020204" pitchFamily="34" charset="-122"/>
              </a:rPr>
              <a:t>STL</a:t>
            </a:r>
            <a:r>
              <a:rPr lang="zh-CN" altLang="en-US" sz="5400" b="1" dirty="0">
                <a:solidFill>
                  <a:srgbClr val="0066CC"/>
                </a:solidFill>
                <a:latin typeface="微软雅黑" panose="020B0503020204020204" pitchFamily="34" charset="-122"/>
                <a:ea typeface="微软雅黑" panose="020B0503020204020204" pitchFamily="34" charset="-122"/>
              </a:rPr>
              <a:t>初步</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b="1" dirty="0">
                <a:latin typeface="微软雅黑" panose="020B0503020204020204" pitchFamily="34" charset="-122"/>
                <a:ea typeface="微软雅黑" panose="020B0503020204020204" pitchFamily="34" charset="-122"/>
              </a:rPr>
              <a:t>STL</a:t>
            </a:r>
            <a:r>
              <a:rPr kumimoji="1" lang="zh-CN" altLang="en-US" b="1" dirty="0">
                <a:latin typeface="微软雅黑" panose="020B0503020204020204" pitchFamily="34" charset="-122"/>
                <a:ea typeface="微软雅黑" panose="020B0503020204020204" pitchFamily="34" charset="-122"/>
              </a:rPr>
              <a:t>简介</a:t>
            </a:r>
          </a:p>
        </p:txBody>
      </p:sp>
      <p:sp>
        <p:nvSpPr>
          <p:cNvPr id="3" name="内容占位符 2"/>
          <p:cNvSpPr>
            <a:spLocks noGrp="1"/>
          </p:cNvSpPr>
          <p:nvPr>
            <p:ph idx="1"/>
          </p:nvPr>
        </p:nvSpPr>
        <p:spPr>
          <a:xfrm>
            <a:off x="628650" y="1690689"/>
            <a:ext cx="8047806" cy="4009356"/>
          </a:xfrm>
        </p:spPr>
        <p:txBody>
          <a:bodyPr>
            <a:normAutofit/>
          </a:bodyPr>
          <a:lstStyle/>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标准模板库（英文：</a:t>
            </a:r>
            <a:r>
              <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Standard Template Library</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，缩写：</a:t>
            </a:r>
            <a:r>
              <a:rPr lang="en-US" altLang="zh-CN" b="1" kern="100" dirty="0">
                <a:solidFill>
                  <a:srgbClr val="FF0000"/>
                </a:solidFill>
                <a:latin typeface="Consolas" panose="020B0609020204030204" pitchFamily="49" charset="0"/>
                <a:ea typeface="华文楷体" panose="02010600040101010101" pitchFamily="2" charset="-122"/>
                <a:cs typeface="STKaiti" panose="02010600040101010101" charset="-122"/>
              </a:rPr>
              <a:t>STL</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），是一个高效的</a:t>
            </a:r>
            <a:r>
              <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C++</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软件库，</a:t>
            </a:r>
            <a:r>
              <a:rPr lang="zh-CN" altLang="en-US" b="1" kern="100" dirty="0">
                <a:solidFill>
                  <a:srgbClr val="003366"/>
                </a:solidFill>
                <a:latin typeface="华文楷体" panose="02010600040101010101" pitchFamily="2" charset="-122"/>
                <a:ea typeface="华文楷体" panose="02010600040101010101" pitchFamily="2" charset="-122"/>
              </a:rPr>
              <a:t>它被容纳于</a:t>
            </a:r>
            <a:r>
              <a:rPr lang="en-US" altLang="zh-CN" b="1" kern="100" dirty="0">
                <a:solidFill>
                  <a:srgbClr val="003366"/>
                </a:solidFill>
                <a:latin typeface="华文楷体" panose="02010600040101010101" pitchFamily="2" charset="-122"/>
                <a:ea typeface="华文楷体" panose="02010600040101010101" pitchFamily="2" charset="-122"/>
              </a:rPr>
              <a:t>C++ </a:t>
            </a:r>
            <a:r>
              <a:rPr lang="zh-CN" altLang="en-US" b="1" kern="100" dirty="0">
                <a:solidFill>
                  <a:srgbClr val="003366"/>
                </a:solidFill>
                <a:latin typeface="华文楷体" panose="02010600040101010101" pitchFamily="2" charset="-122"/>
                <a:ea typeface="华文楷体" panose="02010600040101010101" pitchFamily="2" charset="-122"/>
              </a:rPr>
              <a:t>标准程序库</a:t>
            </a:r>
            <a:r>
              <a:rPr lang="en-US" altLang="zh-CN" b="1" kern="100" dirty="0">
                <a:solidFill>
                  <a:srgbClr val="003366"/>
                </a:solidFill>
                <a:latin typeface="华文楷体" panose="02010600040101010101" pitchFamily="2" charset="-122"/>
                <a:ea typeface="华文楷体" panose="02010600040101010101" pitchFamily="2" charset="-122"/>
              </a:rPr>
              <a:t>C++ Standard Library</a:t>
            </a:r>
            <a:r>
              <a:rPr lang="zh-CN" altLang="en-US" b="1" kern="100" dirty="0">
                <a:solidFill>
                  <a:srgbClr val="003366"/>
                </a:solidFill>
                <a:latin typeface="华文楷体" panose="02010600040101010101" pitchFamily="2" charset="-122"/>
                <a:ea typeface="华文楷体" panose="02010600040101010101" pitchFamily="2" charset="-122"/>
              </a:rPr>
              <a:t>中。</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其中包含</a:t>
            </a:r>
            <a:r>
              <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4</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个组件，分别为</a:t>
            </a: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算法</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容器</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函数</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迭代器</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基于</a:t>
            </a: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模板</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编写。</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关键理念：将“在数据上执行的</a:t>
            </a: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操作</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”与“要执行操作的</a:t>
            </a: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数据</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”分离。</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12</a:t>
            </a:fld>
            <a:endParaRPr lang="en-US" altLang="zh-C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b="1" dirty="0">
                <a:latin typeface="微软雅黑" panose="020B0503020204020204" pitchFamily="34" charset="-122"/>
                <a:ea typeface="微软雅黑" panose="020B0503020204020204" pitchFamily="34" charset="-122"/>
              </a:rPr>
              <a:t>STL</a:t>
            </a:r>
            <a:r>
              <a:rPr kumimoji="1" lang="zh-CN" altLang="en-US" b="1" dirty="0">
                <a:latin typeface="微软雅黑" panose="020B0503020204020204" pitchFamily="34" charset="-122"/>
                <a:ea typeface="微软雅黑" panose="020B0503020204020204" pitchFamily="34" charset="-122"/>
              </a:rPr>
              <a:t>简介</a:t>
            </a: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13</a:t>
            </a:fld>
            <a:endParaRPr lang="en-US" altLang="zh-CN"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1321" y="2223640"/>
            <a:ext cx="6661358" cy="355530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b="1" dirty="0">
                <a:latin typeface="微软雅黑" panose="020B0503020204020204" pitchFamily="34" charset="-122"/>
                <a:ea typeface="微软雅黑" panose="020B0503020204020204" pitchFamily="34" charset="-122"/>
              </a:rPr>
              <a:t>STL</a:t>
            </a:r>
            <a:r>
              <a:rPr kumimoji="1" lang="zh-CN" altLang="en-US" b="1" dirty="0">
                <a:latin typeface="微软雅黑" panose="020B0503020204020204" pitchFamily="34" charset="-122"/>
                <a:ea typeface="微软雅黑" panose="020B0503020204020204" pitchFamily="34" charset="-122"/>
              </a:rPr>
              <a:t>简介</a:t>
            </a:r>
          </a:p>
        </p:txBody>
      </p:sp>
      <p:sp>
        <p:nvSpPr>
          <p:cNvPr id="3" name="内容占位符 2"/>
          <p:cNvSpPr>
            <a:spLocks noGrp="1"/>
          </p:cNvSpPr>
          <p:nvPr>
            <p:ph idx="1"/>
          </p:nvPr>
        </p:nvSpPr>
        <p:spPr>
          <a:xfrm>
            <a:off x="628650" y="1690689"/>
            <a:ext cx="8047806" cy="4009356"/>
          </a:xfrm>
        </p:spPr>
        <p:txBody>
          <a:bodyPr>
            <a:normAutofit/>
          </a:bodyPr>
          <a:lstStyle/>
          <a:p>
            <a:pPr>
              <a:lnSpc>
                <a:spcPct val="100000"/>
              </a:lnSpc>
              <a:buSzPct val="75000"/>
              <a:buFont typeface="Wingdings" panose="05000000000000000000" pitchFamily="2" charset="2"/>
              <a:buChar char="n"/>
            </a:pPr>
            <a:r>
              <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STL</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的命名空间是</a:t>
            </a:r>
            <a:r>
              <a:rPr lang="en-US" altLang="zh-CN" b="1" kern="100" dirty="0" err="1">
                <a:solidFill>
                  <a:srgbClr val="003366"/>
                </a:solidFill>
                <a:latin typeface="华文楷体" panose="02010600040101010101" pitchFamily="2" charset="-122"/>
                <a:ea typeface="华文楷体" panose="02010600040101010101" pitchFamily="2" charset="-122"/>
                <a:cs typeface="STKaiti" panose="02010600040101010101" charset="-122"/>
              </a:rPr>
              <a:t>std</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lvl="1">
              <a:lnSpc>
                <a:spcPct val="100000"/>
              </a:lnSpc>
              <a:buSzPct val="75000"/>
              <a:buFont typeface="Wingdings" panose="05000000000000000000" pitchFamily="2" charset="2"/>
              <a:buChar char="n"/>
            </a:pPr>
            <a:r>
              <a:rPr lang="zh-CN" altLang="en-US" kern="100" dirty="0">
                <a:latin typeface="华文楷体" panose="02010600040101010101" pitchFamily="2" charset="-122"/>
                <a:ea typeface="华文楷体" panose="02010600040101010101" pitchFamily="2" charset="-122"/>
                <a:cs typeface="STKaiti" panose="02010600040101010101" charset="-122"/>
              </a:rPr>
              <a:t>一般使用</a:t>
            </a:r>
            <a:r>
              <a:rPr lang="en-US" altLang="zh-CN" kern="100" dirty="0" err="1">
                <a:latin typeface="华文楷体" panose="02010600040101010101" pitchFamily="2" charset="-122"/>
                <a:ea typeface="华文楷体" panose="02010600040101010101" pitchFamily="2" charset="-122"/>
                <a:cs typeface="STKaiti" panose="02010600040101010101" charset="-122"/>
              </a:rPr>
              <a:t>std</a:t>
            </a:r>
            <a:r>
              <a:rPr lang="en-US" altLang="zh-CN" kern="100" dirty="0">
                <a:latin typeface="华文楷体" panose="02010600040101010101" pitchFamily="2" charset="-122"/>
                <a:ea typeface="华文楷体" panose="02010600040101010101" pitchFamily="2" charset="-122"/>
                <a:cs typeface="STKaiti" panose="02010600040101010101" charset="-122"/>
              </a:rPr>
              <a:t>::name</a:t>
            </a:r>
            <a:r>
              <a:rPr lang="zh-CN" altLang="en-US" kern="100" dirty="0">
                <a:latin typeface="华文楷体" panose="02010600040101010101" pitchFamily="2" charset="-122"/>
                <a:ea typeface="华文楷体" panose="02010600040101010101" pitchFamily="2" charset="-122"/>
                <a:cs typeface="STKaiti" panose="02010600040101010101" charset="-122"/>
              </a:rPr>
              <a:t>来使用</a:t>
            </a:r>
            <a:r>
              <a:rPr lang="en-US" altLang="zh-CN" kern="100" dirty="0">
                <a:latin typeface="华文楷体" panose="02010600040101010101" pitchFamily="2" charset="-122"/>
                <a:ea typeface="华文楷体" panose="02010600040101010101" pitchFamily="2" charset="-122"/>
                <a:cs typeface="STKaiti" panose="02010600040101010101" charset="-122"/>
              </a:rPr>
              <a:t>STL</a:t>
            </a:r>
            <a:r>
              <a:rPr lang="zh-CN" altLang="en-US" kern="100" dirty="0">
                <a:latin typeface="华文楷体" panose="02010600040101010101" pitchFamily="2" charset="-122"/>
                <a:ea typeface="华文楷体" panose="02010600040101010101" pitchFamily="2" charset="-122"/>
                <a:cs typeface="STKaiti" panose="02010600040101010101" charset="-122"/>
              </a:rPr>
              <a:t>的函数或对象</a:t>
            </a:r>
            <a:endParaRPr lang="en-US" altLang="zh-CN" kern="100" dirty="0">
              <a:latin typeface="华文楷体" panose="02010600040101010101" pitchFamily="2" charset="-122"/>
              <a:ea typeface="华文楷体" panose="02010600040101010101" pitchFamily="2" charset="-122"/>
              <a:cs typeface="STKaiti" panose="02010600040101010101" charset="-122"/>
            </a:endParaRPr>
          </a:p>
          <a:p>
            <a:pPr lvl="1">
              <a:lnSpc>
                <a:spcPct val="100000"/>
              </a:lnSpc>
              <a:buSzPct val="75000"/>
              <a:buFont typeface="Wingdings" panose="05000000000000000000" pitchFamily="2" charset="2"/>
              <a:buChar char="n"/>
            </a:pPr>
            <a:r>
              <a:rPr lang="zh-CN" altLang="en-US" kern="100" dirty="0">
                <a:latin typeface="华文楷体" panose="02010600040101010101" pitchFamily="2" charset="-122"/>
                <a:ea typeface="华文楷体" panose="02010600040101010101" pitchFamily="2" charset="-122"/>
                <a:cs typeface="STKaiti" panose="02010600040101010101" charset="-122"/>
              </a:rPr>
              <a:t>也可以使用</a:t>
            </a:r>
            <a:r>
              <a:rPr lang="en-US" altLang="zh-CN" kern="100" dirty="0">
                <a:latin typeface="华文楷体" panose="02010600040101010101" pitchFamily="2" charset="-122"/>
                <a:ea typeface="华文楷体" panose="02010600040101010101" pitchFamily="2" charset="-122"/>
                <a:cs typeface="STKaiti" panose="02010600040101010101" charset="-122"/>
              </a:rPr>
              <a:t>using namespace </a:t>
            </a:r>
            <a:r>
              <a:rPr lang="en-US" altLang="zh-CN" kern="100" dirty="0" err="1">
                <a:latin typeface="华文楷体" panose="02010600040101010101" pitchFamily="2" charset="-122"/>
                <a:ea typeface="华文楷体" panose="02010600040101010101" pitchFamily="2" charset="-122"/>
                <a:cs typeface="STKaiti" panose="02010600040101010101" charset="-122"/>
              </a:rPr>
              <a:t>std</a:t>
            </a:r>
            <a:r>
              <a:rPr lang="zh-CN" altLang="en-US" kern="100" dirty="0">
                <a:latin typeface="华文楷体" panose="02010600040101010101" pitchFamily="2" charset="-122"/>
                <a:ea typeface="华文楷体" panose="02010600040101010101" pitchFamily="2" charset="-122"/>
                <a:cs typeface="STKaiti" panose="02010600040101010101" charset="-122"/>
              </a:rPr>
              <a:t>来引入</a:t>
            </a:r>
            <a:r>
              <a:rPr lang="en-US" altLang="zh-CN" kern="100" dirty="0">
                <a:latin typeface="华文楷体" panose="02010600040101010101" pitchFamily="2" charset="-122"/>
                <a:ea typeface="华文楷体" panose="02010600040101010101" pitchFamily="2" charset="-122"/>
                <a:cs typeface="STKaiti" panose="02010600040101010101" charset="-122"/>
              </a:rPr>
              <a:t>STL</a:t>
            </a:r>
            <a:r>
              <a:rPr lang="zh-CN" altLang="en-US" kern="100" dirty="0">
                <a:latin typeface="华文楷体" panose="02010600040101010101" pitchFamily="2" charset="-122"/>
                <a:ea typeface="华文楷体" panose="02010600040101010101" pitchFamily="2" charset="-122"/>
                <a:cs typeface="STKaiti" panose="02010600040101010101" charset="-122"/>
              </a:rPr>
              <a:t>的命名空间（不推荐在大型工程中使用，容易污染命名空间）</a:t>
            </a:r>
            <a:endParaRPr lang="en-US" altLang="zh-CN" kern="100" dirty="0">
              <a:latin typeface="华文楷体" panose="02010600040101010101" pitchFamily="2" charset="-122"/>
              <a:ea typeface="华文楷体" panose="02010600040101010101" pitchFamily="2" charset="-122"/>
              <a:cs typeface="STKaiti" panose="02010600040101010101" charset="-122"/>
            </a:endParaRPr>
          </a:p>
          <a:p>
            <a:pPr lvl="1">
              <a:lnSpc>
                <a:spcPct val="100000"/>
              </a:lnSpc>
              <a:buSzPct val="75000"/>
              <a:buFont typeface="Wingdings" panose="05000000000000000000" pitchFamily="2" charset="2"/>
              <a:buChar char="n"/>
            </a:pPr>
            <a:endParaRPr lang="en-US" altLang="zh-CN"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关于</a:t>
            </a:r>
            <a:r>
              <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STL</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的文档和例子可以在以下网址查询</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457200" lvl="1" indent="0">
              <a:lnSpc>
                <a:spcPct val="100000"/>
              </a:lnSpc>
              <a:buSzPct val="75000"/>
              <a:buNone/>
            </a:pPr>
            <a:r>
              <a:rPr lang="en-US" altLang="zh-CN" kern="100" dirty="0">
                <a:latin typeface="华文楷体" panose="02010600040101010101" pitchFamily="2" charset="-122"/>
                <a:ea typeface="华文楷体" panose="02010600040101010101" pitchFamily="2" charset="-122"/>
                <a:cs typeface="STKaiti" panose="02010600040101010101" charset="-122"/>
              </a:rPr>
              <a:t>http://www.cplusplus.com/</a:t>
            </a:r>
          </a:p>
          <a:p>
            <a:pPr marL="457200" lvl="1" indent="0">
              <a:lnSpc>
                <a:spcPct val="100000"/>
              </a:lnSpc>
              <a:buSzPct val="75000"/>
              <a:buNone/>
            </a:pPr>
            <a:r>
              <a:rPr lang="zh-CN" altLang="en-US" kern="100" dirty="0">
                <a:latin typeface="华文楷体" panose="02010600040101010101" pitchFamily="2" charset="-122"/>
                <a:ea typeface="华文楷体" panose="02010600040101010101" pitchFamily="2" charset="-122"/>
                <a:cs typeface="STKaiti" panose="02010600040101010101" charset="-122"/>
              </a:rPr>
              <a:t>多写多查多用，是学习</a:t>
            </a:r>
            <a:r>
              <a:rPr lang="en-US" altLang="zh-CN" kern="100" dirty="0">
                <a:latin typeface="华文楷体" panose="02010600040101010101" pitchFamily="2" charset="-122"/>
                <a:ea typeface="华文楷体" panose="02010600040101010101" pitchFamily="2" charset="-122"/>
                <a:cs typeface="STKaiti" panose="02010600040101010101" charset="-122"/>
              </a:rPr>
              <a:t>STL</a:t>
            </a:r>
            <a:r>
              <a:rPr lang="zh-CN" altLang="en-US" kern="100" dirty="0">
                <a:latin typeface="华文楷体" panose="02010600040101010101" pitchFamily="2" charset="-122"/>
                <a:ea typeface="华文楷体" panose="02010600040101010101" pitchFamily="2" charset="-122"/>
                <a:cs typeface="STKaiti" panose="02010600040101010101" charset="-122"/>
              </a:rPr>
              <a:t>库的最好方法</a:t>
            </a:r>
            <a:endParaRPr lang="en-US" altLang="zh-CN" kern="100" dirty="0">
              <a:latin typeface="华文楷体" panose="02010600040101010101" pitchFamily="2" charset="-122"/>
              <a:ea typeface="华文楷体" panose="02010600040101010101" pitchFamily="2" charset="-122"/>
              <a:cs typeface="STKaiti" panose="02010600040101010101" charset="-122"/>
            </a:endParaRPr>
          </a:p>
          <a:p>
            <a:pPr lvl="1">
              <a:lnSpc>
                <a:spcPct val="100000"/>
              </a:lnSpc>
              <a:buSzPct val="75000"/>
              <a:buFont typeface="Wingdings" panose="05000000000000000000" pitchFamily="2" charset="2"/>
              <a:buChar char="n"/>
            </a:pPr>
            <a:endParaRPr lang="en-US" altLang="zh-CN"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14</a:t>
            </a:fld>
            <a:endParaRPr lang="en-US" altLang="zh-C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6"/>
            <a:ext cx="7886700" cy="1325563"/>
          </a:xfrm>
        </p:spPr>
        <p:txBody>
          <a:bodyPr/>
          <a:lstStyle/>
          <a:p>
            <a:r>
              <a:rPr kumimoji="1" lang="en-US" altLang="zh-CN" b="1" dirty="0">
                <a:latin typeface="微软雅黑" panose="020B0503020204020204" pitchFamily="34" charset="-122"/>
                <a:ea typeface="微软雅黑" panose="020B0503020204020204" pitchFamily="34" charset="-122"/>
              </a:rPr>
              <a:t>STL</a:t>
            </a:r>
            <a:r>
              <a:rPr kumimoji="1" lang="zh-CN" altLang="en-US" b="1" dirty="0">
                <a:latin typeface="微软雅黑" panose="020B0503020204020204" pitchFamily="34" charset="-122"/>
                <a:ea typeface="微软雅黑" panose="020B0503020204020204" pitchFamily="34" charset="-122"/>
              </a:rPr>
              <a:t>简介</a:t>
            </a: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15</a:t>
            </a:fld>
            <a:endParaRPr lang="en-US" altLang="zh-CN" dirty="0"/>
          </a:p>
        </p:txBody>
      </p:sp>
      <p:grpSp>
        <p:nvGrpSpPr>
          <p:cNvPr id="19" name="组合 18"/>
          <p:cNvGrpSpPr/>
          <p:nvPr/>
        </p:nvGrpSpPr>
        <p:grpSpPr>
          <a:xfrm>
            <a:off x="323675" y="1934527"/>
            <a:ext cx="8528948" cy="3709584"/>
            <a:chOff x="1811513" y="1452282"/>
            <a:chExt cx="9453242" cy="3709584"/>
          </a:xfrm>
        </p:grpSpPr>
        <p:sp>
          <p:nvSpPr>
            <p:cNvPr id="20" name="箭头: 右 19"/>
            <p:cNvSpPr/>
            <p:nvPr/>
          </p:nvSpPr>
          <p:spPr>
            <a:xfrm>
              <a:off x="1864634" y="2050214"/>
              <a:ext cx="9205148" cy="67235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rPr>
                <a:t>             1998       </a:t>
              </a:r>
              <a:r>
                <a:rPr lang="en-US" altLang="zh-CN" sz="1600" dirty="0"/>
                <a:t>                    </a:t>
              </a:r>
              <a:r>
                <a:rPr lang="en-US" altLang="zh-CN" sz="1600" dirty="0">
                  <a:solidFill>
                    <a:schemeClr val="tx1"/>
                  </a:solidFill>
                </a:rPr>
                <a:t>2011                             2014</a:t>
              </a:r>
              <a:r>
                <a:rPr lang="en-US" altLang="zh-CN" sz="1600" dirty="0"/>
                <a:t>                              </a:t>
              </a:r>
              <a:r>
                <a:rPr lang="en-US" altLang="zh-CN" sz="1600" dirty="0">
                  <a:solidFill>
                    <a:schemeClr val="tx1"/>
                  </a:solidFill>
                </a:rPr>
                <a:t>2017</a:t>
              </a:r>
              <a:endParaRPr lang="zh-CN" altLang="en-US" sz="1600" dirty="0">
                <a:solidFill>
                  <a:schemeClr val="tx1"/>
                </a:solidFill>
              </a:endParaRPr>
            </a:p>
          </p:txBody>
        </p:sp>
        <p:sp>
          <p:nvSpPr>
            <p:cNvPr id="21" name="文本框 20"/>
            <p:cNvSpPr txBox="1"/>
            <p:nvPr/>
          </p:nvSpPr>
          <p:spPr>
            <a:xfrm>
              <a:off x="2328390" y="1667366"/>
              <a:ext cx="1357949" cy="369332"/>
            </a:xfrm>
            <a:prstGeom prst="rect">
              <a:avLst/>
            </a:prstGeom>
            <a:noFill/>
          </p:spPr>
          <p:txBody>
            <a:bodyPr wrap="square" rtlCol="0">
              <a:spAutoFit/>
            </a:bodyPr>
            <a:lstStyle/>
            <a:p>
              <a:r>
                <a:rPr lang="en-US" altLang="zh-CN" b="1" dirty="0">
                  <a:latin typeface="微软雅黑" panose="020B0503020204020204" pitchFamily="34" charset="-122"/>
                  <a:ea typeface="微软雅黑" panose="020B0503020204020204" pitchFamily="34" charset="-122"/>
                </a:rPr>
                <a:t>C++98</a:t>
              </a:r>
              <a:endParaRPr lang="zh-CN" altLang="en-US" b="1" dirty="0">
                <a:latin typeface="微软雅黑" panose="020B0503020204020204" pitchFamily="34" charset="-122"/>
                <a:ea typeface="微软雅黑" panose="020B0503020204020204" pitchFamily="34" charset="-122"/>
              </a:endParaRPr>
            </a:p>
          </p:txBody>
        </p:sp>
        <p:sp>
          <p:nvSpPr>
            <p:cNvPr id="22" name="文本框 21"/>
            <p:cNvSpPr txBox="1"/>
            <p:nvPr/>
          </p:nvSpPr>
          <p:spPr>
            <a:xfrm>
              <a:off x="4269583" y="1674621"/>
              <a:ext cx="1225942" cy="369332"/>
            </a:xfrm>
            <a:prstGeom prst="rect">
              <a:avLst/>
            </a:prstGeom>
            <a:noFill/>
          </p:spPr>
          <p:txBody>
            <a:bodyPr wrap="square" rtlCol="0">
              <a:spAutoFit/>
            </a:bodyPr>
            <a:lstStyle/>
            <a:p>
              <a:r>
                <a:rPr lang="en-US" altLang="zh-CN" b="1" dirty="0">
                  <a:latin typeface="微软雅黑" panose="020B0503020204020204" pitchFamily="34" charset="-122"/>
                  <a:ea typeface="微软雅黑" panose="020B0503020204020204" pitchFamily="34" charset="-122"/>
                </a:rPr>
                <a:t>C++11</a:t>
              </a:r>
              <a:endParaRPr lang="zh-CN" altLang="en-US" b="1" dirty="0">
                <a:latin typeface="微软雅黑" panose="020B0503020204020204" pitchFamily="34" charset="-122"/>
                <a:ea typeface="微软雅黑" panose="020B0503020204020204" pitchFamily="34" charset="-122"/>
              </a:endParaRPr>
            </a:p>
          </p:txBody>
        </p:sp>
        <p:sp>
          <p:nvSpPr>
            <p:cNvPr id="23" name="文本框 22"/>
            <p:cNvSpPr txBox="1"/>
            <p:nvPr/>
          </p:nvSpPr>
          <p:spPr>
            <a:xfrm>
              <a:off x="6373674" y="1674621"/>
              <a:ext cx="1183251" cy="369332"/>
            </a:xfrm>
            <a:prstGeom prst="rect">
              <a:avLst/>
            </a:prstGeom>
            <a:noFill/>
          </p:spPr>
          <p:txBody>
            <a:bodyPr wrap="square" rtlCol="0">
              <a:spAutoFit/>
            </a:bodyPr>
            <a:lstStyle/>
            <a:p>
              <a:r>
                <a:rPr lang="en-US" altLang="zh-CN" b="1" dirty="0">
                  <a:latin typeface="微软雅黑" panose="020B0503020204020204" pitchFamily="34" charset="-122"/>
                  <a:ea typeface="微软雅黑" panose="020B0503020204020204" pitchFamily="34" charset="-122"/>
                </a:rPr>
                <a:t>C++14</a:t>
              </a:r>
              <a:endParaRPr lang="zh-CN" altLang="en-US" b="1" dirty="0">
                <a:latin typeface="微软雅黑" panose="020B0503020204020204" pitchFamily="34" charset="-122"/>
                <a:ea typeface="微软雅黑" panose="020B0503020204020204" pitchFamily="34" charset="-122"/>
              </a:endParaRPr>
            </a:p>
          </p:txBody>
        </p:sp>
        <p:sp>
          <p:nvSpPr>
            <p:cNvPr id="24" name="文本框 23"/>
            <p:cNvSpPr txBox="1"/>
            <p:nvPr/>
          </p:nvSpPr>
          <p:spPr>
            <a:xfrm>
              <a:off x="8314322" y="1674621"/>
              <a:ext cx="1247646" cy="369332"/>
            </a:xfrm>
            <a:prstGeom prst="rect">
              <a:avLst/>
            </a:prstGeom>
            <a:noFill/>
          </p:spPr>
          <p:txBody>
            <a:bodyPr wrap="square" rtlCol="0">
              <a:spAutoFit/>
            </a:bodyPr>
            <a:lstStyle/>
            <a:p>
              <a:r>
                <a:rPr lang="en-US" altLang="zh-CN" b="1" dirty="0">
                  <a:latin typeface="微软雅黑" panose="020B0503020204020204" pitchFamily="34" charset="-122"/>
                  <a:ea typeface="微软雅黑" panose="020B0503020204020204" pitchFamily="34" charset="-122"/>
                </a:rPr>
                <a:t>C++17</a:t>
              </a:r>
              <a:endParaRPr lang="zh-CN" altLang="en-US" b="1" dirty="0">
                <a:latin typeface="微软雅黑" panose="020B0503020204020204" pitchFamily="34" charset="-122"/>
                <a:ea typeface="微软雅黑" panose="020B0503020204020204" pitchFamily="34" charset="-122"/>
              </a:endParaRPr>
            </a:p>
          </p:txBody>
        </p:sp>
        <p:cxnSp>
          <p:nvCxnSpPr>
            <p:cNvPr id="25" name="直接连接符 24"/>
            <p:cNvCxnSpPr/>
            <p:nvPr/>
          </p:nvCxnSpPr>
          <p:spPr>
            <a:xfrm>
              <a:off x="3832412" y="1452282"/>
              <a:ext cx="0" cy="3480482"/>
            </a:xfrm>
            <a:prstGeom prst="line">
              <a:avLst/>
            </a:prstGeom>
            <a:ln w="2857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直接连接符 25"/>
            <p:cNvCxnSpPr/>
            <p:nvPr/>
          </p:nvCxnSpPr>
          <p:spPr>
            <a:xfrm>
              <a:off x="6078449" y="1452282"/>
              <a:ext cx="0" cy="3480482"/>
            </a:xfrm>
            <a:prstGeom prst="line">
              <a:avLst/>
            </a:prstGeom>
            <a:ln w="2857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7" name="直接连接符 26"/>
            <p:cNvCxnSpPr/>
            <p:nvPr/>
          </p:nvCxnSpPr>
          <p:spPr>
            <a:xfrm>
              <a:off x="8054156" y="1498179"/>
              <a:ext cx="0" cy="3480482"/>
            </a:xfrm>
            <a:prstGeom prst="line">
              <a:avLst/>
            </a:prstGeom>
            <a:ln w="2857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8" name="文本框 27"/>
            <p:cNvSpPr txBox="1"/>
            <p:nvPr/>
          </p:nvSpPr>
          <p:spPr>
            <a:xfrm>
              <a:off x="1811513" y="2668876"/>
              <a:ext cx="2183070" cy="1200329"/>
            </a:xfrm>
            <a:prstGeom prst="rect">
              <a:avLst/>
            </a:prstGeom>
            <a:noFill/>
          </p:spPr>
          <p:txBody>
            <a:bodyPr wrap="square" rtlCol="0">
              <a:spAutoFit/>
            </a:bodyPr>
            <a:lstStyle/>
            <a:p>
              <a:pPr marL="285750" indent="-285750">
                <a:buFont typeface="Arial" panose="020B0604020202090204" pitchFamily="34" charset="0"/>
                <a:buChar char="•"/>
              </a:pPr>
              <a:r>
                <a:rPr lang="en-US" altLang="zh-CN" b="1" dirty="0">
                  <a:solidFill>
                    <a:srgbClr val="FF0000"/>
                  </a:solidFill>
                </a:rPr>
                <a:t>containers</a:t>
              </a:r>
            </a:p>
            <a:p>
              <a:pPr marL="285750" indent="-285750">
                <a:buFont typeface="Arial" panose="020B0604020202090204" pitchFamily="34" charset="0"/>
                <a:buChar char="•"/>
              </a:pPr>
              <a:r>
                <a:rPr lang="en-US" altLang="zh-CN" b="1" dirty="0">
                  <a:solidFill>
                    <a:srgbClr val="FF0000"/>
                  </a:solidFill>
                </a:rPr>
                <a:t>algorithms </a:t>
              </a:r>
            </a:p>
            <a:p>
              <a:pPr marL="285750" indent="-285750">
                <a:buFont typeface="Arial" panose="020B0604020202090204" pitchFamily="34" charset="0"/>
                <a:buChar char="•"/>
              </a:pPr>
              <a:r>
                <a:rPr lang="en-US" altLang="zh-CN" b="1" dirty="0">
                  <a:solidFill>
                    <a:srgbClr val="FF0000"/>
                  </a:solidFill>
                </a:rPr>
                <a:t>Strings</a:t>
              </a:r>
            </a:p>
            <a:p>
              <a:pPr marL="285750" indent="-285750">
                <a:buFont typeface="Arial" panose="020B0604020202090204" pitchFamily="34" charset="0"/>
                <a:buChar char="•"/>
              </a:pPr>
              <a:r>
                <a:rPr lang="en-US" altLang="zh-CN" b="1" dirty="0">
                  <a:solidFill>
                    <a:srgbClr val="FF0000"/>
                  </a:solidFill>
                </a:rPr>
                <a:t>I/O Streams</a:t>
              </a:r>
            </a:p>
          </p:txBody>
        </p:sp>
        <p:sp>
          <p:nvSpPr>
            <p:cNvPr id="29" name="文本框 28"/>
            <p:cNvSpPr txBox="1"/>
            <p:nvPr/>
          </p:nvSpPr>
          <p:spPr>
            <a:xfrm>
              <a:off x="3878211" y="2641885"/>
              <a:ext cx="2079485" cy="2277547"/>
            </a:xfrm>
            <a:prstGeom prst="rect">
              <a:avLst/>
            </a:prstGeom>
            <a:noFill/>
          </p:spPr>
          <p:txBody>
            <a:bodyPr wrap="square" rtlCol="0">
              <a:spAutoFit/>
            </a:bodyPr>
            <a:lstStyle/>
            <a:p>
              <a:pPr marL="285750" indent="-285750">
                <a:buFont typeface="Arial" panose="020B0604020202090204" pitchFamily="34" charset="0"/>
                <a:buChar char="•"/>
              </a:pPr>
              <a:r>
                <a:rPr lang="en-US" altLang="zh-CN" sz="1600" b="1" dirty="0">
                  <a:solidFill>
                    <a:srgbClr val="FF0000"/>
                  </a:solidFill>
                </a:rPr>
                <a:t>Move semantic </a:t>
              </a:r>
            </a:p>
            <a:p>
              <a:pPr marL="285750" indent="-285750">
                <a:buFont typeface="Arial" panose="020B0604020202090204" pitchFamily="34" charset="0"/>
                <a:buChar char="•"/>
              </a:pPr>
              <a:r>
                <a:rPr lang="en-US" altLang="zh-CN" sz="1200" dirty="0"/>
                <a:t>Unified initialization</a:t>
              </a:r>
            </a:p>
            <a:p>
              <a:pPr marL="285750" indent="-285750">
                <a:buFont typeface="Arial" panose="020B0604020202090204" pitchFamily="34" charset="0"/>
                <a:buChar char="•"/>
              </a:pPr>
              <a:r>
                <a:rPr lang="en-US" altLang="zh-CN" sz="1400" b="1" dirty="0">
                  <a:solidFill>
                    <a:srgbClr val="FF0000"/>
                  </a:solidFill>
                </a:rPr>
                <a:t>auto and </a:t>
              </a:r>
              <a:r>
                <a:rPr lang="en-US" altLang="zh-CN" sz="1400" b="1" dirty="0" err="1">
                  <a:solidFill>
                    <a:srgbClr val="FF0000"/>
                  </a:solidFill>
                </a:rPr>
                <a:t>decltype</a:t>
              </a:r>
              <a:endParaRPr lang="en-US" altLang="zh-CN" sz="1400" b="1" dirty="0">
                <a:solidFill>
                  <a:srgbClr val="FF0000"/>
                </a:solidFill>
              </a:endParaRPr>
            </a:p>
            <a:p>
              <a:pPr marL="285750" indent="-285750">
                <a:buFont typeface="Arial" panose="020B0604020202090204" pitchFamily="34" charset="0"/>
                <a:buChar char="•"/>
              </a:pPr>
              <a:r>
                <a:rPr lang="en-US" altLang="zh-CN" sz="1400" dirty="0"/>
                <a:t>Lambda functions</a:t>
              </a:r>
            </a:p>
            <a:p>
              <a:pPr marL="285750" indent="-285750">
                <a:buFont typeface="Arial" panose="020B0604020202090204" pitchFamily="34" charset="0"/>
                <a:buChar char="•"/>
              </a:pPr>
              <a:r>
                <a:rPr lang="en-US" altLang="zh-CN" sz="1400" dirty="0"/>
                <a:t>Multithreading</a:t>
              </a:r>
            </a:p>
            <a:p>
              <a:pPr marL="285750" indent="-285750">
                <a:buFont typeface="Arial" panose="020B0604020202090204" pitchFamily="34" charset="0"/>
                <a:buChar char="•"/>
              </a:pPr>
              <a:r>
                <a:rPr lang="en-US" altLang="zh-CN" sz="1400" b="1" dirty="0">
                  <a:solidFill>
                    <a:srgbClr val="FF0000"/>
                  </a:solidFill>
                </a:rPr>
                <a:t>Regular expressions</a:t>
              </a:r>
            </a:p>
            <a:p>
              <a:pPr marL="285750" indent="-285750">
                <a:buFont typeface="Arial" panose="020B0604020202090204" pitchFamily="34" charset="0"/>
                <a:buChar char="•"/>
              </a:pPr>
              <a:r>
                <a:rPr lang="en-US" altLang="zh-CN" sz="1600" b="1" dirty="0">
                  <a:solidFill>
                    <a:srgbClr val="FF0000"/>
                  </a:solidFill>
                </a:rPr>
                <a:t>Smart pointers</a:t>
              </a:r>
            </a:p>
            <a:p>
              <a:pPr marL="285750" indent="-285750">
                <a:buFont typeface="Arial" panose="020B0604020202090204" pitchFamily="34" charset="0"/>
                <a:buChar char="•"/>
              </a:pPr>
              <a:r>
                <a:rPr lang="en-US" altLang="zh-CN" sz="1200" dirty="0"/>
                <a:t>Hash tables</a:t>
              </a:r>
            </a:p>
            <a:p>
              <a:pPr marL="285750" indent="-285750">
                <a:buFont typeface="Arial" panose="020B0604020202090204" pitchFamily="34" charset="0"/>
                <a:buChar char="•"/>
              </a:pPr>
              <a:r>
                <a:rPr lang="en-US" altLang="zh-CN" sz="1200" dirty="0" err="1"/>
                <a:t>std</a:t>
              </a:r>
              <a:r>
                <a:rPr lang="en-US" altLang="zh-CN" sz="1200" dirty="0"/>
                <a:t>::array</a:t>
              </a:r>
            </a:p>
          </p:txBody>
        </p:sp>
        <p:sp>
          <p:nvSpPr>
            <p:cNvPr id="30" name="文本框 29"/>
            <p:cNvSpPr txBox="1"/>
            <p:nvPr/>
          </p:nvSpPr>
          <p:spPr>
            <a:xfrm>
              <a:off x="6078449" y="2691359"/>
              <a:ext cx="2034280" cy="461665"/>
            </a:xfrm>
            <a:prstGeom prst="rect">
              <a:avLst/>
            </a:prstGeom>
            <a:noFill/>
          </p:spPr>
          <p:txBody>
            <a:bodyPr wrap="square" rtlCol="0">
              <a:spAutoFit/>
            </a:bodyPr>
            <a:lstStyle/>
            <a:p>
              <a:pPr marL="285750" indent="-285750">
                <a:buFont typeface="Arial" panose="020B0604020202090204" pitchFamily="34" charset="0"/>
                <a:buChar char="•"/>
              </a:pPr>
              <a:r>
                <a:rPr lang="en-US" altLang="zh-CN" sz="1200" dirty="0"/>
                <a:t>Reader-writer locks</a:t>
              </a:r>
            </a:p>
            <a:p>
              <a:pPr marL="285750" indent="-285750">
                <a:buFont typeface="Arial" panose="020B0604020202090204" pitchFamily="34" charset="0"/>
                <a:buChar char="•"/>
              </a:pPr>
              <a:r>
                <a:rPr lang="en-US" altLang="zh-CN" sz="1200" dirty="0"/>
                <a:t>Generalized lambdas</a:t>
              </a:r>
            </a:p>
          </p:txBody>
        </p:sp>
        <p:sp>
          <p:nvSpPr>
            <p:cNvPr id="31" name="文本框 30"/>
            <p:cNvSpPr txBox="1"/>
            <p:nvPr/>
          </p:nvSpPr>
          <p:spPr>
            <a:xfrm>
              <a:off x="8174909" y="2668876"/>
              <a:ext cx="3089846" cy="2492990"/>
            </a:xfrm>
            <a:prstGeom prst="rect">
              <a:avLst/>
            </a:prstGeom>
            <a:noFill/>
          </p:spPr>
          <p:txBody>
            <a:bodyPr wrap="square" rtlCol="0">
              <a:spAutoFit/>
            </a:bodyPr>
            <a:lstStyle/>
            <a:p>
              <a:pPr marL="285750" indent="-285750">
                <a:buFont typeface="Arial" panose="020B0604020202090204" pitchFamily="34" charset="0"/>
                <a:buChar char="•"/>
              </a:pPr>
              <a:r>
                <a:rPr lang="en-US" altLang="zh-CN" sz="1200" dirty="0"/>
                <a:t>Fold expressions</a:t>
              </a:r>
            </a:p>
            <a:p>
              <a:pPr marL="285750" indent="-285750">
                <a:buFont typeface="Arial" panose="020B0604020202090204" pitchFamily="34" charset="0"/>
                <a:buChar char="•"/>
              </a:pPr>
              <a:r>
                <a:rPr lang="en-US" altLang="zh-CN" sz="1200" dirty="0" err="1"/>
                <a:t>constexpr</a:t>
              </a:r>
              <a:r>
                <a:rPr lang="en-US" altLang="zh-CN" sz="1200" dirty="0"/>
                <a:t> if</a:t>
              </a:r>
            </a:p>
            <a:p>
              <a:pPr marL="285750" indent="-285750">
                <a:buFont typeface="Arial" panose="020B0604020202090204" pitchFamily="34" charset="0"/>
                <a:buChar char="•"/>
              </a:pPr>
              <a:r>
                <a:rPr lang="en-US" altLang="zh-CN" sz="1200" dirty="0"/>
                <a:t>Initializers in if and switch statements</a:t>
              </a:r>
            </a:p>
            <a:p>
              <a:pPr marL="285750" indent="-285750">
                <a:buFont typeface="Arial" panose="020B0604020202090204" pitchFamily="34" charset="0"/>
                <a:buChar char="•"/>
              </a:pPr>
              <a:r>
                <a:rPr lang="en-US" altLang="zh-CN" sz="1200" dirty="0"/>
                <a:t>Structured blinding declarations</a:t>
              </a:r>
            </a:p>
            <a:p>
              <a:pPr marL="285750" indent="-285750">
                <a:buFont typeface="Arial" panose="020B0604020202090204" pitchFamily="34" charset="0"/>
                <a:buChar char="•"/>
              </a:pPr>
              <a:r>
                <a:rPr lang="en-US" altLang="zh-CN" sz="1200" dirty="0"/>
                <a:t>Template deduction of constructors</a:t>
              </a:r>
            </a:p>
            <a:p>
              <a:pPr marL="285750" indent="-285750">
                <a:buFont typeface="Arial" panose="020B0604020202090204" pitchFamily="34" charset="0"/>
                <a:buChar char="•"/>
              </a:pPr>
              <a:r>
                <a:rPr lang="en-US" altLang="zh-CN" sz="1200" dirty="0"/>
                <a:t>Guarantees copy elision</a:t>
              </a:r>
            </a:p>
            <a:p>
              <a:pPr marL="285750" indent="-285750">
                <a:buFont typeface="Arial" panose="020B0604020202090204" pitchFamily="34" charset="0"/>
                <a:buChar char="•"/>
              </a:pPr>
              <a:r>
                <a:rPr lang="en-US" altLang="zh-CN" sz="1200" dirty="0" err="1"/>
                <a:t>auto_ptr</a:t>
              </a:r>
              <a:r>
                <a:rPr lang="en-US" altLang="zh-CN" sz="1200" dirty="0"/>
                <a:t> and trigraphs removes</a:t>
              </a:r>
            </a:p>
            <a:p>
              <a:pPr marL="285750" indent="-285750">
                <a:buFont typeface="Arial" panose="020B0604020202090204" pitchFamily="34" charset="0"/>
                <a:buChar char="•"/>
              </a:pPr>
              <a:r>
                <a:rPr lang="en-US" altLang="zh-CN" sz="1200" dirty="0" err="1"/>
                <a:t>string_view</a:t>
              </a:r>
              <a:endParaRPr lang="en-US" altLang="zh-CN" sz="1200" dirty="0"/>
            </a:p>
            <a:p>
              <a:pPr marL="285750" indent="-285750">
                <a:buFont typeface="Arial" panose="020B0604020202090204" pitchFamily="34" charset="0"/>
                <a:buChar char="•"/>
              </a:pPr>
              <a:r>
                <a:rPr lang="en-US" altLang="zh-CN" sz="1200" dirty="0"/>
                <a:t>Parallel algorithm of the STL </a:t>
              </a:r>
            </a:p>
            <a:p>
              <a:pPr marL="285750" indent="-285750">
                <a:buFont typeface="Arial" panose="020B0604020202090204" pitchFamily="34" charset="0"/>
                <a:buChar char="•"/>
              </a:pPr>
              <a:r>
                <a:rPr lang="en-US" altLang="zh-CN" sz="1200" dirty="0"/>
                <a:t>The filesystem library</a:t>
              </a:r>
            </a:p>
            <a:p>
              <a:pPr marL="285750" indent="-285750">
                <a:buFont typeface="Arial" panose="020B0604020202090204" pitchFamily="34" charset="0"/>
                <a:buChar char="•"/>
              </a:pPr>
              <a:r>
                <a:rPr lang="en-US" altLang="zh-CN" sz="1200" dirty="0" err="1"/>
                <a:t>std</a:t>
              </a:r>
              <a:r>
                <a:rPr lang="en-US" altLang="zh-CN" sz="1200" dirty="0"/>
                <a:t>::any</a:t>
              </a:r>
            </a:p>
            <a:p>
              <a:pPr marL="285750" indent="-285750">
                <a:buFont typeface="Arial" panose="020B0604020202090204" pitchFamily="34" charset="0"/>
                <a:buChar char="•"/>
              </a:pPr>
              <a:r>
                <a:rPr lang="en-US" altLang="zh-CN" sz="1200" dirty="0" err="1"/>
                <a:t>std</a:t>
              </a:r>
              <a:r>
                <a:rPr lang="en-US" altLang="zh-CN" sz="1200" dirty="0"/>
                <a:t>::optional</a:t>
              </a:r>
            </a:p>
            <a:p>
              <a:pPr marL="285750" indent="-285750">
                <a:buFont typeface="Arial" panose="020B0604020202090204" pitchFamily="34" charset="0"/>
                <a:buChar char="•"/>
              </a:pPr>
              <a:r>
                <a:rPr lang="en-US" altLang="zh-CN" sz="1200" dirty="0" err="1"/>
                <a:t>std</a:t>
              </a:r>
              <a:r>
                <a:rPr lang="en-US" altLang="zh-CN" sz="1200" dirty="0"/>
                <a:t>::variant</a:t>
              </a:r>
            </a:p>
          </p:txBody>
        </p:sp>
      </p:grpSp>
      <p:sp>
        <p:nvSpPr>
          <p:cNvPr id="3" name="文本框 2"/>
          <p:cNvSpPr txBox="1"/>
          <p:nvPr/>
        </p:nvSpPr>
        <p:spPr>
          <a:xfrm>
            <a:off x="2279360" y="5980389"/>
            <a:ext cx="3570208" cy="461665"/>
          </a:xfrm>
          <a:prstGeom prst="rect">
            <a:avLst/>
          </a:prstGeom>
          <a:noFill/>
        </p:spPr>
        <p:txBody>
          <a:bodyPr wrap="none" rtlCol="0">
            <a:spAutoFit/>
          </a:bodyPr>
          <a:lstStyle/>
          <a:p>
            <a:r>
              <a:rPr lang="zh-CN" altLang="en-US" sz="2400" dirty="0"/>
              <a:t>课程主要介绍红色的部分</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b="1" dirty="0">
                <a:latin typeface="微软雅黑" panose="020B0503020204020204" pitchFamily="34" charset="-122"/>
                <a:ea typeface="微软雅黑" panose="020B0503020204020204" pitchFamily="34" charset="-122"/>
              </a:rPr>
              <a:t>STL</a:t>
            </a:r>
            <a:r>
              <a:rPr kumimoji="1" lang="zh-CN" altLang="en-US" b="1" dirty="0">
                <a:latin typeface="微软雅黑" panose="020B0503020204020204" pitchFamily="34" charset="-122"/>
                <a:ea typeface="微软雅黑" panose="020B0503020204020204" pitchFamily="34" charset="-122"/>
              </a:rPr>
              <a:t>容器</a:t>
            </a:r>
          </a:p>
        </p:txBody>
      </p:sp>
      <p:sp>
        <p:nvSpPr>
          <p:cNvPr id="3" name="内容占位符 2"/>
          <p:cNvSpPr>
            <a:spLocks noGrp="1"/>
          </p:cNvSpPr>
          <p:nvPr>
            <p:ph idx="1"/>
          </p:nvPr>
        </p:nvSpPr>
        <p:spPr>
          <a:xfrm>
            <a:off x="628650" y="1690689"/>
            <a:ext cx="8047806" cy="4009356"/>
          </a:xfrm>
        </p:spPr>
        <p:txBody>
          <a:bodyPr>
            <a:normAutofit/>
          </a:bodyPr>
          <a:lstStyle/>
          <a:p>
            <a:pPr>
              <a:lnSpc>
                <a:spcPct val="100000"/>
              </a:lnSpc>
              <a:buSzPct val="75000"/>
              <a:buFont typeface="Wingdings" panose="05000000000000000000" pitchFamily="2" charset="2"/>
              <a:buChar char="n"/>
            </a:pP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容器</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是包含、放置数据的工具。通常为数据结构。</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包括</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lvl="1">
              <a:lnSpc>
                <a:spcPct val="100000"/>
              </a:lnSpc>
              <a:buSzPct val="75000"/>
              <a:buFont typeface="Wingdings" panose="05000000000000000000" pitchFamily="2" charset="2"/>
              <a:buChar char="n"/>
            </a:pP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简单容器</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r>
              <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simple container</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lvl="1">
              <a:lnSpc>
                <a:spcPct val="100000"/>
              </a:lnSpc>
              <a:buSzPct val="75000"/>
              <a:buFont typeface="Wingdings" panose="05000000000000000000" pitchFamily="2" charset="2"/>
              <a:buChar char="n"/>
            </a:pP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序列容器</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r>
              <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sequence container</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lvl="1">
              <a:lnSpc>
                <a:spcPct val="100000"/>
              </a:lnSpc>
              <a:buSzPct val="75000"/>
              <a:buFont typeface="Wingdings" panose="05000000000000000000" pitchFamily="2" charset="2"/>
              <a:buChar char="n"/>
            </a:pP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关系容器</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r>
              <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associative container</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endParaRPr lang="en-US" altLang="zh-CN"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16</a:t>
            </a:fld>
            <a:endParaRPr lang="en-US" altLang="zh-C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b="1" dirty="0">
                <a:latin typeface="微软雅黑" panose="020B0503020204020204" pitchFamily="34" charset="-122"/>
                <a:ea typeface="微软雅黑" panose="020B0503020204020204" pitchFamily="34" charset="-122"/>
              </a:rPr>
              <a:t>STL</a:t>
            </a:r>
            <a:r>
              <a:rPr kumimoji="1" lang="zh-CN" altLang="en-US" b="1" dirty="0">
                <a:latin typeface="微软雅黑" panose="020B0503020204020204" pitchFamily="34" charset="-122"/>
                <a:ea typeface="微软雅黑" panose="020B0503020204020204" pitchFamily="34" charset="-122"/>
              </a:rPr>
              <a:t>容器：</a:t>
            </a:r>
            <a:r>
              <a:rPr kumimoji="1" lang="en-US" altLang="zh-CN" b="1" dirty="0">
                <a:latin typeface="微软雅黑" panose="020B0503020204020204" pitchFamily="34" charset="-122"/>
                <a:ea typeface="微软雅黑" panose="020B0503020204020204" pitchFamily="34" charset="-122"/>
              </a:rPr>
              <a:t>pair</a:t>
            </a:r>
            <a:endParaRPr kumimoji="1" lang="zh-CN" altLang="en-US" b="1"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628650" y="1690689"/>
            <a:ext cx="8190610" cy="4009356"/>
          </a:xfrm>
        </p:spPr>
        <p:txBody>
          <a:bodyPr>
            <a:normAutofit fontScale="85000" lnSpcReduction="20000"/>
          </a:bodyPr>
          <a:lstStyle/>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最简单的容器，由两个单独数据组成。</a:t>
            </a:r>
            <a:endPar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endParaRPr>
          </a:p>
          <a:p>
            <a:pPr marL="0" indent="0">
              <a:lnSpc>
                <a:spcPct val="100000"/>
              </a:lnSpc>
              <a:buSzPct val="75000"/>
              <a:buNone/>
            </a:pPr>
            <a:r>
              <a:rPr lang="en-US" altLang="zh-CN" sz="2400" kern="100" dirty="0">
                <a:solidFill>
                  <a:srgbClr val="003366"/>
                </a:solidFill>
                <a:latin typeface="Consolas" panose="020B0609020204030204" pitchFamily="49" charset="0"/>
                <a:ea typeface="华文楷体" panose="02010600040101010101" pitchFamily="2" charset="-122"/>
                <a:cs typeface="STKaiti" panose="02010600040101010101" charset="-122"/>
              </a:rPr>
              <a:t>   template&lt;class T1, class T2&gt; struct </a:t>
            </a:r>
            <a:r>
              <a:rPr lang="en-US" altLang="zh-CN" sz="2400" kern="100" dirty="0">
                <a:solidFill>
                  <a:srgbClr val="FF0000"/>
                </a:solidFill>
                <a:latin typeface="Consolas" panose="020B0609020204030204" pitchFamily="49" charset="0"/>
                <a:ea typeface="华文楷体" panose="02010600040101010101" pitchFamily="2" charset="-122"/>
                <a:cs typeface="STKaiti" panose="02010600040101010101" charset="-122"/>
              </a:rPr>
              <a:t>pair{</a:t>
            </a:r>
          </a:p>
          <a:p>
            <a:pPr marL="0" indent="0">
              <a:lnSpc>
                <a:spcPct val="100000"/>
              </a:lnSpc>
              <a:buSzPct val="75000"/>
              <a:buNone/>
            </a:pPr>
            <a:r>
              <a:rPr lang="en-US" altLang="zh-CN" sz="2400" kern="100" dirty="0">
                <a:solidFill>
                  <a:srgbClr val="FF0000"/>
                </a:solidFill>
                <a:latin typeface="Consolas" panose="020B0609020204030204" pitchFamily="49" charset="0"/>
                <a:ea typeface="华文楷体" panose="02010600040101010101" pitchFamily="2" charset="-122"/>
                <a:cs typeface="STKaiti" panose="02010600040101010101" charset="-122"/>
              </a:rPr>
              <a:t>	T1</a:t>
            </a:r>
            <a:r>
              <a:rPr lang="zh-CN" altLang="en-US" sz="2400" kern="100" dirty="0">
                <a:solidFill>
                  <a:srgbClr val="FF0000"/>
                </a:solidFill>
                <a:latin typeface="Consolas" panose="020B0609020204030204" pitchFamily="49" charset="0"/>
                <a:ea typeface="华文楷体" panose="02010600040101010101" pitchFamily="2" charset="-122"/>
                <a:cs typeface="STKaiti" panose="02010600040101010101" charset="-122"/>
              </a:rPr>
              <a:t> </a:t>
            </a:r>
            <a:r>
              <a:rPr lang="en-US" altLang="zh-CN" sz="2400" kern="100" dirty="0">
                <a:solidFill>
                  <a:srgbClr val="FF0000"/>
                </a:solidFill>
                <a:latin typeface="Consolas" panose="020B0609020204030204" pitchFamily="49" charset="0"/>
                <a:ea typeface="华文楷体" panose="02010600040101010101" pitchFamily="2" charset="-122"/>
                <a:cs typeface="STKaiti" panose="02010600040101010101" charset="-122"/>
              </a:rPr>
              <a:t>first;</a:t>
            </a:r>
          </a:p>
          <a:p>
            <a:pPr marL="0" indent="0">
              <a:lnSpc>
                <a:spcPct val="100000"/>
              </a:lnSpc>
              <a:buSzPct val="75000"/>
              <a:buNone/>
            </a:pPr>
            <a:r>
              <a:rPr lang="en-US" altLang="zh-CN" sz="2400" kern="100" dirty="0">
                <a:solidFill>
                  <a:srgbClr val="FF0000"/>
                </a:solidFill>
                <a:latin typeface="Consolas" panose="020B0609020204030204" pitchFamily="49" charset="0"/>
                <a:ea typeface="华文楷体" panose="02010600040101010101" pitchFamily="2" charset="-122"/>
                <a:cs typeface="STKaiti" panose="02010600040101010101" charset="-122"/>
              </a:rPr>
              <a:t>	T2</a:t>
            </a:r>
            <a:r>
              <a:rPr lang="zh-CN" altLang="en-US" sz="2400" kern="100" dirty="0">
                <a:solidFill>
                  <a:srgbClr val="FF0000"/>
                </a:solidFill>
                <a:latin typeface="Consolas" panose="020B0609020204030204" pitchFamily="49" charset="0"/>
                <a:ea typeface="华文楷体" panose="02010600040101010101" pitchFamily="2" charset="-122"/>
                <a:cs typeface="STKaiti" panose="02010600040101010101" charset="-122"/>
              </a:rPr>
              <a:t> </a:t>
            </a:r>
            <a:r>
              <a:rPr lang="en-US" altLang="zh-CN" sz="2400" kern="100" dirty="0">
                <a:solidFill>
                  <a:srgbClr val="FF0000"/>
                </a:solidFill>
                <a:latin typeface="Consolas" panose="020B0609020204030204" pitchFamily="49" charset="0"/>
                <a:ea typeface="华文楷体" panose="02010600040101010101" pitchFamily="2" charset="-122"/>
                <a:cs typeface="STKaiti" panose="02010600040101010101" charset="-122"/>
              </a:rPr>
              <a:t>second;</a:t>
            </a:r>
          </a:p>
          <a:p>
            <a:pPr marL="0" indent="0">
              <a:lnSpc>
                <a:spcPct val="100000"/>
              </a:lnSpc>
              <a:buSzPct val="75000"/>
              <a:buNone/>
            </a:pPr>
            <a:r>
              <a:rPr lang="en-US" altLang="zh-CN" sz="2400" kern="100" dirty="0">
                <a:solidFill>
                  <a:srgbClr val="FF0000"/>
                </a:solidFill>
                <a:latin typeface="Consolas" panose="020B0609020204030204" pitchFamily="49" charset="0"/>
                <a:ea typeface="华文楷体" panose="02010600040101010101" pitchFamily="2" charset="-122"/>
                <a:cs typeface="STKaiti" panose="02010600040101010101" charset="-122"/>
              </a:rPr>
              <a:t>	</a:t>
            </a:r>
            <a:r>
              <a:rPr lang="en-US" altLang="zh-CN" sz="2400" b="1" kern="100" dirty="0">
                <a:solidFill>
                  <a:srgbClr val="008000"/>
                </a:solidFill>
                <a:latin typeface="Consolas" panose="020B0609020204030204" pitchFamily="49" charset="0"/>
                <a:ea typeface="华文楷体" panose="02010600040101010101" pitchFamily="2" charset="-122"/>
                <a:cs typeface="STKaiti" panose="02010600040101010101" charset="-122"/>
              </a:rPr>
              <a:t>//</a:t>
            </a:r>
            <a:r>
              <a:rPr lang="zh-CN" altLang="en-US" sz="2400" b="1" kern="100" dirty="0">
                <a:solidFill>
                  <a:srgbClr val="008000"/>
                </a:solidFill>
                <a:latin typeface="Consolas" panose="020B0609020204030204" pitchFamily="49" charset="0"/>
                <a:ea typeface="华文楷体" panose="02010600040101010101" pitchFamily="2" charset="-122"/>
                <a:cs typeface="STKaiti" panose="02010600040101010101" charset="-122"/>
              </a:rPr>
              <a:t>若干其它函数</a:t>
            </a:r>
            <a:endParaRPr lang="en-US" altLang="zh-CN" sz="2400" b="1" kern="100" dirty="0">
              <a:solidFill>
                <a:srgbClr val="008000"/>
              </a:solidFill>
              <a:latin typeface="Consolas" panose="020B0609020204030204" pitchFamily="49" charset="0"/>
              <a:ea typeface="华文楷体" panose="02010600040101010101" pitchFamily="2" charset="-122"/>
              <a:cs typeface="STKaiti" panose="02010600040101010101" charset="-122"/>
            </a:endParaRPr>
          </a:p>
          <a:p>
            <a:pPr marL="0" indent="0">
              <a:lnSpc>
                <a:spcPct val="100000"/>
              </a:lnSpc>
              <a:buSzPct val="75000"/>
              <a:buNone/>
            </a:pPr>
            <a:r>
              <a:rPr lang="en-US" altLang="zh-CN" sz="2400" kern="100" dirty="0">
                <a:solidFill>
                  <a:srgbClr val="FF0000"/>
                </a:solidFill>
                <a:latin typeface="Consolas" panose="020B0609020204030204" pitchFamily="49" charset="0"/>
                <a:ea typeface="华文楷体" panose="02010600040101010101" pitchFamily="2" charset="-122"/>
                <a:cs typeface="STKaiti" panose="02010600040101010101" charset="-122"/>
              </a:rPr>
              <a:t>   }</a:t>
            </a:r>
            <a:r>
              <a:rPr lang="en-US" altLang="zh-CN" sz="2400" kern="100" dirty="0">
                <a:solidFill>
                  <a:srgbClr val="003366"/>
                </a:solidFill>
                <a:latin typeface="Consolas" panose="020B0609020204030204" pitchFamily="49" charset="0"/>
                <a:ea typeface="华文楷体" panose="02010600040101010101" pitchFamily="2" charset="-122"/>
                <a:cs typeface="STKaiti" panose="02010600040101010101" charset="-122"/>
              </a:rPr>
              <a:t>;</a:t>
            </a:r>
          </a:p>
          <a:p>
            <a:pPr>
              <a:lnSpc>
                <a:spcPct val="100000"/>
              </a:lnSpc>
              <a:buSzPct val="75000"/>
              <a:buFont typeface="Wingdings" panose="05000000000000000000" pitchFamily="2" charset="2"/>
              <a:buChar char="n"/>
            </a:pPr>
            <a:endParaRPr lang="en-US" altLang="zh-CN"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通过</a:t>
            </a:r>
            <a:r>
              <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first</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r>
              <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second</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两个成员变量获取数据。</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457200" lvl="1" indent="0">
              <a:lnSpc>
                <a:spcPct val="100000"/>
              </a:lnSpc>
              <a:buSzPct val="75000"/>
              <a:buNone/>
            </a:pPr>
            <a:r>
              <a:rPr lang="en-US" altLang="zh-CN" sz="2800" kern="100" dirty="0" err="1">
                <a:solidFill>
                  <a:srgbClr val="003366"/>
                </a:solidFill>
                <a:latin typeface="Consolas" panose="020B0609020204030204" pitchFamily="49" charset="0"/>
                <a:ea typeface="华文楷体" panose="02010600040101010101" pitchFamily="2" charset="-122"/>
                <a:cs typeface="STKaiti" panose="02010600040101010101" charset="-122"/>
              </a:rPr>
              <a:t>std</a:t>
            </a:r>
            <a:r>
              <a:rPr lang="en-US" altLang="zh-CN" sz="2800" kern="100" dirty="0">
                <a:solidFill>
                  <a:srgbClr val="003366"/>
                </a:solidFill>
                <a:latin typeface="Consolas" panose="020B0609020204030204" pitchFamily="49" charset="0"/>
                <a:ea typeface="华文楷体" panose="02010600040101010101" pitchFamily="2" charset="-122"/>
                <a:cs typeface="STKaiti" panose="02010600040101010101" charset="-122"/>
              </a:rPr>
              <a:t>::</a:t>
            </a:r>
            <a:r>
              <a:rPr lang="en-US" altLang="zh-CN" sz="2800" kern="100" dirty="0">
                <a:solidFill>
                  <a:srgbClr val="FF0000"/>
                </a:solidFill>
                <a:latin typeface="Consolas" panose="020B0609020204030204" pitchFamily="49" charset="0"/>
                <a:ea typeface="华文楷体" panose="02010600040101010101" pitchFamily="2" charset="-122"/>
                <a:cs typeface="STKaiti" panose="02010600040101010101" charset="-122"/>
              </a:rPr>
              <a:t>pair</a:t>
            </a:r>
            <a:r>
              <a:rPr lang="en-US" altLang="zh-CN" sz="2800" kern="100" dirty="0">
                <a:solidFill>
                  <a:srgbClr val="003366"/>
                </a:solidFill>
                <a:latin typeface="Consolas" panose="020B0609020204030204" pitchFamily="49" charset="0"/>
                <a:ea typeface="华文楷体" panose="02010600040101010101" pitchFamily="2" charset="-122"/>
                <a:cs typeface="STKaiti" panose="02010600040101010101" charset="-122"/>
              </a:rPr>
              <a:t>&lt;</a:t>
            </a:r>
            <a:r>
              <a:rPr lang="en-US" altLang="zh-CN" sz="2800" kern="100" dirty="0" err="1">
                <a:solidFill>
                  <a:srgbClr val="003366"/>
                </a:solidFill>
                <a:latin typeface="Consolas" panose="020B0609020204030204" pitchFamily="49" charset="0"/>
                <a:ea typeface="华文楷体" panose="02010600040101010101" pitchFamily="2" charset="-122"/>
                <a:cs typeface="STKaiti" panose="02010600040101010101" charset="-122"/>
              </a:rPr>
              <a:t>int</a:t>
            </a:r>
            <a:r>
              <a:rPr lang="en-US" altLang="zh-CN" sz="2800" kern="100" dirty="0">
                <a:solidFill>
                  <a:srgbClr val="003366"/>
                </a:solidFill>
                <a:latin typeface="Consolas" panose="020B0609020204030204" pitchFamily="49" charset="0"/>
                <a:ea typeface="华文楷体" panose="02010600040101010101" pitchFamily="2" charset="-122"/>
                <a:cs typeface="STKaiti" panose="02010600040101010101" charset="-122"/>
              </a:rPr>
              <a:t>, </a:t>
            </a:r>
            <a:r>
              <a:rPr lang="en-US" altLang="zh-CN" sz="2800" kern="100" dirty="0" err="1">
                <a:solidFill>
                  <a:srgbClr val="003366"/>
                </a:solidFill>
                <a:latin typeface="Consolas" panose="020B0609020204030204" pitchFamily="49" charset="0"/>
                <a:ea typeface="华文楷体" panose="02010600040101010101" pitchFamily="2" charset="-122"/>
                <a:cs typeface="STKaiti" panose="02010600040101010101" charset="-122"/>
              </a:rPr>
              <a:t>int</a:t>
            </a:r>
            <a:r>
              <a:rPr lang="en-US" altLang="zh-CN" sz="2800" kern="100" dirty="0">
                <a:solidFill>
                  <a:srgbClr val="003366"/>
                </a:solidFill>
                <a:latin typeface="Consolas" panose="020B0609020204030204" pitchFamily="49" charset="0"/>
                <a:ea typeface="华文楷体" panose="02010600040101010101" pitchFamily="2" charset="-122"/>
                <a:cs typeface="STKaiti" panose="02010600040101010101" charset="-122"/>
              </a:rPr>
              <a:t>&gt; t;</a:t>
            </a:r>
          </a:p>
          <a:p>
            <a:pPr marL="457200" lvl="1" indent="0">
              <a:lnSpc>
                <a:spcPct val="100000"/>
              </a:lnSpc>
              <a:buSzPct val="75000"/>
              <a:buNone/>
            </a:pPr>
            <a:r>
              <a:rPr lang="en-US" altLang="zh-CN" sz="2800" kern="100" dirty="0" err="1">
                <a:solidFill>
                  <a:srgbClr val="003366"/>
                </a:solidFill>
                <a:latin typeface="Consolas" panose="020B0609020204030204" pitchFamily="49" charset="0"/>
                <a:ea typeface="华文楷体" panose="02010600040101010101" pitchFamily="2" charset="-122"/>
                <a:cs typeface="STKaiti" panose="02010600040101010101" charset="-122"/>
              </a:rPr>
              <a:t>t.</a:t>
            </a:r>
            <a:r>
              <a:rPr lang="en-US" altLang="zh-CN" sz="2800" kern="100" dirty="0" err="1">
                <a:solidFill>
                  <a:srgbClr val="FF0000"/>
                </a:solidFill>
                <a:latin typeface="Consolas" panose="020B0609020204030204" pitchFamily="49" charset="0"/>
                <a:ea typeface="华文楷体" panose="02010600040101010101" pitchFamily="2" charset="-122"/>
                <a:cs typeface="STKaiti" panose="02010600040101010101" charset="-122"/>
              </a:rPr>
              <a:t>first</a:t>
            </a:r>
            <a:r>
              <a:rPr lang="en-US" altLang="zh-CN" sz="2800" kern="100" dirty="0">
                <a:solidFill>
                  <a:srgbClr val="003366"/>
                </a:solidFill>
                <a:latin typeface="Consolas" panose="020B0609020204030204" pitchFamily="49" charset="0"/>
                <a:ea typeface="华文楷体" panose="02010600040101010101" pitchFamily="2" charset="-122"/>
                <a:cs typeface="STKaiti" panose="02010600040101010101" charset="-122"/>
              </a:rPr>
              <a:t> = 4; </a:t>
            </a:r>
            <a:r>
              <a:rPr lang="en-US" altLang="zh-CN" sz="2800" kern="100" dirty="0" err="1">
                <a:solidFill>
                  <a:srgbClr val="003366"/>
                </a:solidFill>
                <a:latin typeface="Consolas" panose="020B0609020204030204" pitchFamily="49" charset="0"/>
                <a:ea typeface="华文楷体" panose="02010600040101010101" pitchFamily="2" charset="-122"/>
                <a:cs typeface="STKaiti" panose="02010600040101010101" charset="-122"/>
              </a:rPr>
              <a:t>t.</a:t>
            </a:r>
            <a:r>
              <a:rPr lang="en-US" altLang="zh-CN" sz="2800" kern="100" dirty="0" err="1">
                <a:solidFill>
                  <a:srgbClr val="FF0000"/>
                </a:solidFill>
                <a:latin typeface="Consolas" panose="020B0609020204030204" pitchFamily="49" charset="0"/>
                <a:ea typeface="华文楷体" panose="02010600040101010101" pitchFamily="2" charset="-122"/>
                <a:cs typeface="STKaiti" panose="02010600040101010101" charset="-122"/>
              </a:rPr>
              <a:t>second</a:t>
            </a:r>
            <a:r>
              <a:rPr lang="en-US" altLang="zh-CN" sz="2800" kern="100" dirty="0">
                <a:solidFill>
                  <a:srgbClr val="003366"/>
                </a:solidFill>
                <a:latin typeface="Consolas" panose="020B0609020204030204" pitchFamily="49" charset="0"/>
                <a:ea typeface="华文楷体" panose="02010600040101010101" pitchFamily="2" charset="-122"/>
                <a:cs typeface="STKaiti" panose="02010600040101010101" charset="-122"/>
              </a:rPr>
              <a:t> = 5;</a:t>
            </a: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17</a:t>
            </a:fld>
            <a:endParaRPr lang="en-US" altLang="zh-C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b="1" dirty="0">
                <a:latin typeface="微软雅黑" panose="020B0503020204020204" pitchFamily="34" charset="-122"/>
                <a:ea typeface="微软雅黑" panose="020B0503020204020204" pitchFamily="34" charset="-122"/>
              </a:rPr>
              <a:t>STL</a:t>
            </a:r>
            <a:r>
              <a:rPr kumimoji="1" lang="zh-CN" altLang="en-US" b="1" dirty="0">
                <a:latin typeface="微软雅黑" panose="020B0503020204020204" pitchFamily="34" charset="-122"/>
                <a:ea typeface="微软雅黑" panose="020B0503020204020204" pitchFamily="34" charset="-122"/>
              </a:rPr>
              <a:t>容器：</a:t>
            </a:r>
            <a:r>
              <a:rPr kumimoji="1" lang="en-US" altLang="zh-CN" b="1" dirty="0">
                <a:latin typeface="微软雅黑" panose="020B0503020204020204" pitchFamily="34" charset="-122"/>
                <a:ea typeface="微软雅黑" panose="020B0503020204020204" pitchFamily="34" charset="-122"/>
              </a:rPr>
              <a:t>pair</a:t>
            </a:r>
            <a:endParaRPr kumimoji="1" lang="zh-CN" altLang="en-US" b="1"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628650" y="1690689"/>
            <a:ext cx="8047806" cy="4009356"/>
          </a:xfrm>
        </p:spPr>
        <p:txBody>
          <a:bodyPr>
            <a:normAutofit/>
          </a:bodyPr>
          <a:lstStyle/>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创建：使用函数</a:t>
            </a:r>
            <a:r>
              <a:rPr lang="en-US" altLang="zh-CN" b="1" kern="100" dirty="0" err="1">
                <a:solidFill>
                  <a:srgbClr val="003366"/>
                </a:solidFill>
                <a:latin typeface="Consolas" panose="020B0609020204030204" pitchFamily="49" charset="0"/>
                <a:ea typeface="华文楷体" panose="02010600040101010101" pitchFamily="2" charset="-122"/>
                <a:cs typeface="STKaiti" panose="02010600040101010101" charset="-122"/>
              </a:rPr>
              <a:t>make_pair</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en-US" altLang="zh-CN" kern="100" dirty="0">
                <a:solidFill>
                  <a:srgbClr val="003366"/>
                </a:solidFill>
                <a:latin typeface="Consolas" panose="020B0609020204030204" pitchFamily="49" charset="0"/>
                <a:ea typeface="华文楷体" panose="02010600040101010101" pitchFamily="2" charset="-122"/>
                <a:cs typeface="STKaiti" panose="02010600040101010101" charset="-122"/>
              </a:rPr>
              <a:t>    auto t = </a:t>
            </a:r>
            <a:r>
              <a:rPr lang="en-US" altLang="zh-CN" kern="100" dirty="0">
                <a:solidFill>
                  <a:srgbClr val="FF0000"/>
                </a:solidFill>
                <a:latin typeface="Consolas" panose="020B0609020204030204" pitchFamily="49" charset="0"/>
                <a:ea typeface="华文楷体" panose="02010600040101010101" pitchFamily="2" charset="-122"/>
                <a:cs typeface="STKaiti" panose="02010600040101010101" charset="-122"/>
              </a:rPr>
              <a:t>std::</a:t>
            </a:r>
            <a:r>
              <a:rPr lang="en-US" altLang="zh-CN" kern="100" dirty="0" err="1">
                <a:solidFill>
                  <a:srgbClr val="FF0000"/>
                </a:solidFill>
                <a:latin typeface="Consolas" panose="020B0609020204030204" pitchFamily="49" charset="0"/>
                <a:ea typeface="华文楷体" panose="02010600040101010101" pitchFamily="2" charset="-122"/>
                <a:cs typeface="STKaiti" panose="02010600040101010101" charset="-122"/>
              </a:rPr>
              <a:t>make_pair</a:t>
            </a:r>
            <a:r>
              <a:rPr lang="en-US" altLang="zh-CN" kern="100" dirty="0">
                <a:solidFill>
                  <a:srgbClr val="003366"/>
                </a:solidFill>
                <a:latin typeface="Consolas" panose="020B0609020204030204" pitchFamily="49" charset="0"/>
                <a:ea typeface="华文楷体" panose="02010600040101010101" pitchFamily="2" charset="-122"/>
                <a:cs typeface="STKaiti" panose="02010600040101010101" charset="-122"/>
              </a:rPr>
              <a:t>(“</a:t>
            </a:r>
            <a:r>
              <a:rPr lang="en-US" altLang="zh-CN" kern="100" dirty="0" err="1">
                <a:solidFill>
                  <a:srgbClr val="003366"/>
                </a:solidFill>
                <a:latin typeface="Consolas" panose="020B0609020204030204" pitchFamily="49" charset="0"/>
                <a:ea typeface="华文楷体" panose="02010600040101010101" pitchFamily="2" charset="-122"/>
                <a:cs typeface="STKaiti" panose="02010600040101010101" charset="-122"/>
              </a:rPr>
              <a:t>abc</a:t>
            </a:r>
            <a:r>
              <a:rPr lang="en-US" altLang="zh-CN" kern="100" dirty="0">
                <a:solidFill>
                  <a:srgbClr val="003366"/>
                </a:solidFill>
                <a:latin typeface="Consolas" panose="020B0609020204030204" pitchFamily="49" charset="0"/>
                <a:ea typeface="华文楷体" panose="02010600040101010101" pitchFamily="2" charset="-122"/>
                <a:cs typeface="STKaiti" panose="02010600040101010101" charset="-122"/>
              </a:rPr>
              <a:t>”, 7.8);</a:t>
            </a:r>
          </a:p>
          <a:p>
            <a:pPr lvl="1">
              <a:lnSpc>
                <a:spcPct val="100000"/>
              </a:lnSpc>
              <a:buSzPct val="75000"/>
              <a:buFont typeface="Wingdings" panose="05000000000000000000" pitchFamily="2" charset="2"/>
              <a:buChar char="n"/>
            </a:pPr>
            <a:r>
              <a:rPr lang="zh-CN" altLang="en-US" sz="28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优势：</a:t>
            </a:r>
            <a:r>
              <a:rPr lang="zh-CN" altLang="en-US" sz="2800"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自动推导成员类型</a:t>
            </a:r>
            <a:r>
              <a:rPr lang="zh-CN" altLang="en-US" sz="28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endParaRPr lang="en-US" altLang="zh-CN" sz="2800"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支持小于、等于等比较运算符。</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lvl="1">
              <a:lnSpc>
                <a:spcPct val="100000"/>
              </a:lnSpc>
              <a:buSzPct val="75000"/>
              <a:buFont typeface="Wingdings" panose="05000000000000000000" pitchFamily="2" charset="2"/>
              <a:buChar char="n"/>
            </a:pPr>
            <a:r>
              <a:rPr lang="zh-CN" altLang="en-US" sz="28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先比较</a:t>
            </a:r>
            <a:r>
              <a:rPr lang="en-US" altLang="zh-CN" sz="2800" b="1" kern="100" dirty="0">
                <a:solidFill>
                  <a:srgbClr val="003366"/>
                </a:solidFill>
                <a:latin typeface="Consolas" panose="020B0609020204030204" pitchFamily="49" charset="0"/>
                <a:ea typeface="华文楷体" panose="02010600040101010101" pitchFamily="2" charset="-122"/>
                <a:cs typeface="STKaiti" panose="02010600040101010101" charset="-122"/>
              </a:rPr>
              <a:t>first</a:t>
            </a:r>
            <a:r>
              <a:rPr lang="zh-CN" altLang="en-US" sz="28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，后比较</a:t>
            </a:r>
            <a:r>
              <a:rPr lang="en-US" altLang="zh-CN" sz="2800" b="1" kern="100" dirty="0">
                <a:solidFill>
                  <a:srgbClr val="003366"/>
                </a:solidFill>
                <a:latin typeface="Consolas" panose="020B0609020204030204" pitchFamily="49" charset="0"/>
                <a:ea typeface="华文楷体" panose="02010600040101010101" pitchFamily="2" charset="-122"/>
                <a:cs typeface="STKaiti" panose="02010600040101010101" charset="-122"/>
              </a:rPr>
              <a:t>second</a:t>
            </a:r>
            <a:r>
              <a:rPr lang="zh-CN" altLang="en-US" sz="28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endParaRPr lang="en-US" altLang="zh-CN" sz="2800"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lvl="1">
              <a:lnSpc>
                <a:spcPct val="100000"/>
              </a:lnSpc>
              <a:buSzPct val="75000"/>
              <a:buFont typeface="Wingdings" panose="05000000000000000000" pitchFamily="2" charset="2"/>
              <a:buChar char="n"/>
            </a:pPr>
            <a:r>
              <a:rPr lang="zh-CN" altLang="en-US" sz="28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要求成员类型支持比较</a:t>
            </a:r>
            <a:r>
              <a:rPr lang="en-US" altLang="zh-CN" sz="28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r>
              <a:rPr lang="zh-CN" altLang="en-US" sz="28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实现比较运算符重载</a:t>
            </a:r>
            <a:r>
              <a:rPr lang="en-US" altLang="zh-CN" sz="28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r>
              <a:rPr lang="zh-CN" altLang="en-US" sz="28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endParaRPr lang="en-US" altLang="zh-CN" sz="2800"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18</a:t>
            </a:fld>
            <a:endParaRPr lang="en-US" altLang="zh-CN" dirty="0"/>
          </a:p>
        </p:txBody>
      </p:sp>
      <p:sp>
        <p:nvSpPr>
          <p:cNvPr id="4" name="文本框 3"/>
          <p:cNvSpPr txBox="1"/>
          <p:nvPr/>
        </p:nvSpPr>
        <p:spPr>
          <a:xfrm>
            <a:off x="1015384" y="5051789"/>
            <a:ext cx="7661072" cy="830997"/>
          </a:xfrm>
          <a:prstGeom prst="rect">
            <a:avLst/>
          </a:prstGeom>
          <a:noFill/>
        </p:spPr>
        <p:txBody>
          <a:bodyPr wrap="none" rtlCol="0">
            <a:spAutoFit/>
          </a:bodyPr>
          <a:lstStyle/>
          <a:p>
            <a:r>
              <a:rPr lang="en-US" altLang="zh-CN" sz="2400" dirty="0">
                <a:latin typeface="Consolas" panose="020B0609020204030204" pitchFamily="49" charset="0"/>
              </a:rPr>
              <a:t>std::</a:t>
            </a:r>
            <a:r>
              <a:rPr lang="en-US" altLang="zh-CN" sz="2400" dirty="0" err="1">
                <a:latin typeface="Consolas" panose="020B0609020204030204" pitchFamily="49" charset="0"/>
              </a:rPr>
              <a:t>make_pair</a:t>
            </a:r>
            <a:r>
              <a:rPr lang="en-US" altLang="zh-CN" sz="2400" dirty="0">
                <a:latin typeface="Consolas" panose="020B0609020204030204" pitchFamily="49" charset="0"/>
              </a:rPr>
              <a:t>(1, 4) &lt; std::</a:t>
            </a:r>
            <a:r>
              <a:rPr lang="en-US" altLang="zh-CN" sz="2400" dirty="0" err="1">
                <a:latin typeface="Consolas" panose="020B0609020204030204" pitchFamily="49" charset="0"/>
              </a:rPr>
              <a:t>make_pair</a:t>
            </a:r>
            <a:r>
              <a:rPr lang="en-US" altLang="zh-CN" sz="2400" dirty="0">
                <a:latin typeface="Consolas" panose="020B0609020204030204" pitchFamily="49" charset="0"/>
              </a:rPr>
              <a:t>(2, 3);</a:t>
            </a:r>
          </a:p>
          <a:p>
            <a:r>
              <a:rPr lang="en-US" altLang="zh-CN" sz="2400" dirty="0">
                <a:latin typeface="Consolas" panose="020B0609020204030204" pitchFamily="49" charset="0"/>
              </a:rPr>
              <a:t>std::</a:t>
            </a:r>
            <a:r>
              <a:rPr lang="en-US" altLang="zh-CN" sz="2400" dirty="0" err="1">
                <a:latin typeface="Consolas" panose="020B0609020204030204" pitchFamily="49" charset="0"/>
              </a:rPr>
              <a:t>make_pair</a:t>
            </a:r>
            <a:r>
              <a:rPr lang="en-US" altLang="zh-CN" sz="2400" dirty="0">
                <a:latin typeface="Consolas" panose="020B0609020204030204" pitchFamily="49" charset="0"/>
              </a:rPr>
              <a:t>(1, 4) &gt; std::</a:t>
            </a:r>
            <a:r>
              <a:rPr lang="en-US" altLang="zh-CN" sz="2400" dirty="0" err="1">
                <a:latin typeface="Consolas" panose="020B0609020204030204" pitchFamily="49" charset="0"/>
              </a:rPr>
              <a:t>make_pair</a:t>
            </a:r>
            <a:r>
              <a:rPr lang="en-US" altLang="zh-CN" sz="2400" dirty="0">
                <a:latin typeface="Consolas" panose="020B0609020204030204" pitchFamily="49" charset="0"/>
              </a:rPr>
              <a:t>(1, 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b="1" dirty="0">
                <a:latin typeface="微软雅黑" panose="020B0503020204020204" pitchFamily="34" charset="-122"/>
                <a:ea typeface="微软雅黑" panose="020B0503020204020204" pitchFamily="34" charset="-122"/>
              </a:rPr>
              <a:t>STL</a:t>
            </a:r>
            <a:r>
              <a:rPr kumimoji="1" lang="zh-CN" altLang="en-US" b="1" dirty="0">
                <a:latin typeface="微软雅黑" panose="020B0503020204020204" pitchFamily="34" charset="-122"/>
                <a:ea typeface="微软雅黑" panose="020B0503020204020204" pitchFamily="34" charset="-122"/>
              </a:rPr>
              <a:t>容器：</a:t>
            </a:r>
            <a:r>
              <a:rPr kumimoji="1" lang="en-US" altLang="zh-CN" b="1" dirty="0">
                <a:latin typeface="微软雅黑" panose="020B0503020204020204" pitchFamily="34" charset="-122"/>
                <a:ea typeface="微软雅黑" panose="020B0503020204020204" pitchFamily="34" charset="-122"/>
              </a:rPr>
              <a:t>pair</a:t>
            </a:r>
            <a:r>
              <a:rPr kumimoji="1" lang="zh-CN" altLang="en-US" b="1" dirty="0">
                <a:latin typeface="微软雅黑" panose="020B0503020204020204" pitchFamily="34" charset="-122"/>
                <a:ea typeface="微软雅黑" panose="020B0503020204020204" pitchFamily="34" charset="-122"/>
              </a:rPr>
              <a:t>举例</a:t>
            </a:r>
          </a:p>
        </p:txBody>
      </p:sp>
      <p:sp>
        <p:nvSpPr>
          <p:cNvPr id="3" name="内容占位符 2"/>
          <p:cNvSpPr>
            <a:spLocks noGrp="1"/>
          </p:cNvSpPr>
          <p:nvPr>
            <p:ph idx="1"/>
          </p:nvPr>
        </p:nvSpPr>
        <p:spPr>
          <a:xfrm>
            <a:off x="628650" y="1690689"/>
            <a:ext cx="8047806" cy="4921983"/>
          </a:xfrm>
        </p:spPr>
        <p:txBody>
          <a:bodyPr>
            <a:normAutofit lnSpcReduction="10000"/>
          </a:bodyPr>
          <a:lstStyle/>
          <a:p>
            <a:pPr>
              <a:lnSpc>
                <a:spcPct val="100000"/>
              </a:lnSpc>
              <a:buSzPct val="75000"/>
              <a:buFont typeface="Wingdings" panose="05000000000000000000" pitchFamily="2" charset="2"/>
              <a:buChar char="n"/>
            </a:pPr>
            <a:r>
              <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rPr>
              <a:t>pair</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使用举例</a:t>
            </a:r>
            <a:r>
              <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p>
          <a:p>
            <a:pPr marL="0" indent="0">
              <a:lnSpc>
                <a:spcPct val="100000"/>
              </a:lnSpc>
              <a:buSzPct val="75000"/>
              <a:buNone/>
            </a:pPr>
            <a:r>
              <a:rPr lang="en-US" altLang="zh-CN" sz="2000" kern="100" dirty="0">
                <a:latin typeface="Consolas" panose="020B0609020204030204" pitchFamily="49" charset="0"/>
                <a:ea typeface="华文楷体" panose="02010600040101010101" pitchFamily="2" charset="-122"/>
              </a:rPr>
              <a:t>#include &lt;string&gt;</a:t>
            </a:r>
          </a:p>
          <a:p>
            <a:pPr marL="0" indent="0">
              <a:lnSpc>
                <a:spcPct val="100000"/>
              </a:lnSpc>
              <a:buSzPct val="75000"/>
              <a:buNone/>
            </a:pPr>
            <a:r>
              <a:rPr lang="en-US" altLang="zh-CN" sz="2000" kern="100" dirty="0">
                <a:latin typeface="Consolas" panose="020B0609020204030204" pitchFamily="49" charset="0"/>
                <a:ea typeface="华文楷体" panose="02010600040101010101" pitchFamily="2" charset="-122"/>
              </a:rPr>
              <a:t>int main(){</a:t>
            </a:r>
          </a:p>
          <a:p>
            <a:pPr marL="0" indent="0">
              <a:lnSpc>
                <a:spcPct val="100000"/>
              </a:lnSpc>
              <a:buSzPct val="75000"/>
              <a:buNone/>
            </a:pPr>
            <a:r>
              <a:rPr lang="en-US" altLang="zh-CN" sz="2000" kern="100" dirty="0">
                <a:latin typeface="Consolas" panose="020B0609020204030204" pitchFamily="49" charset="0"/>
                <a:ea typeface="华文楷体" panose="02010600040101010101" pitchFamily="2" charset="-122"/>
              </a:rPr>
              <a:t>  std::pair&lt;std::string, double&gt; p1("Alice", 90.5);</a:t>
            </a:r>
          </a:p>
          <a:p>
            <a:pPr marL="0" indent="0">
              <a:lnSpc>
                <a:spcPct val="100000"/>
              </a:lnSpc>
              <a:buSzPct val="75000"/>
              <a:buNone/>
            </a:pPr>
            <a:r>
              <a:rPr lang="en-US" altLang="zh-CN" sz="2000" kern="100" dirty="0">
                <a:latin typeface="Consolas" panose="020B0609020204030204" pitchFamily="49" charset="0"/>
                <a:ea typeface="华文楷体" panose="02010600040101010101" pitchFamily="2" charset="-122"/>
              </a:rPr>
              <a:t>  std::pair&lt;std::string, double&gt; p2;</a:t>
            </a:r>
          </a:p>
          <a:p>
            <a:pPr marL="0" indent="0">
              <a:lnSpc>
                <a:spcPct val="100000"/>
              </a:lnSpc>
              <a:buSzPct val="75000"/>
              <a:buNone/>
            </a:pPr>
            <a:endParaRPr lang="en-US" altLang="zh-CN" sz="2000" kern="100" dirty="0">
              <a:latin typeface="Consolas" panose="020B0609020204030204" pitchFamily="49" charset="0"/>
              <a:ea typeface="华文楷体" panose="02010600040101010101" pitchFamily="2" charset="-122"/>
            </a:endParaRPr>
          </a:p>
          <a:p>
            <a:pPr marL="0" indent="0">
              <a:lnSpc>
                <a:spcPct val="100000"/>
              </a:lnSpc>
              <a:buSzPct val="75000"/>
              <a:buNone/>
            </a:pPr>
            <a:r>
              <a:rPr lang="en-US" altLang="zh-CN" sz="2000" kern="100" dirty="0">
                <a:latin typeface="Consolas" panose="020B0609020204030204" pitchFamily="49" charset="0"/>
                <a:ea typeface="华文楷体" panose="02010600040101010101" pitchFamily="2" charset="-122"/>
              </a:rPr>
              <a:t>  p2.first = "Bob";</a:t>
            </a:r>
          </a:p>
          <a:p>
            <a:pPr marL="0" indent="0">
              <a:lnSpc>
                <a:spcPct val="100000"/>
              </a:lnSpc>
              <a:buSzPct val="75000"/>
              <a:buNone/>
            </a:pPr>
            <a:r>
              <a:rPr lang="en-US" altLang="zh-CN" sz="2000" kern="100" dirty="0">
                <a:latin typeface="Consolas" panose="020B0609020204030204" pitchFamily="49" charset="0"/>
                <a:ea typeface="华文楷体" panose="02010600040101010101" pitchFamily="2" charset="-122"/>
              </a:rPr>
              <a:t>  p2.second = 85.0;</a:t>
            </a:r>
          </a:p>
          <a:p>
            <a:pPr marL="0" indent="0">
              <a:lnSpc>
                <a:spcPct val="100000"/>
              </a:lnSpc>
              <a:buSzPct val="75000"/>
              <a:buNone/>
            </a:pPr>
            <a:endParaRPr lang="en-US" altLang="zh-CN" sz="2000" kern="100" dirty="0">
              <a:latin typeface="Consolas" panose="020B0609020204030204" pitchFamily="49" charset="0"/>
              <a:ea typeface="华文楷体" panose="02010600040101010101" pitchFamily="2" charset="-122"/>
            </a:endParaRPr>
          </a:p>
          <a:p>
            <a:pPr marL="0" indent="0">
              <a:lnSpc>
                <a:spcPct val="100000"/>
              </a:lnSpc>
              <a:buSzPct val="75000"/>
              <a:buNone/>
            </a:pPr>
            <a:r>
              <a:rPr lang="en-US" altLang="zh-CN" sz="2000" kern="100" dirty="0">
                <a:latin typeface="Consolas" panose="020B0609020204030204" pitchFamily="49" charset="0"/>
                <a:ea typeface="华文楷体" panose="02010600040101010101" pitchFamily="2" charset="-122"/>
              </a:rPr>
              <a:t>  auto p3 = std::</a:t>
            </a:r>
            <a:r>
              <a:rPr lang="en-US" altLang="zh-CN" sz="2000" kern="100" dirty="0" err="1">
                <a:latin typeface="Consolas" panose="020B0609020204030204" pitchFamily="49" charset="0"/>
                <a:ea typeface="华文楷体" panose="02010600040101010101" pitchFamily="2" charset="-122"/>
              </a:rPr>
              <a:t>make_pair</a:t>
            </a:r>
            <a:r>
              <a:rPr lang="en-US" altLang="zh-CN" sz="2000" kern="100" dirty="0">
                <a:latin typeface="Consolas" panose="020B0609020204030204" pitchFamily="49" charset="0"/>
                <a:ea typeface="华文楷体" panose="02010600040101010101" pitchFamily="2" charset="-122"/>
              </a:rPr>
              <a:t>("David", "95.0");</a:t>
            </a:r>
          </a:p>
          <a:p>
            <a:pPr marL="0" indent="0">
              <a:lnSpc>
                <a:spcPct val="100000"/>
              </a:lnSpc>
              <a:buSzPct val="75000"/>
              <a:buNone/>
            </a:pPr>
            <a:r>
              <a:rPr lang="en-US" altLang="zh-CN" sz="2000" kern="100" dirty="0">
                <a:latin typeface="Consolas" panose="020B0609020204030204" pitchFamily="49" charset="0"/>
                <a:ea typeface="华文楷体" panose="02010600040101010101" pitchFamily="2" charset="-122"/>
              </a:rPr>
              <a:t>  return 0;</a:t>
            </a:r>
          </a:p>
          <a:p>
            <a:pPr marL="0" indent="0">
              <a:lnSpc>
                <a:spcPct val="100000"/>
              </a:lnSpc>
              <a:buSzPct val="75000"/>
              <a:buNone/>
            </a:pPr>
            <a:r>
              <a:rPr lang="en-US" altLang="zh-CN" sz="2000" kern="100" dirty="0">
                <a:latin typeface="Consolas" panose="020B0609020204030204" pitchFamily="49" charset="0"/>
                <a:ea typeface="华文楷体" panose="02010600040101010101" pitchFamily="2" charset="-122"/>
              </a:rPr>
              <a:t>}</a:t>
            </a: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19</a:t>
            </a:fld>
            <a:endParaRPr lang="en-US" altLang="zh-C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b="1" dirty="0">
                <a:latin typeface="微软雅黑" panose="020B0503020204020204" pitchFamily="34" charset="-122"/>
                <a:ea typeface="微软雅黑" panose="020B0503020204020204" pitchFamily="34" charset="-122"/>
              </a:rPr>
              <a:t>STL</a:t>
            </a:r>
            <a:r>
              <a:rPr kumimoji="1" lang="zh-CN" altLang="en-US" b="1" dirty="0">
                <a:latin typeface="微软雅黑" panose="020B0503020204020204" pitchFamily="34" charset="-122"/>
                <a:ea typeface="微软雅黑" panose="020B0503020204020204" pitchFamily="34" charset="-122"/>
              </a:rPr>
              <a:t>容器：</a:t>
            </a:r>
            <a:r>
              <a:rPr kumimoji="1" lang="en-US" altLang="zh-CN" b="1" dirty="0">
                <a:latin typeface="微软雅黑" panose="020B0503020204020204" pitchFamily="34" charset="-122"/>
                <a:ea typeface="微软雅黑" panose="020B0503020204020204" pitchFamily="34" charset="-122"/>
              </a:rPr>
              <a:t>tuple</a:t>
            </a:r>
            <a:endParaRPr kumimoji="1" lang="zh-CN" altLang="en-US" b="1"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628650" y="1690689"/>
            <a:ext cx="8047806" cy="4553700"/>
          </a:xfrm>
        </p:spPr>
        <p:txBody>
          <a:bodyPr>
            <a:normAutofit/>
          </a:bodyPr>
          <a:lstStyle/>
          <a:p>
            <a:pPr>
              <a:lnSpc>
                <a:spcPct val="100000"/>
              </a:lnSpc>
              <a:buSzPct val="75000"/>
              <a:buFont typeface="Wingdings" panose="05000000000000000000" pitchFamily="2" charset="2"/>
              <a:buChar char="n"/>
            </a:pPr>
            <a:r>
              <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C++11</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新增，</a:t>
            </a:r>
            <a:r>
              <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rPr>
              <a:t>pair</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的扩展，由若干成员组成的</a:t>
            </a: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元组</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类型。</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en-US" altLang="zh-CN" dirty="0">
                <a:latin typeface="Consolas" panose="020B0609020204030204" pitchFamily="49" charset="0"/>
                <a:ea typeface="华文楷体" panose="02010600040101010101" pitchFamily="2" charset="-122"/>
              </a:rPr>
              <a:t> template&lt; class ... Types &gt; class tuple;</a:t>
            </a:r>
            <a:endParaRPr lang="en-US" altLang="zh-CN" kern="100" dirty="0">
              <a:solidFill>
                <a:srgbClr val="003366"/>
              </a:solidFill>
              <a:latin typeface="Consolas" panose="020B0609020204030204" pitchFamily="49" charset="0"/>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20</a:t>
            </a:fld>
            <a:endParaRPr lang="en-US" altLang="zh-C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b="1" dirty="0">
                <a:latin typeface="微软雅黑" panose="020B0503020204020204" pitchFamily="34" charset="-122"/>
                <a:ea typeface="微软雅黑" panose="020B0503020204020204" pitchFamily="34" charset="-122"/>
              </a:rPr>
              <a:t>STL</a:t>
            </a:r>
            <a:r>
              <a:rPr kumimoji="1" lang="zh-CN" altLang="en-US" b="1" dirty="0">
                <a:latin typeface="微软雅黑" panose="020B0503020204020204" pitchFamily="34" charset="-122"/>
                <a:ea typeface="微软雅黑" panose="020B0503020204020204" pitchFamily="34" charset="-122"/>
              </a:rPr>
              <a:t>容器：</a:t>
            </a:r>
            <a:r>
              <a:rPr kumimoji="1" lang="en-US" altLang="zh-CN" b="1" dirty="0">
                <a:latin typeface="微软雅黑" panose="020B0503020204020204" pitchFamily="34" charset="-122"/>
                <a:ea typeface="微软雅黑" panose="020B0503020204020204" pitchFamily="34" charset="-122"/>
              </a:rPr>
              <a:t>tuple</a:t>
            </a:r>
            <a:endParaRPr kumimoji="1" lang="zh-CN" altLang="en-US" b="1"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628650" y="1690689"/>
            <a:ext cx="8286750" cy="4553700"/>
          </a:xfrm>
        </p:spPr>
        <p:txBody>
          <a:bodyPr>
            <a:normAutofit/>
          </a:bodyPr>
          <a:lstStyle/>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创建：</a:t>
            </a:r>
            <a:r>
              <a:rPr lang="en-US" altLang="zh-CN" b="1" kern="100" dirty="0" err="1">
                <a:latin typeface="Consolas" panose="020B0609020204030204" pitchFamily="49" charset="0"/>
                <a:ea typeface="华文楷体" panose="02010600040101010101" pitchFamily="2" charset="-122"/>
                <a:cs typeface="STKaiti" panose="02010600040101010101" charset="-122"/>
              </a:rPr>
              <a:t>make_tuple</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函数</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en-US" altLang="zh-CN" sz="2400" kern="100" dirty="0">
                <a:latin typeface="Consolas" panose="020B0609020204030204" pitchFamily="49" charset="0"/>
                <a:ea typeface="华文楷体" panose="02010600040101010101" pitchFamily="2" charset="-122"/>
                <a:cs typeface="STKaiti" panose="02010600040101010101" charset="-122"/>
              </a:rPr>
              <a:t>    </a:t>
            </a:r>
            <a:r>
              <a:rPr lang="en-US" altLang="zh-CN" sz="2000" kern="100" dirty="0">
                <a:latin typeface="Consolas" panose="020B0609020204030204" pitchFamily="49" charset="0"/>
                <a:ea typeface="华文楷体" panose="02010600040101010101" pitchFamily="2" charset="-122"/>
                <a:cs typeface="STKaiti" panose="02010600040101010101" charset="-122"/>
              </a:rPr>
              <a:t>auto t = </a:t>
            </a:r>
            <a:r>
              <a:rPr lang="en-US" altLang="zh-CN" sz="2000" kern="100" dirty="0">
                <a:solidFill>
                  <a:srgbClr val="FF0000"/>
                </a:solidFill>
                <a:latin typeface="Consolas" panose="020B0609020204030204" pitchFamily="49" charset="0"/>
                <a:ea typeface="华文楷体" panose="02010600040101010101" pitchFamily="2" charset="-122"/>
                <a:cs typeface="STKaiti" panose="02010600040101010101" charset="-122"/>
              </a:rPr>
              <a:t>std::</a:t>
            </a:r>
            <a:r>
              <a:rPr lang="en-US" altLang="zh-CN" sz="2000" kern="100" dirty="0" err="1">
                <a:solidFill>
                  <a:srgbClr val="FF0000"/>
                </a:solidFill>
                <a:latin typeface="Consolas" panose="020B0609020204030204" pitchFamily="49" charset="0"/>
                <a:ea typeface="华文楷体" panose="02010600040101010101" pitchFamily="2" charset="-122"/>
                <a:cs typeface="STKaiti" panose="02010600040101010101" charset="-122"/>
              </a:rPr>
              <a:t>make_tuple</a:t>
            </a:r>
            <a:r>
              <a:rPr lang="en-US" altLang="zh-CN" sz="2000" kern="100" dirty="0">
                <a:latin typeface="Consolas" panose="020B0609020204030204" pitchFamily="49" charset="0"/>
                <a:ea typeface="华文楷体" panose="02010600040101010101" pitchFamily="2" charset="-122"/>
                <a:cs typeface="STKaiti" panose="02010600040101010101" charset="-122"/>
              </a:rPr>
              <a:t>(“</a:t>
            </a:r>
            <a:r>
              <a:rPr lang="en-US" altLang="zh-CN" sz="2000" kern="100" dirty="0" err="1">
                <a:latin typeface="Consolas" panose="020B0609020204030204" pitchFamily="49" charset="0"/>
                <a:ea typeface="华文楷体" panose="02010600040101010101" pitchFamily="2" charset="-122"/>
                <a:cs typeface="STKaiti" panose="02010600040101010101" charset="-122"/>
              </a:rPr>
              <a:t>abc</a:t>
            </a:r>
            <a:r>
              <a:rPr lang="en-US" altLang="zh-CN" sz="2000" kern="100" dirty="0">
                <a:latin typeface="Consolas" panose="020B0609020204030204" pitchFamily="49" charset="0"/>
                <a:ea typeface="华文楷体" panose="02010600040101010101" pitchFamily="2" charset="-122"/>
                <a:cs typeface="STKaiti" panose="02010600040101010101" charset="-122"/>
              </a:rPr>
              <a:t>”, 7.8, 123, ‘3’);</a:t>
            </a:r>
          </a:p>
          <a:p>
            <a:pPr>
              <a:lnSpc>
                <a:spcPct val="100000"/>
              </a:lnSpc>
              <a:buSzPct val="75000"/>
              <a:buFont typeface="Wingdings" panose="05000000000000000000" pitchFamily="2" charset="2"/>
              <a:buChar char="n"/>
            </a:pPr>
            <a:endParaRPr lang="en-US" altLang="zh-CN"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创建：</a:t>
            </a:r>
            <a:r>
              <a:rPr lang="en-US" altLang="zh-CN" b="1" kern="100" dirty="0">
                <a:latin typeface="Consolas" panose="020B0609020204030204" pitchFamily="49" charset="0"/>
                <a:ea typeface="华文楷体" panose="02010600040101010101" pitchFamily="2" charset="-122"/>
                <a:cs typeface="STKaiti" panose="02010600040101010101" charset="-122"/>
              </a:rPr>
              <a:t>tie</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函数</a:t>
            </a:r>
            <a:r>
              <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返回左值引用的元组</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en-US" altLang="zh-CN" sz="2400" kern="100" dirty="0">
                <a:solidFill>
                  <a:srgbClr val="FF0000"/>
                </a:solidFill>
                <a:latin typeface="Consolas" panose="020B0609020204030204" pitchFamily="49" charset="0"/>
                <a:ea typeface="华文楷体" panose="02010600040101010101" pitchFamily="2" charset="-122"/>
                <a:cs typeface="STKaiti" panose="02010600040101010101" charset="-122"/>
              </a:rPr>
              <a:t>    </a:t>
            </a:r>
            <a:r>
              <a:rPr lang="en-US" altLang="zh-CN" sz="2000" kern="100" dirty="0">
                <a:latin typeface="Consolas" panose="020B0609020204030204" pitchFamily="49" charset="0"/>
                <a:ea typeface="华文楷体" panose="02010600040101010101" pitchFamily="2" charset="-122"/>
                <a:cs typeface="STKaiti" panose="02010600040101010101" charset="-122"/>
              </a:rPr>
              <a:t>std::string x; double y; int z;</a:t>
            </a:r>
          </a:p>
          <a:p>
            <a:pPr marL="0" indent="0">
              <a:lnSpc>
                <a:spcPct val="100000"/>
              </a:lnSpc>
              <a:buSzPct val="75000"/>
              <a:buNone/>
            </a:pPr>
            <a:r>
              <a:rPr lang="en-US" altLang="zh-CN" sz="2400" kern="100" dirty="0">
                <a:solidFill>
                  <a:srgbClr val="FF0000"/>
                </a:solidFill>
                <a:latin typeface="Consolas" panose="020B0609020204030204" pitchFamily="49" charset="0"/>
                <a:ea typeface="华文楷体" panose="02010600040101010101" pitchFamily="2" charset="-122"/>
                <a:cs typeface="STKaiti" panose="02010600040101010101" charset="-122"/>
              </a:rPr>
              <a:t>    </a:t>
            </a:r>
            <a:r>
              <a:rPr lang="en-US" altLang="zh-CN" sz="2000" kern="100" dirty="0">
                <a:solidFill>
                  <a:srgbClr val="FF0000"/>
                </a:solidFill>
                <a:latin typeface="Consolas" panose="020B0609020204030204" pitchFamily="49" charset="0"/>
                <a:ea typeface="华文楷体" panose="02010600040101010101" pitchFamily="2" charset="-122"/>
                <a:cs typeface="STKaiti" panose="02010600040101010101" charset="-122"/>
              </a:rPr>
              <a:t>std::tie</a:t>
            </a:r>
            <a:r>
              <a:rPr lang="en-US" altLang="zh-CN" sz="2000" kern="100" dirty="0">
                <a:latin typeface="Consolas" panose="020B0609020204030204" pitchFamily="49" charset="0"/>
                <a:ea typeface="华文楷体" panose="02010600040101010101" pitchFamily="2" charset="-122"/>
                <a:cs typeface="STKaiti" panose="02010600040101010101" charset="-122"/>
              </a:rPr>
              <a:t>(x, y, z) = std::</a:t>
            </a:r>
            <a:r>
              <a:rPr lang="en-US" altLang="zh-CN" sz="2000" kern="100" dirty="0" err="1">
                <a:latin typeface="Consolas" panose="020B0609020204030204" pitchFamily="49" charset="0"/>
                <a:ea typeface="华文楷体" panose="02010600040101010101" pitchFamily="2" charset="-122"/>
                <a:cs typeface="STKaiti" panose="02010600040101010101" charset="-122"/>
              </a:rPr>
              <a:t>make_tuple</a:t>
            </a:r>
            <a:r>
              <a:rPr lang="en-US" altLang="zh-CN" sz="2000" kern="100" dirty="0">
                <a:latin typeface="Consolas" panose="020B0609020204030204" pitchFamily="49" charset="0"/>
                <a:ea typeface="华文楷体" panose="02010600040101010101" pitchFamily="2" charset="-122"/>
                <a:cs typeface="STKaiti" panose="02010600040101010101" charset="-122"/>
              </a:rPr>
              <a:t>(“</a:t>
            </a:r>
            <a:r>
              <a:rPr lang="en-US" altLang="zh-CN" sz="2000" kern="100" dirty="0" err="1">
                <a:latin typeface="Consolas" panose="020B0609020204030204" pitchFamily="49" charset="0"/>
                <a:ea typeface="华文楷体" panose="02010600040101010101" pitchFamily="2" charset="-122"/>
                <a:cs typeface="STKaiti" panose="02010600040101010101" charset="-122"/>
              </a:rPr>
              <a:t>abc</a:t>
            </a:r>
            <a:r>
              <a:rPr lang="en-US" altLang="zh-CN" sz="2000" kern="100" dirty="0">
                <a:latin typeface="Consolas" panose="020B0609020204030204" pitchFamily="49" charset="0"/>
                <a:ea typeface="华文楷体" panose="02010600040101010101" pitchFamily="2" charset="-122"/>
                <a:cs typeface="STKaiti" panose="02010600040101010101" charset="-122"/>
              </a:rPr>
              <a:t>”, 7.8, 123);</a:t>
            </a:r>
          </a:p>
          <a:p>
            <a:pPr marL="0" indent="0">
              <a:lnSpc>
                <a:spcPct val="100000"/>
              </a:lnSpc>
              <a:buSzPct val="75000"/>
              <a:buNone/>
            </a:pPr>
            <a:r>
              <a:rPr lang="zh-CN" altLang="en-US" sz="2200" kern="100" dirty="0">
                <a:latin typeface="Consolas" panose="020B0609020204030204" pitchFamily="49" charset="0"/>
                <a:ea typeface="华文楷体" panose="02010600040101010101" pitchFamily="2" charset="-122"/>
                <a:cs typeface="STKaiti" panose="02010600040101010101" charset="-122"/>
              </a:rPr>
              <a:t>    </a:t>
            </a:r>
            <a:r>
              <a:rPr lang="en-US" altLang="zh-CN" sz="2200" kern="100" dirty="0">
                <a:solidFill>
                  <a:srgbClr val="008000"/>
                </a:solidFill>
                <a:latin typeface="Consolas" panose="020B0609020204030204" pitchFamily="49" charset="0"/>
                <a:ea typeface="华文楷体" panose="02010600040101010101" pitchFamily="2" charset="-122"/>
                <a:cs typeface="STKaiti" panose="02010600040101010101" charset="-122"/>
              </a:rPr>
              <a:t>//</a:t>
            </a:r>
            <a:r>
              <a:rPr lang="zh-CN" altLang="en-US" sz="2200" kern="100" dirty="0">
                <a:solidFill>
                  <a:srgbClr val="008000"/>
                </a:solidFill>
                <a:latin typeface="Consolas" panose="020B0609020204030204" pitchFamily="49" charset="0"/>
                <a:ea typeface="华文楷体" panose="02010600040101010101" pitchFamily="2" charset="-122"/>
                <a:cs typeface="STKaiti" panose="02010600040101010101" charset="-122"/>
              </a:rPr>
              <a:t>等价于 </a:t>
            </a:r>
            <a:r>
              <a:rPr lang="en-US" altLang="zh-CN" sz="2200" kern="100" dirty="0">
                <a:solidFill>
                  <a:srgbClr val="008000"/>
                </a:solidFill>
                <a:latin typeface="Consolas" panose="020B0609020204030204" pitchFamily="49" charset="0"/>
                <a:ea typeface="华文楷体" panose="02010600040101010101" pitchFamily="2" charset="-122"/>
                <a:cs typeface="STKaiti" panose="02010600040101010101" charset="-122"/>
              </a:rPr>
              <a:t>x</a:t>
            </a:r>
            <a:r>
              <a:rPr lang="zh-CN" altLang="en-US" sz="2200" kern="100" dirty="0">
                <a:solidFill>
                  <a:srgbClr val="008000"/>
                </a:solidFill>
                <a:latin typeface="Consolas" panose="020B0609020204030204" pitchFamily="49" charset="0"/>
                <a:ea typeface="华文楷体" panose="02010600040101010101" pitchFamily="2" charset="-122"/>
                <a:cs typeface="STKaiti" panose="02010600040101010101" charset="-122"/>
              </a:rPr>
              <a:t> </a:t>
            </a:r>
            <a:r>
              <a:rPr lang="en-US" altLang="zh-CN" sz="2200" kern="100" dirty="0">
                <a:solidFill>
                  <a:srgbClr val="008000"/>
                </a:solidFill>
                <a:latin typeface="Consolas" panose="020B0609020204030204" pitchFamily="49" charset="0"/>
                <a:ea typeface="华文楷体" panose="02010600040101010101" pitchFamily="2" charset="-122"/>
                <a:cs typeface="STKaiti" panose="02010600040101010101" charset="-122"/>
              </a:rPr>
              <a:t>=</a:t>
            </a:r>
            <a:r>
              <a:rPr lang="zh-CN" altLang="en-US" sz="2200" kern="100" dirty="0">
                <a:solidFill>
                  <a:srgbClr val="008000"/>
                </a:solidFill>
                <a:latin typeface="Consolas" panose="020B0609020204030204" pitchFamily="49" charset="0"/>
                <a:ea typeface="华文楷体" panose="02010600040101010101" pitchFamily="2" charset="-122"/>
                <a:cs typeface="STKaiti" panose="02010600040101010101" charset="-122"/>
              </a:rPr>
              <a:t> </a:t>
            </a:r>
            <a:r>
              <a:rPr lang="en-US" altLang="zh-CN" sz="2200" kern="100" dirty="0">
                <a:solidFill>
                  <a:srgbClr val="008000"/>
                </a:solidFill>
                <a:latin typeface="Consolas" panose="020B0609020204030204" pitchFamily="49" charset="0"/>
                <a:ea typeface="华文楷体" panose="02010600040101010101" pitchFamily="2" charset="-122"/>
                <a:cs typeface="STKaiti" panose="02010600040101010101" charset="-122"/>
              </a:rPr>
              <a:t>"</a:t>
            </a:r>
            <a:r>
              <a:rPr lang="en-US" altLang="zh-CN" sz="2200" kern="100" dirty="0" err="1">
                <a:solidFill>
                  <a:srgbClr val="008000"/>
                </a:solidFill>
                <a:latin typeface="Consolas" panose="020B0609020204030204" pitchFamily="49" charset="0"/>
                <a:ea typeface="华文楷体" panose="02010600040101010101" pitchFamily="2" charset="-122"/>
                <a:cs typeface="STKaiti" panose="02010600040101010101" charset="-122"/>
              </a:rPr>
              <a:t>abc</a:t>
            </a:r>
            <a:r>
              <a:rPr lang="en-US" altLang="zh-CN" sz="2200" kern="100" dirty="0">
                <a:solidFill>
                  <a:srgbClr val="008000"/>
                </a:solidFill>
                <a:latin typeface="Consolas" panose="020B0609020204030204" pitchFamily="49" charset="0"/>
                <a:ea typeface="华文楷体" panose="02010600040101010101" pitchFamily="2" charset="-122"/>
                <a:cs typeface="STKaiti" panose="02010600040101010101" charset="-122"/>
              </a:rPr>
              <a:t>"; y = 7.8; z = 123</a:t>
            </a:r>
            <a:endParaRPr lang="en-US" altLang="zh-CN" sz="2600" kern="100" dirty="0">
              <a:solidFill>
                <a:srgbClr val="008000"/>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endParaRPr lang="en-US" altLang="zh-CN"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21</a:t>
            </a:fld>
            <a:endParaRPr lang="en-US" altLang="zh-C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b="1" dirty="0">
                <a:latin typeface="微软雅黑" panose="020B0503020204020204" pitchFamily="34" charset="-122"/>
                <a:ea typeface="微软雅黑" panose="020B0503020204020204" pitchFamily="34" charset="-122"/>
              </a:rPr>
              <a:t>STL</a:t>
            </a:r>
            <a:r>
              <a:rPr kumimoji="1" lang="zh-CN" altLang="en-US" b="1" dirty="0">
                <a:latin typeface="微软雅黑" panose="020B0503020204020204" pitchFamily="34" charset="-122"/>
                <a:ea typeface="微软雅黑" panose="020B0503020204020204" pitchFamily="34" charset="-122"/>
              </a:rPr>
              <a:t>容器：</a:t>
            </a:r>
            <a:r>
              <a:rPr kumimoji="1" lang="en-US" altLang="zh-CN" b="1" dirty="0">
                <a:latin typeface="微软雅黑" panose="020B0503020204020204" pitchFamily="34" charset="-122"/>
                <a:ea typeface="微软雅黑" panose="020B0503020204020204" pitchFamily="34" charset="-122"/>
              </a:rPr>
              <a:t>tuple</a:t>
            </a:r>
            <a:endParaRPr kumimoji="1" lang="zh-CN" altLang="en-US" b="1"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628650" y="1690689"/>
            <a:ext cx="8047806" cy="4553700"/>
          </a:xfrm>
        </p:spPr>
        <p:txBody>
          <a:bodyPr>
            <a:normAutofit/>
          </a:bodyPr>
          <a:lstStyle/>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通过</a:t>
            </a:r>
            <a:r>
              <a:rPr lang="en-US" altLang="zh-CN" b="1" kern="100" dirty="0" err="1">
                <a:solidFill>
                  <a:srgbClr val="003366"/>
                </a:solidFill>
                <a:latin typeface="Consolas" panose="020B0609020204030204" pitchFamily="49" charset="0"/>
                <a:ea typeface="华文楷体" panose="02010600040101010101" pitchFamily="2" charset="-122"/>
                <a:cs typeface="STKaiti" panose="02010600040101010101" charset="-122"/>
              </a:rPr>
              <a:t>std</a:t>
            </a:r>
            <a:r>
              <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rPr>
              <a:t>::get</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函数获取数据。</a:t>
            </a:r>
            <a:endParaRPr lang="en-US" altLang="zh-CN" b="1" kern="100" dirty="0">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zh-CN" altLang="en-US" sz="2000" kern="100" dirty="0">
                <a:latin typeface="Consolas" panose="020B0609020204030204" pitchFamily="49" charset="0"/>
                <a:ea typeface="华文楷体" panose="02010600040101010101" pitchFamily="2" charset="-122"/>
                <a:cs typeface="STKaiti" panose="02010600040101010101" charset="-122"/>
              </a:rPr>
              <a:t> </a:t>
            </a:r>
            <a:r>
              <a:rPr lang="en-US" altLang="zh-CN" sz="2000" kern="100" dirty="0">
                <a:latin typeface="Consolas" panose="020B0609020204030204" pitchFamily="49" charset="0"/>
                <a:ea typeface="华文楷体" panose="02010600040101010101" pitchFamily="2" charset="-122"/>
                <a:cs typeface="STKaiti" panose="02010600040101010101" charset="-122"/>
              </a:rPr>
              <a:t>auto t = </a:t>
            </a:r>
            <a:r>
              <a:rPr lang="en-US" altLang="zh-CN" sz="2000" kern="100" dirty="0" err="1">
                <a:solidFill>
                  <a:srgbClr val="FF0000"/>
                </a:solidFill>
                <a:latin typeface="Consolas" panose="020B0609020204030204" pitchFamily="49" charset="0"/>
                <a:ea typeface="华文楷体" panose="02010600040101010101" pitchFamily="2" charset="-122"/>
                <a:cs typeface="STKaiti" panose="02010600040101010101" charset="-122"/>
              </a:rPr>
              <a:t>std</a:t>
            </a:r>
            <a:r>
              <a:rPr lang="en-US" altLang="zh-CN" sz="2000" kern="100" dirty="0">
                <a:solidFill>
                  <a:srgbClr val="FF0000"/>
                </a:solidFill>
                <a:latin typeface="Consolas" panose="020B0609020204030204" pitchFamily="49" charset="0"/>
                <a:ea typeface="华文楷体" panose="02010600040101010101" pitchFamily="2" charset="-122"/>
                <a:cs typeface="STKaiti" panose="02010600040101010101" charset="-122"/>
              </a:rPr>
              <a:t>::</a:t>
            </a:r>
            <a:r>
              <a:rPr lang="en-US" altLang="zh-CN" sz="2000" kern="100" dirty="0" err="1">
                <a:solidFill>
                  <a:srgbClr val="FF0000"/>
                </a:solidFill>
                <a:latin typeface="Consolas" panose="020B0609020204030204" pitchFamily="49" charset="0"/>
                <a:ea typeface="华文楷体" panose="02010600040101010101" pitchFamily="2" charset="-122"/>
                <a:cs typeface="STKaiti" panose="02010600040101010101" charset="-122"/>
              </a:rPr>
              <a:t>make_tuple</a:t>
            </a:r>
            <a:r>
              <a:rPr lang="en-US" altLang="zh-CN" sz="2000" kern="100" dirty="0">
                <a:latin typeface="Consolas" panose="020B0609020204030204" pitchFamily="49" charset="0"/>
                <a:ea typeface="华文楷体" panose="02010600040101010101" pitchFamily="2" charset="-122"/>
                <a:cs typeface="STKaiti" panose="02010600040101010101" charset="-122"/>
              </a:rPr>
              <a:t>(“</a:t>
            </a:r>
            <a:r>
              <a:rPr lang="en-US" altLang="zh-CN" sz="2000" kern="100" dirty="0" err="1">
                <a:latin typeface="Consolas" panose="020B0609020204030204" pitchFamily="49" charset="0"/>
                <a:ea typeface="华文楷体" panose="02010600040101010101" pitchFamily="2" charset="-122"/>
                <a:cs typeface="STKaiti" panose="02010600040101010101" charset="-122"/>
              </a:rPr>
              <a:t>abc</a:t>
            </a:r>
            <a:r>
              <a:rPr lang="en-US" altLang="zh-CN" sz="2000" kern="100" dirty="0">
                <a:latin typeface="Consolas" panose="020B0609020204030204" pitchFamily="49" charset="0"/>
                <a:ea typeface="华文楷体" panose="02010600040101010101" pitchFamily="2" charset="-122"/>
                <a:cs typeface="STKaiti" panose="02010600040101010101" charset="-122"/>
              </a:rPr>
              <a:t>”, 7.8, 123, ‘3’); </a:t>
            </a:r>
          </a:p>
          <a:p>
            <a:pPr marL="0" indent="0">
              <a:lnSpc>
                <a:spcPct val="100000"/>
              </a:lnSpc>
              <a:buSzPct val="75000"/>
              <a:buNone/>
            </a:pPr>
            <a:r>
              <a:rPr lang="zh-CN" altLang="en-US" sz="2000" kern="100" dirty="0">
                <a:latin typeface="Consolas" panose="020B0609020204030204" pitchFamily="49" charset="0"/>
                <a:ea typeface="华文楷体" panose="02010600040101010101" pitchFamily="2" charset="-122"/>
                <a:cs typeface="STKaiti" panose="02010600040101010101" charset="-122"/>
              </a:rPr>
              <a:t> </a:t>
            </a:r>
            <a:r>
              <a:rPr lang="en-US" altLang="zh-CN" sz="2000" kern="100" dirty="0">
                <a:latin typeface="Consolas" panose="020B0609020204030204" pitchFamily="49" charset="0"/>
                <a:ea typeface="华文楷体" panose="02010600040101010101" pitchFamily="2" charset="-122"/>
                <a:cs typeface="STKaiti" panose="02010600040101010101" charset="-122"/>
              </a:rPr>
              <a:t>auto</a:t>
            </a:r>
            <a:r>
              <a:rPr lang="zh-CN" altLang="en-US" sz="2000" kern="100" dirty="0">
                <a:latin typeface="Consolas" panose="020B0609020204030204" pitchFamily="49" charset="0"/>
                <a:ea typeface="华文楷体" panose="02010600040101010101" pitchFamily="2" charset="-122"/>
                <a:cs typeface="STKaiti" panose="02010600040101010101" charset="-122"/>
              </a:rPr>
              <a:t> </a:t>
            </a:r>
            <a:r>
              <a:rPr lang="en-US" altLang="zh-CN" sz="2000" kern="100" dirty="0">
                <a:latin typeface="Consolas" panose="020B0609020204030204" pitchFamily="49" charset="0"/>
                <a:ea typeface="华文楷体" panose="02010600040101010101" pitchFamily="2" charset="-122"/>
                <a:cs typeface="STKaiti" panose="02010600040101010101" charset="-122"/>
              </a:rPr>
              <a:t>v0 = </a:t>
            </a:r>
            <a:r>
              <a:rPr lang="en-US" altLang="zh-CN" sz="2000" kern="100" dirty="0" err="1">
                <a:solidFill>
                  <a:srgbClr val="FF0000"/>
                </a:solidFill>
                <a:latin typeface="Consolas" panose="020B0609020204030204" pitchFamily="49" charset="0"/>
                <a:ea typeface="华文楷体" panose="02010600040101010101" pitchFamily="2" charset="-122"/>
                <a:cs typeface="STKaiti" panose="02010600040101010101" charset="-122"/>
              </a:rPr>
              <a:t>std</a:t>
            </a:r>
            <a:r>
              <a:rPr lang="en-US" altLang="zh-CN" sz="2000" kern="100" dirty="0">
                <a:solidFill>
                  <a:srgbClr val="FF0000"/>
                </a:solidFill>
                <a:latin typeface="Consolas" panose="020B0609020204030204" pitchFamily="49" charset="0"/>
                <a:ea typeface="华文楷体" panose="02010600040101010101" pitchFamily="2" charset="-122"/>
                <a:cs typeface="STKaiti" panose="02010600040101010101" charset="-122"/>
              </a:rPr>
              <a:t>::get</a:t>
            </a:r>
            <a:r>
              <a:rPr lang="en-US" altLang="zh-CN" sz="2000" kern="100" dirty="0">
                <a:latin typeface="Consolas" panose="020B0609020204030204" pitchFamily="49" charset="0"/>
                <a:ea typeface="华文楷体" panose="02010600040101010101" pitchFamily="2" charset="-122"/>
                <a:cs typeface="STKaiti" panose="02010600040101010101" charset="-122"/>
              </a:rPr>
              <a:t>&lt;0&gt;(t);</a:t>
            </a:r>
          </a:p>
          <a:p>
            <a:pPr marL="0" indent="0">
              <a:lnSpc>
                <a:spcPct val="100000"/>
              </a:lnSpc>
              <a:buSzPct val="75000"/>
              <a:buNone/>
            </a:pPr>
            <a:r>
              <a:rPr lang="en-US" altLang="zh-CN" sz="2000" kern="100" dirty="0">
                <a:latin typeface="Consolas" panose="020B0609020204030204" pitchFamily="49" charset="0"/>
                <a:ea typeface="华文楷体" panose="02010600040101010101" pitchFamily="2" charset="-122"/>
                <a:cs typeface="STKaiti" panose="02010600040101010101" charset="-122"/>
              </a:rPr>
              <a:t> auto</a:t>
            </a:r>
            <a:r>
              <a:rPr lang="zh-CN" altLang="en-US" sz="2000" kern="100" dirty="0">
                <a:latin typeface="Consolas" panose="020B0609020204030204" pitchFamily="49" charset="0"/>
                <a:ea typeface="华文楷体" panose="02010600040101010101" pitchFamily="2" charset="-122"/>
                <a:cs typeface="STKaiti" panose="02010600040101010101" charset="-122"/>
              </a:rPr>
              <a:t> </a:t>
            </a:r>
            <a:r>
              <a:rPr lang="en-US" altLang="zh-CN" sz="2000" kern="100" dirty="0">
                <a:latin typeface="Consolas" panose="020B0609020204030204" pitchFamily="49" charset="0"/>
                <a:ea typeface="华文楷体" panose="02010600040101010101" pitchFamily="2" charset="-122"/>
                <a:cs typeface="STKaiti" panose="02010600040101010101" charset="-122"/>
              </a:rPr>
              <a:t>v1 = </a:t>
            </a:r>
            <a:r>
              <a:rPr lang="en-US" altLang="zh-CN" sz="2000" kern="100" dirty="0" err="1">
                <a:solidFill>
                  <a:srgbClr val="FF0000"/>
                </a:solidFill>
                <a:latin typeface="Consolas" panose="020B0609020204030204" pitchFamily="49" charset="0"/>
                <a:ea typeface="华文楷体" panose="02010600040101010101" pitchFamily="2" charset="-122"/>
                <a:cs typeface="STKaiti" panose="02010600040101010101" charset="-122"/>
              </a:rPr>
              <a:t>std</a:t>
            </a:r>
            <a:r>
              <a:rPr lang="en-US" altLang="zh-CN" sz="2000" kern="100" dirty="0">
                <a:solidFill>
                  <a:srgbClr val="FF0000"/>
                </a:solidFill>
                <a:latin typeface="Consolas" panose="020B0609020204030204" pitchFamily="49" charset="0"/>
                <a:ea typeface="华文楷体" panose="02010600040101010101" pitchFamily="2" charset="-122"/>
                <a:cs typeface="STKaiti" panose="02010600040101010101" charset="-122"/>
              </a:rPr>
              <a:t>::get</a:t>
            </a:r>
            <a:r>
              <a:rPr lang="en-US" altLang="zh-CN" sz="2000" kern="100" dirty="0">
                <a:latin typeface="Consolas" panose="020B0609020204030204" pitchFamily="49" charset="0"/>
                <a:ea typeface="华文楷体" panose="02010600040101010101" pitchFamily="2" charset="-122"/>
                <a:cs typeface="STKaiti" panose="02010600040101010101" charset="-122"/>
              </a:rPr>
              <a:t>&lt;1&gt;(t);</a:t>
            </a:r>
          </a:p>
          <a:p>
            <a:pPr>
              <a:lnSpc>
                <a:spcPct val="100000"/>
              </a:lnSpc>
              <a:buSzPct val="75000"/>
              <a:buFont typeface="Wingdings" panose="05000000000000000000" pitchFamily="2" charset="2"/>
              <a:buChar char="n"/>
            </a:pP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其下标需要</a:t>
            </a: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在编译时确定</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：不能设定运行时可变的长度，不能当做数组</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22</a:t>
            </a:fld>
            <a:endParaRPr lang="en-US" altLang="zh-CN" dirty="0"/>
          </a:p>
        </p:txBody>
      </p:sp>
      <p:sp>
        <p:nvSpPr>
          <p:cNvPr id="4" name="文本框 3"/>
          <p:cNvSpPr txBox="1"/>
          <p:nvPr/>
        </p:nvSpPr>
        <p:spPr>
          <a:xfrm>
            <a:off x="1841539" y="5831027"/>
            <a:ext cx="5019323" cy="707886"/>
          </a:xfrm>
          <a:prstGeom prst="rect">
            <a:avLst/>
          </a:prstGeom>
          <a:noFill/>
        </p:spPr>
        <p:txBody>
          <a:bodyPr wrap="none" rtlCol="0">
            <a:spAutoFit/>
          </a:bodyPr>
          <a:lstStyle/>
          <a:p>
            <a:r>
              <a:rPr lang="en-US" altLang="zh-CN" sz="2000" kern="100" dirty="0">
                <a:latin typeface="Consolas" panose="020B0609020204030204" pitchFamily="49" charset="0"/>
                <a:ea typeface="华文楷体" panose="02010600040101010101" pitchFamily="2" charset="-122"/>
                <a:cs typeface="STKaiti" panose="02010600040101010101" charset="-122"/>
              </a:rPr>
              <a:t>int </a:t>
            </a:r>
            <a:r>
              <a:rPr lang="en-US" altLang="zh-CN" sz="2000" kern="100" dirty="0" err="1">
                <a:latin typeface="Consolas" panose="020B0609020204030204" pitchFamily="49" charset="0"/>
                <a:ea typeface="华文楷体" panose="02010600040101010101" pitchFamily="2" charset="-122"/>
                <a:cs typeface="STKaiti" panose="02010600040101010101" charset="-122"/>
              </a:rPr>
              <a:t>i</a:t>
            </a:r>
            <a:r>
              <a:rPr lang="en-US" altLang="zh-CN" sz="2000" kern="100" dirty="0">
                <a:latin typeface="Consolas" panose="020B0609020204030204" pitchFamily="49" charset="0"/>
                <a:ea typeface="华文楷体" panose="02010600040101010101" pitchFamily="2" charset="-122"/>
                <a:cs typeface="STKaiti" panose="02010600040101010101" charset="-122"/>
              </a:rPr>
              <a:t> = 0;</a:t>
            </a:r>
          </a:p>
          <a:p>
            <a:r>
              <a:rPr lang="en-US" altLang="zh-CN" sz="2000" kern="100" dirty="0">
                <a:latin typeface="Consolas" panose="020B0609020204030204" pitchFamily="49" charset="0"/>
                <a:ea typeface="华文楷体" panose="02010600040101010101" pitchFamily="2" charset="-122"/>
                <a:cs typeface="STKaiti" panose="02010600040101010101" charset="-122"/>
              </a:rPr>
              <a:t>v = std::get&lt;</a:t>
            </a:r>
            <a:r>
              <a:rPr lang="en-US" altLang="zh-CN" sz="2000" b="1" kern="100" dirty="0" err="1">
                <a:solidFill>
                  <a:srgbClr val="C00000"/>
                </a:solidFill>
                <a:latin typeface="Consolas" panose="020B0609020204030204" pitchFamily="49" charset="0"/>
                <a:ea typeface="华文楷体" panose="02010600040101010101" pitchFamily="2" charset="-122"/>
                <a:cs typeface="STKaiti" panose="02010600040101010101" charset="-122"/>
              </a:rPr>
              <a:t>i</a:t>
            </a:r>
            <a:r>
              <a:rPr lang="en-US" altLang="zh-CN" sz="2000" kern="100" dirty="0">
                <a:latin typeface="Consolas" panose="020B0609020204030204" pitchFamily="49" charset="0"/>
                <a:ea typeface="华文楷体" panose="02010600040101010101" pitchFamily="2" charset="-122"/>
                <a:cs typeface="STKaiti" panose="02010600040101010101" charset="-122"/>
              </a:rPr>
              <a:t>&gt;(tuple); </a:t>
            </a:r>
            <a:r>
              <a:rPr lang="en-US" altLang="zh-CN" sz="2000" kern="100" dirty="0">
                <a:solidFill>
                  <a:srgbClr val="008000"/>
                </a:solidFill>
                <a:latin typeface="Consolas" panose="020B0609020204030204" pitchFamily="49" charset="0"/>
                <a:ea typeface="华文楷体" panose="02010600040101010101" pitchFamily="2" charset="-122"/>
                <a:cs typeface="STKaiti" panose="02010600040101010101" charset="-122"/>
              </a:rPr>
              <a:t>//</a:t>
            </a:r>
            <a:r>
              <a:rPr lang="zh-CN" altLang="en-US" sz="2000" kern="100" dirty="0">
                <a:solidFill>
                  <a:srgbClr val="008000"/>
                </a:solidFill>
                <a:latin typeface="Consolas" panose="020B0609020204030204" pitchFamily="49" charset="0"/>
                <a:ea typeface="华文楷体" panose="02010600040101010101" pitchFamily="2" charset="-122"/>
                <a:cs typeface="STKaiti" panose="02010600040101010101" charset="-122"/>
              </a:rPr>
              <a:t>编译错误</a:t>
            </a:r>
            <a:endParaRPr lang="en-US" altLang="zh-CN" sz="2000" kern="100" dirty="0">
              <a:solidFill>
                <a:srgbClr val="008000"/>
              </a:solidFill>
              <a:latin typeface="Consolas" panose="020B0609020204030204" pitchFamily="49" charset="0"/>
              <a:ea typeface="华文楷体" panose="02010600040101010101" pitchFamily="2" charset="-122"/>
              <a:cs typeface="STKaiti" panose="02010600040101010101"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b="1" dirty="0">
                <a:latin typeface="微软雅黑" panose="020B0503020204020204" pitchFamily="34" charset="-122"/>
                <a:ea typeface="微软雅黑" panose="020B0503020204020204" pitchFamily="34" charset="-122"/>
              </a:rPr>
              <a:t>STL</a:t>
            </a:r>
            <a:r>
              <a:rPr kumimoji="1" lang="zh-CN" altLang="en-US" b="1" dirty="0">
                <a:latin typeface="微软雅黑" panose="020B0503020204020204" pitchFamily="34" charset="-122"/>
                <a:ea typeface="微软雅黑" panose="020B0503020204020204" pitchFamily="34" charset="-122"/>
              </a:rPr>
              <a:t>容器：</a:t>
            </a:r>
            <a:r>
              <a:rPr kumimoji="1" lang="en-US" altLang="zh-CN" b="1" dirty="0">
                <a:latin typeface="微软雅黑" panose="020B0503020204020204" pitchFamily="34" charset="-122"/>
                <a:ea typeface="微软雅黑" panose="020B0503020204020204" pitchFamily="34" charset="-122"/>
              </a:rPr>
              <a:t>tuple</a:t>
            </a:r>
            <a:r>
              <a:rPr kumimoji="1" lang="zh-CN" altLang="en-US" b="1" dirty="0">
                <a:latin typeface="微软雅黑" panose="020B0503020204020204" pitchFamily="34" charset="-122"/>
                <a:ea typeface="微软雅黑" panose="020B0503020204020204" pitchFamily="34" charset="-122"/>
              </a:rPr>
              <a:t>举例</a:t>
            </a:r>
          </a:p>
        </p:txBody>
      </p:sp>
      <p:sp>
        <p:nvSpPr>
          <p:cNvPr id="3" name="内容占位符 2"/>
          <p:cNvSpPr>
            <a:spLocks noGrp="1"/>
          </p:cNvSpPr>
          <p:nvPr>
            <p:ph idx="1"/>
          </p:nvPr>
        </p:nvSpPr>
        <p:spPr>
          <a:xfrm>
            <a:off x="628650" y="1494262"/>
            <a:ext cx="8286750" cy="5227213"/>
          </a:xfrm>
        </p:spPr>
        <p:txBody>
          <a:bodyPr>
            <a:normAutofit fontScale="77500" lnSpcReduction="20000"/>
          </a:bodyPr>
          <a:lstStyle/>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用于函数多返回值的传递：</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en-US" altLang="zh-CN" sz="2400" kern="100" dirty="0">
                <a:latin typeface="Consolas" panose="020B0609020204030204" pitchFamily="49" charset="0"/>
                <a:ea typeface="华文楷体" panose="02010600040101010101" pitchFamily="2" charset="-122"/>
                <a:cs typeface="STKaiti" panose="02010600040101010101" charset="-122"/>
              </a:rPr>
              <a:t>#include &lt;tuple&gt;</a:t>
            </a:r>
          </a:p>
          <a:p>
            <a:pPr marL="0" indent="0">
              <a:lnSpc>
                <a:spcPct val="100000"/>
              </a:lnSpc>
              <a:buSzPct val="75000"/>
              <a:buNone/>
            </a:pPr>
            <a:r>
              <a:rPr lang="en-US" altLang="zh-CN" sz="2400" kern="100" dirty="0">
                <a:latin typeface="Consolas" panose="020B0609020204030204" pitchFamily="49" charset="0"/>
                <a:ea typeface="华文楷体" panose="02010600040101010101" pitchFamily="2" charset="-122"/>
                <a:cs typeface="STKaiti" panose="02010600040101010101" charset="-122"/>
              </a:rPr>
              <a:t>std::tuple&lt;int, double&gt; f(int x){ </a:t>
            </a:r>
          </a:p>
          <a:p>
            <a:pPr marL="0" indent="0">
              <a:lnSpc>
                <a:spcPct val="100000"/>
              </a:lnSpc>
              <a:buSzPct val="75000"/>
              <a:buNone/>
            </a:pPr>
            <a:r>
              <a:rPr lang="en-US" altLang="zh-CN" sz="2400" kern="100" dirty="0">
                <a:latin typeface="Consolas" panose="020B0609020204030204" pitchFamily="49" charset="0"/>
                <a:ea typeface="华文楷体" panose="02010600040101010101" pitchFamily="2" charset="-122"/>
                <a:cs typeface="STKaiti" panose="02010600040101010101" charset="-122"/>
              </a:rPr>
              <a:t>    return std::</a:t>
            </a:r>
            <a:r>
              <a:rPr lang="en-US" altLang="zh-CN" sz="2400" kern="100" dirty="0" err="1">
                <a:latin typeface="Consolas" panose="020B0609020204030204" pitchFamily="49" charset="0"/>
                <a:ea typeface="华文楷体" panose="02010600040101010101" pitchFamily="2" charset="-122"/>
                <a:cs typeface="STKaiti" panose="02010600040101010101" charset="-122"/>
              </a:rPr>
              <a:t>make_tuple</a:t>
            </a:r>
            <a:r>
              <a:rPr lang="en-US" altLang="zh-CN" sz="2400" kern="100" dirty="0">
                <a:latin typeface="Consolas" panose="020B0609020204030204" pitchFamily="49" charset="0"/>
                <a:ea typeface="华文楷体" panose="02010600040101010101" pitchFamily="2" charset="-122"/>
                <a:cs typeface="STKaiti" panose="02010600040101010101" charset="-122"/>
              </a:rPr>
              <a:t>(x, double(x)/2);</a:t>
            </a:r>
          </a:p>
          <a:p>
            <a:pPr marL="0" indent="0">
              <a:lnSpc>
                <a:spcPct val="100000"/>
              </a:lnSpc>
              <a:buSzPct val="75000"/>
              <a:buNone/>
            </a:pPr>
            <a:r>
              <a:rPr lang="en-US" altLang="zh-CN" sz="2400" kern="100" dirty="0">
                <a:latin typeface="Consolas" panose="020B0609020204030204" pitchFamily="49" charset="0"/>
                <a:ea typeface="华文楷体" panose="02010600040101010101" pitchFamily="2" charset="-122"/>
                <a:cs typeface="STKaiti" panose="02010600040101010101" charset="-122"/>
              </a:rPr>
              <a:t>}</a:t>
            </a:r>
          </a:p>
          <a:p>
            <a:pPr marL="0" indent="0">
              <a:lnSpc>
                <a:spcPct val="100000"/>
              </a:lnSpc>
              <a:buSzPct val="75000"/>
              <a:buNone/>
            </a:pPr>
            <a:r>
              <a:rPr lang="en-US" altLang="zh-CN" sz="2400" kern="100" dirty="0">
                <a:latin typeface="Consolas" panose="020B0609020204030204" pitchFamily="49" charset="0"/>
                <a:ea typeface="华文楷体" panose="02010600040101010101" pitchFamily="2" charset="-122"/>
                <a:cs typeface="STKaiti" panose="02010600040101010101" charset="-122"/>
              </a:rPr>
              <a:t>int main() {</a:t>
            </a:r>
          </a:p>
          <a:p>
            <a:pPr marL="0" indent="0">
              <a:lnSpc>
                <a:spcPct val="100000"/>
              </a:lnSpc>
              <a:buSzPct val="75000"/>
              <a:buNone/>
            </a:pPr>
            <a:r>
              <a:rPr lang="en-US" altLang="zh-CN" sz="2400" kern="100" dirty="0">
                <a:latin typeface="Consolas" panose="020B0609020204030204" pitchFamily="49" charset="0"/>
                <a:ea typeface="华文楷体" panose="02010600040101010101" pitchFamily="2" charset="-122"/>
                <a:cs typeface="STKaiti" panose="02010600040101010101" charset="-122"/>
              </a:rPr>
              <a:t>    int </a:t>
            </a:r>
            <a:r>
              <a:rPr lang="en-US" altLang="zh-CN" sz="2400" kern="100" dirty="0" err="1">
                <a:latin typeface="Consolas" panose="020B0609020204030204" pitchFamily="49" charset="0"/>
                <a:ea typeface="华文楷体" panose="02010600040101010101" pitchFamily="2" charset="-122"/>
                <a:cs typeface="STKaiti" panose="02010600040101010101" charset="-122"/>
              </a:rPr>
              <a:t>xval</a:t>
            </a:r>
            <a:r>
              <a:rPr lang="en-US" altLang="zh-CN" sz="2400" kern="100" dirty="0">
                <a:latin typeface="Consolas" panose="020B0609020204030204" pitchFamily="49" charset="0"/>
                <a:ea typeface="华文楷体" panose="02010600040101010101" pitchFamily="2" charset="-122"/>
                <a:cs typeface="STKaiti" panose="02010600040101010101" charset="-122"/>
              </a:rPr>
              <a:t>; </a:t>
            </a:r>
          </a:p>
          <a:p>
            <a:pPr marL="0" indent="0">
              <a:lnSpc>
                <a:spcPct val="100000"/>
              </a:lnSpc>
              <a:buSzPct val="75000"/>
              <a:buNone/>
            </a:pPr>
            <a:r>
              <a:rPr lang="en-US" altLang="zh-CN" sz="2400" kern="100" dirty="0">
                <a:latin typeface="Consolas" panose="020B0609020204030204" pitchFamily="49" charset="0"/>
                <a:ea typeface="华文楷体" panose="02010600040101010101" pitchFamily="2" charset="-122"/>
                <a:cs typeface="STKaiti" panose="02010600040101010101" charset="-122"/>
              </a:rPr>
              <a:t>    double </a:t>
            </a:r>
            <a:r>
              <a:rPr lang="en-US" altLang="zh-CN" sz="2400" kern="100" dirty="0" err="1">
                <a:latin typeface="Consolas" panose="020B0609020204030204" pitchFamily="49" charset="0"/>
                <a:ea typeface="华文楷体" panose="02010600040101010101" pitchFamily="2" charset="-122"/>
                <a:cs typeface="STKaiti" panose="02010600040101010101" charset="-122"/>
              </a:rPr>
              <a:t>half_x</a:t>
            </a:r>
            <a:r>
              <a:rPr lang="en-US" altLang="zh-CN" sz="2400" kern="100" dirty="0">
                <a:latin typeface="Consolas" panose="020B0609020204030204" pitchFamily="49" charset="0"/>
                <a:ea typeface="华文楷体" panose="02010600040101010101" pitchFamily="2" charset="-122"/>
                <a:cs typeface="STKaiti" panose="02010600040101010101" charset="-122"/>
              </a:rPr>
              <a:t>;</a:t>
            </a:r>
          </a:p>
          <a:p>
            <a:pPr marL="0" indent="0">
              <a:lnSpc>
                <a:spcPct val="100000"/>
              </a:lnSpc>
              <a:buSzPct val="75000"/>
              <a:buNone/>
            </a:pPr>
            <a:r>
              <a:rPr lang="en-US" altLang="zh-CN" sz="2400" kern="100" dirty="0">
                <a:latin typeface="Consolas" panose="020B0609020204030204" pitchFamily="49" charset="0"/>
                <a:ea typeface="华文楷体" panose="02010600040101010101" pitchFamily="2" charset="-122"/>
                <a:cs typeface="STKaiti" panose="02010600040101010101" charset="-122"/>
              </a:rPr>
              <a:t>    std::tie(</a:t>
            </a:r>
            <a:r>
              <a:rPr lang="en-US" altLang="zh-CN" sz="2400" kern="100" dirty="0" err="1">
                <a:latin typeface="Consolas" panose="020B0609020204030204" pitchFamily="49" charset="0"/>
                <a:ea typeface="华文楷体" panose="02010600040101010101" pitchFamily="2" charset="-122"/>
                <a:cs typeface="STKaiti" panose="02010600040101010101" charset="-122"/>
              </a:rPr>
              <a:t>xval</a:t>
            </a:r>
            <a:r>
              <a:rPr lang="en-US" altLang="zh-CN" sz="2400" kern="100" dirty="0">
                <a:latin typeface="Consolas" panose="020B0609020204030204" pitchFamily="49" charset="0"/>
                <a:ea typeface="华文楷体" panose="02010600040101010101" pitchFamily="2" charset="-122"/>
                <a:cs typeface="STKaiti" panose="02010600040101010101" charset="-122"/>
              </a:rPr>
              <a:t>, </a:t>
            </a:r>
            <a:r>
              <a:rPr lang="en-US" altLang="zh-CN" sz="2400" kern="100" dirty="0" err="1">
                <a:latin typeface="Consolas" panose="020B0609020204030204" pitchFamily="49" charset="0"/>
                <a:ea typeface="华文楷体" panose="02010600040101010101" pitchFamily="2" charset="-122"/>
                <a:cs typeface="STKaiti" panose="02010600040101010101" charset="-122"/>
              </a:rPr>
              <a:t>half_x</a:t>
            </a:r>
            <a:r>
              <a:rPr lang="en-US" altLang="zh-CN" sz="2400" kern="100" dirty="0">
                <a:latin typeface="Consolas" panose="020B0609020204030204" pitchFamily="49" charset="0"/>
                <a:ea typeface="华文楷体" panose="02010600040101010101" pitchFamily="2" charset="-122"/>
                <a:cs typeface="STKaiti" panose="02010600040101010101" charset="-122"/>
              </a:rPr>
              <a:t>) = f(7);</a:t>
            </a:r>
          </a:p>
          <a:p>
            <a:pPr marL="0" indent="0">
              <a:lnSpc>
                <a:spcPct val="100000"/>
              </a:lnSpc>
              <a:buSzPct val="75000"/>
              <a:buNone/>
            </a:pPr>
            <a:r>
              <a:rPr lang="en-US" altLang="zh-CN" sz="2400" kern="100" dirty="0">
                <a:latin typeface="Consolas" panose="020B0609020204030204" pitchFamily="49" charset="0"/>
                <a:ea typeface="华文楷体" panose="02010600040101010101" pitchFamily="2" charset="-122"/>
                <a:cs typeface="STKaiti" panose="02010600040101010101" charset="-122"/>
              </a:rPr>
              <a:t>    return 0;</a:t>
            </a:r>
          </a:p>
          <a:p>
            <a:pPr marL="0" indent="0">
              <a:lnSpc>
                <a:spcPct val="100000"/>
              </a:lnSpc>
              <a:buSzPct val="75000"/>
              <a:buNone/>
            </a:pPr>
            <a:r>
              <a:rPr lang="en-US" altLang="zh-CN" sz="2400" kern="100" dirty="0">
                <a:latin typeface="Consolas" panose="020B0609020204030204" pitchFamily="49" charset="0"/>
                <a:ea typeface="华文楷体" panose="02010600040101010101" pitchFamily="2" charset="-122"/>
                <a:cs typeface="STKaiti" panose="02010600040101010101" charset="-122"/>
              </a:rPr>
              <a:t>}</a:t>
            </a:r>
          </a:p>
          <a:p>
            <a:pPr marL="0" indent="0">
              <a:lnSpc>
                <a:spcPct val="100000"/>
              </a:lnSpc>
              <a:buSzPct val="75000"/>
              <a:buNone/>
            </a:pPr>
            <a:endParaRPr lang="en-US" altLang="zh-CN" sz="2400" kern="100" dirty="0">
              <a:latin typeface="Consolas" panose="020B0609020204030204" pitchFamily="49" charset="0"/>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作为</a:t>
            </a:r>
            <a:r>
              <a:rPr lang="en-US" altLang="zh-CN" b="1" kern="100" dirty="0">
                <a:latin typeface="Consolas" panose="020B0609020204030204" pitchFamily="49" charset="0"/>
                <a:ea typeface="华文楷体" panose="02010600040101010101" pitchFamily="2" charset="-122"/>
                <a:cs typeface="STKaiti" panose="02010600040101010101" charset="-122"/>
              </a:rPr>
              <a:t>tuple</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的特例，</a:t>
            </a:r>
            <a:r>
              <a:rPr lang="en-US" altLang="zh-CN" b="1" kern="100" dirty="0">
                <a:latin typeface="Consolas" panose="020B0609020204030204" pitchFamily="49" charset="0"/>
                <a:ea typeface="华文楷体" panose="02010600040101010101" pitchFamily="2" charset="-122"/>
                <a:cs typeface="STKaiti" panose="02010600040101010101" charset="-122"/>
              </a:rPr>
              <a:t>pair</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可用于两个返回值的传递</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Consolas" panose="020B0609020204030204" pitchFamily="49" charset="0"/>
                <a:ea typeface="华文楷体" panose="02010600040101010101" pitchFamily="2" charset="-122"/>
                <a:cs typeface="STKaiti" panose="02010600040101010101" charset="-122"/>
              </a:rPr>
              <a:t>除此之外，</a:t>
            </a:r>
            <a:r>
              <a:rPr lang="en-US" altLang="zh-CN" b="1" kern="100" dirty="0">
                <a:latin typeface="Consolas" panose="020B0609020204030204" pitchFamily="49" charset="0"/>
                <a:ea typeface="华文楷体" panose="02010600040101010101" pitchFamily="2" charset="-122"/>
                <a:cs typeface="STKaiti" panose="02010600040101010101" charset="-122"/>
              </a:rPr>
              <a:t>pair</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在</a:t>
            </a:r>
            <a:r>
              <a:rPr lang="en-US" altLang="zh-CN" b="1" kern="100" dirty="0">
                <a:latin typeface="Consolas" panose="020B0609020204030204" pitchFamily="49" charset="0"/>
                <a:ea typeface="华文楷体" panose="02010600040101010101" pitchFamily="2" charset="-122"/>
                <a:cs typeface="STKaiti" panose="02010600040101010101" charset="-122"/>
              </a:rPr>
              <a:t>map</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中大量使用。</a:t>
            </a:r>
            <a:endPar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23</a:t>
            </a:fld>
            <a:endParaRPr lang="en-US" altLang="zh-C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2"/>
            </p:custDataLst>
          </p:nvPr>
        </p:nvSpPr>
        <p:spPr>
          <a:xfrm>
            <a:off x="914400" y="635000"/>
            <a:ext cx="7315200" cy="1461429"/>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下面关于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pair</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tuple</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描述正确的是：</a:t>
            </a:r>
          </a:p>
        </p:txBody>
      </p:sp>
      <p:sp>
        <p:nvSpPr>
          <p:cNvPr id="7" name="文本框 6"/>
          <p:cNvSpPr txBox="1"/>
          <p:nvPr>
            <p:custDataLst>
              <p:tags r:id="rId3"/>
            </p:custDataLst>
          </p:nvPr>
        </p:nvSpPr>
        <p:spPr>
          <a:xfrm>
            <a:off x="1628775" y="2409960"/>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tuple</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的长度可在运行时改变</a:t>
            </a:r>
          </a:p>
        </p:txBody>
      </p:sp>
      <p:sp>
        <p:nvSpPr>
          <p:cNvPr id="8" name="文本框 7"/>
          <p:cNvSpPr txBox="1"/>
          <p:nvPr>
            <p:custDataLst>
              <p:tags r:id="rId4"/>
            </p:custDataLst>
          </p:nvPr>
        </p:nvSpPr>
        <p:spPr>
          <a:xfrm>
            <a:off x="1628775" y="3267210"/>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pair</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的两个成员的类型必须相同</a:t>
            </a:r>
          </a:p>
        </p:txBody>
      </p:sp>
      <p:sp>
        <p:nvSpPr>
          <p:cNvPr id="9" name="文本框 8"/>
          <p:cNvSpPr txBox="1"/>
          <p:nvPr>
            <p:custDataLst>
              <p:tags r:id="rId5"/>
            </p:custDataLst>
          </p:nvPr>
        </p:nvSpPr>
        <p:spPr>
          <a:xfrm>
            <a:off x="1628775" y="4124460"/>
            <a:ext cx="6969512"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pair</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之间比较大小时，先比</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first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，再比</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second</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文本框 9"/>
          <p:cNvSpPr txBox="1"/>
          <p:nvPr>
            <p:custDataLst>
              <p:tags r:id="rId6"/>
            </p:custDataLst>
          </p:nvPr>
        </p:nvSpPr>
        <p:spPr>
          <a:xfrm>
            <a:off x="1628775" y="4981710"/>
            <a:ext cx="7426712"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使用</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make_pair</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初始化</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pair</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可自动推导成员类型</a:t>
            </a:r>
          </a:p>
        </p:txBody>
      </p:sp>
      <p:sp>
        <p:nvSpPr>
          <p:cNvPr id="11" name="矩形 10"/>
          <p:cNvSpPr>
            <a:spLocks noChangeAspect="1"/>
          </p:cNvSpPr>
          <p:nvPr>
            <p:custDataLst>
              <p:tags r:id="rId7"/>
            </p:custDataLst>
          </p:nvPr>
        </p:nvSpPr>
        <p:spPr>
          <a:xfrm>
            <a:off x="914400" y="2474253"/>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p:cNvSpPr>
            <a:spLocks noChangeAspect="1"/>
          </p:cNvSpPr>
          <p:nvPr>
            <p:custDataLst>
              <p:tags r:id="rId8"/>
            </p:custDataLst>
          </p:nvPr>
        </p:nvSpPr>
        <p:spPr>
          <a:xfrm>
            <a:off x="914400" y="3331503"/>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12"/>
          <p:cNvSpPr>
            <a:spLocks noChangeAspect="1"/>
          </p:cNvSpPr>
          <p:nvPr>
            <p:custDataLst>
              <p:tags r:id="rId9"/>
            </p:custDataLst>
          </p:nvPr>
        </p:nvSpPr>
        <p:spPr>
          <a:xfrm>
            <a:off x="914400" y="4188753"/>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矩形 13"/>
          <p:cNvSpPr>
            <a:spLocks noChangeAspect="1"/>
          </p:cNvSpPr>
          <p:nvPr>
            <p:custDataLst>
              <p:tags r:id="rId10"/>
            </p:custDataLst>
          </p:nvPr>
        </p:nvSpPr>
        <p:spPr>
          <a:xfrm>
            <a:off x="914400" y="5046003"/>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sp>
        <p:nvSpPr>
          <p:cNvPr id="2" name="矩形 1"/>
          <p:cNvSpPr/>
          <p:nvPr>
            <p:custDataLst>
              <p:tags r:id="rId12"/>
            </p:custDataLst>
          </p:nvPr>
        </p:nvSpPr>
        <p:spPr>
          <a:xfrm>
            <a:off x="9525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23" name="文本框 22"/>
          <p:cNvSpPr txBox="1"/>
          <p:nvPr>
            <p:custDataLst>
              <p:tags r:id="rId13"/>
            </p:custDataLst>
          </p:nvPr>
        </p:nvSpPr>
        <p:spPr>
          <a:xfrm>
            <a:off x="9613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可为此题添加文本、图片、公式等解析，且需将内容全部放在本区域内。正常使用需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3.0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a:t>
            </a:r>
          </a:p>
        </p:txBody>
      </p:sp>
      <p:sp>
        <p:nvSpPr>
          <p:cNvPr id="24" name="文本框 23"/>
          <p:cNvSpPr txBox="1"/>
          <p:nvPr>
            <p:custDataLst>
              <p:tags r:id="rId14"/>
            </p:custDataLst>
          </p:nvPr>
        </p:nvSpPr>
        <p:spPr>
          <a:xfrm>
            <a:off x="9779000" y="1270000"/>
            <a:ext cx="3332480" cy="1015663"/>
          </a:xfrm>
          <a:prstGeom prst="rect">
            <a:avLst/>
          </a:prstGeom>
          <a:noFill/>
        </p:spPr>
        <p:txBody>
          <a:bodyPr vert="horz" rtlCol="0" anchor="t" anchorCtr="0">
            <a:spAutoFit/>
          </a:bodyPr>
          <a:lstStyle/>
          <a:p>
            <a:pPr lvl="0"/>
            <a:r>
              <a:rPr kumimoji="1" lang="en-US" altLang="zh-CN" sz="2000">
                <a:solidFill>
                  <a:prstClr val="black"/>
                </a:solidFill>
              </a:rPr>
              <a:t>A: Tuple</a:t>
            </a:r>
            <a:r>
              <a:rPr kumimoji="1" lang="zh-CN" altLang="en-US" sz="2000">
                <a:solidFill>
                  <a:prstClr val="black"/>
                </a:solidFill>
              </a:rPr>
              <a:t>长度在编译时确定</a:t>
            </a:r>
            <a:endParaRPr kumimoji="1" lang="en-US" altLang="zh-CN" sz="2000">
              <a:solidFill>
                <a:prstClr val="black"/>
              </a:solidFill>
            </a:endParaRPr>
          </a:p>
          <a:p>
            <a:pPr lvl="0"/>
            <a:endParaRPr kumimoji="1" lang="en-US" altLang="zh-CN" sz="2000">
              <a:solidFill>
                <a:prstClr val="black"/>
              </a:solidFill>
            </a:endParaRPr>
          </a:p>
          <a:p>
            <a:pPr lvl="0"/>
            <a:r>
              <a:rPr kumimoji="1" lang="en-US" altLang="zh-CN" sz="2000">
                <a:solidFill>
                  <a:prstClr val="black"/>
                </a:solidFill>
              </a:rPr>
              <a:t>B: pair</a:t>
            </a:r>
            <a:r>
              <a:rPr kumimoji="1" lang="zh-CN" altLang="en-US" sz="2000">
                <a:solidFill>
                  <a:prstClr val="black"/>
                </a:solidFill>
              </a:rPr>
              <a:t>两成员类型可以不同</a:t>
            </a:r>
            <a:endPar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22" name="组合 21"/>
          <p:cNvGrpSpPr/>
          <p:nvPr>
            <p:custDataLst>
              <p:tags r:id="rId15"/>
            </p:custDataLst>
          </p:nvPr>
        </p:nvGrpSpPr>
        <p:grpSpPr>
          <a:xfrm>
            <a:off x="9537700" y="0"/>
            <a:ext cx="3815080" cy="647700"/>
            <a:chOff x="9537700" y="0"/>
            <a:chExt cx="3815080" cy="647700"/>
          </a:xfrm>
        </p:grpSpPr>
        <p:sp>
          <p:nvSpPr>
            <p:cNvPr id="3" name="RemarkBack"/>
            <p:cNvSpPr/>
            <p:nvPr>
              <p:custDataLst>
                <p:tags r:id="rId25"/>
              </p:custDataLst>
            </p:nvPr>
          </p:nvSpPr>
          <p:spPr>
            <a:xfrm>
              <a:off x="9537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RemarkBlock"/>
            <p:cNvSpPr/>
            <p:nvPr>
              <p:custDataLst>
                <p:tags r:id="rId26"/>
              </p:custDataLst>
            </p:nvPr>
          </p:nvSpPr>
          <p:spPr>
            <a:xfrm>
              <a:off x="9537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RemarkTitleText"/>
            <p:cNvSpPr txBox="1"/>
            <p:nvPr>
              <p:custDataLst>
                <p:tags r:id="rId27"/>
              </p:custDataLst>
            </p:nvPr>
          </p:nvSpPr>
          <p:spPr>
            <a:xfrm>
              <a:off x="9779000" y="0"/>
              <a:ext cx="1905000" cy="635000"/>
            </a:xfrm>
            <a:prstGeom prst="rect">
              <a:avLst/>
            </a:prstGeom>
            <a:noFill/>
          </p:spPr>
          <p:txBody>
            <a:bodyPr vert="horz" wrap="none" rtlCol="0" anchor="ctr" anchorCtr="0">
              <a:noAutofit/>
            </a:bodyPr>
            <a:lstStyle/>
            <a:p>
              <a:r>
                <a:rPr lang="zh-CN" altLang="en-US">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sp>
        <p:nvSpPr>
          <p:cNvPr id="25" name="RemarkBack"/>
          <p:cNvSpPr/>
          <p:nvPr>
            <p:custDataLst>
              <p:tags r:id="rId16"/>
            </p:custDataLst>
          </p:nvPr>
        </p:nvSpPr>
        <p:spPr>
          <a:xfrm>
            <a:off x="9537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RemarkBlock"/>
          <p:cNvSpPr/>
          <p:nvPr>
            <p:custDataLst>
              <p:tags r:id="rId17"/>
            </p:custDataLst>
          </p:nvPr>
        </p:nvSpPr>
        <p:spPr>
          <a:xfrm>
            <a:off x="9537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RemarkTitleText"/>
          <p:cNvSpPr txBox="1"/>
          <p:nvPr>
            <p:custDataLst>
              <p:tags r:id="rId18"/>
            </p:custDataLst>
          </p:nvPr>
        </p:nvSpPr>
        <p:spPr>
          <a:xfrm>
            <a:off x="9779000" y="0"/>
            <a:ext cx="1905000" cy="635000"/>
          </a:xfrm>
          <a:prstGeom prst="rect">
            <a:avLst/>
          </a:prstGeom>
          <a:noFill/>
        </p:spPr>
        <p:txBody>
          <a:bodyPr vert="horz" wrap="none" rtlCol="0" anchor="ctr" anchorCtr="0">
            <a:noAutofit/>
          </a:bodyPr>
          <a:lstStyle/>
          <a:p>
            <a:r>
              <a:rPr lang="zh-CN" altLang="en-US">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nvGrpSpPr>
          <p:cNvPr id="20" name="组合 19"/>
          <p:cNvGrpSpPr/>
          <p:nvPr>
            <p:custDataLst>
              <p:tags r:id="rId19"/>
            </p:custDataLst>
          </p:nvPr>
        </p:nvGrpSpPr>
        <p:grpSpPr>
          <a:xfrm>
            <a:off x="0" y="0"/>
            <a:ext cx="9144000" cy="635000"/>
            <a:chOff x="0" y="0"/>
            <a:chExt cx="9144000" cy="635000"/>
          </a:xfrm>
        </p:grpSpPr>
        <p:sp>
          <p:nvSpPr>
            <p:cNvPr id="16" name="TitleBackground"/>
            <p:cNvSpPr/>
            <p:nvPr>
              <p:custDataLst>
                <p:tags r:id="rId21"/>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22"/>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23"/>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9" name="TipText"/>
            <p:cNvSpPr txBox="1"/>
            <p:nvPr>
              <p:custDataLst>
                <p:tags r:id="rId24"/>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p:cNvPicPr/>
          <p:nvPr>
            <p:custDataLst>
              <p:tags r:id="rId20"/>
            </p:custDataLst>
          </p:nvPr>
        </p:nvPicPr>
        <p:blipFill>
          <a:blip r:embed="rId3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b="1" dirty="0">
                <a:latin typeface="微软雅黑" panose="020B0503020204020204" pitchFamily="34" charset="-122"/>
                <a:ea typeface="微软雅黑" panose="020B0503020204020204" pitchFamily="34" charset="-122"/>
              </a:rPr>
              <a:t>STL</a:t>
            </a:r>
            <a:r>
              <a:rPr kumimoji="1" lang="zh-CN" altLang="en-US" b="1" dirty="0">
                <a:latin typeface="微软雅黑" panose="020B0503020204020204" pitchFamily="34" charset="-122"/>
                <a:ea typeface="微软雅黑" panose="020B0503020204020204" pitchFamily="34" charset="-122"/>
              </a:rPr>
              <a:t>容器：</a:t>
            </a:r>
            <a:r>
              <a:rPr kumimoji="1" lang="en-US" altLang="zh-CN" b="1" dirty="0">
                <a:latin typeface="微软雅黑" panose="020B0503020204020204" pitchFamily="34" charset="-122"/>
                <a:ea typeface="微软雅黑" panose="020B0503020204020204" pitchFamily="34" charset="-122"/>
              </a:rPr>
              <a:t>vector</a:t>
            </a:r>
            <a:endParaRPr kumimoji="1" lang="zh-CN" altLang="en-US" b="1"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628649" y="1690689"/>
            <a:ext cx="8393431" cy="4553700"/>
          </a:xfrm>
        </p:spPr>
        <p:txBody>
          <a:bodyPr>
            <a:normAutofit/>
          </a:bodyPr>
          <a:lstStyle/>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会自动扩展容量的</a:t>
            </a: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数组</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，以循序</a:t>
            </a:r>
            <a:r>
              <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(Sequential)</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的方式维护变量集合。</a:t>
            </a:r>
            <a:r>
              <a:rPr lang="en-US" altLang="zh-CN" kern="100" dirty="0">
                <a:solidFill>
                  <a:srgbClr val="003366"/>
                </a:solidFill>
                <a:latin typeface="华文楷体" panose="02010600040101010101" pitchFamily="2" charset="-122"/>
                <a:ea typeface="华文楷体" panose="02010600040101010101" pitchFamily="2" charset="-122"/>
                <a:cs typeface="STKaiti" panose="02010600040101010101" charset="-122"/>
              </a:rPr>
              <a:t>		</a:t>
            </a:r>
          </a:p>
          <a:p>
            <a:pPr marL="0" indent="0">
              <a:lnSpc>
                <a:spcPct val="100000"/>
              </a:lnSpc>
              <a:buSzPct val="75000"/>
              <a:buNone/>
            </a:pPr>
            <a:r>
              <a:rPr lang="en-US" altLang="zh-CN" sz="2000" kern="100" dirty="0">
                <a:latin typeface="Consolas" panose="020B0609020204030204" pitchFamily="49" charset="0"/>
                <a:ea typeface="华文楷体" panose="02010600040101010101" pitchFamily="2" charset="-122"/>
                <a:cs typeface="STKaiti" panose="02010600040101010101" charset="-122"/>
              </a:rPr>
              <a:t>    template&lt;class T, class Allocator = std::allocator&lt;T&gt;&gt; </a:t>
            </a:r>
          </a:p>
          <a:p>
            <a:pPr marL="0" indent="0">
              <a:lnSpc>
                <a:spcPct val="100000"/>
              </a:lnSpc>
              <a:buSzPct val="75000"/>
              <a:buNone/>
            </a:pPr>
            <a:r>
              <a:rPr lang="en-US" altLang="zh-CN" sz="2000" kern="100" dirty="0">
                <a:latin typeface="Consolas" panose="020B0609020204030204" pitchFamily="49" charset="0"/>
                <a:ea typeface="华文楷体" panose="02010600040101010101" pitchFamily="2" charset="-122"/>
                <a:cs typeface="STKaiti" panose="02010600040101010101" charset="-122"/>
              </a:rPr>
              <a:t>    class vector;</a:t>
            </a:r>
          </a:p>
          <a:p>
            <a:pPr>
              <a:lnSpc>
                <a:spcPct val="100000"/>
              </a:lnSpc>
              <a:buSzPct val="75000"/>
              <a:buFont typeface="Wingdings" panose="05000000000000000000" pitchFamily="2" charset="2"/>
              <a:buChar char="n"/>
            </a:pPr>
            <a:r>
              <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rPr>
              <a:t>STL</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中最基本的序列容器，提供有效、安全的数组以替代</a:t>
            </a:r>
            <a:r>
              <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C</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语言中原生数组。</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允许直接以</a:t>
            </a: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下标</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访问。（高速）</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25</a:t>
            </a:fld>
            <a:endParaRPr lang="en-US" altLang="zh-C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b="1" dirty="0">
                <a:latin typeface="微软雅黑" panose="020B0503020204020204" pitchFamily="34" charset="-122"/>
                <a:ea typeface="微软雅黑" panose="020B0503020204020204" pitchFamily="34" charset="-122"/>
              </a:rPr>
              <a:t>STL</a:t>
            </a:r>
            <a:r>
              <a:rPr kumimoji="1" lang="zh-CN" altLang="en-US" b="1" dirty="0">
                <a:latin typeface="微软雅黑" panose="020B0503020204020204" pitchFamily="34" charset="-122"/>
                <a:ea typeface="微软雅黑" panose="020B0503020204020204" pitchFamily="34" charset="-122"/>
              </a:rPr>
              <a:t>容器：</a:t>
            </a:r>
            <a:r>
              <a:rPr kumimoji="1" lang="en-US" altLang="zh-CN" b="1" dirty="0">
                <a:latin typeface="微软雅黑" panose="020B0503020204020204" pitchFamily="34" charset="-122"/>
                <a:ea typeface="微软雅黑" panose="020B0503020204020204" pitchFamily="34" charset="-122"/>
              </a:rPr>
              <a:t>vector</a:t>
            </a:r>
            <a:endParaRPr kumimoji="1" lang="zh-CN" altLang="en-US" b="1"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628649" y="1690689"/>
            <a:ext cx="8082213" cy="4553700"/>
          </a:xfrm>
        </p:spPr>
        <p:txBody>
          <a:bodyPr>
            <a:normAutofit/>
          </a:bodyPr>
          <a:lstStyle/>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创建：</a:t>
            </a:r>
            <a:r>
              <a:rPr lang="en-US" altLang="zh-CN" kern="100" dirty="0" err="1">
                <a:latin typeface="Consolas" panose="020B0609020204030204" pitchFamily="49" charset="0"/>
                <a:ea typeface="华文楷体" panose="02010600040101010101" pitchFamily="2" charset="-122"/>
                <a:cs typeface="STKaiti" panose="02010600040101010101" charset="-122"/>
              </a:rPr>
              <a:t>std:vector</a:t>
            </a:r>
            <a:r>
              <a:rPr lang="en-US" altLang="zh-CN" kern="100" dirty="0">
                <a:latin typeface="Consolas" panose="020B0609020204030204" pitchFamily="49" charset="0"/>
                <a:ea typeface="华文楷体" panose="02010600040101010101" pitchFamily="2" charset="-122"/>
                <a:cs typeface="STKaiti" panose="02010600040101010101" charset="-122"/>
              </a:rPr>
              <a:t>&lt;</a:t>
            </a:r>
            <a:r>
              <a:rPr lang="en-US" altLang="zh-CN" kern="100" dirty="0" err="1">
                <a:latin typeface="Consolas" panose="020B0609020204030204" pitchFamily="49" charset="0"/>
                <a:ea typeface="华文楷体" panose="02010600040101010101" pitchFamily="2" charset="-122"/>
                <a:cs typeface="STKaiti" panose="02010600040101010101" charset="-122"/>
              </a:rPr>
              <a:t>int</a:t>
            </a:r>
            <a:r>
              <a:rPr lang="en-US" altLang="zh-CN" kern="100" dirty="0">
                <a:latin typeface="Consolas" panose="020B0609020204030204" pitchFamily="49" charset="0"/>
                <a:ea typeface="华文楷体" panose="02010600040101010101" pitchFamily="2" charset="-122"/>
                <a:cs typeface="STKaiti" panose="02010600040101010101" charset="-122"/>
              </a:rPr>
              <a:t>&gt; x;</a:t>
            </a:r>
            <a:endParaRPr lang="en-US" altLang="zh-CN" kern="100" dirty="0">
              <a:solidFill>
                <a:srgbClr val="003366"/>
              </a:solidFill>
              <a:latin typeface="Consolas" panose="020B0609020204030204" pitchFamily="49" charset="0"/>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当前数组长度：</a:t>
            </a:r>
            <a:r>
              <a:rPr lang="zh-CN" altLang="en-US" kern="100" dirty="0">
                <a:solidFill>
                  <a:srgbClr val="003366"/>
                </a:solidFill>
                <a:latin typeface="华文楷体" panose="02010600040101010101" pitchFamily="2" charset="-122"/>
                <a:ea typeface="华文楷体" panose="02010600040101010101" pitchFamily="2" charset="-122"/>
                <a:cs typeface="STKaiti" panose="02010600040101010101" charset="-122"/>
              </a:rPr>
              <a:t> </a:t>
            </a:r>
            <a:r>
              <a:rPr lang="en-US" altLang="zh-CN" kern="100" dirty="0" err="1">
                <a:latin typeface="Consolas" panose="020B0609020204030204" pitchFamily="49" charset="0"/>
                <a:ea typeface="华文楷体" panose="02010600040101010101" pitchFamily="2" charset="-122"/>
                <a:cs typeface="STKaiti" panose="02010600040101010101" charset="-122"/>
              </a:rPr>
              <a:t>x.</a:t>
            </a:r>
            <a:r>
              <a:rPr lang="en-US" altLang="zh-CN" kern="100" dirty="0" err="1">
                <a:solidFill>
                  <a:srgbClr val="FF0000"/>
                </a:solidFill>
                <a:latin typeface="Consolas" panose="020B0609020204030204" pitchFamily="49" charset="0"/>
                <a:ea typeface="华文楷体" panose="02010600040101010101" pitchFamily="2" charset="-122"/>
                <a:cs typeface="STKaiti" panose="02010600040101010101" charset="-122"/>
              </a:rPr>
              <a:t>size</a:t>
            </a:r>
            <a:r>
              <a:rPr lang="en-US" altLang="zh-CN" kern="100" dirty="0">
                <a:latin typeface="Consolas" panose="020B0609020204030204" pitchFamily="49" charset="0"/>
                <a:ea typeface="华文楷体" panose="02010600040101010101" pitchFamily="2" charset="-122"/>
                <a:cs typeface="STKaiti" panose="02010600040101010101" charset="-122"/>
              </a:rPr>
              <a:t>();</a:t>
            </a: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清空</a:t>
            </a:r>
            <a:r>
              <a:rPr lang="zh-CN" altLang="en-US" kern="100" dirty="0">
                <a:solidFill>
                  <a:srgbClr val="003366"/>
                </a:solidFill>
                <a:latin typeface="华文楷体" panose="02010600040101010101" pitchFamily="2" charset="-122"/>
                <a:ea typeface="华文楷体" panose="02010600040101010101" pitchFamily="2" charset="-122"/>
                <a:cs typeface="STKaiti" panose="02010600040101010101" charset="-122"/>
              </a:rPr>
              <a:t>： </a:t>
            </a:r>
            <a:r>
              <a:rPr lang="en-US" altLang="zh-CN" kern="100" dirty="0" err="1">
                <a:latin typeface="Consolas" panose="020B0609020204030204" pitchFamily="49" charset="0"/>
                <a:ea typeface="华文楷体" panose="02010600040101010101" pitchFamily="2" charset="-122"/>
                <a:cs typeface="STKaiti" panose="02010600040101010101" charset="-122"/>
              </a:rPr>
              <a:t>x.</a:t>
            </a:r>
            <a:r>
              <a:rPr lang="en-US" altLang="zh-CN" kern="100" dirty="0" err="1">
                <a:solidFill>
                  <a:srgbClr val="FF0000"/>
                </a:solidFill>
                <a:latin typeface="Consolas" panose="020B0609020204030204" pitchFamily="49" charset="0"/>
                <a:ea typeface="华文楷体" panose="02010600040101010101" pitchFamily="2" charset="-122"/>
                <a:cs typeface="STKaiti" panose="02010600040101010101" charset="-122"/>
              </a:rPr>
              <a:t>clear</a:t>
            </a:r>
            <a:r>
              <a:rPr lang="en-US" altLang="zh-CN" kern="100" dirty="0">
                <a:latin typeface="Consolas" panose="020B0609020204030204" pitchFamily="49" charset="0"/>
                <a:ea typeface="华文楷体" panose="02010600040101010101" pitchFamily="2" charset="-122"/>
                <a:cs typeface="STKaiti" panose="02010600040101010101" charset="-122"/>
              </a:rPr>
              <a:t>();</a:t>
            </a: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在末尾添加</a:t>
            </a:r>
            <a:r>
              <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删除：（高速）</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rPr>
              <a:t> </a:t>
            </a:r>
            <a:r>
              <a:rPr lang="en-US" altLang="zh-CN" kern="100" dirty="0" err="1">
                <a:latin typeface="Consolas" panose="020B0609020204030204" pitchFamily="49" charset="0"/>
                <a:ea typeface="华文楷体" panose="02010600040101010101" pitchFamily="2" charset="-122"/>
                <a:cs typeface="STKaiti" panose="02010600040101010101" charset="-122"/>
              </a:rPr>
              <a:t>x.</a:t>
            </a:r>
            <a:r>
              <a:rPr lang="en-US" altLang="zh-CN" kern="100" dirty="0" err="1">
                <a:solidFill>
                  <a:srgbClr val="FF0000"/>
                </a:solidFill>
                <a:latin typeface="Consolas" panose="020B0609020204030204" pitchFamily="49" charset="0"/>
                <a:ea typeface="华文楷体" panose="02010600040101010101" pitchFamily="2" charset="-122"/>
                <a:cs typeface="STKaiti" panose="02010600040101010101" charset="-122"/>
              </a:rPr>
              <a:t>push_back</a:t>
            </a:r>
            <a:r>
              <a:rPr lang="en-US" altLang="zh-CN" kern="100" dirty="0">
                <a:latin typeface="Consolas" panose="020B0609020204030204" pitchFamily="49" charset="0"/>
                <a:ea typeface="华文楷体" panose="02010600040101010101" pitchFamily="2" charset="-122"/>
                <a:cs typeface="STKaiti" panose="02010600040101010101" charset="-122"/>
              </a:rPr>
              <a:t>(1); </a:t>
            </a:r>
            <a:r>
              <a:rPr lang="en-US" altLang="zh-CN" kern="100" dirty="0" err="1">
                <a:latin typeface="Consolas" panose="020B0609020204030204" pitchFamily="49" charset="0"/>
                <a:ea typeface="华文楷体" panose="02010600040101010101" pitchFamily="2" charset="-122"/>
                <a:cs typeface="STKaiti" panose="02010600040101010101" charset="-122"/>
              </a:rPr>
              <a:t>x.</a:t>
            </a:r>
            <a:r>
              <a:rPr lang="en-US" altLang="zh-CN" kern="100" dirty="0" err="1">
                <a:solidFill>
                  <a:srgbClr val="FF0000"/>
                </a:solidFill>
                <a:latin typeface="Consolas" panose="020B0609020204030204" pitchFamily="49" charset="0"/>
                <a:ea typeface="华文楷体" panose="02010600040101010101" pitchFamily="2" charset="-122"/>
                <a:cs typeface="STKaiti" panose="02010600040101010101" charset="-122"/>
              </a:rPr>
              <a:t>pop_back</a:t>
            </a:r>
            <a:r>
              <a:rPr lang="en-US" altLang="zh-CN" kern="100" dirty="0">
                <a:latin typeface="Consolas" panose="020B0609020204030204" pitchFamily="49" charset="0"/>
                <a:ea typeface="华文楷体" panose="02010600040101010101" pitchFamily="2" charset="-122"/>
                <a:cs typeface="STKaiti" panose="02010600040101010101" charset="-122"/>
              </a:rPr>
              <a:t>();</a:t>
            </a: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（使用</a:t>
            </a: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迭代器</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）在中间添加</a:t>
            </a:r>
            <a:r>
              <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删除：（低速）</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en-US" altLang="zh-CN" kern="100" dirty="0">
                <a:solidFill>
                  <a:srgbClr val="003366"/>
                </a:solidFill>
                <a:latin typeface="华文楷体" panose="02010600040101010101" pitchFamily="2" charset="-122"/>
                <a:ea typeface="华文楷体" panose="02010600040101010101" pitchFamily="2" charset="-122"/>
                <a:cs typeface="STKaiti" panose="02010600040101010101" charset="-122"/>
              </a:rPr>
              <a:t>  </a:t>
            </a:r>
            <a:r>
              <a:rPr lang="en-US" altLang="zh-CN" kern="100" dirty="0" err="1">
                <a:latin typeface="Consolas" panose="020B0609020204030204" pitchFamily="49" charset="0"/>
                <a:ea typeface="华文楷体" panose="02010600040101010101" pitchFamily="2" charset="-122"/>
                <a:cs typeface="STKaiti" panose="02010600040101010101" charset="-122"/>
              </a:rPr>
              <a:t>x.</a:t>
            </a:r>
            <a:r>
              <a:rPr lang="en-US" altLang="zh-CN" kern="100" dirty="0" err="1">
                <a:solidFill>
                  <a:srgbClr val="FF0000"/>
                </a:solidFill>
                <a:latin typeface="Consolas" panose="020B0609020204030204" pitchFamily="49" charset="0"/>
                <a:ea typeface="华文楷体" panose="02010600040101010101" pitchFamily="2" charset="-122"/>
                <a:cs typeface="STKaiti" panose="02010600040101010101" charset="-122"/>
              </a:rPr>
              <a:t>insert</a:t>
            </a:r>
            <a:r>
              <a:rPr lang="en-US" altLang="zh-CN" kern="100" dirty="0">
                <a:latin typeface="Consolas" panose="020B0609020204030204" pitchFamily="49" charset="0"/>
                <a:ea typeface="华文楷体" panose="02010600040101010101" pitchFamily="2" charset="-122"/>
                <a:cs typeface="STKaiti" panose="02010600040101010101" charset="-122"/>
              </a:rPr>
              <a:t>(</a:t>
            </a:r>
            <a:r>
              <a:rPr lang="en-US" altLang="zh-CN" kern="100" dirty="0" err="1">
                <a:latin typeface="Consolas" panose="020B0609020204030204" pitchFamily="49" charset="0"/>
                <a:ea typeface="华文楷体" panose="02010600040101010101" pitchFamily="2" charset="-122"/>
                <a:cs typeface="STKaiti" panose="02010600040101010101" charset="-122"/>
              </a:rPr>
              <a:t>x.begin</a:t>
            </a:r>
            <a:r>
              <a:rPr lang="en-US" altLang="zh-CN" kern="100" dirty="0">
                <a:latin typeface="Consolas" panose="020B0609020204030204" pitchFamily="49" charset="0"/>
                <a:ea typeface="华文楷体" panose="02010600040101010101" pitchFamily="2" charset="-122"/>
                <a:cs typeface="STKaiti" panose="02010600040101010101" charset="-122"/>
              </a:rPr>
              <a:t>()+1, 5);</a:t>
            </a:r>
          </a:p>
          <a:p>
            <a:pPr marL="0" indent="0">
              <a:lnSpc>
                <a:spcPct val="100000"/>
              </a:lnSpc>
              <a:buSzPct val="75000"/>
              <a:buNone/>
            </a:pPr>
            <a:r>
              <a:rPr lang="en-US" altLang="zh-CN" kern="100" dirty="0">
                <a:latin typeface="Consolas" panose="020B0609020204030204" pitchFamily="49" charset="0"/>
                <a:ea typeface="华文楷体" panose="02010600040101010101" pitchFamily="2" charset="-122"/>
                <a:cs typeface="STKaiti" panose="02010600040101010101" charset="-122"/>
              </a:rPr>
              <a:t> </a:t>
            </a:r>
            <a:r>
              <a:rPr lang="en-US" altLang="zh-CN" kern="100" dirty="0" err="1">
                <a:latin typeface="Consolas" panose="020B0609020204030204" pitchFamily="49" charset="0"/>
                <a:ea typeface="华文楷体" panose="02010600040101010101" pitchFamily="2" charset="-122"/>
                <a:cs typeface="STKaiti" panose="02010600040101010101" charset="-122"/>
              </a:rPr>
              <a:t>x.</a:t>
            </a:r>
            <a:r>
              <a:rPr lang="en-US" altLang="zh-CN" kern="100" dirty="0" err="1">
                <a:solidFill>
                  <a:srgbClr val="FF0000"/>
                </a:solidFill>
                <a:latin typeface="Consolas" panose="020B0609020204030204" pitchFamily="49" charset="0"/>
                <a:ea typeface="华文楷体" panose="02010600040101010101" pitchFamily="2" charset="-122"/>
                <a:cs typeface="STKaiti" panose="02010600040101010101" charset="-122"/>
              </a:rPr>
              <a:t>erase</a:t>
            </a:r>
            <a:r>
              <a:rPr lang="en-US" altLang="zh-CN" kern="100" dirty="0">
                <a:latin typeface="Consolas" panose="020B0609020204030204" pitchFamily="49" charset="0"/>
                <a:ea typeface="华文楷体" panose="02010600040101010101" pitchFamily="2" charset="-122"/>
                <a:cs typeface="STKaiti" panose="02010600040101010101" charset="-122"/>
              </a:rPr>
              <a:t>(</a:t>
            </a:r>
            <a:r>
              <a:rPr lang="en-US" altLang="zh-CN" kern="100" dirty="0" err="1">
                <a:latin typeface="Consolas" panose="020B0609020204030204" pitchFamily="49" charset="0"/>
                <a:ea typeface="华文楷体" panose="02010600040101010101" pitchFamily="2" charset="-122"/>
                <a:cs typeface="STKaiti" panose="02010600040101010101" charset="-122"/>
              </a:rPr>
              <a:t>x.begin</a:t>
            </a:r>
            <a:r>
              <a:rPr lang="en-US" altLang="zh-CN" kern="100" dirty="0">
                <a:latin typeface="Consolas" panose="020B0609020204030204" pitchFamily="49" charset="0"/>
                <a:ea typeface="华文楷体" panose="02010600040101010101" pitchFamily="2" charset="-122"/>
                <a:cs typeface="STKaiti" panose="02010600040101010101" charset="-122"/>
              </a:rPr>
              <a:t>()+1);</a:t>
            </a:r>
            <a:endParaRPr lang="en-US" altLang="zh-CN" kern="100" dirty="0">
              <a:latin typeface="华文楷体" panose="02010600040101010101" pitchFamily="2" charset="-122"/>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26</a:t>
            </a:fld>
            <a:endParaRPr lang="en-US" altLang="zh-C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迭代器</a:t>
            </a:r>
          </a:p>
        </p:txBody>
      </p:sp>
      <p:sp>
        <p:nvSpPr>
          <p:cNvPr id="3" name="内容占位符 2"/>
          <p:cNvSpPr>
            <a:spLocks noGrp="1"/>
          </p:cNvSpPr>
          <p:nvPr>
            <p:ph idx="1"/>
          </p:nvPr>
        </p:nvSpPr>
        <p:spPr>
          <a:xfrm>
            <a:off x="628649" y="1690689"/>
            <a:ext cx="8082213" cy="4553700"/>
          </a:xfrm>
        </p:spPr>
        <p:txBody>
          <a:bodyPr>
            <a:normAutofit/>
          </a:bodyPr>
          <a:lstStyle/>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一种检查容器内元素并遍历元素的</a:t>
            </a: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数据类型</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提供一种方法</a:t>
            </a: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顺序</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访问一个聚合对象中各个元素</a:t>
            </a:r>
            <a:r>
              <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 </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而又不需暴露该对象的内部表示。</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为遍历不同的聚合结构（需拥有相同的基类）提供一个</a:t>
            </a: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统一</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的接口。</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使用上</a:t>
            </a: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类似指针</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27</a:t>
            </a:fld>
            <a:endParaRPr lang="en-US" altLang="zh-C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迭代器：以</a:t>
            </a:r>
            <a:r>
              <a:rPr kumimoji="1" lang="en-US" altLang="zh-CN" b="1" dirty="0">
                <a:latin typeface="微软雅黑" panose="020B0503020204020204" pitchFamily="34" charset="-122"/>
                <a:ea typeface="微软雅黑" panose="020B0503020204020204" pitchFamily="34" charset="-122"/>
              </a:rPr>
              <a:t>vector</a:t>
            </a:r>
            <a:r>
              <a:rPr kumimoji="1" lang="zh-CN" altLang="en-US" b="1" dirty="0">
                <a:latin typeface="微软雅黑" panose="020B0503020204020204" pitchFamily="34" charset="-122"/>
                <a:ea typeface="微软雅黑" panose="020B0503020204020204" pitchFamily="34" charset="-122"/>
              </a:rPr>
              <a:t>为例</a:t>
            </a:r>
          </a:p>
        </p:txBody>
      </p:sp>
      <p:sp>
        <p:nvSpPr>
          <p:cNvPr id="3" name="内容占位符 2"/>
          <p:cNvSpPr>
            <a:spLocks noGrp="1"/>
          </p:cNvSpPr>
          <p:nvPr>
            <p:ph idx="1"/>
          </p:nvPr>
        </p:nvSpPr>
        <p:spPr>
          <a:xfrm>
            <a:off x="628649" y="1690688"/>
            <a:ext cx="8082213" cy="5030787"/>
          </a:xfrm>
        </p:spPr>
        <p:txBody>
          <a:bodyPr>
            <a:normAutofit/>
          </a:bodyPr>
          <a:lstStyle/>
          <a:p>
            <a:pPr>
              <a:lnSpc>
                <a:spcPct val="100000"/>
              </a:lnSpc>
              <a:buSzPct val="75000"/>
              <a:buFont typeface="Wingdings" panose="05000000000000000000" pitchFamily="2" charset="2"/>
              <a:buChar char="n"/>
            </a:pPr>
            <a:r>
              <a:rPr lang="zh-CN" altLang="en-US" kern="100" dirty="0">
                <a:solidFill>
                  <a:srgbClr val="003366"/>
                </a:solidFill>
                <a:latin typeface="华文楷体" panose="02010600040101010101" pitchFamily="2" charset="-122"/>
                <a:ea typeface="华文楷体" panose="02010600040101010101" pitchFamily="2" charset="-122"/>
                <a:cs typeface="STKaiti" panose="02010600040101010101" charset="-122"/>
              </a:rPr>
              <a:t>定义：</a:t>
            </a:r>
            <a:endParaRPr lang="en-US" altLang="zh-CN"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en-US" altLang="zh-CN" kern="100" dirty="0">
                <a:latin typeface="Consolas" panose="020B0609020204030204" pitchFamily="49" charset="0"/>
                <a:ea typeface="华文楷体" panose="02010600040101010101" pitchFamily="2" charset="-122"/>
                <a:cs typeface="STKaiti" panose="02010600040101010101" charset="-122"/>
              </a:rPr>
              <a:t>template&lt;class T, class Allocator = </a:t>
            </a:r>
            <a:r>
              <a:rPr lang="en-US" altLang="zh-CN" kern="100" dirty="0" err="1">
                <a:latin typeface="Consolas" panose="020B0609020204030204" pitchFamily="49" charset="0"/>
                <a:ea typeface="华文楷体" panose="02010600040101010101" pitchFamily="2" charset="-122"/>
                <a:cs typeface="STKaiti" panose="02010600040101010101" charset="-122"/>
              </a:rPr>
              <a:t>std</a:t>
            </a:r>
            <a:r>
              <a:rPr lang="en-US" altLang="zh-CN" kern="100" dirty="0">
                <a:latin typeface="Consolas" panose="020B0609020204030204" pitchFamily="49" charset="0"/>
                <a:ea typeface="华文楷体" panose="02010600040101010101" pitchFamily="2" charset="-122"/>
                <a:cs typeface="STKaiti" panose="02010600040101010101" charset="-122"/>
              </a:rPr>
              <a:t>::allocator&lt;T&gt;&gt; </a:t>
            </a:r>
          </a:p>
          <a:p>
            <a:pPr marL="0" indent="0">
              <a:lnSpc>
                <a:spcPct val="100000"/>
              </a:lnSpc>
              <a:buSzPct val="75000"/>
              <a:buNone/>
            </a:pPr>
            <a:r>
              <a:rPr lang="en-US" altLang="zh-CN" kern="100" dirty="0">
                <a:latin typeface="Consolas" panose="020B0609020204030204" pitchFamily="49" charset="0"/>
                <a:ea typeface="华文楷体" panose="02010600040101010101" pitchFamily="2" charset="-122"/>
                <a:cs typeface="STKaiti" panose="02010600040101010101" charset="-122"/>
              </a:rPr>
              <a:t>class </a:t>
            </a:r>
            <a:r>
              <a:rPr lang="en-US" altLang="zh-CN" kern="100" dirty="0">
                <a:solidFill>
                  <a:srgbClr val="FF0000"/>
                </a:solidFill>
                <a:latin typeface="Consolas" panose="020B0609020204030204" pitchFamily="49" charset="0"/>
                <a:ea typeface="华文楷体" panose="02010600040101010101" pitchFamily="2" charset="-122"/>
                <a:cs typeface="STKaiti" panose="02010600040101010101" charset="-122"/>
              </a:rPr>
              <a:t>vector</a:t>
            </a:r>
            <a:r>
              <a:rPr lang="en-US" altLang="zh-CN" kern="100" dirty="0">
                <a:latin typeface="Consolas" panose="020B0609020204030204" pitchFamily="49" charset="0"/>
                <a:ea typeface="华文楷体" panose="02010600040101010101" pitchFamily="2" charset="-122"/>
                <a:cs typeface="STKaiti" panose="02010600040101010101" charset="-122"/>
              </a:rPr>
              <a:t> {</a:t>
            </a:r>
          </a:p>
          <a:p>
            <a:pPr marL="0" indent="0">
              <a:lnSpc>
                <a:spcPct val="100000"/>
              </a:lnSpc>
              <a:buSzPct val="75000"/>
              <a:buNone/>
            </a:pPr>
            <a:r>
              <a:rPr lang="en-US" altLang="zh-CN" kern="100" dirty="0">
                <a:latin typeface="Consolas" panose="020B0609020204030204" pitchFamily="49" charset="0"/>
                <a:ea typeface="华文楷体" panose="02010600040101010101" pitchFamily="2" charset="-122"/>
                <a:cs typeface="STKaiti" panose="02010600040101010101" charset="-122"/>
              </a:rPr>
              <a:t>	class </a:t>
            </a:r>
            <a:r>
              <a:rPr lang="en-US" altLang="zh-CN" kern="100" dirty="0">
                <a:solidFill>
                  <a:srgbClr val="FF0000"/>
                </a:solidFill>
                <a:latin typeface="Consolas" panose="020B0609020204030204" pitchFamily="49" charset="0"/>
                <a:ea typeface="华文楷体" panose="02010600040101010101" pitchFamily="2" charset="-122"/>
                <a:cs typeface="STKaiti" panose="02010600040101010101" charset="-122"/>
              </a:rPr>
              <a:t>iterator</a:t>
            </a:r>
            <a:r>
              <a:rPr lang="en-US" altLang="zh-CN" kern="100" dirty="0">
                <a:latin typeface="Consolas" panose="020B0609020204030204" pitchFamily="49" charset="0"/>
                <a:ea typeface="华文楷体" panose="02010600040101010101" pitchFamily="2" charset="-122"/>
                <a:cs typeface="STKaiti" panose="02010600040101010101" charset="-122"/>
              </a:rPr>
              <a:t> {</a:t>
            </a:r>
          </a:p>
          <a:p>
            <a:pPr marL="0" indent="0">
              <a:lnSpc>
                <a:spcPct val="100000"/>
              </a:lnSpc>
              <a:buSzPct val="75000"/>
              <a:buNone/>
            </a:pPr>
            <a:r>
              <a:rPr lang="en-US" altLang="zh-CN" kern="100" dirty="0">
                <a:latin typeface="Consolas" panose="020B0609020204030204" pitchFamily="49" charset="0"/>
                <a:ea typeface="华文楷体" panose="02010600040101010101" pitchFamily="2" charset="-122"/>
                <a:cs typeface="STKaiti" panose="02010600040101010101" charset="-122"/>
              </a:rPr>
              <a:t>		...</a:t>
            </a:r>
          </a:p>
          <a:p>
            <a:pPr marL="0" indent="0">
              <a:lnSpc>
                <a:spcPct val="100000"/>
              </a:lnSpc>
              <a:buSzPct val="75000"/>
              <a:buNone/>
            </a:pPr>
            <a:r>
              <a:rPr lang="en-US" altLang="zh-CN" kern="100" dirty="0">
                <a:latin typeface="Consolas" panose="020B0609020204030204" pitchFamily="49" charset="0"/>
                <a:ea typeface="华文楷体" panose="02010600040101010101" pitchFamily="2" charset="-122"/>
                <a:cs typeface="STKaiti" panose="02010600040101010101" charset="-122"/>
              </a:rPr>
              <a:t>	}</a:t>
            </a:r>
          </a:p>
          <a:p>
            <a:pPr marL="0" indent="0">
              <a:lnSpc>
                <a:spcPct val="100000"/>
              </a:lnSpc>
              <a:buSzPct val="75000"/>
              <a:buNone/>
            </a:pPr>
            <a:r>
              <a:rPr lang="en-US" altLang="zh-CN" kern="100" dirty="0">
                <a:latin typeface="Consolas" panose="020B0609020204030204" pitchFamily="49" charset="0"/>
                <a:ea typeface="华文楷体" panose="02010600040101010101" pitchFamily="2" charset="-122"/>
                <a:cs typeface="STKaiti" panose="02010600040101010101" charset="-122"/>
              </a:rPr>
              <a:t>};</a:t>
            </a: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28</a:t>
            </a:fld>
            <a:endParaRPr lang="en-US" altLang="zh-C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迭代器：以</a:t>
            </a:r>
            <a:r>
              <a:rPr kumimoji="1" lang="en-US" altLang="zh-CN" b="1" dirty="0">
                <a:latin typeface="微软雅黑" panose="020B0503020204020204" pitchFamily="34" charset="-122"/>
                <a:ea typeface="微软雅黑" panose="020B0503020204020204" pitchFamily="34" charset="-122"/>
              </a:rPr>
              <a:t>vector</a:t>
            </a:r>
            <a:r>
              <a:rPr kumimoji="1" lang="zh-CN" altLang="en-US" b="1" dirty="0">
                <a:latin typeface="微软雅黑" panose="020B0503020204020204" pitchFamily="34" charset="-122"/>
                <a:ea typeface="微软雅黑" panose="020B0503020204020204" pitchFamily="34" charset="-122"/>
              </a:rPr>
              <a:t>为例</a:t>
            </a:r>
          </a:p>
        </p:txBody>
      </p:sp>
      <p:sp>
        <p:nvSpPr>
          <p:cNvPr id="3" name="内容占位符 2"/>
          <p:cNvSpPr>
            <a:spLocks noGrp="1"/>
          </p:cNvSpPr>
          <p:nvPr>
            <p:ph idx="1"/>
          </p:nvPr>
        </p:nvSpPr>
        <p:spPr>
          <a:xfrm>
            <a:off x="628649" y="1690689"/>
            <a:ext cx="8082213" cy="4553700"/>
          </a:xfrm>
        </p:spPr>
        <p:txBody>
          <a:bodyPr>
            <a:normAutofit/>
          </a:bodyPr>
          <a:lstStyle/>
          <a:p>
            <a:pPr>
              <a:lnSpc>
                <a:spcPct val="100000"/>
              </a:lnSpc>
              <a:buSzPct val="75000"/>
              <a:buFont typeface="Wingdings" panose="05000000000000000000" pitchFamily="2" charset="2"/>
              <a:buChar char="n"/>
            </a:pPr>
            <a:r>
              <a:rPr lang="en-US" altLang="zh-CN" dirty="0">
                <a:latin typeface="Consolas" panose="020B0609020204030204" pitchFamily="49" charset="0"/>
                <a:ea typeface="华文楷体" panose="02010600040101010101" pitchFamily="2" charset="-122"/>
              </a:rPr>
              <a:t>vector&lt;</a:t>
            </a:r>
            <a:r>
              <a:rPr lang="en-US" altLang="zh-CN" dirty="0" err="1">
                <a:latin typeface="Consolas" panose="020B0609020204030204" pitchFamily="49" charset="0"/>
                <a:ea typeface="华文楷体" panose="02010600040101010101" pitchFamily="2" charset="-122"/>
              </a:rPr>
              <a:t>int</a:t>
            </a:r>
            <a:r>
              <a:rPr lang="en-US" altLang="zh-CN" dirty="0">
                <a:latin typeface="Consolas" panose="020B0609020204030204" pitchFamily="49" charset="0"/>
                <a:ea typeface="华文楷体" panose="02010600040101010101" pitchFamily="2" charset="-122"/>
              </a:rPr>
              <a:t>&gt;::</a:t>
            </a:r>
            <a:r>
              <a:rPr lang="en-US" altLang="zh-CN" dirty="0">
                <a:solidFill>
                  <a:srgbClr val="FF0000"/>
                </a:solidFill>
                <a:latin typeface="Consolas" panose="020B0609020204030204" pitchFamily="49" charset="0"/>
                <a:ea typeface="华文楷体" panose="02010600040101010101" pitchFamily="2" charset="-122"/>
              </a:rPr>
              <a:t>iterator</a:t>
            </a:r>
            <a:r>
              <a:rPr lang="en-US" altLang="zh-CN" dirty="0">
                <a:latin typeface="Consolas" panose="020B0609020204030204" pitchFamily="49" charset="0"/>
                <a:ea typeface="华文楷体" panose="02010600040101010101" pitchFamily="2" charset="-122"/>
              </a:rPr>
              <a:t> </a:t>
            </a:r>
            <a:r>
              <a:rPr lang="en-US" altLang="zh-CN" dirty="0" err="1">
                <a:latin typeface="Consolas" panose="020B0609020204030204" pitchFamily="49" charset="0"/>
                <a:ea typeface="华文楷体" panose="02010600040101010101" pitchFamily="2" charset="-122"/>
              </a:rPr>
              <a:t>iter</a:t>
            </a:r>
            <a:r>
              <a:rPr lang="en-US" altLang="zh-CN" dirty="0">
                <a:latin typeface="Consolas" panose="020B0609020204030204" pitchFamily="49" charset="0"/>
                <a:ea typeface="华文楷体" panose="02010600040101010101" pitchFamily="2" charset="-122"/>
              </a:rPr>
              <a:t>;</a:t>
            </a:r>
          </a:p>
          <a:p>
            <a:pPr>
              <a:lnSpc>
                <a:spcPct val="100000"/>
              </a:lnSpc>
              <a:buSzPct val="75000"/>
              <a:buFont typeface="Wingdings" panose="05000000000000000000" pitchFamily="2" charset="2"/>
              <a:buChar char="n"/>
            </a:pPr>
            <a:r>
              <a:rPr lang="zh-CN" altLang="en-US" kern="100" dirty="0">
                <a:solidFill>
                  <a:srgbClr val="003366"/>
                </a:solidFill>
                <a:latin typeface="华文楷体" panose="02010600040101010101" pitchFamily="2" charset="-122"/>
                <a:ea typeface="华文楷体" panose="02010600040101010101" pitchFamily="2" charset="-122"/>
                <a:cs typeface="STKaiti" panose="02010600040101010101" charset="-122"/>
              </a:rPr>
              <a:t>定义了一个名为</a:t>
            </a:r>
            <a:r>
              <a:rPr lang="en-US" altLang="zh-CN" kern="100" dirty="0" err="1">
                <a:latin typeface="Consolas" panose="020B0609020204030204" pitchFamily="49" charset="0"/>
                <a:ea typeface="华文楷体" panose="02010600040101010101" pitchFamily="2" charset="-122"/>
                <a:cs typeface="STKaiti" panose="02010600040101010101" charset="-122"/>
              </a:rPr>
              <a:t>iter</a:t>
            </a:r>
            <a:r>
              <a:rPr lang="zh-CN" altLang="en-US" kern="100" dirty="0">
                <a:solidFill>
                  <a:srgbClr val="003366"/>
                </a:solidFill>
                <a:latin typeface="华文楷体" panose="02010600040101010101" pitchFamily="2" charset="-122"/>
                <a:ea typeface="华文楷体" panose="02010600040101010101" pitchFamily="2" charset="-122"/>
                <a:cs typeface="STKaiti" panose="02010600040101010101" charset="-122"/>
              </a:rPr>
              <a:t>的变量，它的数据类型是由</a:t>
            </a:r>
            <a:r>
              <a:rPr lang="en-US" altLang="zh-CN" kern="100" dirty="0">
                <a:latin typeface="Consolas" panose="020B0609020204030204" pitchFamily="49" charset="0"/>
                <a:ea typeface="华文楷体" panose="02010600040101010101" pitchFamily="2" charset="-122"/>
                <a:cs typeface="STKaiti" panose="02010600040101010101" charset="-122"/>
              </a:rPr>
              <a:t>vector&lt;</a:t>
            </a:r>
            <a:r>
              <a:rPr lang="en-US" altLang="zh-CN" kern="100" dirty="0" err="1">
                <a:latin typeface="Consolas" panose="020B0609020204030204" pitchFamily="49" charset="0"/>
                <a:ea typeface="华文楷体" panose="02010600040101010101" pitchFamily="2" charset="-122"/>
                <a:cs typeface="STKaiti" panose="02010600040101010101" charset="-122"/>
              </a:rPr>
              <a:t>int</a:t>
            </a:r>
            <a:r>
              <a:rPr lang="en-US" altLang="zh-CN" kern="100" dirty="0">
                <a:latin typeface="Consolas" panose="020B0609020204030204" pitchFamily="49" charset="0"/>
                <a:ea typeface="华文楷体" panose="02010600040101010101" pitchFamily="2" charset="-122"/>
                <a:cs typeface="STKaiti" panose="02010600040101010101" charset="-122"/>
              </a:rPr>
              <a:t>&gt;</a:t>
            </a:r>
            <a:r>
              <a:rPr lang="zh-CN" altLang="en-US" kern="100" dirty="0">
                <a:solidFill>
                  <a:srgbClr val="003366"/>
                </a:solidFill>
                <a:latin typeface="华文楷体" panose="02010600040101010101" pitchFamily="2" charset="-122"/>
                <a:ea typeface="华文楷体" panose="02010600040101010101" pitchFamily="2" charset="-122"/>
                <a:cs typeface="STKaiti" panose="02010600040101010101" charset="-122"/>
              </a:rPr>
              <a:t>定义的</a:t>
            </a:r>
            <a:r>
              <a:rPr lang="en-US" altLang="zh-CN" kern="100" dirty="0">
                <a:latin typeface="Consolas" panose="020B0609020204030204" pitchFamily="49" charset="0"/>
                <a:ea typeface="华文楷体" panose="02010600040101010101" pitchFamily="2" charset="-122"/>
                <a:cs typeface="STKaiti" panose="02010600040101010101" charset="-122"/>
              </a:rPr>
              <a:t>iterator</a:t>
            </a:r>
            <a:r>
              <a:rPr lang="zh-CN" altLang="en-US" kern="100" dirty="0">
                <a:solidFill>
                  <a:srgbClr val="003366"/>
                </a:solidFill>
                <a:latin typeface="华文楷体" panose="02010600040101010101" pitchFamily="2" charset="-122"/>
                <a:ea typeface="华文楷体" panose="02010600040101010101" pitchFamily="2" charset="-122"/>
                <a:cs typeface="STKaiti" panose="02010600040101010101" charset="-122"/>
              </a:rPr>
              <a:t>类型。</a:t>
            </a:r>
            <a:endParaRPr lang="en-US" altLang="zh-CN"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en-US" altLang="zh-CN" kern="100" dirty="0">
                <a:latin typeface="Consolas" panose="020B0609020204030204" pitchFamily="49" charset="0"/>
                <a:ea typeface="华文楷体" panose="02010600040101010101" pitchFamily="2" charset="-122"/>
                <a:cs typeface="STKaiti" panose="02010600040101010101" charset="-122"/>
              </a:rPr>
              <a:t>begin</a:t>
            </a:r>
            <a:r>
              <a:rPr lang="zh-CN" altLang="en-US" kern="100" dirty="0">
                <a:solidFill>
                  <a:srgbClr val="003366"/>
                </a:solidFill>
                <a:latin typeface="华文楷体" panose="02010600040101010101" pitchFamily="2" charset="-122"/>
                <a:ea typeface="华文楷体" panose="02010600040101010101" pitchFamily="2" charset="-122"/>
                <a:cs typeface="STKaiti" panose="02010600040101010101" charset="-122"/>
              </a:rPr>
              <a:t>函数：</a:t>
            </a:r>
            <a:r>
              <a:rPr lang="en-US" altLang="zh-CN" kern="100" dirty="0" err="1">
                <a:latin typeface="Consolas" panose="020B0609020204030204" pitchFamily="49" charset="0"/>
                <a:ea typeface="华文楷体" panose="02010600040101010101" pitchFamily="2" charset="-122"/>
                <a:cs typeface="STKaiti" panose="02010600040101010101" charset="-122"/>
              </a:rPr>
              <a:t>x.</a:t>
            </a:r>
            <a:r>
              <a:rPr lang="en-US" altLang="zh-CN" kern="100" dirty="0" err="1">
                <a:solidFill>
                  <a:srgbClr val="FF0000"/>
                </a:solidFill>
                <a:latin typeface="Consolas" panose="020B0609020204030204" pitchFamily="49" charset="0"/>
                <a:ea typeface="华文楷体" panose="02010600040101010101" pitchFamily="2" charset="-122"/>
                <a:cs typeface="STKaiti" panose="02010600040101010101" charset="-122"/>
              </a:rPr>
              <a:t>begin</a:t>
            </a:r>
            <a:r>
              <a:rPr lang="en-US" altLang="zh-CN" kern="100" dirty="0">
                <a:latin typeface="Consolas" panose="020B0609020204030204" pitchFamily="49" charset="0"/>
                <a:ea typeface="华文楷体" panose="02010600040101010101" pitchFamily="2" charset="-122"/>
                <a:cs typeface="STKaiti" panose="02010600040101010101" charset="-122"/>
              </a:rPr>
              <a:t>()</a:t>
            </a:r>
            <a:r>
              <a:rPr lang="zh-CN" altLang="en-US" kern="100" dirty="0">
                <a:solidFill>
                  <a:srgbClr val="003366"/>
                </a:solidFill>
                <a:latin typeface="华文楷体" panose="02010600040101010101" pitchFamily="2" charset="-122"/>
                <a:ea typeface="华文楷体" panose="02010600040101010101" pitchFamily="2" charset="-122"/>
                <a:cs typeface="STKaiti" panose="02010600040101010101" charset="-122"/>
              </a:rPr>
              <a:t>，返回</a:t>
            </a:r>
            <a:r>
              <a:rPr lang="en-US" altLang="zh-CN" kern="100" dirty="0">
                <a:latin typeface="Consolas" panose="020B0609020204030204" pitchFamily="49" charset="0"/>
                <a:ea typeface="华文楷体" panose="02010600040101010101" pitchFamily="2" charset="-122"/>
                <a:cs typeface="STKaiti" panose="02010600040101010101" charset="-122"/>
              </a:rPr>
              <a:t>vector</a:t>
            </a:r>
            <a:r>
              <a:rPr lang="zh-CN" altLang="en-US" kern="100" dirty="0">
                <a:solidFill>
                  <a:srgbClr val="003366"/>
                </a:solidFill>
                <a:latin typeface="华文楷体" panose="02010600040101010101" pitchFamily="2" charset="-122"/>
                <a:ea typeface="华文楷体" panose="02010600040101010101" pitchFamily="2" charset="-122"/>
                <a:cs typeface="STKaiti" panose="02010600040101010101" charset="-122"/>
              </a:rPr>
              <a:t>中第一个元素的迭代器。</a:t>
            </a:r>
            <a:endParaRPr lang="en-US" altLang="zh-CN"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en-US" altLang="zh-CN" kern="100" dirty="0">
                <a:latin typeface="Consolas" panose="020B0609020204030204" pitchFamily="49" charset="0"/>
                <a:ea typeface="华文楷体" panose="02010600040101010101" pitchFamily="2" charset="-122"/>
                <a:cs typeface="STKaiti" panose="02010600040101010101" charset="-122"/>
              </a:rPr>
              <a:t>end</a:t>
            </a:r>
            <a:r>
              <a:rPr lang="zh-CN" altLang="en-US" kern="100" dirty="0">
                <a:solidFill>
                  <a:srgbClr val="003366"/>
                </a:solidFill>
                <a:latin typeface="华文楷体" panose="02010600040101010101" pitchFamily="2" charset="-122"/>
                <a:ea typeface="华文楷体" panose="02010600040101010101" pitchFamily="2" charset="-122"/>
                <a:cs typeface="STKaiti" panose="02010600040101010101" charset="-122"/>
              </a:rPr>
              <a:t>函数：</a:t>
            </a:r>
            <a:r>
              <a:rPr lang="en-US" altLang="zh-CN" kern="100" dirty="0" err="1">
                <a:latin typeface="Consolas" panose="020B0609020204030204" pitchFamily="49" charset="0"/>
                <a:ea typeface="华文楷体" panose="02010600040101010101" pitchFamily="2" charset="-122"/>
                <a:cs typeface="STKaiti" panose="02010600040101010101" charset="-122"/>
              </a:rPr>
              <a:t>x.</a:t>
            </a:r>
            <a:r>
              <a:rPr lang="en-US" altLang="zh-CN" kern="100" dirty="0" err="1">
                <a:solidFill>
                  <a:srgbClr val="FF0000"/>
                </a:solidFill>
                <a:latin typeface="Consolas" panose="020B0609020204030204" pitchFamily="49" charset="0"/>
                <a:ea typeface="华文楷体" panose="02010600040101010101" pitchFamily="2" charset="-122"/>
                <a:cs typeface="STKaiti" panose="02010600040101010101" charset="-122"/>
              </a:rPr>
              <a:t>end</a:t>
            </a:r>
            <a:r>
              <a:rPr lang="en-US" altLang="zh-CN" kern="100" dirty="0">
                <a:latin typeface="Consolas" panose="020B0609020204030204" pitchFamily="49" charset="0"/>
                <a:ea typeface="华文楷体" panose="02010600040101010101" pitchFamily="2" charset="-122"/>
                <a:cs typeface="STKaiti" panose="02010600040101010101" charset="-122"/>
              </a:rPr>
              <a:t>()</a:t>
            </a:r>
            <a:r>
              <a:rPr lang="zh-CN" altLang="en-US" kern="100" dirty="0">
                <a:solidFill>
                  <a:srgbClr val="003366"/>
                </a:solidFill>
                <a:latin typeface="华文楷体" panose="02010600040101010101" pitchFamily="2" charset="-122"/>
                <a:ea typeface="华文楷体" panose="02010600040101010101" pitchFamily="2" charset="-122"/>
                <a:cs typeface="STKaiti" panose="02010600040101010101" charset="-122"/>
              </a:rPr>
              <a:t>，返回</a:t>
            </a:r>
            <a:r>
              <a:rPr lang="en-US" altLang="zh-CN" kern="100" dirty="0">
                <a:latin typeface="Consolas" panose="020B0609020204030204" pitchFamily="49" charset="0"/>
                <a:ea typeface="华文楷体" panose="02010600040101010101" pitchFamily="2" charset="-122"/>
                <a:cs typeface="STKaiti" panose="02010600040101010101" charset="-122"/>
              </a:rPr>
              <a:t>vector</a:t>
            </a:r>
            <a:r>
              <a:rPr lang="zh-CN" altLang="en-US" kern="100" dirty="0">
                <a:solidFill>
                  <a:srgbClr val="003366"/>
                </a:solidFill>
                <a:latin typeface="华文楷体" panose="02010600040101010101" pitchFamily="2" charset="-122"/>
                <a:ea typeface="华文楷体" panose="02010600040101010101" pitchFamily="2" charset="-122"/>
                <a:cs typeface="STKaiti" panose="02010600040101010101" charset="-122"/>
              </a:rPr>
              <a:t>中最后一个元素</a:t>
            </a:r>
            <a:r>
              <a:rPr lang="zh-CN" altLang="en-US" kern="100" dirty="0">
                <a:solidFill>
                  <a:srgbClr val="FF0000"/>
                </a:solidFill>
                <a:latin typeface="华文楷体" panose="02010600040101010101" pitchFamily="2" charset="-122"/>
                <a:ea typeface="华文楷体" panose="02010600040101010101" pitchFamily="2" charset="-122"/>
                <a:cs typeface="STKaiti" panose="02010600040101010101" charset="-122"/>
              </a:rPr>
              <a:t>之后的位置</a:t>
            </a:r>
            <a:r>
              <a:rPr lang="zh-CN" altLang="en-US" kern="100" dirty="0">
                <a:solidFill>
                  <a:srgbClr val="003366"/>
                </a:solidFill>
                <a:latin typeface="华文楷体" panose="02010600040101010101" pitchFamily="2" charset="-122"/>
                <a:ea typeface="华文楷体" panose="02010600040101010101" pitchFamily="2" charset="-122"/>
                <a:cs typeface="STKaiti" panose="02010600040101010101" charset="-122"/>
              </a:rPr>
              <a:t>的迭代器。</a:t>
            </a:r>
            <a:endParaRPr lang="en-US" altLang="zh-CN"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en-US" altLang="zh-CN" kern="100" dirty="0">
                <a:latin typeface="Consolas" panose="020B0609020204030204" pitchFamily="49" charset="0"/>
                <a:ea typeface="华文楷体" panose="02010600040101010101" pitchFamily="2" charset="-122"/>
                <a:cs typeface="STKaiti" panose="02010600040101010101" charset="-122"/>
              </a:rPr>
              <a:t>begin</a:t>
            </a:r>
            <a:r>
              <a:rPr lang="zh-CN" altLang="en-US" kern="100" dirty="0">
                <a:solidFill>
                  <a:srgbClr val="003366"/>
                </a:solidFill>
                <a:latin typeface="华文楷体" panose="02010600040101010101" pitchFamily="2" charset="-122"/>
                <a:ea typeface="华文楷体" panose="02010600040101010101" pitchFamily="2" charset="-122"/>
                <a:cs typeface="STKaiti" panose="02010600040101010101" charset="-122"/>
              </a:rPr>
              <a:t>和</a:t>
            </a:r>
            <a:r>
              <a:rPr lang="en-US" altLang="zh-CN" kern="100" dirty="0">
                <a:latin typeface="Consolas" panose="020B0609020204030204" pitchFamily="49" charset="0"/>
                <a:ea typeface="华文楷体" panose="02010600040101010101" pitchFamily="2" charset="-122"/>
                <a:cs typeface="STKaiti" panose="02010600040101010101" charset="-122"/>
              </a:rPr>
              <a:t>end</a:t>
            </a:r>
            <a:r>
              <a:rPr lang="zh-CN" altLang="en-US" kern="100" dirty="0">
                <a:solidFill>
                  <a:srgbClr val="003366"/>
                </a:solidFill>
                <a:latin typeface="华文楷体" panose="02010600040101010101" pitchFamily="2" charset="-122"/>
                <a:ea typeface="华文楷体" panose="02010600040101010101" pitchFamily="2" charset="-122"/>
                <a:cs typeface="STKaiti" panose="02010600040101010101" charset="-122"/>
              </a:rPr>
              <a:t>函数构成所有元素的</a:t>
            </a: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左闭右开</a:t>
            </a:r>
            <a:r>
              <a:rPr lang="zh-CN" altLang="en-US" kern="100" dirty="0">
                <a:solidFill>
                  <a:srgbClr val="003366"/>
                </a:solidFill>
                <a:latin typeface="华文楷体" panose="02010600040101010101" pitchFamily="2" charset="-122"/>
                <a:ea typeface="华文楷体" panose="02010600040101010101" pitchFamily="2" charset="-122"/>
                <a:cs typeface="STKaiti" panose="02010600040101010101" charset="-122"/>
              </a:rPr>
              <a:t>区间。</a:t>
            </a:r>
            <a:endParaRPr lang="en-US" altLang="zh-CN"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endParaRPr lang="en-US" altLang="zh-CN"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29</a:t>
            </a:fld>
            <a:endParaRPr lang="en-US" altLang="zh-C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迭代器：以</a:t>
            </a:r>
            <a:r>
              <a:rPr kumimoji="1" lang="en-US" altLang="zh-CN" b="1" dirty="0">
                <a:latin typeface="微软雅黑" panose="020B0503020204020204" pitchFamily="34" charset="-122"/>
                <a:ea typeface="微软雅黑" panose="020B0503020204020204" pitchFamily="34" charset="-122"/>
              </a:rPr>
              <a:t>vector</a:t>
            </a:r>
            <a:r>
              <a:rPr kumimoji="1" lang="zh-CN" altLang="en-US" b="1" dirty="0">
                <a:latin typeface="微软雅黑" panose="020B0503020204020204" pitchFamily="34" charset="-122"/>
                <a:ea typeface="微软雅黑" panose="020B0503020204020204" pitchFamily="34" charset="-122"/>
              </a:rPr>
              <a:t>为例</a:t>
            </a:r>
          </a:p>
        </p:txBody>
      </p:sp>
      <p:sp>
        <p:nvSpPr>
          <p:cNvPr id="3" name="内容占位符 2"/>
          <p:cNvSpPr>
            <a:spLocks noGrp="1"/>
          </p:cNvSpPr>
          <p:nvPr>
            <p:ph idx="1"/>
          </p:nvPr>
        </p:nvSpPr>
        <p:spPr>
          <a:xfrm>
            <a:off x="628649" y="1690689"/>
            <a:ext cx="8082213" cy="4553700"/>
          </a:xfrm>
        </p:spPr>
        <p:txBody>
          <a:bodyPr>
            <a:normAutofit/>
          </a:bodyPr>
          <a:lstStyle/>
          <a:p>
            <a:pPr>
              <a:lnSpc>
                <a:spcPct val="100000"/>
              </a:lnSpc>
              <a:buSzPct val="75000"/>
              <a:buFont typeface="Wingdings" panose="05000000000000000000" pitchFamily="2" charset="2"/>
              <a:buChar char="n"/>
            </a:pPr>
            <a:r>
              <a:rPr lang="zh-CN" altLang="en-US" kern="100" dirty="0">
                <a:solidFill>
                  <a:srgbClr val="003366"/>
                </a:solidFill>
                <a:latin typeface="华文楷体" panose="02010600040101010101" pitchFamily="2" charset="-122"/>
                <a:ea typeface="华文楷体" panose="02010600040101010101" pitchFamily="2" charset="-122"/>
                <a:cs typeface="STKaiti" panose="02010600040101010101" charset="-122"/>
              </a:rPr>
              <a:t>下一个元素：</a:t>
            </a:r>
            <a:r>
              <a:rPr lang="en-US" altLang="zh-CN" kern="100" dirty="0">
                <a:solidFill>
                  <a:srgbClr val="FF0000"/>
                </a:solidFill>
                <a:latin typeface="Consolas" panose="020B0609020204030204" pitchFamily="49" charset="0"/>
                <a:ea typeface="华文楷体" panose="02010600040101010101" pitchFamily="2" charset="-122"/>
                <a:cs typeface="STKaiti" panose="02010600040101010101" charset="-122"/>
              </a:rPr>
              <a:t>++</a:t>
            </a:r>
            <a:r>
              <a:rPr lang="en-US" altLang="zh-CN" kern="100" dirty="0" err="1">
                <a:latin typeface="Consolas" panose="020B0609020204030204" pitchFamily="49" charset="0"/>
                <a:ea typeface="华文楷体" panose="02010600040101010101" pitchFamily="2" charset="-122"/>
                <a:cs typeface="STKaiti" panose="02010600040101010101" charset="-122"/>
              </a:rPr>
              <a:t>iter</a:t>
            </a:r>
            <a:endParaRPr lang="en-US" altLang="zh-CN" kern="100" dirty="0">
              <a:latin typeface="Consolas" panose="020B0609020204030204" pitchFamily="49" charset="0"/>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kern="100" dirty="0">
                <a:solidFill>
                  <a:srgbClr val="003366"/>
                </a:solidFill>
                <a:latin typeface="华文楷体" panose="02010600040101010101" pitchFamily="2" charset="-122"/>
                <a:ea typeface="华文楷体" panose="02010600040101010101" pitchFamily="2" charset="-122"/>
                <a:cs typeface="STKaiti" panose="02010600040101010101" charset="-122"/>
              </a:rPr>
              <a:t>上一个元素：</a:t>
            </a:r>
            <a:r>
              <a:rPr lang="en-US" altLang="zh-CN" kern="100" dirty="0">
                <a:solidFill>
                  <a:srgbClr val="FF0000"/>
                </a:solidFill>
                <a:latin typeface="Consolas" panose="020B0609020204030204" pitchFamily="49" charset="0"/>
                <a:ea typeface="华文楷体" panose="02010600040101010101" pitchFamily="2" charset="-122"/>
                <a:cs typeface="STKaiti" panose="02010600040101010101" charset="-122"/>
              </a:rPr>
              <a:t>--</a:t>
            </a:r>
            <a:r>
              <a:rPr lang="en-US" altLang="zh-CN" kern="100" dirty="0" err="1">
                <a:latin typeface="Consolas" panose="020B0609020204030204" pitchFamily="49" charset="0"/>
                <a:ea typeface="华文楷体" panose="02010600040101010101" pitchFamily="2" charset="-122"/>
                <a:cs typeface="STKaiti" panose="02010600040101010101" charset="-122"/>
              </a:rPr>
              <a:t>iter</a:t>
            </a:r>
            <a:endParaRPr lang="en-US" altLang="zh-CN" kern="100" dirty="0">
              <a:latin typeface="Consolas" panose="020B0609020204030204" pitchFamily="49" charset="0"/>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kern="100" dirty="0">
                <a:solidFill>
                  <a:srgbClr val="003366"/>
                </a:solidFill>
                <a:latin typeface="华文楷体" panose="02010600040101010101" pitchFamily="2" charset="-122"/>
                <a:ea typeface="华文楷体" panose="02010600040101010101" pitchFamily="2" charset="-122"/>
                <a:cs typeface="STKaiti" panose="02010600040101010101" charset="-122"/>
              </a:rPr>
              <a:t>下</a:t>
            </a:r>
            <a:r>
              <a:rPr lang="en-US" altLang="zh-CN" kern="100" dirty="0">
                <a:solidFill>
                  <a:srgbClr val="003366"/>
                </a:solidFill>
                <a:latin typeface="Consolas" panose="020B0609020204030204" pitchFamily="49" charset="0"/>
                <a:ea typeface="华文楷体" panose="02010600040101010101" pitchFamily="2" charset="-122"/>
                <a:cs typeface="STKaiti" panose="02010600040101010101" charset="-122"/>
              </a:rPr>
              <a:t>n</a:t>
            </a:r>
            <a:r>
              <a:rPr lang="zh-CN" altLang="en-US" kern="100" dirty="0">
                <a:solidFill>
                  <a:srgbClr val="003366"/>
                </a:solidFill>
                <a:latin typeface="华文楷体" panose="02010600040101010101" pitchFamily="2" charset="-122"/>
                <a:ea typeface="华文楷体" panose="02010600040101010101" pitchFamily="2" charset="-122"/>
                <a:cs typeface="STKaiti" panose="02010600040101010101" charset="-122"/>
              </a:rPr>
              <a:t>个元素：</a:t>
            </a:r>
            <a:r>
              <a:rPr lang="en-US" altLang="zh-CN" kern="100" dirty="0" err="1">
                <a:latin typeface="Consolas" panose="020B0609020204030204" pitchFamily="49" charset="0"/>
                <a:ea typeface="华文楷体" panose="02010600040101010101" pitchFamily="2" charset="-122"/>
                <a:cs typeface="STKaiti" panose="02010600040101010101" charset="-122"/>
              </a:rPr>
              <a:t>iter</a:t>
            </a:r>
            <a:r>
              <a:rPr lang="en-US" altLang="zh-CN" kern="100" dirty="0">
                <a:latin typeface="Consolas" panose="020B0609020204030204" pitchFamily="49" charset="0"/>
                <a:ea typeface="华文楷体" panose="02010600040101010101" pitchFamily="2" charset="-122"/>
                <a:cs typeface="STKaiti" panose="02010600040101010101" charset="-122"/>
              </a:rPr>
              <a:t> </a:t>
            </a:r>
            <a:r>
              <a:rPr lang="en-US" altLang="zh-CN" kern="100" dirty="0">
                <a:solidFill>
                  <a:srgbClr val="FF0000"/>
                </a:solidFill>
                <a:latin typeface="Consolas" panose="020B0609020204030204" pitchFamily="49" charset="0"/>
                <a:ea typeface="华文楷体" panose="02010600040101010101" pitchFamily="2" charset="-122"/>
                <a:cs typeface="STKaiti" panose="02010600040101010101" charset="-122"/>
              </a:rPr>
              <a:t>+=</a:t>
            </a:r>
            <a:r>
              <a:rPr lang="en-US" altLang="zh-CN" kern="100" dirty="0">
                <a:solidFill>
                  <a:srgbClr val="003366"/>
                </a:solidFill>
                <a:latin typeface="Consolas" panose="020B0609020204030204" pitchFamily="49" charset="0"/>
                <a:ea typeface="华文楷体" panose="02010600040101010101" pitchFamily="2" charset="-122"/>
                <a:cs typeface="STKaiti" panose="02010600040101010101" charset="-122"/>
              </a:rPr>
              <a:t> </a:t>
            </a:r>
            <a:r>
              <a:rPr lang="en-US" altLang="zh-CN" kern="100" dirty="0">
                <a:latin typeface="Consolas" panose="020B0609020204030204" pitchFamily="49" charset="0"/>
                <a:ea typeface="华文楷体" panose="02010600040101010101" pitchFamily="2" charset="-122"/>
                <a:cs typeface="STKaiti" panose="02010600040101010101" charset="-122"/>
              </a:rPr>
              <a:t>n</a:t>
            </a:r>
          </a:p>
          <a:p>
            <a:pPr>
              <a:lnSpc>
                <a:spcPct val="100000"/>
              </a:lnSpc>
              <a:buSzPct val="75000"/>
              <a:buFont typeface="Wingdings" panose="05000000000000000000" pitchFamily="2" charset="2"/>
              <a:buChar char="n"/>
            </a:pPr>
            <a:r>
              <a:rPr lang="zh-CN" altLang="en-US" kern="100" dirty="0">
                <a:solidFill>
                  <a:srgbClr val="003366"/>
                </a:solidFill>
                <a:latin typeface="华文楷体" panose="02010600040101010101" pitchFamily="2" charset="-122"/>
                <a:ea typeface="华文楷体" panose="02010600040101010101" pitchFamily="2" charset="-122"/>
                <a:cs typeface="STKaiti" panose="02010600040101010101" charset="-122"/>
              </a:rPr>
              <a:t>上</a:t>
            </a:r>
            <a:r>
              <a:rPr lang="en-US" altLang="zh-CN" kern="100" dirty="0">
                <a:solidFill>
                  <a:srgbClr val="003366"/>
                </a:solidFill>
                <a:latin typeface="Consolas" panose="020B0609020204030204" pitchFamily="49" charset="0"/>
                <a:ea typeface="华文楷体" panose="02010600040101010101" pitchFamily="2" charset="-122"/>
                <a:cs typeface="STKaiti" panose="02010600040101010101" charset="-122"/>
              </a:rPr>
              <a:t>n</a:t>
            </a:r>
            <a:r>
              <a:rPr lang="zh-CN" altLang="en-US" kern="100" dirty="0">
                <a:solidFill>
                  <a:srgbClr val="003366"/>
                </a:solidFill>
                <a:latin typeface="华文楷体" panose="02010600040101010101" pitchFamily="2" charset="-122"/>
                <a:ea typeface="华文楷体" panose="02010600040101010101" pitchFamily="2" charset="-122"/>
                <a:cs typeface="STKaiti" panose="02010600040101010101" charset="-122"/>
              </a:rPr>
              <a:t>个元素：</a:t>
            </a:r>
            <a:r>
              <a:rPr lang="en-US" altLang="zh-CN" kern="100" dirty="0" err="1">
                <a:latin typeface="Consolas" panose="020B0609020204030204" pitchFamily="49" charset="0"/>
                <a:ea typeface="华文楷体" panose="02010600040101010101" pitchFamily="2" charset="-122"/>
                <a:cs typeface="STKaiti" panose="02010600040101010101" charset="-122"/>
              </a:rPr>
              <a:t>iter</a:t>
            </a:r>
            <a:r>
              <a:rPr lang="en-US" altLang="zh-CN" kern="100" dirty="0">
                <a:latin typeface="Consolas" panose="020B0609020204030204" pitchFamily="49" charset="0"/>
                <a:ea typeface="华文楷体" panose="02010600040101010101" pitchFamily="2" charset="-122"/>
                <a:cs typeface="STKaiti" panose="02010600040101010101" charset="-122"/>
              </a:rPr>
              <a:t> </a:t>
            </a:r>
            <a:r>
              <a:rPr lang="en-US" altLang="zh-CN" kern="100" dirty="0">
                <a:solidFill>
                  <a:srgbClr val="FF0000"/>
                </a:solidFill>
                <a:latin typeface="Consolas" panose="020B0609020204030204" pitchFamily="49" charset="0"/>
                <a:ea typeface="华文楷体" panose="02010600040101010101" pitchFamily="2" charset="-122"/>
                <a:cs typeface="STKaiti" panose="02010600040101010101" charset="-122"/>
              </a:rPr>
              <a:t>-=</a:t>
            </a:r>
            <a:r>
              <a:rPr lang="en-US" altLang="zh-CN" kern="100" dirty="0">
                <a:solidFill>
                  <a:srgbClr val="003366"/>
                </a:solidFill>
                <a:latin typeface="Consolas" panose="020B0609020204030204" pitchFamily="49" charset="0"/>
                <a:ea typeface="华文楷体" panose="02010600040101010101" pitchFamily="2" charset="-122"/>
                <a:cs typeface="STKaiti" panose="02010600040101010101" charset="-122"/>
              </a:rPr>
              <a:t> </a:t>
            </a:r>
            <a:r>
              <a:rPr lang="en-US" altLang="zh-CN" kern="100" dirty="0">
                <a:latin typeface="Consolas" panose="020B0609020204030204" pitchFamily="49" charset="0"/>
                <a:ea typeface="华文楷体" panose="02010600040101010101" pitchFamily="2" charset="-122"/>
                <a:cs typeface="STKaiti" panose="02010600040101010101" charset="-122"/>
              </a:rPr>
              <a:t>n</a:t>
            </a:r>
          </a:p>
          <a:p>
            <a:pPr>
              <a:lnSpc>
                <a:spcPct val="100000"/>
              </a:lnSpc>
              <a:buSzPct val="75000"/>
              <a:buFont typeface="Wingdings" panose="05000000000000000000" pitchFamily="2" charset="2"/>
              <a:buChar char="n"/>
            </a:pPr>
            <a:r>
              <a:rPr lang="zh-CN" altLang="en-US" kern="100" dirty="0">
                <a:solidFill>
                  <a:srgbClr val="003366"/>
                </a:solidFill>
                <a:latin typeface="华文楷体" panose="02010600040101010101" pitchFamily="2" charset="-122"/>
                <a:ea typeface="华文楷体" panose="02010600040101010101" pitchFamily="2" charset="-122"/>
                <a:cs typeface="STKaiti" panose="02010600040101010101" charset="-122"/>
              </a:rPr>
              <a:t>访问元素值</a:t>
            </a:r>
            <a:r>
              <a:rPr lang="en-US" altLang="zh-CN"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r>
              <a:rPr lang="zh-CN" altLang="en-US" kern="100" dirty="0">
                <a:solidFill>
                  <a:srgbClr val="003366"/>
                </a:solidFill>
                <a:latin typeface="华文楷体" panose="02010600040101010101" pitchFamily="2" charset="-122"/>
                <a:ea typeface="华文楷体" panose="02010600040101010101" pitchFamily="2" charset="-122"/>
                <a:cs typeface="STKaiti" panose="02010600040101010101" charset="-122"/>
              </a:rPr>
              <a:t>解引用运算符 </a:t>
            </a:r>
            <a:r>
              <a:rPr lang="en-US" altLang="zh-CN" kern="100" dirty="0">
                <a:solidFill>
                  <a:srgbClr val="FF0000"/>
                </a:solidFill>
                <a:latin typeface="Consolas" panose="020B0609020204030204" pitchFamily="49" charset="0"/>
                <a:ea typeface="华文楷体" panose="02010600040101010101" pitchFamily="2" charset="-122"/>
                <a:cs typeface="STKaiti" panose="02010600040101010101" charset="-122"/>
              </a:rPr>
              <a:t>*</a:t>
            </a:r>
            <a:endParaRPr lang="en-US" altLang="zh-CN" kern="100" dirty="0">
              <a:solidFill>
                <a:srgbClr val="003366"/>
              </a:solidFill>
              <a:latin typeface="Consolas" panose="020B0609020204030204" pitchFamily="49" charset="0"/>
              <a:ea typeface="华文楷体" panose="02010600040101010101" pitchFamily="2" charset="-122"/>
              <a:cs typeface="STKaiti" panose="02010600040101010101" charset="-122"/>
            </a:endParaRPr>
          </a:p>
          <a:p>
            <a:pPr marL="0" indent="0">
              <a:lnSpc>
                <a:spcPct val="100000"/>
              </a:lnSpc>
              <a:buSzPct val="75000"/>
              <a:buNone/>
            </a:pPr>
            <a:r>
              <a:rPr lang="en-US" altLang="zh-CN" kern="100" dirty="0">
                <a:solidFill>
                  <a:srgbClr val="FF0000"/>
                </a:solidFill>
                <a:latin typeface="Consolas" panose="020B0609020204030204" pitchFamily="49" charset="0"/>
                <a:ea typeface="华文楷体" panose="02010600040101010101" pitchFamily="2" charset="-122"/>
                <a:cs typeface="STKaiti" panose="02010600040101010101" charset="-122"/>
              </a:rPr>
              <a:t>    *</a:t>
            </a:r>
            <a:r>
              <a:rPr lang="en-US" altLang="zh-CN" kern="100" dirty="0" err="1">
                <a:solidFill>
                  <a:srgbClr val="FF0000"/>
                </a:solidFill>
                <a:latin typeface="Consolas" panose="020B0609020204030204" pitchFamily="49" charset="0"/>
                <a:ea typeface="华文楷体" panose="02010600040101010101" pitchFamily="2" charset="-122"/>
                <a:cs typeface="STKaiti" panose="02010600040101010101" charset="-122"/>
              </a:rPr>
              <a:t>iter</a:t>
            </a:r>
            <a:r>
              <a:rPr lang="en-US" altLang="zh-CN" kern="100" dirty="0">
                <a:solidFill>
                  <a:srgbClr val="FF0000"/>
                </a:solidFill>
                <a:latin typeface="Consolas" panose="020B0609020204030204" pitchFamily="49" charset="0"/>
                <a:ea typeface="华文楷体" panose="02010600040101010101" pitchFamily="2" charset="-122"/>
                <a:cs typeface="STKaiti" panose="02010600040101010101" charset="-122"/>
              </a:rPr>
              <a:t> </a:t>
            </a:r>
            <a:r>
              <a:rPr lang="en-US" altLang="zh-CN" kern="100" dirty="0">
                <a:latin typeface="Consolas" panose="020B0609020204030204" pitchFamily="49" charset="0"/>
                <a:ea typeface="华文楷体" panose="02010600040101010101" pitchFamily="2" charset="-122"/>
                <a:cs typeface="STKaiti" panose="02010600040101010101" charset="-122"/>
              </a:rPr>
              <a:t>= 5;</a:t>
            </a:r>
          </a:p>
          <a:p>
            <a:pPr>
              <a:lnSpc>
                <a:spcPct val="100000"/>
              </a:lnSpc>
              <a:buSzPct val="75000"/>
              <a:buFont typeface="Wingdings" panose="05000000000000000000" pitchFamily="2" charset="2"/>
              <a:buChar char="n"/>
            </a:pPr>
            <a:r>
              <a:rPr lang="zh-CN" altLang="en-US" kern="100" dirty="0">
                <a:solidFill>
                  <a:srgbClr val="003366"/>
                </a:solidFill>
                <a:latin typeface="华文楷体" panose="02010600040101010101" pitchFamily="2" charset="-122"/>
                <a:ea typeface="华文楷体" panose="02010600040101010101" pitchFamily="2" charset="-122"/>
                <a:cs typeface="STKaiti" panose="02010600040101010101" charset="-122"/>
              </a:rPr>
              <a:t>解引用运算符返回的是左值引用</a:t>
            </a:r>
            <a:endParaRPr lang="en-US" altLang="zh-CN" kern="100" dirty="0">
              <a:latin typeface="华文楷体" panose="02010600040101010101" pitchFamily="2" charset="-122"/>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30</a:t>
            </a:fld>
            <a:endParaRPr lang="en-US" altLang="zh-CN"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迭代器：以</a:t>
            </a:r>
            <a:r>
              <a:rPr kumimoji="1" lang="en-US" altLang="zh-CN" b="1" dirty="0">
                <a:latin typeface="微软雅黑" panose="020B0503020204020204" pitchFamily="34" charset="-122"/>
                <a:ea typeface="微软雅黑" panose="020B0503020204020204" pitchFamily="34" charset="-122"/>
              </a:rPr>
              <a:t>vector</a:t>
            </a:r>
            <a:r>
              <a:rPr kumimoji="1" lang="zh-CN" altLang="en-US" b="1" dirty="0">
                <a:latin typeface="微软雅黑" panose="020B0503020204020204" pitchFamily="34" charset="-122"/>
                <a:ea typeface="微软雅黑" panose="020B0503020204020204" pitchFamily="34" charset="-122"/>
              </a:rPr>
              <a:t>为例</a:t>
            </a:r>
          </a:p>
        </p:txBody>
      </p:sp>
      <p:sp>
        <p:nvSpPr>
          <p:cNvPr id="3" name="内容占位符 2"/>
          <p:cNvSpPr>
            <a:spLocks noGrp="1"/>
          </p:cNvSpPr>
          <p:nvPr>
            <p:ph idx="1"/>
          </p:nvPr>
        </p:nvSpPr>
        <p:spPr>
          <a:xfrm>
            <a:off x="628649" y="1690689"/>
            <a:ext cx="8082213" cy="4553700"/>
          </a:xfrm>
        </p:spPr>
        <p:txBody>
          <a:bodyPr>
            <a:normAutofit/>
          </a:bodyPr>
          <a:lstStyle/>
          <a:p>
            <a:pPr>
              <a:lnSpc>
                <a:spcPct val="100000"/>
              </a:lnSpc>
              <a:buSzPct val="75000"/>
              <a:buFont typeface="Wingdings" panose="05000000000000000000" pitchFamily="2" charset="2"/>
              <a:buChar char="n"/>
            </a:pPr>
            <a:r>
              <a:rPr lang="zh-CN" altLang="en-US" kern="100" dirty="0">
                <a:solidFill>
                  <a:srgbClr val="003366"/>
                </a:solidFill>
                <a:latin typeface="华文楷体" panose="02010600040101010101" pitchFamily="2" charset="-122"/>
                <a:ea typeface="华文楷体" panose="02010600040101010101" pitchFamily="2" charset="-122"/>
                <a:cs typeface="STKaiti" panose="02010600040101010101" charset="-122"/>
              </a:rPr>
              <a:t>迭代器移动：与整数作加法</a:t>
            </a:r>
            <a:endParaRPr lang="en-US" altLang="zh-CN"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en-US" altLang="zh-CN" kern="100" dirty="0">
                <a:solidFill>
                  <a:srgbClr val="003366"/>
                </a:solidFill>
                <a:latin typeface="Consolas" panose="020B0609020204030204" pitchFamily="49" charset="0"/>
                <a:ea typeface="华文楷体" panose="02010600040101010101" pitchFamily="2" charset="-122"/>
                <a:cs typeface="STKaiti" panose="02010600040101010101" charset="-122"/>
              </a:rPr>
              <a:t> </a:t>
            </a:r>
            <a:r>
              <a:rPr lang="en-US" altLang="zh-CN" kern="100" dirty="0" err="1">
                <a:latin typeface="Consolas" panose="020B0609020204030204" pitchFamily="49" charset="0"/>
                <a:ea typeface="华文楷体" panose="02010600040101010101" pitchFamily="2" charset="-122"/>
                <a:cs typeface="STKaiti" panose="02010600040101010101" charset="-122"/>
              </a:rPr>
              <a:t>iter</a:t>
            </a:r>
            <a:r>
              <a:rPr lang="en-US" altLang="zh-CN" kern="100" dirty="0">
                <a:latin typeface="Consolas" panose="020B0609020204030204" pitchFamily="49" charset="0"/>
                <a:ea typeface="华文楷体" panose="02010600040101010101" pitchFamily="2" charset="-122"/>
                <a:cs typeface="STKaiti" panose="02010600040101010101" charset="-122"/>
              </a:rPr>
              <a:t> </a:t>
            </a:r>
            <a:r>
              <a:rPr lang="en-US" altLang="zh-CN" kern="100" dirty="0">
                <a:solidFill>
                  <a:srgbClr val="FF0000"/>
                </a:solidFill>
                <a:latin typeface="Consolas" panose="020B0609020204030204" pitchFamily="49" charset="0"/>
                <a:ea typeface="华文楷体" panose="02010600040101010101" pitchFamily="2" charset="-122"/>
                <a:cs typeface="STKaiti" panose="02010600040101010101" charset="-122"/>
              </a:rPr>
              <a:t>+=</a:t>
            </a:r>
            <a:r>
              <a:rPr lang="en-US" altLang="zh-CN" kern="100" dirty="0">
                <a:solidFill>
                  <a:srgbClr val="003366"/>
                </a:solidFill>
                <a:latin typeface="Consolas" panose="020B0609020204030204" pitchFamily="49" charset="0"/>
                <a:ea typeface="华文楷体" panose="02010600040101010101" pitchFamily="2" charset="-122"/>
                <a:cs typeface="STKaiti" panose="02010600040101010101" charset="-122"/>
              </a:rPr>
              <a:t> </a:t>
            </a:r>
            <a:r>
              <a:rPr lang="en-US" altLang="zh-CN" kern="100" dirty="0">
                <a:latin typeface="Consolas" panose="020B0609020204030204" pitchFamily="49" charset="0"/>
                <a:ea typeface="华文楷体" panose="02010600040101010101" pitchFamily="2" charset="-122"/>
                <a:cs typeface="STKaiti" panose="02010600040101010101" charset="-122"/>
              </a:rPr>
              <a:t>5;</a:t>
            </a:r>
          </a:p>
          <a:p>
            <a:pPr>
              <a:lnSpc>
                <a:spcPct val="100000"/>
              </a:lnSpc>
              <a:buSzPct val="75000"/>
              <a:buFont typeface="Wingdings" panose="05000000000000000000" pitchFamily="2" charset="2"/>
              <a:buChar char="n"/>
            </a:pPr>
            <a:r>
              <a:rPr lang="zh-CN" altLang="en-US" kern="100" dirty="0">
                <a:solidFill>
                  <a:srgbClr val="003366"/>
                </a:solidFill>
                <a:latin typeface="华文楷体" panose="02010600040101010101" pitchFamily="2" charset="-122"/>
                <a:ea typeface="华文楷体" panose="02010600040101010101" pitchFamily="2" charset="-122"/>
                <a:cs typeface="STKaiti" panose="02010600040101010101" charset="-122"/>
              </a:rPr>
              <a:t>元素位置差：迭代器相减</a:t>
            </a:r>
            <a:endParaRPr lang="en-US" altLang="zh-CN"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en-US" altLang="zh-CN" kern="100" dirty="0">
                <a:solidFill>
                  <a:srgbClr val="003366"/>
                </a:solidFill>
                <a:latin typeface="Consolas" panose="020B0609020204030204" pitchFamily="49" charset="0"/>
                <a:ea typeface="华文楷体" panose="02010600040101010101" pitchFamily="2" charset="-122"/>
                <a:cs typeface="STKaiti" panose="02010600040101010101" charset="-122"/>
              </a:rPr>
              <a:t> </a:t>
            </a:r>
            <a:r>
              <a:rPr lang="en-US" altLang="zh-CN" kern="100" dirty="0" err="1">
                <a:latin typeface="Consolas" panose="020B0609020204030204" pitchFamily="49" charset="0"/>
                <a:ea typeface="华文楷体" panose="02010600040101010101" pitchFamily="2" charset="-122"/>
                <a:cs typeface="STKaiti" panose="02010600040101010101" charset="-122"/>
              </a:rPr>
              <a:t>int</a:t>
            </a:r>
            <a:r>
              <a:rPr lang="en-US" altLang="zh-CN" kern="100" dirty="0">
                <a:latin typeface="Consolas" panose="020B0609020204030204" pitchFamily="49" charset="0"/>
                <a:ea typeface="华文楷体" panose="02010600040101010101" pitchFamily="2" charset="-122"/>
                <a:cs typeface="STKaiti" panose="02010600040101010101" charset="-122"/>
              </a:rPr>
              <a:t> </a:t>
            </a:r>
            <a:r>
              <a:rPr lang="en-US" altLang="zh-CN" kern="100" dirty="0" err="1">
                <a:latin typeface="Consolas" panose="020B0609020204030204" pitchFamily="49" charset="0"/>
                <a:ea typeface="华文楷体" panose="02010600040101010101" pitchFamily="2" charset="-122"/>
                <a:cs typeface="STKaiti" panose="02010600040101010101" charset="-122"/>
              </a:rPr>
              <a:t>dist</a:t>
            </a:r>
            <a:r>
              <a:rPr lang="en-US" altLang="zh-CN" kern="100" dirty="0">
                <a:latin typeface="Consolas" panose="020B0609020204030204" pitchFamily="49" charset="0"/>
                <a:ea typeface="华文楷体" panose="02010600040101010101" pitchFamily="2" charset="-122"/>
                <a:cs typeface="STKaiti" panose="02010600040101010101" charset="-122"/>
              </a:rPr>
              <a:t> = iter1 </a:t>
            </a:r>
            <a:r>
              <a:rPr lang="en-US" altLang="zh-CN" kern="100" dirty="0">
                <a:solidFill>
                  <a:srgbClr val="FF0000"/>
                </a:solidFill>
                <a:latin typeface="Consolas" panose="020B0609020204030204" pitchFamily="49" charset="0"/>
                <a:ea typeface="华文楷体" panose="02010600040101010101" pitchFamily="2" charset="-122"/>
                <a:cs typeface="STKaiti" panose="02010600040101010101" charset="-122"/>
              </a:rPr>
              <a:t>–</a:t>
            </a:r>
            <a:r>
              <a:rPr lang="en-US" altLang="zh-CN" kern="100" dirty="0">
                <a:solidFill>
                  <a:srgbClr val="003366"/>
                </a:solidFill>
                <a:latin typeface="Consolas" panose="020B0609020204030204" pitchFamily="49" charset="0"/>
                <a:ea typeface="华文楷体" panose="02010600040101010101" pitchFamily="2" charset="-122"/>
                <a:cs typeface="STKaiti" panose="02010600040101010101" charset="-122"/>
              </a:rPr>
              <a:t> </a:t>
            </a:r>
            <a:r>
              <a:rPr lang="en-US" altLang="zh-CN" kern="100" dirty="0">
                <a:latin typeface="Consolas" panose="020B0609020204030204" pitchFamily="49" charset="0"/>
                <a:ea typeface="华文楷体" panose="02010600040101010101" pitchFamily="2" charset="-122"/>
                <a:cs typeface="STKaiti" panose="02010600040101010101" charset="-122"/>
              </a:rPr>
              <a:t>iter2;</a:t>
            </a:r>
          </a:p>
          <a:p>
            <a:pPr>
              <a:lnSpc>
                <a:spcPct val="100000"/>
              </a:lnSpc>
              <a:buSzPct val="75000"/>
              <a:buFont typeface="Wingdings" panose="05000000000000000000" pitchFamily="2" charset="2"/>
              <a:buChar char="n"/>
            </a:pPr>
            <a:r>
              <a:rPr lang="zh-CN" altLang="en-US" kern="100" dirty="0">
                <a:solidFill>
                  <a:srgbClr val="003366"/>
                </a:solidFill>
                <a:latin typeface="华文楷体" panose="02010600040101010101" pitchFamily="2" charset="-122"/>
                <a:ea typeface="华文楷体" panose="02010600040101010101" pitchFamily="2" charset="-122"/>
                <a:cs typeface="STKaiti" panose="02010600040101010101" charset="-122"/>
              </a:rPr>
              <a:t>其本质都是</a:t>
            </a:r>
            <a:r>
              <a:rPr lang="zh-CN" altLang="en-US" kern="100" dirty="0">
                <a:solidFill>
                  <a:srgbClr val="FF0000"/>
                </a:solidFill>
                <a:latin typeface="华文楷体" panose="02010600040101010101" pitchFamily="2" charset="-122"/>
                <a:ea typeface="华文楷体" panose="02010600040101010101" pitchFamily="2" charset="-122"/>
                <a:cs typeface="STKaiti" panose="02010600040101010101" charset="-122"/>
              </a:rPr>
              <a:t>重定义运算符</a:t>
            </a:r>
            <a:endParaRPr lang="en-US" altLang="zh-CN" kern="100" dirty="0">
              <a:solidFill>
                <a:srgbClr val="FF0000"/>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endParaRPr lang="en-US" altLang="zh-CN" kern="100" dirty="0">
              <a:latin typeface="华文楷体" panose="02010600040101010101" pitchFamily="2" charset="-122"/>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31</a:t>
            </a:fld>
            <a:endParaRPr lang="en-US" altLang="zh-C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迭代器：以</a:t>
            </a:r>
            <a:r>
              <a:rPr kumimoji="1" lang="en-US" altLang="zh-CN" b="1" dirty="0">
                <a:latin typeface="微软雅黑" panose="020B0503020204020204" pitchFamily="34" charset="-122"/>
                <a:ea typeface="微软雅黑" panose="020B0503020204020204" pitchFamily="34" charset="-122"/>
              </a:rPr>
              <a:t>vector</a:t>
            </a:r>
            <a:r>
              <a:rPr kumimoji="1" lang="zh-CN" altLang="en-US" b="1" dirty="0">
                <a:latin typeface="微软雅黑" panose="020B0503020204020204" pitchFamily="34" charset="-122"/>
                <a:ea typeface="微软雅黑" panose="020B0503020204020204" pitchFamily="34" charset="-122"/>
              </a:rPr>
              <a:t>为例</a:t>
            </a:r>
          </a:p>
        </p:txBody>
      </p:sp>
      <p:sp>
        <p:nvSpPr>
          <p:cNvPr id="3" name="内容占位符 2"/>
          <p:cNvSpPr>
            <a:spLocks noGrp="1"/>
          </p:cNvSpPr>
          <p:nvPr>
            <p:ph idx="1"/>
          </p:nvPr>
        </p:nvSpPr>
        <p:spPr>
          <a:xfrm>
            <a:off x="628650" y="1690689"/>
            <a:ext cx="8301706" cy="4553700"/>
          </a:xfrm>
        </p:spPr>
        <p:txBody>
          <a:bodyPr>
            <a:normAutofit/>
          </a:bodyPr>
          <a:lstStyle/>
          <a:p>
            <a:pPr>
              <a:lnSpc>
                <a:spcPct val="100000"/>
              </a:lnSpc>
              <a:buSzPct val="75000"/>
              <a:buFont typeface="Wingdings" panose="05000000000000000000" pitchFamily="2" charset="2"/>
              <a:buChar char="n"/>
            </a:pPr>
            <a:r>
              <a:rPr lang="zh-CN" altLang="en-US" kern="100" dirty="0">
                <a:solidFill>
                  <a:srgbClr val="003366"/>
                </a:solidFill>
                <a:latin typeface="华文楷体" panose="02010600040101010101" pitchFamily="2" charset="-122"/>
                <a:ea typeface="华文楷体" panose="02010600040101010101" pitchFamily="2" charset="-122"/>
                <a:cs typeface="STKaiti" panose="02010600040101010101" charset="-122"/>
              </a:rPr>
              <a:t>遍历</a:t>
            </a:r>
            <a:r>
              <a:rPr lang="en-US" altLang="zh-CN" kern="100" dirty="0">
                <a:latin typeface="Consolas" panose="020B0609020204030204" pitchFamily="49" charset="0"/>
                <a:ea typeface="华文楷体" panose="02010600040101010101" pitchFamily="2" charset="-122"/>
                <a:cs typeface="STKaiti" panose="02010600040101010101" charset="-122"/>
              </a:rPr>
              <a:t>vector</a:t>
            </a:r>
            <a:endParaRPr lang="en-US" altLang="zh-CN"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en-US" altLang="zh-CN" sz="2000" kern="100" dirty="0">
                <a:latin typeface="Consolas" panose="020B0609020204030204" pitchFamily="49" charset="0"/>
                <a:ea typeface="华文楷体" panose="02010600040101010101" pitchFamily="2" charset="-122"/>
                <a:cs typeface="STKaiti" panose="02010600040101010101" charset="-122"/>
              </a:rPr>
              <a:t>  for(vector&lt;</a:t>
            </a:r>
            <a:r>
              <a:rPr lang="en-US" altLang="zh-CN" sz="2000" kern="100" dirty="0" err="1">
                <a:latin typeface="Consolas" panose="020B0609020204030204" pitchFamily="49" charset="0"/>
                <a:ea typeface="华文楷体" panose="02010600040101010101" pitchFamily="2" charset="-122"/>
                <a:cs typeface="STKaiti" panose="02010600040101010101" charset="-122"/>
              </a:rPr>
              <a:t>int</a:t>
            </a:r>
            <a:r>
              <a:rPr lang="en-US" altLang="zh-CN" sz="2000" kern="100" dirty="0">
                <a:latin typeface="Consolas" panose="020B0609020204030204" pitchFamily="49" charset="0"/>
                <a:ea typeface="华文楷体" panose="02010600040101010101" pitchFamily="2" charset="-122"/>
                <a:cs typeface="STKaiti" panose="02010600040101010101" charset="-122"/>
              </a:rPr>
              <a:t>&gt;::iterator it = </a:t>
            </a:r>
            <a:r>
              <a:rPr lang="en-US" altLang="zh-CN" sz="2000" kern="100" dirty="0" err="1">
                <a:latin typeface="Consolas" panose="020B0609020204030204" pitchFamily="49" charset="0"/>
                <a:ea typeface="华文楷体" panose="02010600040101010101" pitchFamily="2" charset="-122"/>
                <a:cs typeface="STKaiti" panose="02010600040101010101" charset="-122"/>
              </a:rPr>
              <a:t>vec.begin</a:t>
            </a:r>
            <a:r>
              <a:rPr lang="en-US" altLang="zh-CN" sz="2000" kern="100" dirty="0">
                <a:latin typeface="Consolas" panose="020B0609020204030204" pitchFamily="49" charset="0"/>
                <a:ea typeface="华文楷体" panose="02010600040101010101" pitchFamily="2" charset="-122"/>
                <a:cs typeface="STKaiti" panose="02010600040101010101" charset="-122"/>
              </a:rPr>
              <a:t>(); </a:t>
            </a:r>
          </a:p>
          <a:p>
            <a:pPr marL="0" indent="0">
              <a:lnSpc>
                <a:spcPct val="100000"/>
              </a:lnSpc>
              <a:buSzPct val="75000"/>
              <a:buNone/>
            </a:pPr>
            <a:r>
              <a:rPr lang="en-US" altLang="zh-CN" sz="2000" kern="100" dirty="0">
                <a:latin typeface="Consolas" panose="020B0609020204030204" pitchFamily="49" charset="0"/>
                <a:ea typeface="华文楷体" panose="02010600040101010101" pitchFamily="2" charset="-122"/>
                <a:cs typeface="STKaiti" panose="02010600040101010101" charset="-122"/>
              </a:rPr>
              <a:t>	it != </a:t>
            </a:r>
            <a:r>
              <a:rPr lang="en-US" altLang="zh-CN" sz="2000" kern="100" dirty="0" err="1">
                <a:latin typeface="Consolas" panose="020B0609020204030204" pitchFamily="49" charset="0"/>
                <a:ea typeface="华文楷体" panose="02010600040101010101" pitchFamily="2" charset="-122"/>
                <a:cs typeface="STKaiti" panose="02010600040101010101" charset="-122"/>
              </a:rPr>
              <a:t>vec.end</a:t>
            </a:r>
            <a:r>
              <a:rPr lang="en-US" altLang="zh-CN" sz="2000" kern="100" dirty="0">
                <a:latin typeface="Consolas" panose="020B0609020204030204" pitchFamily="49" charset="0"/>
                <a:ea typeface="华文楷体" panose="02010600040101010101" pitchFamily="2" charset="-122"/>
                <a:cs typeface="STKaiti" panose="02010600040101010101" charset="-122"/>
              </a:rPr>
              <a:t>(); ++it) </a:t>
            </a:r>
            <a:r>
              <a:rPr lang="en-US" altLang="zh-CN" sz="2000" kern="100" dirty="0">
                <a:solidFill>
                  <a:schemeClr val="accent6">
                    <a:lumMod val="75000"/>
                  </a:schemeClr>
                </a:solidFill>
                <a:latin typeface="华文楷体" panose="02010600040101010101" pitchFamily="2" charset="-122"/>
                <a:ea typeface="华文楷体" panose="02010600040101010101" pitchFamily="2" charset="-122"/>
                <a:cs typeface="STKaiti" panose="02010600040101010101" charset="-122"/>
              </a:rPr>
              <a:t> //</a:t>
            </a:r>
            <a:r>
              <a:rPr lang="en-US" altLang="zh-CN" sz="2000" kern="100" dirty="0">
                <a:solidFill>
                  <a:schemeClr val="accent6">
                    <a:lumMod val="75000"/>
                  </a:schemeClr>
                </a:solidFill>
                <a:latin typeface="Consolas" panose="020B0609020204030204" pitchFamily="49" charset="0"/>
                <a:ea typeface="华文楷体" panose="02010600040101010101" pitchFamily="2" charset="-122"/>
                <a:cs typeface="STKaiti" panose="02010600040101010101" charset="-122"/>
              </a:rPr>
              <a:t>use *it</a:t>
            </a:r>
            <a:endParaRPr lang="en-US" altLang="zh-CN" sz="2000" kern="100" dirty="0">
              <a:solidFill>
                <a:schemeClr val="accent6">
                  <a:lumMod val="75000"/>
                </a:schemeClr>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endParaRPr lang="en-US" altLang="zh-CN" sz="2000"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en-US" altLang="zh-CN" kern="100" dirty="0">
                <a:solidFill>
                  <a:srgbClr val="003366"/>
                </a:solidFill>
                <a:latin typeface="华文楷体" panose="02010600040101010101" pitchFamily="2" charset="-122"/>
                <a:ea typeface="华文楷体" panose="02010600040101010101" pitchFamily="2" charset="-122"/>
                <a:cs typeface="STKaiti" panose="02010600040101010101" charset="-122"/>
              </a:rPr>
              <a:t>C++11</a:t>
            </a:r>
            <a:r>
              <a:rPr lang="zh-CN" altLang="en-US" kern="100" dirty="0">
                <a:solidFill>
                  <a:srgbClr val="003366"/>
                </a:solidFill>
                <a:latin typeface="华文楷体" panose="02010600040101010101" pitchFamily="2" charset="-122"/>
                <a:ea typeface="华文楷体" panose="02010600040101010101" pitchFamily="2" charset="-122"/>
                <a:cs typeface="STKaiti" panose="02010600040101010101" charset="-122"/>
              </a:rPr>
              <a:t>中常使用</a:t>
            </a:r>
            <a:r>
              <a:rPr lang="en-US" altLang="zh-CN" kern="100" dirty="0">
                <a:solidFill>
                  <a:srgbClr val="FF0000"/>
                </a:solidFill>
                <a:latin typeface="Consolas" panose="020B0609020204030204" pitchFamily="49" charset="0"/>
                <a:ea typeface="华文楷体" panose="02010600040101010101" pitchFamily="2" charset="-122"/>
                <a:cs typeface="STKaiti" panose="02010600040101010101" charset="-122"/>
              </a:rPr>
              <a:t>auto</a:t>
            </a:r>
            <a:r>
              <a:rPr lang="zh-CN" altLang="en-US" kern="100" dirty="0">
                <a:solidFill>
                  <a:srgbClr val="003366"/>
                </a:solidFill>
                <a:latin typeface="华文楷体" panose="02010600040101010101" pitchFamily="2" charset="-122"/>
                <a:ea typeface="华文楷体" panose="02010600040101010101" pitchFamily="2" charset="-122"/>
                <a:cs typeface="STKaiti" panose="02010600040101010101" charset="-122"/>
              </a:rPr>
              <a:t>替代</a:t>
            </a:r>
            <a:r>
              <a:rPr lang="en-US" altLang="zh-CN" kern="100" dirty="0">
                <a:latin typeface="Consolas" panose="020B0609020204030204" pitchFamily="49" charset="0"/>
                <a:ea typeface="华文楷体" panose="02010600040101010101" pitchFamily="2" charset="-122"/>
                <a:cs typeface="STKaiti" panose="02010600040101010101" charset="-122"/>
              </a:rPr>
              <a:t>vector&lt;</a:t>
            </a:r>
            <a:r>
              <a:rPr lang="en-US" altLang="zh-CN" kern="100" dirty="0" err="1">
                <a:latin typeface="Consolas" panose="020B0609020204030204" pitchFamily="49" charset="0"/>
                <a:ea typeface="华文楷体" panose="02010600040101010101" pitchFamily="2" charset="-122"/>
                <a:cs typeface="STKaiti" panose="02010600040101010101" charset="-122"/>
              </a:rPr>
              <a:t>int</a:t>
            </a:r>
            <a:r>
              <a:rPr lang="en-US" altLang="zh-CN" kern="100" dirty="0">
                <a:latin typeface="Consolas" panose="020B0609020204030204" pitchFamily="49" charset="0"/>
                <a:ea typeface="华文楷体" panose="02010600040101010101" pitchFamily="2" charset="-122"/>
                <a:cs typeface="STKaiti" panose="02010600040101010101" charset="-122"/>
              </a:rPr>
              <a:t>&gt;:: iterator</a:t>
            </a:r>
            <a:r>
              <a:rPr lang="zh-CN" altLang="en-US" kern="100" dirty="0">
                <a:solidFill>
                  <a:srgbClr val="003366"/>
                </a:solidFill>
                <a:latin typeface="Consolas" panose="020B0609020204030204" pitchFamily="49" charset="0"/>
                <a:ea typeface="华文楷体" panose="02010600040101010101" pitchFamily="2" charset="-122"/>
                <a:cs typeface="STKaiti" panose="02010600040101010101" charset="-122"/>
              </a:rPr>
              <a:t>，以简化代码</a:t>
            </a:r>
            <a:endParaRPr lang="en-US" altLang="zh-CN" kern="100" dirty="0">
              <a:solidFill>
                <a:srgbClr val="003366"/>
              </a:solidFill>
              <a:latin typeface="Consolas" panose="020B0609020204030204" pitchFamily="49" charset="0"/>
              <a:ea typeface="华文楷体" panose="02010600040101010101" pitchFamily="2" charset="-122"/>
              <a:cs typeface="STKaiti" panose="02010600040101010101" charset="-122"/>
            </a:endParaRPr>
          </a:p>
          <a:p>
            <a:pPr marL="0" indent="0">
              <a:lnSpc>
                <a:spcPct val="100000"/>
              </a:lnSpc>
              <a:buSzPct val="75000"/>
              <a:buNone/>
            </a:pPr>
            <a:r>
              <a:rPr lang="en-US" altLang="zh-CN" sz="2400" kern="100" dirty="0">
                <a:latin typeface="Consolas" panose="020B0609020204030204" pitchFamily="49" charset="0"/>
                <a:ea typeface="华文楷体" panose="02010600040101010101" pitchFamily="2" charset="-122"/>
                <a:cs typeface="STKaiti" panose="02010600040101010101" charset="-122"/>
              </a:rPr>
              <a:t>  </a:t>
            </a:r>
            <a:r>
              <a:rPr lang="en-US" altLang="zh-CN" sz="2000" kern="100" dirty="0">
                <a:latin typeface="Consolas" panose="020B0609020204030204" pitchFamily="49" charset="0"/>
                <a:ea typeface="华文楷体" panose="02010600040101010101" pitchFamily="2" charset="-122"/>
                <a:cs typeface="STKaiti" panose="02010600040101010101" charset="-122"/>
              </a:rPr>
              <a:t>for(</a:t>
            </a:r>
            <a:r>
              <a:rPr lang="en-US" altLang="zh-CN" sz="2000" kern="100" dirty="0">
                <a:solidFill>
                  <a:srgbClr val="FF0000"/>
                </a:solidFill>
                <a:latin typeface="Consolas" panose="020B0609020204030204" pitchFamily="49" charset="0"/>
                <a:ea typeface="华文楷体" panose="02010600040101010101" pitchFamily="2" charset="-122"/>
                <a:cs typeface="STKaiti" panose="02010600040101010101" charset="-122"/>
              </a:rPr>
              <a:t>auto</a:t>
            </a:r>
            <a:r>
              <a:rPr lang="en-US" altLang="zh-CN" sz="2000" kern="100" dirty="0">
                <a:latin typeface="Consolas" panose="020B0609020204030204" pitchFamily="49" charset="0"/>
                <a:ea typeface="华文楷体" panose="02010600040101010101" pitchFamily="2" charset="-122"/>
                <a:cs typeface="STKaiti" panose="02010600040101010101" charset="-122"/>
              </a:rPr>
              <a:t> it = </a:t>
            </a:r>
            <a:r>
              <a:rPr lang="en-US" altLang="zh-CN" sz="2000" kern="100" dirty="0" err="1">
                <a:latin typeface="Consolas" panose="020B0609020204030204" pitchFamily="49" charset="0"/>
                <a:ea typeface="华文楷体" panose="02010600040101010101" pitchFamily="2" charset="-122"/>
                <a:cs typeface="STKaiti" panose="02010600040101010101" charset="-122"/>
              </a:rPr>
              <a:t>vec.begin</a:t>
            </a:r>
            <a:r>
              <a:rPr lang="en-US" altLang="zh-CN" sz="2000" kern="100" dirty="0">
                <a:latin typeface="Consolas" panose="020B0609020204030204" pitchFamily="49" charset="0"/>
                <a:ea typeface="华文楷体" panose="02010600040101010101" pitchFamily="2" charset="-122"/>
                <a:cs typeface="STKaiti" panose="02010600040101010101" charset="-122"/>
              </a:rPr>
              <a:t>(); it != </a:t>
            </a:r>
            <a:r>
              <a:rPr lang="en-US" altLang="zh-CN" sz="2000" kern="100" dirty="0" err="1">
                <a:latin typeface="Consolas" panose="020B0609020204030204" pitchFamily="49" charset="0"/>
                <a:ea typeface="华文楷体" panose="02010600040101010101" pitchFamily="2" charset="-122"/>
                <a:cs typeface="STKaiti" panose="02010600040101010101" charset="-122"/>
              </a:rPr>
              <a:t>vec.end</a:t>
            </a:r>
            <a:r>
              <a:rPr lang="en-US" altLang="zh-CN" sz="2000" kern="100" dirty="0">
                <a:latin typeface="Consolas" panose="020B0609020204030204" pitchFamily="49" charset="0"/>
                <a:ea typeface="华文楷体" panose="02010600040101010101" pitchFamily="2" charset="-122"/>
                <a:cs typeface="STKaiti" panose="02010600040101010101" charset="-122"/>
              </a:rPr>
              <a:t>(); ++it)</a:t>
            </a:r>
          </a:p>
          <a:p>
            <a:pPr marL="0" indent="0">
              <a:lnSpc>
                <a:spcPct val="100000"/>
              </a:lnSpc>
              <a:buSzPct val="75000"/>
              <a:buNone/>
            </a:pPr>
            <a:r>
              <a:rPr lang="en-US" altLang="zh-CN" sz="2000" kern="100" dirty="0">
                <a:solidFill>
                  <a:schemeClr val="accent6">
                    <a:lumMod val="75000"/>
                  </a:schemeClr>
                </a:solidFill>
                <a:latin typeface="Consolas" panose="020B0609020204030204" pitchFamily="49" charset="0"/>
                <a:ea typeface="华文楷体" panose="02010600040101010101" pitchFamily="2" charset="-122"/>
                <a:cs typeface="STKaiti" panose="02010600040101010101" charset="-122"/>
              </a:rPr>
              <a:t>						</a:t>
            </a:r>
            <a:r>
              <a:rPr lang="en-US" altLang="zh-CN" sz="2000" kern="100" dirty="0">
                <a:solidFill>
                  <a:schemeClr val="accent6">
                    <a:lumMod val="75000"/>
                  </a:schemeClr>
                </a:solidFill>
                <a:latin typeface="华文楷体" panose="02010600040101010101" pitchFamily="2" charset="-122"/>
                <a:ea typeface="华文楷体" panose="02010600040101010101" pitchFamily="2" charset="-122"/>
                <a:cs typeface="STKaiti" panose="02010600040101010101" charset="-122"/>
              </a:rPr>
              <a:t>//</a:t>
            </a:r>
            <a:r>
              <a:rPr lang="en-US" altLang="zh-CN" sz="2000" kern="100" dirty="0">
                <a:solidFill>
                  <a:schemeClr val="accent6">
                    <a:lumMod val="75000"/>
                  </a:schemeClr>
                </a:solidFill>
                <a:latin typeface="Consolas" panose="020B0609020204030204" pitchFamily="49" charset="0"/>
                <a:ea typeface="华文楷体" panose="02010600040101010101" pitchFamily="2" charset="-122"/>
                <a:cs typeface="STKaiti" panose="02010600040101010101" charset="-122"/>
              </a:rPr>
              <a:t>use *it</a:t>
            </a:r>
            <a:endParaRPr lang="en-US" altLang="zh-CN" sz="2400" kern="100" dirty="0">
              <a:solidFill>
                <a:schemeClr val="accent6">
                  <a:lumMod val="75000"/>
                </a:schemeClr>
              </a:solidFill>
              <a:latin typeface="华文楷体" panose="02010600040101010101" pitchFamily="2" charset="-122"/>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32</a:t>
            </a:fld>
            <a:endParaRPr lang="en-US" altLang="zh-C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迭代器：以</a:t>
            </a:r>
            <a:r>
              <a:rPr kumimoji="1" lang="en-US" altLang="zh-CN" b="1" dirty="0">
                <a:latin typeface="微软雅黑" panose="020B0503020204020204" pitchFamily="34" charset="-122"/>
                <a:ea typeface="微软雅黑" panose="020B0503020204020204" pitchFamily="34" charset="-122"/>
              </a:rPr>
              <a:t>vector</a:t>
            </a:r>
            <a:r>
              <a:rPr kumimoji="1" lang="zh-CN" altLang="en-US" b="1" dirty="0">
                <a:latin typeface="微软雅黑" panose="020B0503020204020204" pitchFamily="34" charset="-122"/>
                <a:ea typeface="微软雅黑" panose="020B0503020204020204" pitchFamily="34" charset="-122"/>
              </a:rPr>
              <a:t>为例</a:t>
            </a:r>
          </a:p>
        </p:txBody>
      </p:sp>
      <p:sp>
        <p:nvSpPr>
          <p:cNvPr id="3" name="内容占位符 2"/>
          <p:cNvSpPr>
            <a:spLocks noGrp="1"/>
          </p:cNvSpPr>
          <p:nvPr>
            <p:ph idx="1"/>
          </p:nvPr>
        </p:nvSpPr>
        <p:spPr>
          <a:xfrm>
            <a:off x="628650" y="1690688"/>
            <a:ext cx="8301706" cy="4802185"/>
          </a:xfrm>
        </p:spPr>
        <p:txBody>
          <a:bodyPr>
            <a:normAutofit lnSpcReduction="10000"/>
          </a:bodyPr>
          <a:lstStyle/>
          <a:p>
            <a:pPr>
              <a:lnSpc>
                <a:spcPct val="100000"/>
              </a:lnSpc>
              <a:buSzPct val="75000"/>
              <a:buFont typeface="Wingdings" panose="05000000000000000000" pitchFamily="2" charset="2"/>
              <a:buChar char="n"/>
            </a:pPr>
            <a:r>
              <a:rPr lang="zh-CN" altLang="en-US" kern="100" dirty="0">
                <a:solidFill>
                  <a:srgbClr val="003366"/>
                </a:solidFill>
                <a:latin typeface="华文楷体" panose="02010600040101010101" pitchFamily="2" charset="-122"/>
                <a:ea typeface="华文楷体" panose="02010600040101010101" pitchFamily="2" charset="-122"/>
                <a:cs typeface="STKaiti" panose="02010600040101010101" charset="-122"/>
              </a:rPr>
              <a:t>完整示例：</a:t>
            </a:r>
            <a:endParaRPr lang="en-US" altLang="zh-CN"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buNone/>
            </a:pPr>
            <a:r>
              <a:rPr lang="en-US" altLang="zh-CN" sz="2000" kern="100" dirty="0">
                <a:latin typeface="Consolas" panose="020B0609020204030204" pitchFamily="49" charset="0"/>
                <a:ea typeface="华文楷体" panose="02010600040101010101" pitchFamily="2" charset="-122"/>
              </a:rPr>
              <a:t>#include &lt;iostream&gt;</a:t>
            </a:r>
          </a:p>
          <a:p>
            <a:pPr marL="0" indent="0">
              <a:buNone/>
            </a:pPr>
            <a:r>
              <a:rPr lang="en-US" altLang="zh-CN" sz="2000" kern="100" dirty="0">
                <a:latin typeface="Consolas" panose="020B0609020204030204" pitchFamily="49" charset="0"/>
                <a:ea typeface="华文楷体" panose="02010600040101010101" pitchFamily="2" charset="-122"/>
              </a:rPr>
              <a:t>#include</a:t>
            </a:r>
            <a:r>
              <a:rPr lang="zh-CN" altLang="en-US" sz="2000" kern="100" dirty="0">
                <a:latin typeface="Consolas" panose="020B0609020204030204" pitchFamily="49" charset="0"/>
                <a:ea typeface="华文楷体" panose="02010600040101010101" pitchFamily="2" charset="-122"/>
              </a:rPr>
              <a:t> </a:t>
            </a:r>
            <a:r>
              <a:rPr lang="en-US" altLang="zh-CN" sz="2000" kern="100" dirty="0">
                <a:latin typeface="Consolas" panose="020B0609020204030204" pitchFamily="49" charset="0"/>
                <a:ea typeface="华文楷体" panose="02010600040101010101" pitchFamily="2" charset="-122"/>
              </a:rPr>
              <a:t>&lt;vector&gt;</a:t>
            </a:r>
          </a:p>
          <a:p>
            <a:pPr marL="0" indent="0">
              <a:buNone/>
            </a:pPr>
            <a:r>
              <a:rPr lang="en-US" altLang="zh-CN" sz="2000" kern="100" dirty="0">
                <a:latin typeface="Consolas" panose="020B0609020204030204" pitchFamily="49" charset="0"/>
                <a:ea typeface="华文楷体" panose="02010600040101010101" pitchFamily="2" charset="-122"/>
              </a:rPr>
              <a:t>using namespace </a:t>
            </a:r>
            <a:r>
              <a:rPr lang="en-US" altLang="zh-CN" sz="2000" kern="100" dirty="0" err="1">
                <a:latin typeface="Consolas" panose="020B0609020204030204" pitchFamily="49" charset="0"/>
                <a:ea typeface="华文楷体" panose="02010600040101010101" pitchFamily="2" charset="-122"/>
              </a:rPr>
              <a:t>std</a:t>
            </a:r>
            <a:r>
              <a:rPr lang="en-US" altLang="zh-CN" sz="2000" kern="100" dirty="0">
                <a:latin typeface="Consolas" panose="020B0609020204030204" pitchFamily="49" charset="0"/>
                <a:ea typeface="华文楷体" panose="02010600040101010101" pitchFamily="2" charset="-122"/>
              </a:rPr>
              <a:t>;</a:t>
            </a:r>
            <a:endParaRPr lang="en-US" altLang="zh-CN" sz="2000" kern="100" dirty="0">
              <a:latin typeface="Consolas" panose="020B0609020204030204" pitchFamily="49" charset="0"/>
              <a:ea typeface="华文楷体" panose="02010600040101010101" pitchFamily="2" charset="-122"/>
              <a:cs typeface="STKaiti" panose="02010600040101010101" charset="-122"/>
            </a:endParaRPr>
          </a:p>
          <a:p>
            <a:pPr marL="0" indent="0">
              <a:lnSpc>
                <a:spcPct val="100000"/>
              </a:lnSpc>
              <a:buSzPct val="75000"/>
              <a:buNone/>
            </a:pPr>
            <a:r>
              <a:rPr lang="en-US" altLang="zh-CN" sz="2000" kern="100" dirty="0" err="1">
                <a:latin typeface="Consolas" panose="020B0609020204030204" pitchFamily="49" charset="0"/>
                <a:ea typeface="华文楷体" panose="02010600040101010101" pitchFamily="2" charset="-122"/>
                <a:cs typeface="STKaiti" panose="02010600040101010101" charset="-122"/>
              </a:rPr>
              <a:t>int</a:t>
            </a:r>
            <a:r>
              <a:rPr lang="en-US" altLang="zh-CN" sz="2000" kern="100" dirty="0">
                <a:latin typeface="Consolas" panose="020B0609020204030204" pitchFamily="49" charset="0"/>
                <a:ea typeface="华文楷体" panose="02010600040101010101" pitchFamily="2" charset="-122"/>
                <a:cs typeface="STKaiti" panose="02010600040101010101" charset="-122"/>
              </a:rPr>
              <a:t> main() {</a:t>
            </a:r>
          </a:p>
          <a:p>
            <a:pPr marL="0" indent="0">
              <a:lnSpc>
                <a:spcPct val="100000"/>
              </a:lnSpc>
              <a:buSzPct val="75000"/>
              <a:buNone/>
            </a:pPr>
            <a:r>
              <a:rPr lang="en-US" altLang="zh-CN" sz="2000" kern="100" dirty="0">
                <a:latin typeface="Consolas" panose="020B0609020204030204" pitchFamily="49" charset="0"/>
                <a:ea typeface="华文楷体" panose="02010600040101010101" pitchFamily="2" charset="-122"/>
                <a:cs typeface="STKaiti" panose="02010600040101010101" charset="-122"/>
              </a:rPr>
              <a:t>    vector&lt;int&gt; </a:t>
            </a:r>
            <a:r>
              <a:rPr lang="en-US" altLang="zh-CN" sz="2000" kern="100" dirty="0" err="1">
                <a:latin typeface="Consolas" panose="020B0609020204030204" pitchFamily="49" charset="0"/>
                <a:ea typeface="华文楷体" panose="02010600040101010101" pitchFamily="2" charset="-122"/>
                <a:cs typeface="STKaiti" panose="02010600040101010101" charset="-122"/>
              </a:rPr>
              <a:t>vec</a:t>
            </a:r>
            <a:r>
              <a:rPr lang="en-US" altLang="zh-CN" sz="2000" kern="100" dirty="0">
                <a:latin typeface="Consolas" panose="020B0609020204030204" pitchFamily="49" charset="0"/>
                <a:ea typeface="华文楷体" panose="02010600040101010101" pitchFamily="2" charset="-122"/>
                <a:cs typeface="STKaiti" panose="02010600040101010101" charset="-122"/>
              </a:rPr>
              <a:t> = {1,2,3,4,5};</a:t>
            </a:r>
          </a:p>
          <a:p>
            <a:pPr marL="0" indent="0">
              <a:lnSpc>
                <a:spcPct val="100000"/>
              </a:lnSpc>
              <a:buSzPct val="75000"/>
              <a:buNone/>
            </a:pPr>
            <a:r>
              <a:rPr lang="en-US" altLang="zh-CN" sz="2000" kern="100" dirty="0">
                <a:latin typeface="Consolas" panose="020B0609020204030204" pitchFamily="49" charset="0"/>
                <a:ea typeface="华文楷体" panose="02010600040101010101" pitchFamily="2" charset="-122"/>
                <a:cs typeface="STKaiti" panose="02010600040101010101" charset="-122"/>
              </a:rPr>
              <a:t>    </a:t>
            </a:r>
            <a:r>
              <a:rPr lang="en-US" altLang="zh-CN" sz="2000" kern="100" dirty="0" err="1">
                <a:latin typeface="Consolas" panose="020B0609020204030204" pitchFamily="49" charset="0"/>
                <a:ea typeface="华文楷体" panose="02010600040101010101" pitchFamily="2" charset="-122"/>
                <a:cs typeface="STKaiti" panose="02010600040101010101" charset="-122"/>
              </a:rPr>
              <a:t>cout</a:t>
            </a:r>
            <a:r>
              <a:rPr lang="en-US" altLang="zh-CN" sz="2000" kern="100" dirty="0">
                <a:latin typeface="Consolas" panose="020B0609020204030204" pitchFamily="49" charset="0"/>
                <a:ea typeface="华文楷体" panose="02010600040101010101" pitchFamily="2" charset="-122"/>
                <a:cs typeface="STKaiti" panose="02010600040101010101" charset="-122"/>
              </a:rPr>
              <a:t> &lt;&lt; </a:t>
            </a:r>
            <a:r>
              <a:rPr lang="en-US" altLang="zh-CN" sz="2000" kern="100" dirty="0" err="1">
                <a:latin typeface="Consolas" panose="020B0609020204030204" pitchFamily="49" charset="0"/>
                <a:ea typeface="华文楷体" panose="02010600040101010101" pitchFamily="2" charset="-122"/>
                <a:cs typeface="STKaiti" panose="02010600040101010101" charset="-122"/>
              </a:rPr>
              <a:t>vec.end</a:t>
            </a:r>
            <a:r>
              <a:rPr lang="en-US" altLang="zh-CN" sz="2000" kern="100" dirty="0">
                <a:latin typeface="Consolas" panose="020B0609020204030204" pitchFamily="49" charset="0"/>
                <a:ea typeface="华文楷体" panose="02010600040101010101" pitchFamily="2" charset="-122"/>
                <a:cs typeface="STKaiti" panose="02010600040101010101" charset="-122"/>
              </a:rPr>
              <a:t>() - </a:t>
            </a:r>
            <a:r>
              <a:rPr lang="en-US" altLang="zh-CN" sz="2000" kern="100" dirty="0" err="1">
                <a:latin typeface="Consolas" panose="020B0609020204030204" pitchFamily="49" charset="0"/>
                <a:ea typeface="华文楷体" panose="02010600040101010101" pitchFamily="2" charset="-122"/>
                <a:cs typeface="STKaiti" panose="02010600040101010101" charset="-122"/>
              </a:rPr>
              <a:t>vec.begin</a:t>
            </a:r>
            <a:r>
              <a:rPr lang="en-US" altLang="zh-CN" sz="2000" kern="100" dirty="0">
                <a:latin typeface="Consolas" panose="020B0609020204030204" pitchFamily="49" charset="0"/>
                <a:ea typeface="华文楷体" panose="02010600040101010101" pitchFamily="2" charset="-122"/>
                <a:cs typeface="STKaiti" panose="02010600040101010101" charset="-122"/>
              </a:rPr>
              <a:t>() &lt;&lt; </a:t>
            </a:r>
            <a:r>
              <a:rPr lang="en-US" altLang="zh-CN" sz="2000" kern="100" dirty="0" err="1">
                <a:latin typeface="Consolas" panose="020B0609020204030204" pitchFamily="49" charset="0"/>
                <a:ea typeface="华文楷体" panose="02010600040101010101" pitchFamily="2" charset="-122"/>
                <a:cs typeface="STKaiti" panose="02010600040101010101" charset="-122"/>
              </a:rPr>
              <a:t>endl</a:t>
            </a:r>
            <a:r>
              <a:rPr lang="en-US" altLang="zh-CN" sz="2000" kern="100" dirty="0">
                <a:latin typeface="Consolas" panose="020B0609020204030204" pitchFamily="49" charset="0"/>
                <a:ea typeface="华文楷体" panose="02010600040101010101" pitchFamily="2" charset="-122"/>
                <a:cs typeface="STKaiti" panose="02010600040101010101" charset="-122"/>
              </a:rPr>
              <a:t>;</a:t>
            </a:r>
          </a:p>
          <a:p>
            <a:pPr marL="0" indent="0">
              <a:lnSpc>
                <a:spcPct val="100000"/>
              </a:lnSpc>
              <a:buSzPct val="75000"/>
              <a:buNone/>
            </a:pPr>
            <a:r>
              <a:rPr lang="en-US" altLang="zh-CN" sz="2000" kern="100" dirty="0">
                <a:latin typeface="Consolas" panose="020B0609020204030204" pitchFamily="49" charset="0"/>
                <a:ea typeface="华文楷体" panose="02010600040101010101" pitchFamily="2" charset="-122"/>
                <a:cs typeface="STKaiti" panose="02010600040101010101" charset="-122"/>
              </a:rPr>
              <a:t>    for(auto it = </a:t>
            </a:r>
            <a:r>
              <a:rPr lang="en-US" altLang="zh-CN" sz="2000" kern="100" dirty="0" err="1">
                <a:latin typeface="Consolas" panose="020B0609020204030204" pitchFamily="49" charset="0"/>
                <a:ea typeface="华文楷体" panose="02010600040101010101" pitchFamily="2" charset="-122"/>
                <a:cs typeface="STKaiti" panose="02010600040101010101" charset="-122"/>
              </a:rPr>
              <a:t>vec.begin</a:t>
            </a:r>
            <a:r>
              <a:rPr lang="en-US" altLang="zh-CN" sz="2000" kern="100" dirty="0">
                <a:latin typeface="Consolas" panose="020B0609020204030204" pitchFamily="49" charset="0"/>
                <a:ea typeface="华文楷体" panose="02010600040101010101" pitchFamily="2" charset="-122"/>
                <a:cs typeface="STKaiti" panose="02010600040101010101" charset="-122"/>
              </a:rPr>
              <a:t>(); it != </a:t>
            </a:r>
            <a:r>
              <a:rPr lang="en-US" altLang="zh-CN" sz="2000" kern="100" dirty="0" err="1">
                <a:latin typeface="Consolas" panose="020B0609020204030204" pitchFamily="49" charset="0"/>
                <a:ea typeface="华文楷体" panose="02010600040101010101" pitchFamily="2" charset="-122"/>
                <a:cs typeface="STKaiti" panose="02010600040101010101" charset="-122"/>
              </a:rPr>
              <a:t>vec.end</a:t>
            </a:r>
            <a:r>
              <a:rPr lang="en-US" altLang="zh-CN" sz="2000" kern="100" dirty="0">
                <a:latin typeface="Consolas" panose="020B0609020204030204" pitchFamily="49" charset="0"/>
                <a:ea typeface="华文楷体" panose="02010600040101010101" pitchFamily="2" charset="-122"/>
                <a:cs typeface="STKaiti" panose="02010600040101010101" charset="-122"/>
              </a:rPr>
              <a:t>(); ++it){</a:t>
            </a:r>
          </a:p>
          <a:p>
            <a:pPr marL="0" indent="0">
              <a:lnSpc>
                <a:spcPct val="100000"/>
              </a:lnSpc>
              <a:buSzPct val="75000"/>
              <a:buNone/>
            </a:pPr>
            <a:r>
              <a:rPr lang="en-US" altLang="zh-CN" sz="2000" kern="100" dirty="0">
                <a:latin typeface="Consolas" panose="020B0609020204030204" pitchFamily="49" charset="0"/>
                <a:ea typeface="华文楷体" panose="02010600040101010101" pitchFamily="2" charset="-122"/>
                <a:cs typeface="STKaiti" panose="02010600040101010101" charset="-122"/>
              </a:rPr>
              <a:t>        *it *= 2; </a:t>
            </a:r>
            <a:r>
              <a:rPr lang="en-US" altLang="zh-CN" sz="2000" kern="100" dirty="0" err="1">
                <a:latin typeface="Consolas" panose="020B0609020204030204" pitchFamily="49" charset="0"/>
                <a:ea typeface="华文楷体" panose="02010600040101010101" pitchFamily="2" charset="-122"/>
                <a:cs typeface="STKaiti" panose="02010600040101010101" charset="-122"/>
              </a:rPr>
              <a:t>cout</a:t>
            </a:r>
            <a:r>
              <a:rPr lang="en-US" altLang="zh-CN" sz="2000" kern="100" dirty="0">
                <a:latin typeface="Consolas" panose="020B0609020204030204" pitchFamily="49" charset="0"/>
                <a:ea typeface="华文楷体" panose="02010600040101010101" pitchFamily="2" charset="-122"/>
                <a:cs typeface="STKaiti" panose="02010600040101010101" charset="-122"/>
              </a:rPr>
              <a:t> &lt;&lt; *it &lt;&lt; </a:t>
            </a:r>
            <a:r>
              <a:rPr lang="en-US" altLang="zh-CN" sz="2000" kern="100" dirty="0" err="1">
                <a:latin typeface="Consolas" panose="020B0609020204030204" pitchFamily="49" charset="0"/>
                <a:ea typeface="华文楷体" panose="02010600040101010101" pitchFamily="2" charset="-122"/>
                <a:cs typeface="STKaiti" panose="02010600040101010101" charset="-122"/>
              </a:rPr>
              <a:t>endl</a:t>
            </a:r>
            <a:r>
              <a:rPr lang="en-US" altLang="zh-CN" sz="2000" kern="100" dirty="0">
                <a:latin typeface="Consolas" panose="020B0609020204030204" pitchFamily="49" charset="0"/>
                <a:ea typeface="华文楷体" panose="02010600040101010101" pitchFamily="2" charset="-122"/>
                <a:cs typeface="STKaiti" panose="02010600040101010101" charset="-122"/>
              </a:rPr>
              <a:t>;</a:t>
            </a:r>
          </a:p>
          <a:p>
            <a:pPr marL="0" indent="0">
              <a:lnSpc>
                <a:spcPct val="100000"/>
              </a:lnSpc>
              <a:buSzPct val="75000"/>
              <a:buNone/>
            </a:pPr>
            <a:r>
              <a:rPr lang="en-US" altLang="zh-CN" sz="2000" kern="100" dirty="0">
                <a:latin typeface="Consolas" panose="020B0609020204030204" pitchFamily="49" charset="0"/>
                <a:ea typeface="华文楷体" panose="02010600040101010101" pitchFamily="2" charset="-122"/>
                <a:cs typeface="STKaiti" panose="02010600040101010101" charset="-122"/>
              </a:rPr>
              <a:t>    }</a:t>
            </a:r>
          </a:p>
          <a:p>
            <a:pPr marL="0" indent="0">
              <a:lnSpc>
                <a:spcPct val="100000"/>
              </a:lnSpc>
              <a:buSzPct val="75000"/>
              <a:buNone/>
            </a:pPr>
            <a:r>
              <a:rPr lang="en-US" altLang="zh-CN" sz="2000" kern="100" dirty="0">
                <a:latin typeface="Consolas" panose="020B0609020204030204" pitchFamily="49" charset="0"/>
                <a:ea typeface="华文楷体" panose="02010600040101010101" pitchFamily="2" charset="-122"/>
                <a:cs typeface="STKaiti" panose="02010600040101010101" charset="-122"/>
              </a:rPr>
              <a:t>    return 0;</a:t>
            </a:r>
          </a:p>
          <a:p>
            <a:pPr marL="0" indent="0">
              <a:lnSpc>
                <a:spcPct val="100000"/>
              </a:lnSpc>
              <a:buSzPct val="75000"/>
              <a:buNone/>
            </a:pPr>
            <a:r>
              <a:rPr lang="en-US" altLang="zh-CN" sz="2000" kern="100" dirty="0">
                <a:latin typeface="Consolas" panose="020B0609020204030204" pitchFamily="49" charset="0"/>
                <a:ea typeface="华文楷体" panose="02010600040101010101" pitchFamily="2" charset="-122"/>
                <a:cs typeface="STKaiti" panose="02010600040101010101" charset="-122"/>
              </a:rPr>
              <a:t>}</a:t>
            </a: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33</a:t>
            </a:fld>
            <a:endParaRPr lang="en-US" altLang="zh-CN" dirty="0"/>
          </a:p>
        </p:txBody>
      </p:sp>
      <p:sp>
        <p:nvSpPr>
          <p:cNvPr id="6" name="矩形 5"/>
          <p:cNvSpPr/>
          <p:nvPr/>
        </p:nvSpPr>
        <p:spPr>
          <a:xfrm>
            <a:off x="6968378" y="2277588"/>
            <a:ext cx="1036544" cy="1754326"/>
          </a:xfrm>
          <a:prstGeom prst="rect">
            <a:avLst/>
          </a:prstGeom>
        </p:spPr>
        <p:txBody>
          <a:bodyPr wrap="square">
            <a:spAutoFit/>
          </a:bodyPr>
          <a:lstStyle/>
          <a:p>
            <a:r>
              <a:rPr lang="en-US" altLang="zh-CN" b="1" dirty="0">
                <a:solidFill>
                  <a:srgbClr val="00B050"/>
                </a:solidFill>
                <a:latin typeface="AndaleMono" panose="020B0509000000000004" charset="0"/>
              </a:rPr>
              <a:t>5</a:t>
            </a:r>
          </a:p>
          <a:p>
            <a:r>
              <a:rPr lang="en-US" altLang="zh-CN" b="1" dirty="0">
                <a:solidFill>
                  <a:srgbClr val="00B050"/>
                </a:solidFill>
                <a:latin typeface="AndaleMono" panose="020B0509000000000004" charset="0"/>
              </a:rPr>
              <a:t>2</a:t>
            </a:r>
          </a:p>
          <a:p>
            <a:r>
              <a:rPr lang="en-US" altLang="zh-CN" b="1" dirty="0">
                <a:solidFill>
                  <a:srgbClr val="00B050"/>
                </a:solidFill>
                <a:latin typeface="AndaleMono" panose="020B0509000000000004" charset="0"/>
              </a:rPr>
              <a:t>4</a:t>
            </a:r>
          </a:p>
          <a:p>
            <a:r>
              <a:rPr lang="en-US" altLang="zh-CN" b="1" dirty="0">
                <a:solidFill>
                  <a:srgbClr val="00B050"/>
                </a:solidFill>
                <a:latin typeface="AndaleMono" panose="020B0509000000000004" charset="0"/>
              </a:rPr>
              <a:t>6</a:t>
            </a:r>
          </a:p>
          <a:p>
            <a:r>
              <a:rPr lang="en-US" altLang="zh-CN" b="1" dirty="0">
                <a:solidFill>
                  <a:srgbClr val="00B050"/>
                </a:solidFill>
                <a:latin typeface="AndaleMono" panose="020B0509000000000004" charset="0"/>
              </a:rPr>
              <a:t>8</a:t>
            </a:r>
          </a:p>
          <a:p>
            <a:r>
              <a:rPr lang="en-US" altLang="zh-CN" b="1" dirty="0">
                <a:solidFill>
                  <a:srgbClr val="00B050"/>
                </a:solidFill>
                <a:latin typeface="AndaleMono" panose="020B0509000000000004" charset="0"/>
              </a:rPr>
              <a:t>10</a:t>
            </a:r>
            <a:endParaRPr lang="zh-CN" altLang="en-US" b="1" dirty="0">
              <a:solidFill>
                <a:srgbClr val="00B050"/>
              </a:solidFill>
            </a:endParaRPr>
          </a:p>
        </p:txBody>
      </p:sp>
      <p:sp>
        <p:nvSpPr>
          <p:cNvPr id="7" name="文本框 6"/>
          <p:cNvSpPr txBox="1"/>
          <p:nvPr/>
        </p:nvSpPr>
        <p:spPr>
          <a:xfrm>
            <a:off x="6832426" y="1802651"/>
            <a:ext cx="1800130" cy="461665"/>
          </a:xfrm>
          <a:prstGeom prst="rect">
            <a:avLst/>
          </a:prstGeom>
          <a:solidFill>
            <a:srgbClr val="FFFF00"/>
          </a:solidFill>
        </p:spPr>
        <p:txBody>
          <a:bodyPr wrap="square" rtlCol="0">
            <a:spAutoFit/>
          </a:bodyPr>
          <a:lstStyle/>
          <a:p>
            <a:pPr algn="ctr"/>
            <a:r>
              <a:rPr kumimoji="1" lang="zh-CN" altLang="en-US" sz="2400" b="1" dirty="0"/>
              <a:t>运行结果</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迭代器：以</a:t>
            </a:r>
            <a:r>
              <a:rPr kumimoji="1" lang="en-US" altLang="zh-CN" b="1" dirty="0">
                <a:latin typeface="微软雅黑" panose="020B0503020204020204" pitchFamily="34" charset="-122"/>
                <a:ea typeface="微软雅黑" panose="020B0503020204020204" pitchFamily="34" charset="-122"/>
              </a:rPr>
              <a:t>vector</a:t>
            </a:r>
            <a:r>
              <a:rPr kumimoji="1" lang="zh-CN" altLang="en-US" b="1" dirty="0">
                <a:latin typeface="微软雅黑" panose="020B0503020204020204" pitchFamily="34" charset="-122"/>
                <a:ea typeface="微软雅黑" panose="020B0503020204020204" pitchFamily="34" charset="-122"/>
              </a:rPr>
              <a:t>为例</a:t>
            </a:r>
          </a:p>
        </p:txBody>
      </p:sp>
      <p:sp>
        <p:nvSpPr>
          <p:cNvPr id="3" name="内容占位符 2"/>
          <p:cNvSpPr>
            <a:spLocks noGrp="1"/>
          </p:cNvSpPr>
          <p:nvPr>
            <p:ph idx="1"/>
          </p:nvPr>
        </p:nvSpPr>
        <p:spPr>
          <a:xfrm>
            <a:off x="628650" y="1690689"/>
            <a:ext cx="8301706" cy="4553700"/>
          </a:xfrm>
        </p:spPr>
        <p:txBody>
          <a:bodyPr>
            <a:normAutofit/>
          </a:bodyPr>
          <a:lstStyle/>
          <a:p>
            <a:pPr>
              <a:lnSpc>
                <a:spcPct val="100000"/>
              </a:lnSpc>
              <a:buSzPct val="75000"/>
              <a:buFont typeface="Wingdings" panose="05000000000000000000" pitchFamily="2" charset="2"/>
              <a:buChar char="n"/>
            </a:pPr>
            <a:r>
              <a:rPr lang="en-US" altLang="zh-CN" kern="100" dirty="0">
                <a:solidFill>
                  <a:srgbClr val="003366"/>
                </a:solidFill>
                <a:latin typeface="华文楷体" panose="02010600040101010101" pitchFamily="2" charset="-122"/>
                <a:ea typeface="华文楷体" panose="02010600040101010101" pitchFamily="2" charset="-122"/>
                <a:cs typeface="STKaiti" panose="02010600040101010101" charset="-122"/>
              </a:rPr>
              <a:t>C++11</a:t>
            </a:r>
            <a:r>
              <a:rPr lang="zh-CN" altLang="en-US" kern="100" dirty="0">
                <a:solidFill>
                  <a:srgbClr val="003366"/>
                </a:solidFill>
                <a:latin typeface="华文楷体" panose="02010600040101010101" pitchFamily="2" charset="-122"/>
                <a:ea typeface="华文楷体" panose="02010600040101010101" pitchFamily="2" charset="-122"/>
                <a:cs typeface="STKaiti" panose="02010600040101010101" charset="-122"/>
              </a:rPr>
              <a:t>中按范围遍历</a:t>
            </a:r>
            <a:r>
              <a:rPr lang="en-US" altLang="zh-CN" kern="100" dirty="0">
                <a:latin typeface="Consolas" panose="020B0609020204030204" pitchFamily="49" charset="0"/>
                <a:ea typeface="华文楷体" panose="02010600040101010101" pitchFamily="2" charset="-122"/>
                <a:cs typeface="STKaiti" panose="02010600040101010101" charset="-122"/>
              </a:rPr>
              <a:t>vector</a:t>
            </a:r>
            <a:r>
              <a:rPr lang="zh-CN" altLang="en-US"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endParaRPr lang="en-US" altLang="zh-CN"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en-US" altLang="zh-CN" kern="100" dirty="0">
                <a:latin typeface="Consolas" panose="020B0609020204030204" pitchFamily="49" charset="0"/>
                <a:ea typeface="华文楷体" panose="02010600040101010101" pitchFamily="2" charset="-122"/>
                <a:cs typeface="STKaiti" panose="02010600040101010101" charset="-122"/>
              </a:rPr>
              <a:t>for(auto &amp; x : </a:t>
            </a:r>
            <a:r>
              <a:rPr lang="en-US" altLang="zh-CN" kern="100" dirty="0" err="1">
                <a:latin typeface="Consolas" panose="020B0609020204030204" pitchFamily="49" charset="0"/>
                <a:ea typeface="华文楷体" panose="02010600040101010101" pitchFamily="2" charset="-122"/>
                <a:cs typeface="STKaiti" panose="02010600040101010101" charset="-122"/>
              </a:rPr>
              <a:t>vec</a:t>
            </a:r>
            <a:r>
              <a:rPr lang="en-US" altLang="zh-CN" kern="100" dirty="0">
                <a:latin typeface="Consolas" panose="020B0609020204030204" pitchFamily="49" charset="0"/>
                <a:ea typeface="华文楷体" panose="02010600040101010101" pitchFamily="2" charset="-122"/>
                <a:cs typeface="STKaiti" panose="02010600040101010101" charset="-122"/>
              </a:rPr>
              <a:t>)</a:t>
            </a:r>
          </a:p>
          <a:p>
            <a:pPr marL="0" indent="0">
              <a:lnSpc>
                <a:spcPct val="100000"/>
              </a:lnSpc>
              <a:buSzPct val="75000"/>
              <a:buNone/>
            </a:pPr>
            <a:r>
              <a:rPr lang="en-US" altLang="zh-CN" kern="100" dirty="0">
                <a:latin typeface="华文楷体" panose="02010600040101010101" pitchFamily="2" charset="-122"/>
                <a:ea typeface="华文楷体" panose="02010600040101010101" pitchFamily="2" charset="-122"/>
                <a:cs typeface="STKaiti" panose="02010600040101010101" charset="-122"/>
              </a:rPr>
              <a:t> </a:t>
            </a:r>
            <a:r>
              <a:rPr lang="en-US" altLang="zh-CN" b="1" kern="100" dirty="0">
                <a:solidFill>
                  <a:srgbClr val="008000"/>
                </a:solidFill>
                <a:latin typeface="华文楷体" panose="02010600040101010101" pitchFamily="2" charset="-122"/>
                <a:ea typeface="华文楷体" panose="02010600040101010101" pitchFamily="2" charset="-122"/>
                <a:cs typeface="STKaiti" panose="02010600040101010101" charset="-122"/>
              </a:rPr>
              <a:t>//</a:t>
            </a:r>
            <a:r>
              <a:rPr lang="zh-CN" altLang="en-US" b="1" kern="100" dirty="0">
                <a:solidFill>
                  <a:srgbClr val="008000"/>
                </a:solidFill>
                <a:latin typeface="Consolas" panose="020B0609020204030204" pitchFamily="49" charset="0"/>
                <a:ea typeface="华文楷体" panose="02010600040101010101" pitchFamily="2" charset="-122"/>
                <a:cs typeface="STKaiti" panose="02010600040101010101" charset="-122"/>
              </a:rPr>
              <a:t>直接利用</a:t>
            </a:r>
            <a:r>
              <a:rPr lang="en-US" altLang="zh-CN" b="1" kern="100" dirty="0" err="1">
                <a:solidFill>
                  <a:srgbClr val="008000"/>
                </a:solidFill>
                <a:latin typeface="Consolas" panose="020B0609020204030204" pitchFamily="49" charset="0"/>
                <a:ea typeface="华文楷体" panose="02010600040101010101" pitchFamily="2" charset="-122"/>
                <a:cs typeface="STKaiti" panose="02010600040101010101" charset="-122"/>
              </a:rPr>
              <a:t>vec</a:t>
            </a:r>
            <a:r>
              <a:rPr lang="zh-CN" altLang="en-US" b="1" kern="100" dirty="0">
                <a:solidFill>
                  <a:srgbClr val="008000"/>
                </a:solidFill>
                <a:latin typeface="Consolas" panose="020B0609020204030204" pitchFamily="49" charset="0"/>
                <a:ea typeface="华文楷体" panose="02010600040101010101" pitchFamily="2" charset="-122"/>
                <a:cs typeface="STKaiti" panose="02010600040101010101" charset="-122"/>
              </a:rPr>
              <a:t>中元素</a:t>
            </a:r>
            <a:r>
              <a:rPr lang="en-US" altLang="zh-CN" b="1" kern="100" dirty="0">
                <a:solidFill>
                  <a:srgbClr val="008000"/>
                </a:solidFill>
                <a:latin typeface="Consolas" panose="020B0609020204030204" pitchFamily="49" charset="0"/>
                <a:ea typeface="华文楷体" panose="02010600040101010101" pitchFamily="2" charset="-122"/>
                <a:cs typeface="STKaiti" panose="02010600040101010101" charset="-122"/>
              </a:rPr>
              <a:t>x</a:t>
            </a:r>
            <a:endParaRPr lang="en-US" altLang="zh-CN" b="1" kern="100" dirty="0">
              <a:solidFill>
                <a:srgbClr val="008000"/>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kern="100" dirty="0">
                <a:solidFill>
                  <a:srgbClr val="003366"/>
                </a:solidFill>
                <a:latin typeface="华文楷体" panose="02010600040101010101" pitchFamily="2" charset="-122"/>
                <a:ea typeface="华文楷体" panose="02010600040101010101" pitchFamily="2" charset="-122"/>
                <a:cs typeface="STKaiti" panose="02010600040101010101" charset="-122"/>
              </a:rPr>
              <a:t>与以下方法等价：</a:t>
            </a:r>
            <a:endParaRPr lang="en-US" altLang="zh-CN"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en-US" altLang="zh-CN" kern="100" dirty="0">
                <a:latin typeface="Consolas" panose="020B0609020204030204" pitchFamily="49" charset="0"/>
                <a:ea typeface="华文楷体" panose="02010600040101010101" pitchFamily="2" charset="-122"/>
                <a:cs typeface="STKaiti" panose="02010600040101010101" charset="-122"/>
              </a:rPr>
              <a:t>for(vector&lt;int&gt;::iterator it = </a:t>
            </a:r>
            <a:r>
              <a:rPr lang="en-US" altLang="zh-CN" kern="100" dirty="0" err="1">
                <a:latin typeface="Consolas" panose="020B0609020204030204" pitchFamily="49" charset="0"/>
                <a:ea typeface="华文楷体" panose="02010600040101010101" pitchFamily="2" charset="-122"/>
                <a:cs typeface="STKaiti" panose="02010600040101010101" charset="-122"/>
              </a:rPr>
              <a:t>vec.begin</a:t>
            </a:r>
            <a:r>
              <a:rPr lang="en-US" altLang="zh-CN" kern="100" dirty="0">
                <a:latin typeface="Consolas" panose="020B0609020204030204" pitchFamily="49" charset="0"/>
                <a:ea typeface="华文楷体" panose="02010600040101010101" pitchFamily="2" charset="-122"/>
                <a:cs typeface="STKaiti" panose="02010600040101010101" charset="-122"/>
              </a:rPr>
              <a:t>(); it != </a:t>
            </a:r>
            <a:r>
              <a:rPr lang="en-US" altLang="zh-CN" kern="100" dirty="0" err="1">
                <a:latin typeface="Consolas" panose="020B0609020204030204" pitchFamily="49" charset="0"/>
                <a:ea typeface="华文楷体" panose="02010600040101010101" pitchFamily="2" charset="-122"/>
                <a:cs typeface="STKaiti" panose="02010600040101010101" charset="-122"/>
              </a:rPr>
              <a:t>vec.end</a:t>
            </a:r>
            <a:r>
              <a:rPr lang="en-US" altLang="zh-CN" kern="100" dirty="0">
                <a:latin typeface="Consolas" panose="020B0609020204030204" pitchFamily="49" charset="0"/>
                <a:ea typeface="华文楷体" panose="02010600040101010101" pitchFamily="2" charset="-122"/>
                <a:cs typeface="STKaiti" panose="02010600040101010101" charset="-122"/>
              </a:rPr>
              <a:t>(); ++it)</a:t>
            </a:r>
          </a:p>
          <a:p>
            <a:pPr marL="0" indent="0">
              <a:lnSpc>
                <a:spcPct val="100000"/>
              </a:lnSpc>
              <a:buSzPct val="75000"/>
              <a:buNone/>
            </a:pPr>
            <a:r>
              <a:rPr lang="en-US" altLang="zh-CN" kern="100" dirty="0">
                <a:latin typeface="华文楷体" panose="02010600040101010101" pitchFamily="2" charset="-122"/>
                <a:ea typeface="华文楷体" panose="02010600040101010101" pitchFamily="2" charset="-122"/>
                <a:cs typeface="STKaiti" panose="02010600040101010101" charset="-122"/>
              </a:rPr>
              <a:t> </a:t>
            </a:r>
            <a:r>
              <a:rPr lang="en-US" altLang="zh-CN" b="1" kern="100" dirty="0">
                <a:solidFill>
                  <a:srgbClr val="008000"/>
                </a:solidFill>
                <a:latin typeface="华文楷体" panose="02010600040101010101" pitchFamily="2" charset="-122"/>
                <a:ea typeface="华文楷体" panose="02010600040101010101" pitchFamily="2" charset="-122"/>
                <a:cs typeface="STKaiti" panose="02010600040101010101" charset="-122"/>
              </a:rPr>
              <a:t>//</a:t>
            </a:r>
            <a:r>
              <a:rPr lang="zh-CN" altLang="en-US" b="1" kern="100" dirty="0">
                <a:solidFill>
                  <a:srgbClr val="008000"/>
                </a:solidFill>
                <a:latin typeface="华文楷体" panose="02010600040101010101" pitchFamily="2" charset="-122"/>
                <a:ea typeface="华文楷体" panose="02010600040101010101" pitchFamily="2" charset="-122"/>
                <a:cs typeface="STKaiti" panose="02010600040101010101" charset="-122"/>
              </a:rPr>
              <a:t>使用</a:t>
            </a:r>
            <a:r>
              <a:rPr lang="en-US" altLang="zh-CN" b="1" kern="100" dirty="0">
                <a:solidFill>
                  <a:srgbClr val="008000"/>
                </a:solidFill>
                <a:latin typeface="华文楷体" panose="02010600040101010101" pitchFamily="2" charset="-122"/>
                <a:ea typeface="华文楷体" panose="02010600040101010101" pitchFamily="2" charset="-122"/>
                <a:cs typeface="STKaiti" panose="02010600040101010101" charset="-122"/>
              </a:rPr>
              <a:t> *it</a:t>
            </a:r>
            <a:r>
              <a:rPr lang="zh-CN" altLang="en-US" b="1" kern="100" dirty="0">
                <a:solidFill>
                  <a:srgbClr val="008000"/>
                </a:solidFill>
                <a:latin typeface="华文楷体" panose="02010600040101010101" pitchFamily="2" charset="-122"/>
                <a:ea typeface="华文楷体" panose="02010600040101010101" pitchFamily="2" charset="-122"/>
                <a:cs typeface="STKaiti" panose="02010600040101010101" charset="-122"/>
              </a:rPr>
              <a:t>，即</a:t>
            </a:r>
            <a:r>
              <a:rPr lang="en-US" altLang="zh-CN" b="1" kern="100" dirty="0">
                <a:solidFill>
                  <a:srgbClr val="008000"/>
                </a:solidFill>
                <a:latin typeface="华文楷体" panose="02010600040101010101" pitchFamily="2" charset="-122"/>
                <a:ea typeface="华文楷体" panose="02010600040101010101" pitchFamily="2" charset="-122"/>
                <a:cs typeface="STKaiti" panose="02010600040101010101" charset="-122"/>
              </a:rPr>
              <a:t>it</a:t>
            </a:r>
            <a:r>
              <a:rPr lang="zh-CN" altLang="en-US" b="1" kern="100" dirty="0">
                <a:solidFill>
                  <a:srgbClr val="008000"/>
                </a:solidFill>
                <a:latin typeface="华文楷体" panose="02010600040101010101" pitchFamily="2" charset="-122"/>
                <a:ea typeface="华文楷体" panose="02010600040101010101" pitchFamily="2" charset="-122"/>
                <a:cs typeface="STKaiti" panose="02010600040101010101" charset="-122"/>
              </a:rPr>
              <a:t>是指向元素的指针</a:t>
            </a:r>
            <a:endParaRPr lang="en-US" altLang="zh-CN" b="1" kern="100" dirty="0">
              <a:solidFill>
                <a:srgbClr val="008000"/>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endParaRPr lang="en-US" altLang="zh-CN" b="1" kern="100" dirty="0">
              <a:solidFill>
                <a:srgbClr val="008000"/>
              </a:solidFill>
              <a:latin typeface="华文楷体" panose="02010600040101010101" pitchFamily="2" charset="-122"/>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34</a:t>
            </a:fld>
            <a:endParaRPr lang="en-US" altLang="zh-CN"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迭代器：以</a:t>
            </a:r>
            <a:r>
              <a:rPr kumimoji="1" lang="en-US" altLang="zh-CN" b="1" dirty="0">
                <a:latin typeface="微软雅黑" panose="020B0503020204020204" pitchFamily="34" charset="-122"/>
                <a:ea typeface="微软雅黑" panose="020B0503020204020204" pitchFamily="34" charset="-122"/>
              </a:rPr>
              <a:t>vector</a:t>
            </a:r>
            <a:r>
              <a:rPr kumimoji="1" lang="zh-CN" altLang="en-US" b="1" dirty="0">
                <a:latin typeface="微软雅黑" panose="020B0503020204020204" pitchFamily="34" charset="-122"/>
                <a:ea typeface="微软雅黑" panose="020B0503020204020204" pitchFamily="34" charset="-122"/>
              </a:rPr>
              <a:t>为例</a:t>
            </a:r>
          </a:p>
        </p:txBody>
      </p:sp>
      <p:sp>
        <p:nvSpPr>
          <p:cNvPr id="3" name="内容占位符 2"/>
          <p:cNvSpPr>
            <a:spLocks noGrp="1"/>
          </p:cNvSpPr>
          <p:nvPr>
            <p:ph idx="1"/>
          </p:nvPr>
        </p:nvSpPr>
        <p:spPr>
          <a:xfrm>
            <a:off x="628649" y="1690689"/>
            <a:ext cx="8082213" cy="4553700"/>
          </a:xfrm>
        </p:spPr>
        <p:txBody>
          <a:bodyPr>
            <a:normAutofit/>
          </a:bodyPr>
          <a:lstStyle/>
          <a:p>
            <a:pPr>
              <a:lnSpc>
                <a:spcPct val="100000"/>
              </a:lnSpc>
              <a:buSzPct val="75000"/>
              <a:buFont typeface="Wingdings" panose="05000000000000000000" pitchFamily="2" charset="2"/>
              <a:buChar char="n"/>
            </a:pPr>
            <a:r>
              <a:rPr lang="en-US" altLang="zh-CN" kern="100" dirty="0">
                <a:latin typeface="Consolas" panose="020B0609020204030204" pitchFamily="49" charset="0"/>
                <a:ea typeface="华文楷体" panose="02010600040101010101" pitchFamily="2" charset="-122"/>
                <a:cs typeface="STKaiti" panose="02010600040101010101" charset="-122"/>
              </a:rPr>
              <a:t>auto it = </a:t>
            </a:r>
            <a:r>
              <a:rPr lang="en-US" altLang="zh-CN" kern="100" dirty="0" err="1">
                <a:latin typeface="Consolas" panose="020B0609020204030204" pitchFamily="49" charset="0"/>
                <a:ea typeface="华文楷体" panose="02010600040101010101" pitchFamily="2" charset="-122"/>
                <a:cs typeface="STKaiti" panose="02010600040101010101" charset="-122"/>
              </a:rPr>
              <a:t>vec.begin</a:t>
            </a:r>
            <a:r>
              <a:rPr lang="en-US" altLang="zh-CN" kern="100" dirty="0">
                <a:latin typeface="Consolas" panose="020B0609020204030204" pitchFamily="49" charset="0"/>
                <a:ea typeface="华文楷体" panose="02010600040101010101" pitchFamily="2" charset="-122"/>
                <a:cs typeface="STKaiti" panose="02010600040101010101" charset="-122"/>
              </a:rPr>
              <a:t>();</a:t>
            </a:r>
          </a:p>
          <a:p>
            <a:pPr>
              <a:lnSpc>
                <a:spcPct val="100000"/>
              </a:lnSpc>
              <a:buSzPct val="75000"/>
              <a:buFont typeface="Wingdings" panose="05000000000000000000" pitchFamily="2" charset="2"/>
              <a:buChar char="n"/>
            </a:pPr>
            <a:r>
              <a:rPr lang="en-US" altLang="zh-CN" kern="100" dirty="0" err="1">
                <a:latin typeface="Consolas" panose="020B0609020204030204" pitchFamily="49" charset="0"/>
                <a:ea typeface="华文楷体" panose="02010600040101010101" pitchFamily="2" charset="-122"/>
                <a:cs typeface="STKaiti" panose="02010600040101010101" charset="-122"/>
              </a:rPr>
              <a:t>vec.erase</a:t>
            </a:r>
            <a:r>
              <a:rPr lang="en-US" altLang="zh-CN" kern="100" dirty="0">
                <a:latin typeface="Consolas" panose="020B0609020204030204" pitchFamily="49" charset="0"/>
                <a:ea typeface="华文楷体" panose="02010600040101010101" pitchFamily="2" charset="-122"/>
                <a:cs typeface="STKaiti" panose="02010600040101010101" charset="-122"/>
              </a:rPr>
              <a:t>(it);</a:t>
            </a:r>
          </a:p>
          <a:p>
            <a:pPr>
              <a:lnSpc>
                <a:spcPct val="100000"/>
              </a:lnSpc>
              <a:buSzPct val="75000"/>
              <a:buFont typeface="Wingdings" panose="05000000000000000000" pitchFamily="2" charset="2"/>
              <a:buChar char="n"/>
            </a:pPr>
            <a:r>
              <a:rPr lang="zh-CN" altLang="en-US" b="1" kern="100" dirty="0">
                <a:solidFill>
                  <a:srgbClr val="003366"/>
                </a:solidFill>
                <a:latin typeface="Consolas" panose="020B0609020204030204" pitchFamily="49" charset="0"/>
                <a:ea typeface="华文楷体" panose="02010600040101010101" pitchFamily="2" charset="-122"/>
                <a:cs typeface="STKaiti" panose="02010600040101010101" charset="-122"/>
              </a:rPr>
              <a:t>是否能继续使用</a:t>
            </a:r>
            <a:r>
              <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rPr>
              <a:t>it</a:t>
            </a:r>
            <a:r>
              <a:rPr lang="zh-CN" altLang="en-US" b="1" kern="100" dirty="0">
                <a:solidFill>
                  <a:srgbClr val="003366"/>
                </a:solidFill>
                <a:latin typeface="Consolas" panose="020B0609020204030204" pitchFamily="49" charset="0"/>
                <a:ea typeface="华文楷体" panose="02010600040101010101" pitchFamily="2" charset="-122"/>
                <a:cs typeface="STKaiti" panose="02010600040101010101" charset="-122"/>
              </a:rPr>
              <a:t>迭代器？</a:t>
            </a:r>
            <a:endPar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endParaRPr lang="en-US" altLang="zh-CN" kern="100" dirty="0">
              <a:latin typeface="华文楷体" panose="02010600040101010101" pitchFamily="2" charset="-122"/>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35</a:t>
            </a:fld>
            <a:endParaRPr lang="en-US" altLang="zh-CN"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迭代器：失效</a:t>
            </a:r>
          </a:p>
        </p:txBody>
      </p:sp>
      <p:sp>
        <p:nvSpPr>
          <p:cNvPr id="3" name="内容占位符 2"/>
          <p:cNvSpPr>
            <a:spLocks noGrp="1"/>
          </p:cNvSpPr>
          <p:nvPr>
            <p:ph idx="1"/>
          </p:nvPr>
        </p:nvSpPr>
        <p:spPr>
          <a:xfrm>
            <a:off x="628649" y="1690689"/>
            <a:ext cx="8082213" cy="4553700"/>
          </a:xfrm>
        </p:spPr>
        <p:txBody>
          <a:bodyPr>
            <a:normAutofit/>
          </a:bodyPr>
          <a:lstStyle/>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当迭代器不再指向本应指向的元素时，称此迭代器</a:t>
            </a: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失效</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en-US" altLang="zh-CN" b="1" kern="100" dirty="0">
                <a:latin typeface="Consolas" panose="020B0609020204030204" pitchFamily="49" charset="0"/>
                <a:ea typeface="华文楷体" panose="02010600040101010101" pitchFamily="2" charset="-122"/>
                <a:cs typeface="STKaiti" panose="02010600040101010101" charset="-122"/>
              </a:rPr>
              <a:t>vector</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中什么情况下会发生迭代器失效？</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看作纯粹的指针</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lvl="1">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调用</a:t>
            </a:r>
            <a:r>
              <a:rPr lang="en-US" altLang="zh-CN" b="1" kern="100" dirty="0">
                <a:latin typeface="Consolas" panose="020B0609020204030204" pitchFamily="49" charset="0"/>
                <a:ea typeface="华文楷体" panose="02010600040101010101" pitchFamily="2" charset="-122"/>
                <a:cs typeface="STKaiti" panose="02010600040101010101" charset="-122"/>
              </a:rPr>
              <a:t>insert/erase</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后，所修改位置之后的所有迭代器失效。（原先的内存空间存储的元素被改变）</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lvl="1">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调用</a:t>
            </a:r>
            <a:r>
              <a:rPr lang="en-US" altLang="zh-CN" b="1" kern="100" dirty="0" err="1">
                <a:latin typeface="Consolas" panose="020B0609020204030204" pitchFamily="49" charset="0"/>
                <a:ea typeface="华文楷体" panose="02010600040101010101" pitchFamily="2" charset="-122"/>
                <a:cs typeface="STKaiti" panose="02010600040101010101" charset="-122"/>
              </a:rPr>
              <a:t>push_back</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等修改</a:t>
            </a:r>
            <a:r>
              <a:rPr lang="en-US" altLang="zh-CN" b="1" kern="100" dirty="0">
                <a:latin typeface="Consolas" panose="020B0609020204030204" pitchFamily="49" charset="0"/>
                <a:ea typeface="华文楷体" panose="02010600040101010101" pitchFamily="2" charset="-122"/>
                <a:cs typeface="STKaiti" panose="02010600040101010101" charset="-122"/>
              </a:rPr>
              <a:t>vector</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大小的方法时，可能会使所有迭代器失效（</a:t>
            </a: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为什么？</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p>
          <a:p>
            <a:pPr marL="457200" lvl="1" indent="0">
              <a:lnSpc>
                <a:spcPct val="100000"/>
              </a:lnSpc>
              <a:buSzPct val="75000"/>
              <a:buFont typeface="Wingdings" panose="05000000000000000000" pitchFamily="2" charset="2"/>
              <a:buNone/>
            </a:pPr>
            <a:endPar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lvl="2">
              <a:lnSpc>
                <a:spcPct val="100000"/>
              </a:lnSpc>
              <a:buSzPct val="75000"/>
              <a:buFont typeface="Wingdings" panose="05000000000000000000" pitchFamily="2" charset="2"/>
              <a:buChar char="n"/>
            </a:pP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36</a:t>
            </a:fld>
            <a:endParaRPr lang="en-US" altLang="zh-CN"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b="1" dirty="0">
                <a:latin typeface="微软雅黑" panose="020B0503020204020204" pitchFamily="34" charset="-122"/>
                <a:ea typeface="微软雅黑" panose="020B0503020204020204" pitchFamily="34" charset="-122"/>
              </a:rPr>
              <a:t>STL</a:t>
            </a:r>
            <a:r>
              <a:rPr kumimoji="1" lang="zh-CN" altLang="en-US" b="1" dirty="0">
                <a:latin typeface="微软雅黑" panose="020B0503020204020204" pitchFamily="34" charset="-122"/>
                <a:ea typeface="微软雅黑" panose="020B0503020204020204" pitchFamily="34" charset="-122"/>
              </a:rPr>
              <a:t>容器：</a:t>
            </a:r>
            <a:r>
              <a:rPr kumimoji="1" lang="en-US" altLang="zh-CN" b="1" dirty="0">
                <a:latin typeface="微软雅黑" panose="020B0503020204020204" pitchFamily="34" charset="-122"/>
                <a:ea typeface="微软雅黑" panose="020B0503020204020204" pitchFamily="34" charset="-122"/>
              </a:rPr>
              <a:t>vector</a:t>
            </a:r>
            <a:r>
              <a:rPr kumimoji="1" lang="zh-CN" altLang="en-US" b="1" dirty="0">
                <a:latin typeface="微软雅黑" panose="020B0503020204020204" pitchFamily="34" charset="-122"/>
                <a:ea typeface="微软雅黑" panose="020B0503020204020204" pitchFamily="34" charset="-122"/>
              </a:rPr>
              <a:t>原理</a:t>
            </a:r>
          </a:p>
        </p:txBody>
      </p:sp>
      <p:sp>
        <p:nvSpPr>
          <p:cNvPr id="3" name="内容占位符 2"/>
          <p:cNvSpPr>
            <a:spLocks noGrp="1"/>
          </p:cNvSpPr>
          <p:nvPr>
            <p:ph idx="1"/>
          </p:nvPr>
        </p:nvSpPr>
        <p:spPr>
          <a:xfrm>
            <a:off x="628649" y="1690689"/>
            <a:ext cx="8082213" cy="4553700"/>
          </a:xfrm>
        </p:spPr>
        <p:txBody>
          <a:bodyPr>
            <a:normAutofit/>
          </a:bodyPr>
          <a:lstStyle/>
          <a:p>
            <a:pPr>
              <a:lnSpc>
                <a:spcPct val="100000"/>
              </a:lnSpc>
              <a:buSzPct val="75000"/>
              <a:buFont typeface="Wingdings" panose="05000000000000000000" pitchFamily="2" charset="2"/>
              <a:buChar char="n"/>
            </a:pPr>
            <a:r>
              <a:rPr lang="en-US" altLang="zh-CN" b="1" kern="100" dirty="0">
                <a:latin typeface="Consolas" panose="020B0609020204030204" pitchFamily="49" charset="0"/>
                <a:ea typeface="华文楷体" panose="02010600040101010101" pitchFamily="2" charset="-122"/>
                <a:cs typeface="STKaiti" panose="02010600040101010101" charset="-122"/>
              </a:rPr>
              <a:t>vector</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是会</a:t>
            </a: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自动扩展容量</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的</a:t>
            </a:r>
            <a:r>
              <a:rPr lang="zh-CN" altLang="en-US" b="1" u="sng" kern="100" dirty="0">
                <a:solidFill>
                  <a:srgbClr val="003366"/>
                </a:solidFill>
                <a:latin typeface="华文楷体" panose="02010600040101010101" pitchFamily="2" charset="-122"/>
                <a:ea typeface="华文楷体" panose="02010600040101010101" pitchFamily="2" charset="-122"/>
                <a:cs typeface="STKaiti" panose="02010600040101010101" charset="-122"/>
              </a:rPr>
              <a:t>数组</a:t>
            </a:r>
            <a:endParaRPr lang="en-US" altLang="zh-CN" b="1" u="sng"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除了</a:t>
            </a:r>
            <a:r>
              <a:rPr lang="en-US" altLang="zh-CN" b="1" kern="100" dirty="0">
                <a:latin typeface="Consolas" panose="020B0609020204030204" pitchFamily="49" charset="0"/>
                <a:ea typeface="华文楷体" panose="02010600040101010101" pitchFamily="2" charset="-122"/>
                <a:cs typeface="STKaiti" panose="02010600040101010101" charset="-122"/>
              </a:rPr>
              <a:t>size</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，另保存</a:t>
            </a:r>
            <a:r>
              <a:rPr lang="en-US" altLang="zh-CN" b="1" kern="100" dirty="0">
                <a:latin typeface="Consolas" panose="020B0609020204030204" pitchFamily="49" charset="0"/>
                <a:ea typeface="华文楷体" panose="02010600040101010101" pitchFamily="2" charset="-122"/>
                <a:cs typeface="STKaiti" panose="02010600040101010101" charset="-122"/>
              </a:rPr>
              <a:t>capacity</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：最大容量限制。</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如果</a:t>
            </a:r>
            <a:r>
              <a:rPr lang="en-US" altLang="zh-CN" b="1" kern="100" dirty="0">
                <a:latin typeface="Consolas" panose="020B0609020204030204" pitchFamily="49" charset="0"/>
                <a:ea typeface="华文楷体" panose="02010600040101010101" pitchFamily="2" charset="-122"/>
                <a:cs typeface="STKaiti" panose="02010600040101010101" charset="-122"/>
              </a:rPr>
              <a:t>size</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达到了</a:t>
            </a:r>
            <a:r>
              <a:rPr lang="en-US" altLang="zh-CN" b="1" kern="100" dirty="0">
                <a:latin typeface="Consolas" panose="020B0609020204030204" pitchFamily="49" charset="0"/>
                <a:ea typeface="华文楷体" panose="02010600040101010101" pitchFamily="2" charset="-122"/>
                <a:cs typeface="STKaiti" panose="02010600040101010101" charset="-122"/>
              </a:rPr>
              <a:t>capacity</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，则另申请一片</a:t>
            </a:r>
            <a:r>
              <a:rPr lang="en-US" altLang="zh-CN" b="1" kern="100" dirty="0">
                <a:latin typeface="Consolas" panose="020B0609020204030204" pitchFamily="49" charset="0"/>
                <a:ea typeface="华文楷体" panose="02010600040101010101" pitchFamily="2" charset="-122"/>
                <a:cs typeface="STKaiti" panose="02010600040101010101" charset="-122"/>
              </a:rPr>
              <a:t>capacity*2</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的空间，并整体迁移</a:t>
            </a:r>
            <a:r>
              <a:rPr lang="en-US" altLang="zh-CN" b="1" kern="100" dirty="0">
                <a:latin typeface="Consolas" panose="020B0609020204030204" pitchFamily="49" charset="0"/>
                <a:ea typeface="华文楷体" panose="02010600040101010101" pitchFamily="2" charset="-122"/>
                <a:cs typeface="STKaiti" panose="02010600040101010101" charset="-122"/>
              </a:rPr>
              <a:t>vector</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内容。</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其时间复杂度为均摊</a:t>
            </a:r>
            <a:r>
              <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rPr>
              <a:t>O(1)</a:t>
            </a:r>
            <a:r>
              <a:rPr lang="zh-CN" altLang="en-US" b="1" kern="100" dirty="0">
                <a:solidFill>
                  <a:srgbClr val="003366"/>
                </a:solidFill>
                <a:latin typeface="Consolas" panose="020B0609020204030204" pitchFamily="49" charset="0"/>
                <a:ea typeface="华文楷体" panose="02010600040101010101" pitchFamily="2" charset="-122"/>
                <a:cs typeface="STKaiti" panose="02010600040101010101" charset="-122"/>
              </a:rPr>
              <a:t>。</a:t>
            </a:r>
            <a:endPar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整体迁移过程使所有迭代器失效。</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37</a:t>
            </a:fld>
            <a:endParaRPr lang="en-US" altLang="zh-CN"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6"/>
            <a:ext cx="7886700" cy="1325563"/>
          </a:xfrm>
        </p:spPr>
        <p:txBody>
          <a:bodyPr/>
          <a:lstStyle/>
          <a:p>
            <a:r>
              <a:rPr kumimoji="1" lang="en-US" altLang="zh-CN" b="1" dirty="0">
                <a:latin typeface="微软雅黑" panose="020B0503020204020204" pitchFamily="34" charset="-122"/>
                <a:ea typeface="微软雅黑" panose="020B0503020204020204" pitchFamily="34" charset="-122"/>
              </a:rPr>
              <a:t>STL</a:t>
            </a:r>
            <a:r>
              <a:rPr kumimoji="1" lang="zh-CN" altLang="en-US" b="1" dirty="0">
                <a:latin typeface="微软雅黑" panose="020B0503020204020204" pitchFamily="34" charset="-122"/>
                <a:ea typeface="微软雅黑" panose="020B0503020204020204" pitchFamily="34" charset="-122"/>
              </a:rPr>
              <a:t>容器：</a:t>
            </a:r>
            <a:r>
              <a:rPr kumimoji="1" lang="en-US" altLang="zh-CN" b="1" dirty="0">
                <a:latin typeface="微软雅黑" panose="020B0503020204020204" pitchFamily="34" charset="-122"/>
                <a:ea typeface="微软雅黑" panose="020B0503020204020204" pitchFamily="34" charset="-122"/>
              </a:rPr>
              <a:t>vector</a:t>
            </a:r>
            <a:r>
              <a:rPr kumimoji="1" lang="zh-CN" altLang="en-US" b="1" dirty="0">
                <a:latin typeface="微软雅黑" panose="020B0503020204020204" pitchFamily="34" charset="-122"/>
                <a:ea typeface="微软雅黑" panose="020B0503020204020204" pitchFamily="34" charset="-122"/>
              </a:rPr>
              <a:t>原理</a:t>
            </a: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38</a:t>
            </a:fld>
            <a:endParaRPr lang="en-US" altLang="zh-CN"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3225" y="1970348"/>
            <a:ext cx="7757549" cy="4106343"/>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迭代器：失效</a:t>
            </a:r>
          </a:p>
        </p:txBody>
      </p:sp>
      <p:sp>
        <p:nvSpPr>
          <p:cNvPr id="3" name="内容占位符 2"/>
          <p:cNvSpPr>
            <a:spLocks noGrp="1"/>
          </p:cNvSpPr>
          <p:nvPr>
            <p:ph idx="1"/>
          </p:nvPr>
        </p:nvSpPr>
        <p:spPr>
          <a:xfrm>
            <a:off x="628649" y="1690689"/>
            <a:ext cx="8082213" cy="4553700"/>
          </a:xfrm>
        </p:spPr>
        <p:txBody>
          <a:bodyPr>
            <a:normAutofit fontScale="92500" lnSpcReduction="10000"/>
          </a:bodyPr>
          <a:lstStyle/>
          <a:p>
            <a:pPr>
              <a:lnSpc>
                <a:spcPct val="100000"/>
              </a:lnSpc>
              <a:buSzPct val="75000"/>
              <a:buFont typeface="Wingdings" panose="05000000000000000000" pitchFamily="2" charset="2"/>
              <a:buChar char="n"/>
            </a:pPr>
            <a:r>
              <a:rPr lang="zh-CN" altLang="en-US" sz="32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在遍历的时候增加元素，可能会导致迭代器失效</a:t>
            </a:r>
            <a:endParaRPr lang="en-US" altLang="zh-CN" sz="3200"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en-US" altLang="zh-CN" sz="2000" kern="100" dirty="0">
                <a:latin typeface="Consolas" panose="020B0609020204030204" pitchFamily="49" charset="0"/>
                <a:ea typeface="华文楷体" panose="02010600040101010101" pitchFamily="2" charset="-122"/>
                <a:cs typeface="STKaiti" panose="02010600040101010101" charset="-122"/>
              </a:rPr>
              <a:t>#include &lt;iostream&gt;</a:t>
            </a:r>
          </a:p>
          <a:p>
            <a:pPr marL="0" indent="0">
              <a:lnSpc>
                <a:spcPct val="100000"/>
              </a:lnSpc>
              <a:buSzPct val="75000"/>
              <a:buNone/>
            </a:pPr>
            <a:r>
              <a:rPr lang="en-US" altLang="zh-CN" sz="2000" kern="100" dirty="0">
                <a:latin typeface="Consolas" panose="020B0609020204030204" pitchFamily="49" charset="0"/>
                <a:ea typeface="华文楷体" panose="02010600040101010101" pitchFamily="2" charset="-122"/>
                <a:cs typeface="STKaiti" panose="02010600040101010101" charset="-122"/>
              </a:rPr>
              <a:t>#include &lt;vector&gt;</a:t>
            </a:r>
          </a:p>
          <a:p>
            <a:pPr marL="0" indent="0">
              <a:lnSpc>
                <a:spcPct val="100000"/>
              </a:lnSpc>
              <a:buSzPct val="75000"/>
              <a:buNone/>
            </a:pPr>
            <a:r>
              <a:rPr lang="en-US" altLang="zh-CN" sz="2000" kern="100" dirty="0">
                <a:latin typeface="Consolas" panose="020B0609020204030204" pitchFamily="49" charset="0"/>
                <a:ea typeface="华文楷体" panose="02010600040101010101" pitchFamily="2" charset="-122"/>
                <a:cs typeface="STKaiti" panose="02010600040101010101" charset="-122"/>
              </a:rPr>
              <a:t>using namespace std;</a:t>
            </a:r>
          </a:p>
          <a:p>
            <a:pPr marL="0" indent="0">
              <a:lnSpc>
                <a:spcPct val="100000"/>
              </a:lnSpc>
              <a:buSzPct val="75000"/>
              <a:buNone/>
            </a:pPr>
            <a:r>
              <a:rPr lang="en-US" altLang="zh-CN" sz="2000" kern="100" dirty="0">
                <a:latin typeface="Consolas" panose="020B0609020204030204" pitchFamily="49" charset="0"/>
                <a:ea typeface="华文楷体" panose="02010600040101010101" pitchFamily="2" charset="-122"/>
                <a:cs typeface="STKaiti" panose="02010600040101010101" charset="-122"/>
              </a:rPr>
              <a:t>int main(){   </a:t>
            </a:r>
          </a:p>
          <a:p>
            <a:pPr marL="0" indent="0">
              <a:lnSpc>
                <a:spcPct val="100000"/>
              </a:lnSpc>
              <a:buSzPct val="75000"/>
              <a:buNone/>
            </a:pPr>
            <a:r>
              <a:rPr lang="en-US" altLang="zh-CN" sz="2000" kern="100" dirty="0">
                <a:latin typeface="Consolas" panose="020B0609020204030204" pitchFamily="49" charset="0"/>
                <a:ea typeface="华文楷体" panose="02010600040101010101" pitchFamily="2" charset="-122"/>
                <a:cs typeface="STKaiti" panose="02010600040101010101" charset="-122"/>
              </a:rPr>
              <a:t>   vector&lt;int&gt; </a:t>
            </a:r>
            <a:r>
              <a:rPr lang="en-US" altLang="zh-CN" sz="2000" kern="100" dirty="0" err="1">
                <a:latin typeface="Consolas" panose="020B0609020204030204" pitchFamily="49" charset="0"/>
                <a:ea typeface="华文楷体" panose="02010600040101010101" pitchFamily="2" charset="-122"/>
                <a:cs typeface="STKaiti" panose="02010600040101010101" charset="-122"/>
              </a:rPr>
              <a:t>vec</a:t>
            </a:r>
            <a:r>
              <a:rPr lang="en-US" altLang="zh-CN" sz="2000" kern="100" dirty="0">
                <a:latin typeface="Consolas" panose="020B0609020204030204" pitchFamily="49" charset="0"/>
                <a:ea typeface="华文楷体" panose="02010600040101010101" pitchFamily="2" charset="-122"/>
                <a:cs typeface="STKaiti" panose="02010600040101010101" charset="-122"/>
              </a:rPr>
              <a:t> = {1,2,3,4,5};</a:t>
            </a:r>
          </a:p>
          <a:p>
            <a:pPr marL="0" indent="0">
              <a:lnSpc>
                <a:spcPct val="100000"/>
              </a:lnSpc>
              <a:buSzPct val="75000"/>
              <a:buNone/>
            </a:pPr>
            <a:r>
              <a:rPr lang="en-US" altLang="zh-CN" sz="2000" kern="100" dirty="0">
                <a:latin typeface="Consolas" panose="020B0609020204030204" pitchFamily="49" charset="0"/>
                <a:ea typeface="华文楷体" panose="02010600040101010101" pitchFamily="2" charset="-122"/>
                <a:cs typeface="STKaiti" panose="02010600040101010101" charset="-122"/>
              </a:rPr>
              <a:t>   for(auto it = </a:t>
            </a:r>
            <a:r>
              <a:rPr lang="en-US" altLang="zh-CN" sz="2000" kern="100" dirty="0" err="1">
                <a:latin typeface="Consolas" panose="020B0609020204030204" pitchFamily="49" charset="0"/>
                <a:ea typeface="华文楷体" panose="02010600040101010101" pitchFamily="2" charset="-122"/>
                <a:cs typeface="STKaiti" panose="02010600040101010101" charset="-122"/>
              </a:rPr>
              <a:t>vec.begin</a:t>
            </a:r>
            <a:r>
              <a:rPr lang="en-US" altLang="zh-CN" sz="2000" kern="100" dirty="0">
                <a:latin typeface="Consolas" panose="020B0609020204030204" pitchFamily="49" charset="0"/>
                <a:ea typeface="华文楷体" panose="02010600040101010101" pitchFamily="2" charset="-122"/>
                <a:cs typeface="STKaiti" panose="02010600040101010101" charset="-122"/>
              </a:rPr>
              <a:t>(); it != </a:t>
            </a:r>
            <a:r>
              <a:rPr lang="en-US" altLang="zh-CN" sz="2000" kern="100" dirty="0" err="1">
                <a:latin typeface="Consolas" panose="020B0609020204030204" pitchFamily="49" charset="0"/>
                <a:ea typeface="华文楷体" panose="02010600040101010101" pitchFamily="2" charset="-122"/>
                <a:cs typeface="STKaiti" panose="02010600040101010101" charset="-122"/>
              </a:rPr>
              <a:t>vec.end</a:t>
            </a:r>
            <a:r>
              <a:rPr lang="en-US" altLang="zh-CN" sz="2000" kern="100" dirty="0">
                <a:latin typeface="Consolas" panose="020B0609020204030204" pitchFamily="49" charset="0"/>
                <a:ea typeface="华文楷体" panose="02010600040101010101" pitchFamily="2" charset="-122"/>
                <a:cs typeface="STKaiti" panose="02010600040101010101" charset="-122"/>
              </a:rPr>
              <a:t>(); ++it)</a:t>
            </a:r>
          </a:p>
          <a:p>
            <a:pPr marL="0" indent="0">
              <a:lnSpc>
                <a:spcPct val="100000"/>
              </a:lnSpc>
              <a:buSzPct val="75000"/>
              <a:buNone/>
            </a:pPr>
            <a:r>
              <a:rPr lang="en-US" altLang="zh-CN" sz="2000" kern="100" dirty="0">
                <a:latin typeface="Consolas" panose="020B0609020204030204" pitchFamily="49" charset="0"/>
                <a:ea typeface="华文楷体" panose="02010600040101010101" pitchFamily="2" charset="-122"/>
                <a:cs typeface="STKaiti" panose="02010600040101010101" charset="-122"/>
              </a:rPr>
              <a:t>      </a:t>
            </a:r>
            <a:r>
              <a:rPr lang="en-US" altLang="zh-CN" sz="2000" kern="100" dirty="0" err="1">
                <a:latin typeface="Consolas" panose="020B0609020204030204" pitchFamily="49" charset="0"/>
                <a:ea typeface="华文楷体" panose="02010600040101010101" pitchFamily="2" charset="-122"/>
                <a:cs typeface="STKaiti" panose="02010600040101010101" charset="-122"/>
              </a:rPr>
              <a:t>vec.push_back</a:t>
            </a:r>
            <a:r>
              <a:rPr lang="en-US" altLang="zh-CN" sz="2000" kern="100" dirty="0">
                <a:latin typeface="Consolas" panose="020B0609020204030204" pitchFamily="49" charset="0"/>
                <a:ea typeface="华文楷体" panose="02010600040101010101" pitchFamily="2" charset="-122"/>
                <a:cs typeface="STKaiti" panose="02010600040101010101" charset="-122"/>
              </a:rPr>
              <a:t>(*it); </a:t>
            </a:r>
            <a:r>
              <a:rPr lang="en-US" altLang="zh-CN" sz="2000" kern="100" dirty="0">
                <a:solidFill>
                  <a:srgbClr val="FF0000"/>
                </a:solidFill>
                <a:latin typeface="Consolas" panose="020B0609020204030204" pitchFamily="49" charset="0"/>
                <a:ea typeface="华文楷体" panose="02010600040101010101" pitchFamily="2" charset="-122"/>
                <a:cs typeface="STKaiti" panose="02010600040101010101" charset="-122"/>
              </a:rPr>
              <a:t>//Error</a:t>
            </a:r>
          </a:p>
          <a:p>
            <a:pPr marL="0" indent="0">
              <a:lnSpc>
                <a:spcPct val="100000"/>
              </a:lnSpc>
              <a:buSzPct val="75000"/>
              <a:buNone/>
            </a:pPr>
            <a:r>
              <a:rPr lang="en-US" altLang="zh-CN" sz="2000" kern="100" dirty="0">
                <a:solidFill>
                  <a:srgbClr val="FF0000"/>
                </a:solidFill>
                <a:latin typeface="Consolas" panose="020B0609020204030204" pitchFamily="49" charset="0"/>
                <a:ea typeface="华文楷体" panose="02010600040101010101" pitchFamily="2" charset="-122"/>
                <a:cs typeface="STKaiti" panose="02010600040101010101" charset="-122"/>
              </a:rPr>
              <a:t>   </a:t>
            </a:r>
            <a:r>
              <a:rPr lang="en-US" altLang="zh-CN" sz="2000" kern="100" dirty="0">
                <a:latin typeface="Consolas" panose="020B0609020204030204" pitchFamily="49" charset="0"/>
                <a:ea typeface="华文楷体" panose="02010600040101010101" pitchFamily="2" charset="-122"/>
                <a:cs typeface="STKaiti" panose="02010600040101010101" charset="-122"/>
              </a:rPr>
              <a:t>return 0;</a:t>
            </a:r>
          </a:p>
          <a:p>
            <a:pPr marL="0" indent="0">
              <a:lnSpc>
                <a:spcPct val="100000"/>
              </a:lnSpc>
              <a:buSzPct val="75000"/>
              <a:buNone/>
            </a:pPr>
            <a:r>
              <a:rPr lang="en-US" altLang="zh-CN" sz="2000" kern="100" dirty="0">
                <a:latin typeface="Consolas" panose="020B0609020204030204" pitchFamily="49" charset="0"/>
                <a:ea typeface="华文楷体" panose="02010600040101010101" pitchFamily="2" charset="-122"/>
                <a:cs typeface="STKaiti" panose="02010600040101010101" charset="-122"/>
              </a:rPr>
              <a:t>}</a:t>
            </a: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39</a:t>
            </a:fld>
            <a:endParaRPr lang="en-US" altLang="zh-CN"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49" y="365126"/>
            <a:ext cx="8191965" cy="1325563"/>
          </a:xfrm>
        </p:spPr>
        <p:txBody>
          <a:bodyPr/>
          <a:lstStyle/>
          <a:p>
            <a:r>
              <a:rPr kumimoji="1" lang="en-US" altLang="zh-CN" b="1" dirty="0">
                <a:latin typeface="微软雅黑" panose="020B0503020204020204" pitchFamily="34" charset="-122"/>
                <a:ea typeface="微软雅黑" panose="020B0503020204020204" pitchFamily="34" charset="-122"/>
              </a:rPr>
              <a:t>STL</a:t>
            </a:r>
            <a:r>
              <a:rPr kumimoji="1" lang="zh-CN" altLang="en-US" b="1" dirty="0">
                <a:latin typeface="微软雅黑" panose="020B0503020204020204" pitchFamily="34" charset="-122"/>
                <a:ea typeface="微软雅黑" panose="020B0503020204020204" pitchFamily="34" charset="-122"/>
              </a:rPr>
              <a:t>容器：</a:t>
            </a:r>
            <a:r>
              <a:rPr kumimoji="1" lang="en-US" altLang="zh-CN" b="1" dirty="0" err="1">
                <a:latin typeface="微软雅黑" panose="020B0503020204020204" pitchFamily="34" charset="-122"/>
                <a:ea typeface="微软雅黑" panose="020B0503020204020204" pitchFamily="34" charset="-122"/>
              </a:rPr>
              <a:t>push_back</a:t>
            </a:r>
            <a:r>
              <a:rPr kumimoji="1" lang="zh-CN" altLang="en-US" b="1" dirty="0">
                <a:latin typeface="微软雅黑" panose="020B0503020204020204" pitchFamily="34" charset="-122"/>
                <a:ea typeface="微软雅黑" panose="020B0503020204020204" pitchFamily="34" charset="-122"/>
              </a:rPr>
              <a:t>失效原理</a:t>
            </a: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40</a:t>
            </a:fld>
            <a:endParaRPr lang="en-US" altLang="zh-CN" dirty="0"/>
          </a:p>
        </p:txBody>
      </p:sp>
      <p:grpSp>
        <p:nvGrpSpPr>
          <p:cNvPr id="4" name="组合 3"/>
          <p:cNvGrpSpPr/>
          <p:nvPr/>
        </p:nvGrpSpPr>
        <p:grpSpPr>
          <a:xfrm>
            <a:off x="2346450" y="2456587"/>
            <a:ext cx="3854825" cy="735106"/>
            <a:chOff x="1353670" y="2312894"/>
            <a:chExt cx="3854825" cy="735106"/>
          </a:xfrm>
        </p:grpSpPr>
        <p:sp>
          <p:nvSpPr>
            <p:cNvPr id="6" name="矩形 2"/>
            <p:cNvSpPr/>
            <p:nvPr/>
          </p:nvSpPr>
          <p:spPr>
            <a:xfrm>
              <a:off x="1353670" y="2312894"/>
              <a:ext cx="770965" cy="735106"/>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4400" dirty="0"/>
                <a:t>1</a:t>
              </a:r>
              <a:endParaRPr lang="zh-CN" altLang="en-US" sz="4400" dirty="0"/>
            </a:p>
          </p:txBody>
        </p:sp>
        <p:sp>
          <p:nvSpPr>
            <p:cNvPr id="7" name="矩形 6"/>
            <p:cNvSpPr/>
            <p:nvPr/>
          </p:nvSpPr>
          <p:spPr>
            <a:xfrm>
              <a:off x="2124635" y="2312894"/>
              <a:ext cx="770965" cy="735106"/>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4400" dirty="0">
                  <a:solidFill>
                    <a:schemeClr val="tx1"/>
                  </a:solidFill>
                </a:rPr>
                <a:t>2</a:t>
              </a:r>
              <a:endParaRPr lang="zh-CN" altLang="en-US" sz="4400" dirty="0">
                <a:solidFill>
                  <a:schemeClr val="tx1"/>
                </a:solidFill>
              </a:endParaRPr>
            </a:p>
          </p:txBody>
        </p:sp>
        <p:sp>
          <p:nvSpPr>
            <p:cNvPr id="8" name="矩形 7"/>
            <p:cNvSpPr/>
            <p:nvPr/>
          </p:nvSpPr>
          <p:spPr>
            <a:xfrm>
              <a:off x="2895600" y="2312894"/>
              <a:ext cx="770965" cy="735106"/>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4400" dirty="0"/>
                <a:t>3</a:t>
              </a:r>
              <a:endParaRPr lang="zh-CN" altLang="en-US" sz="4400" dirty="0"/>
            </a:p>
          </p:txBody>
        </p:sp>
        <p:sp>
          <p:nvSpPr>
            <p:cNvPr id="9" name="矩形 8"/>
            <p:cNvSpPr/>
            <p:nvPr/>
          </p:nvSpPr>
          <p:spPr>
            <a:xfrm>
              <a:off x="3666565" y="2312894"/>
              <a:ext cx="770965" cy="735106"/>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4400" dirty="0"/>
                <a:t>1</a:t>
              </a:r>
              <a:endParaRPr lang="zh-CN" altLang="en-US" sz="4400" dirty="0"/>
            </a:p>
          </p:txBody>
        </p:sp>
        <p:sp>
          <p:nvSpPr>
            <p:cNvPr id="10" name="矩形 9"/>
            <p:cNvSpPr/>
            <p:nvPr/>
          </p:nvSpPr>
          <p:spPr>
            <a:xfrm>
              <a:off x="4437530" y="2312894"/>
              <a:ext cx="770965" cy="735106"/>
            </a:xfrm>
            <a:prstGeom prst="rect">
              <a:avLst/>
            </a:prstGeom>
            <a:ln w="38100">
              <a:prstDash val="sysDot"/>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4400" dirty="0"/>
            </a:p>
          </p:txBody>
        </p:sp>
      </p:grpSp>
      <p:grpSp>
        <p:nvGrpSpPr>
          <p:cNvPr id="13" name="组合 26"/>
          <p:cNvGrpSpPr/>
          <p:nvPr/>
        </p:nvGrpSpPr>
        <p:grpSpPr>
          <a:xfrm>
            <a:off x="1668373" y="5090235"/>
            <a:ext cx="6167720" cy="735107"/>
            <a:chOff x="1353670" y="2312893"/>
            <a:chExt cx="6167720" cy="735107"/>
          </a:xfrm>
        </p:grpSpPr>
        <p:sp>
          <p:nvSpPr>
            <p:cNvPr id="14" name="矩形 27"/>
            <p:cNvSpPr/>
            <p:nvPr/>
          </p:nvSpPr>
          <p:spPr>
            <a:xfrm>
              <a:off x="1353670" y="2312894"/>
              <a:ext cx="770965" cy="735106"/>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4400" dirty="0"/>
                <a:t>1</a:t>
              </a:r>
              <a:endParaRPr lang="zh-CN" altLang="en-US" sz="4400" dirty="0"/>
            </a:p>
          </p:txBody>
        </p:sp>
        <p:sp>
          <p:nvSpPr>
            <p:cNvPr id="15" name="矩形 28"/>
            <p:cNvSpPr/>
            <p:nvPr/>
          </p:nvSpPr>
          <p:spPr>
            <a:xfrm>
              <a:off x="2124635" y="2312894"/>
              <a:ext cx="770965" cy="735106"/>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4400" dirty="0">
                  <a:solidFill>
                    <a:schemeClr val="tx1"/>
                  </a:solidFill>
                </a:rPr>
                <a:t>2</a:t>
              </a:r>
              <a:endParaRPr lang="zh-CN" altLang="en-US" sz="4400" dirty="0">
                <a:solidFill>
                  <a:schemeClr val="tx1"/>
                </a:solidFill>
              </a:endParaRPr>
            </a:p>
          </p:txBody>
        </p:sp>
        <p:sp>
          <p:nvSpPr>
            <p:cNvPr id="16" name="矩形 29"/>
            <p:cNvSpPr/>
            <p:nvPr/>
          </p:nvSpPr>
          <p:spPr>
            <a:xfrm>
              <a:off x="2895600" y="2312894"/>
              <a:ext cx="770965" cy="735106"/>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4400" dirty="0">
                  <a:solidFill>
                    <a:schemeClr val="tx1"/>
                  </a:solidFill>
                </a:rPr>
                <a:t>3</a:t>
              </a:r>
              <a:endParaRPr lang="zh-CN" altLang="en-US" sz="4400" dirty="0">
                <a:solidFill>
                  <a:schemeClr val="tx1"/>
                </a:solidFill>
              </a:endParaRPr>
            </a:p>
          </p:txBody>
        </p:sp>
        <p:sp>
          <p:nvSpPr>
            <p:cNvPr id="17" name="矩形 30"/>
            <p:cNvSpPr/>
            <p:nvPr/>
          </p:nvSpPr>
          <p:spPr>
            <a:xfrm>
              <a:off x="3666565" y="2312894"/>
              <a:ext cx="770965" cy="735106"/>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4400" dirty="0">
                  <a:solidFill>
                    <a:schemeClr val="tx1"/>
                  </a:solidFill>
                </a:rPr>
                <a:t>1</a:t>
              </a:r>
              <a:endParaRPr lang="zh-CN" altLang="en-US" sz="4400" dirty="0">
                <a:solidFill>
                  <a:schemeClr val="tx1"/>
                </a:solidFill>
              </a:endParaRPr>
            </a:p>
          </p:txBody>
        </p:sp>
        <p:sp>
          <p:nvSpPr>
            <p:cNvPr id="18" name="矩形 31"/>
            <p:cNvSpPr/>
            <p:nvPr/>
          </p:nvSpPr>
          <p:spPr>
            <a:xfrm>
              <a:off x="4437530" y="2312894"/>
              <a:ext cx="770965" cy="735106"/>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4400" dirty="0">
                  <a:solidFill>
                    <a:srgbClr val="FF0000"/>
                  </a:solidFill>
                </a:rPr>
                <a:t>2</a:t>
              </a:r>
              <a:endParaRPr lang="zh-CN" altLang="en-US" sz="4400" dirty="0">
                <a:solidFill>
                  <a:srgbClr val="FF0000"/>
                </a:solidFill>
              </a:endParaRPr>
            </a:p>
          </p:txBody>
        </p:sp>
        <p:sp>
          <p:nvSpPr>
            <p:cNvPr id="19" name="矩形 32"/>
            <p:cNvSpPr/>
            <p:nvPr/>
          </p:nvSpPr>
          <p:spPr>
            <a:xfrm>
              <a:off x="5208495" y="2312894"/>
              <a:ext cx="770965" cy="735106"/>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4400"/>
            </a:p>
          </p:txBody>
        </p:sp>
        <p:sp>
          <p:nvSpPr>
            <p:cNvPr id="20" name="矩形 33"/>
            <p:cNvSpPr/>
            <p:nvPr/>
          </p:nvSpPr>
          <p:spPr>
            <a:xfrm>
              <a:off x="5979460" y="2312894"/>
              <a:ext cx="770965" cy="735106"/>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4400"/>
            </a:p>
          </p:txBody>
        </p:sp>
        <p:sp>
          <p:nvSpPr>
            <p:cNvPr id="37" name="矩形 33"/>
            <p:cNvSpPr/>
            <p:nvPr/>
          </p:nvSpPr>
          <p:spPr>
            <a:xfrm>
              <a:off x="6750425" y="2312893"/>
              <a:ext cx="770965" cy="735106"/>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4400"/>
            </a:p>
          </p:txBody>
        </p:sp>
      </p:grpSp>
      <p:cxnSp>
        <p:nvCxnSpPr>
          <p:cNvPr id="21" name="直接箭头连接符 35"/>
          <p:cNvCxnSpPr/>
          <p:nvPr/>
        </p:nvCxnSpPr>
        <p:spPr>
          <a:xfrm>
            <a:off x="5836553" y="1834382"/>
            <a:ext cx="0" cy="622205"/>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sp>
        <p:nvSpPr>
          <p:cNvPr id="22" name="文本框 36"/>
          <p:cNvSpPr txBox="1"/>
          <p:nvPr/>
        </p:nvSpPr>
        <p:spPr>
          <a:xfrm>
            <a:off x="5830390" y="1613978"/>
            <a:ext cx="3098925" cy="1200329"/>
          </a:xfrm>
          <a:prstGeom prst="rect">
            <a:avLst/>
          </a:prstGeom>
          <a:noFill/>
        </p:spPr>
        <p:txBody>
          <a:bodyPr wrap="none" rtlCol="0">
            <a:spAutoFit/>
          </a:bodyPr>
          <a:lstStyle/>
          <a:p>
            <a:r>
              <a:rPr lang="zh-CN" altLang="en-US" sz="3600" dirty="0">
                <a:solidFill>
                  <a:srgbClr val="FF0000"/>
                </a:solidFill>
                <a:latin typeface="华文楷体" panose="02010600040101010101" pitchFamily="2" charset="-122"/>
                <a:ea typeface="华文楷体" panose="02010600040101010101" pitchFamily="2" charset="-122"/>
              </a:rPr>
              <a:t>增加 </a:t>
            </a:r>
            <a:r>
              <a:rPr lang="en-US" altLang="zh-CN" sz="2800" dirty="0" err="1">
                <a:latin typeface="华文楷体" panose="02010600040101010101" pitchFamily="2" charset="-122"/>
                <a:ea typeface="华文楷体" panose="02010600040101010101" pitchFamily="2" charset="-122"/>
              </a:rPr>
              <a:t>push_back</a:t>
            </a:r>
            <a:r>
              <a:rPr lang="en-US" altLang="zh-CN" sz="2800" dirty="0">
                <a:latin typeface="华文楷体" panose="02010600040101010101" pitchFamily="2" charset="-122"/>
                <a:ea typeface="华文楷体" panose="02010600040101010101" pitchFamily="2" charset="-122"/>
              </a:rPr>
              <a:t>(2)</a:t>
            </a:r>
            <a:endParaRPr lang="zh-CN" altLang="en-US" sz="2800" dirty="0">
              <a:latin typeface="华文楷体" panose="02010600040101010101" pitchFamily="2" charset="-122"/>
              <a:ea typeface="华文楷体" panose="02010600040101010101" pitchFamily="2" charset="-122"/>
            </a:endParaRPr>
          </a:p>
          <a:p>
            <a:endParaRPr lang="zh-CN" altLang="en-US" sz="3600" dirty="0">
              <a:solidFill>
                <a:srgbClr val="FF0000"/>
              </a:solidFill>
              <a:latin typeface="华文楷体" panose="02010600040101010101" pitchFamily="2" charset="-122"/>
              <a:ea typeface="华文楷体" panose="02010600040101010101" pitchFamily="2" charset="-122"/>
            </a:endParaRPr>
          </a:p>
        </p:txBody>
      </p:sp>
      <p:sp>
        <p:nvSpPr>
          <p:cNvPr id="24" name="文本框 41"/>
          <p:cNvSpPr txBox="1"/>
          <p:nvPr/>
        </p:nvSpPr>
        <p:spPr>
          <a:xfrm>
            <a:off x="1103763" y="3737246"/>
            <a:ext cx="6955750" cy="461665"/>
          </a:xfrm>
          <a:prstGeom prst="rect">
            <a:avLst/>
          </a:prstGeom>
          <a:noFill/>
        </p:spPr>
        <p:txBody>
          <a:bodyPr wrap="none" rtlCol="0">
            <a:spAutoFit/>
          </a:bodyPr>
          <a:lstStyle/>
          <a:p>
            <a:r>
              <a:rPr lang="zh-CN" altLang="en-US" sz="2400" dirty="0">
                <a:latin typeface="华文楷体" panose="02010600040101010101" pitchFamily="2" charset="-122"/>
                <a:ea typeface="华文楷体" panose="02010600040101010101" pitchFamily="2" charset="-122"/>
              </a:rPr>
              <a:t>开辟新倍增内存并复制已有数据，</a:t>
            </a:r>
            <a:r>
              <a:rPr lang="zh-CN" altLang="en-US" sz="2400" dirty="0">
                <a:solidFill>
                  <a:srgbClr val="FF0000"/>
                </a:solidFill>
                <a:latin typeface="华文楷体" panose="02010600040101010101" pitchFamily="2" charset="-122"/>
                <a:ea typeface="华文楷体" panose="02010600040101010101" pitchFamily="2" charset="-122"/>
              </a:rPr>
              <a:t>所有迭代器失效</a:t>
            </a:r>
          </a:p>
        </p:txBody>
      </p:sp>
      <p:sp>
        <p:nvSpPr>
          <p:cNvPr id="30" name="文本框 41"/>
          <p:cNvSpPr txBox="1"/>
          <p:nvPr/>
        </p:nvSpPr>
        <p:spPr>
          <a:xfrm>
            <a:off x="5387785" y="3191693"/>
            <a:ext cx="843501" cy="461665"/>
          </a:xfrm>
          <a:prstGeom prst="rect">
            <a:avLst/>
          </a:prstGeom>
          <a:noFill/>
        </p:spPr>
        <p:txBody>
          <a:bodyPr wrap="none" rtlCol="0">
            <a:spAutoFit/>
          </a:bodyPr>
          <a:lstStyle/>
          <a:p>
            <a:r>
              <a:rPr lang="en-US" altLang="zh-CN" sz="2400" dirty="0">
                <a:latin typeface="华文楷体" panose="02010600040101010101" pitchFamily="2" charset="-122"/>
                <a:ea typeface="华文楷体" panose="02010600040101010101" pitchFamily="2" charset="-122"/>
              </a:rPr>
              <a:t>end()</a:t>
            </a:r>
            <a:endParaRPr lang="zh-CN" altLang="en-US" sz="2400" dirty="0">
              <a:latin typeface="华文楷体" panose="02010600040101010101" pitchFamily="2" charset="-122"/>
              <a:ea typeface="华文楷体" panose="02010600040101010101" pitchFamily="2" charset="-122"/>
            </a:endParaRPr>
          </a:p>
        </p:txBody>
      </p:sp>
      <p:sp>
        <p:nvSpPr>
          <p:cNvPr id="31" name="文本框 41"/>
          <p:cNvSpPr txBox="1"/>
          <p:nvPr/>
        </p:nvSpPr>
        <p:spPr>
          <a:xfrm>
            <a:off x="2250809" y="3198167"/>
            <a:ext cx="1077539" cy="461665"/>
          </a:xfrm>
          <a:prstGeom prst="rect">
            <a:avLst/>
          </a:prstGeom>
          <a:noFill/>
        </p:spPr>
        <p:txBody>
          <a:bodyPr wrap="none" rtlCol="0">
            <a:spAutoFit/>
          </a:bodyPr>
          <a:lstStyle/>
          <a:p>
            <a:r>
              <a:rPr lang="en-US" altLang="zh-CN" sz="2400" dirty="0">
                <a:latin typeface="华文楷体" panose="02010600040101010101" pitchFamily="2" charset="-122"/>
                <a:ea typeface="华文楷体" panose="02010600040101010101" pitchFamily="2" charset="-122"/>
              </a:rPr>
              <a:t>begin()</a:t>
            </a:r>
            <a:endParaRPr lang="zh-CN" altLang="en-US" sz="2400" dirty="0">
              <a:latin typeface="华文楷体" panose="02010600040101010101" pitchFamily="2" charset="-122"/>
              <a:ea typeface="华文楷体" panose="02010600040101010101" pitchFamily="2" charset="-122"/>
            </a:endParaRPr>
          </a:p>
        </p:txBody>
      </p:sp>
      <p:cxnSp>
        <p:nvCxnSpPr>
          <p:cNvPr id="32" name="直接箭头连接符 35"/>
          <p:cNvCxnSpPr/>
          <p:nvPr/>
        </p:nvCxnSpPr>
        <p:spPr>
          <a:xfrm>
            <a:off x="5039348" y="1834382"/>
            <a:ext cx="0" cy="622205"/>
          </a:xfrm>
          <a:prstGeom prst="straightConnector1">
            <a:avLst/>
          </a:prstGeom>
          <a:ln w="12700">
            <a:tailEnd type="triangle"/>
          </a:ln>
        </p:spPr>
        <p:style>
          <a:lnRef idx="3">
            <a:schemeClr val="dk1"/>
          </a:lnRef>
          <a:fillRef idx="0">
            <a:schemeClr val="dk1"/>
          </a:fillRef>
          <a:effectRef idx="2">
            <a:schemeClr val="dk1"/>
          </a:effectRef>
          <a:fontRef idx="minor">
            <a:schemeClr val="tx1"/>
          </a:fontRef>
        </p:style>
      </p:cxnSp>
      <p:cxnSp>
        <p:nvCxnSpPr>
          <p:cNvPr id="33" name="直接箭头连接符 35"/>
          <p:cNvCxnSpPr/>
          <p:nvPr/>
        </p:nvCxnSpPr>
        <p:spPr>
          <a:xfrm>
            <a:off x="2741146" y="1834382"/>
            <a:ext cx="0" cy="622205"/>
          </a:xfrm>
          <a:prstGeom prst="straightConnector1">
            <a:avLst/>
          </a:prstGeom>
          <a:ln w="12700">
            <a:tailEnd type="triangle"/>
          </a:ln>
        </p:spPr>
        <p:style>
          <a:lnRef idx="3">
            <a:schemeClr val="dk1"/>
          </a:lnRef>
          <a:fillRef idx="0">
            <a:schemeClr val="dk1"/>
          </a:fillRef>
          <a:effectRef idx="2">
            <a:schemeClr val="dk1"/>
          </a:effectRef>
          <a:fontRef idx="minor">
            <a:schemeClr val="tx1"/>
          </a:fontRef>
        </p:style>
      </p:cxnSp>
      <p:cxnSp>
        <p:nvCxnSpPr>
          <p:cNvPr id="35" name="Straight Arrow Connector 34"/>
          <p:cNvCxnSpPr/>
          <p:nvPr/>
        </p:nvCxnSpPr>
        <p:spPr>
          <a:xfrm>
            <a:off x="2741146" y="1944158"/>
            <a:ext cx="2292040"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36" name="文本框 41"/>
          <p:cNvSpPr txBox="1"/>
          <p:nvPr/>
        </p:nvSpPr>
        <p:spPr>
          <a:xfrm>
            <a:off x="3260231" y="1482493"/>
            <a:ext cx="1253869" cy="461665"/>
          </a:xfrm>
          <a:prstGeom prst="rect">
            <a:avLst/>
          </a:prstGeom>
          <a:noFill/>
        </p:spPr>
        <p:txBody>
          <a:bodyPr wrap="none" rtlCol="0">
            <a:spAutoFit/>
          </a:bodyPr>
          <a:lstStyle/>
          <a:p>
            <a:r>
              <a:rPr lang="en-US" altLang="zh-CN" sz="2400" dirty="0">
                <a:latin typeface="华文楷体" panose="02010600040101010101" pitchFamily="2" charset="-122"/>
                <a:ea typeface="华文楷体" panose="02010600040101010101" pitchFamily="2" charset="-122"/>
              </a:rPr>
              <a:t>capacity</a:t>
            </a:r>
            <a:endParaRPr lang="zh-CN" altLang="en-US" sz="2400" dirty="0">
              <a:latin typeface="华文楷体" panose="02010600040101010101" pitchFamily="2" charset="-122"/>
              <a:ea typeface="华文楷体" panose="02010600040101010101" pitchFamily="2" charset="-122"/>
            </a:endParaRPr>
          </a:p>
        </p:txBody>
      </p:sp>
      <p:cxnSp>
        <p:nvCxnSpPr>
          <p:cNvPr id="39" name="直接箭头连接符 35"/>
          <p:cNvCxnSpPr/>
          <p:nvPr/>
        </p:nvCxnSpPr>
        <p:spPr>
          <a:xfrm>
            <a:off x="7450268" y="4660728"/>
            <a:ext cx="0" cy="414614"/>
          </a:xfrm>
          <a:prstGeom prst="straightConnector1">
            <a:avLst/>
          </a:prstGeom>
          <a:ln w="12700">
            <a:tailEnd type="triangle"/>
          </a:ln>
        </p:spPr>
        <p:style>
          <a:lnRef idx="3">
            <a:schemeClr val="dk1"/>
          </a:lnRef>
          <a:fillRef idx="0">
            <a:schemeClr val="dk1"/>
          </a:fillRef>
          <a:effectRef idx="2">
            <a:schemeClr val="dk1"/>
          </a:effectRef>
          <a:fontRef idx="minor">
            <a:schemeClr val="tx1"/>
          </a:fontRef>
        </p:style>
      </p:cxnSp>
      <p:cxnSp>
        <p:nvCxnSpPr>
          <p:cNvPr id="40" name="直接箭头连接符 35"/>
          <p:cNvCxnSpPr/>
          <p:nvPr/>
        </p:nvCxnSpPr>
        <p:spPr>
          <a:xfrm>
            <a:off x="2061372" y="4660728"/>
            <a:ext cx="7860" cy="414614"/>
          </a:xfrm>
          <a:prstGeom prst="straightConnector1">
            <a:avLst/>
          </a:prstGeom>
          <a:ln w="12700">
            <a:tailEnd type="triangle"/>
          </a:ln>
        </p:spPr>
        <p:style>
          <a:lnRef idx="3">
            <a:schemeClr val="dk1"/>
          </a:lnRef>
          <a:fillRef idx="0">
            <a:schemeClr val="dk1"/>
          </a:fillRef>
          <a:effectRef idx="2">
            <a:schemeClr val="dk1"/>
          </a:effectRef>
          <a:fontRef idx="minor">
            <a:schemeClr val="tx1"/>
          </a:fontRef>
        </p:style>
      </p:cxnSp>
      <p:cxnSp>
        <p:nvCxnSpPr>
          <p:cNvPr id="41" name="Straight Arrow Connector 40"/>
          <p:cNvCxnSpPr/>
          <p:nvPr/>
        </p:nvCxnSpPr>
        <p:spPr>
          <a:xfrm>
            <a:off x="2069232" y="4781988"/>
            <a:ext cx="5381036"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42" name="文本框 41"/>
          <p:cNvSpPr txBox="1"/>
          <p:nvPr/>
        </p:nvSpPr>
        <p:spPr>
          <a:xfrm>
            <a:off x="4152290" y="4304287"/>
            <a:ext cx="1253869" cy="461665"/>
          </a:xfrm>
          <a:prstGeom prst="rect">
            <a:avLst/>
          </a:prstGeom>
          <a:noFill/>
        </p:spPr>
        <p:txBody>
          <a:bodyPr wrap="none" rtlCol="0">
            <a:spAutoFit/>
          </a:bodyPr>
          <a:lstStyle/>
          <a:p>
            <a:r>
              <a:rPr lang="en-US" altLang="zh-CN" sz="2400" dirty="0">
                <a:latin typeface="华文楷体" panose="02010600040101010101" pitchFamily="2" charset="-122"/>
                <a:ea typeface="华文楷体" panose="02010600040101010101" pitchFamily="2" charset="-122"/>
              </a:rPr>
              <a:t>capacity</a:t>
            </a:r>
            <a:endParaRPr lang="zh-CN" altLang="en-US" sz="2400" dirty="0">
              <a:latin typeface="华文楷体" panose="02010600040101010101" pitchFamily="2" charset="-122"/>
              <a:ea typeface="华文楷体" panose="02010600040101010101" pitchFamily="2" charset="-122"/>
            </a:endParaRPr>
          </a:p>
        </p:txBody>
      </p:sp>
      <p:sp>
        <p:nvSpPr>
          <p:cNvPr id="12" name="文本框 11"/>
          <p:cNvSpPr txBox="1"/>
          <p:nvPr/>
        </p:nvSpPr>
        <p:spPr>
          <a:xfrm>
            <a:off x="615687" y="2562530"/>
            <a:ext cx="1534459" cy="523220"/>
          </a:xfrm>
          <a:prstGeom prst="rect">
            <a:avLst/>
          </a:prstGeom>
          <a:noFill/>
        </p:spPr>
        <p:txBody>
          <a:bodyPr wrap="none" rtlCol="0">
            <a:spAutoFit/>
          </a:bodyPr>
          <a:lstStyle/>
          <a:p>
            <a:r>
              <a:rPr lang="en-US" altLang="zh-CN" sz="2800" dirty="0"/>
              <a:t>Address1</a:t>
            </a:r>
            <a:endParaRPr lang="zh-CN" altLang="en-US" sz="2800" dirty="0"/>
          </a:p>
        </p:txBody>
      </p:sp>
      <p:sp>
        <p:nvSpPr>
          <p:cNvPr id="44" name="文本框 43"/>
          <p:cNvSpPr txBox="1"/>
          <p:nvPr/>
        </p:nvSpPr>
        <p:spPr>
          <a:xfrm>
            <a:off x="133914" y="5196178"/>
            <a:ext cx="1534459" cy="523220"/>
          </a:xfrm>
          <a:prstGeom prst="rect">
            <a:avLst/>
          </a:prstGeom>
          <a:noFill/>
        </p:spPr>
        <p:txBody>
          <a:bodyPr wrap="none" rtlCol="0">
            <a:spAutoFit/>
          </a:bodyPr>
          <a:lstStyle/>
          <a:p>
            <a:r>
              <a:rPr lang="en-US" altLang="zh-CN" sz="2800" dirty="0"/>
              <a:t>Address2</a:t>
            </a:r>
            <a:endParaRPr lang="zh-CN" altLang="en-US" sz="2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迭代器：失效</a:t>
            </a:r>
          </a:p>
        </p:txBody>
      </p:sp>
      <p:sp>
        <p:nvSpPr>
          <p:cNvPr id="3" name="内容占位符 2"/>
          <p:cNvSpPr>
            <a:spLocks noGrp="1"/>
          </p:cNvSpPr>
          <p:nvPr>
            <p:ph idx="1"/>
          </p:nvPr>
        </p:nvSpPr>
        <p:spPr>
          <a:xfrm>
            <a:off x="628650" y="1547254"/>
            <a:ext cx="8082213" cy="5174222"/>
          </a:xfrm>
        </p:spPr>
        <p:txBody>
          <a:bodyPr>
            <a:normAutofit/>
          </a:bodyPr>
          <a:lstStyle/>
          <a:p>
            <a:pPr>
              <a:lnSpc>
                <a:spcPct val="100000"/>
              </a:lnSpc>
              <a:buSzPct val="75000"/>
              <a:buFont typeface="Wingdings" panose="05000000000000000000" pitchFamily="2" charset="2"/>
              <a:buChar char="n"/>
            </a:pPr>
            <a:r>
              <a:rPr lang="zh-CN" altLang="en-US" sz="32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使用</a:t>
            </a:r>
            <a:r>
              <a:rPr lang="en-US" altLang="zh-CN" sz="32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erase</a:t>
            </a:r>
            <a:r>
              <a:rPr lang="zh-CN" altLang="en-US" sz="32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删除元素，被删除元素及之后的所有元素均会失效</a:t>
            </a:r>
            <a:endParaRPr lang="en-US" altLang="zh-CN" sz="3200"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en-US" altLang="zh-CN" kern="100" dirty="0">
                <a:latin typeface="Consolas" panose="020B0609020204030204" pitchFamily="49" charset="0"/>
                <a:ea typeface="华文楷体" panose="02010600040101010101" pitchFamily="2" charset="-122"/>
                <a:cs typeface="STKaiti" panose="02010600040101010101" charset="-122"/>
              </a:rPr>
              <a:t>   vector&lt;</a:t>
            </a:r>
            <a:r>
              <a:rPr lang="en-US" altLang="zh-CN" kern="100" dirty="0" err="1">
                <a:latin typeface="Consolas" panose="020B0609020204030204" pitchFamily="49" charset="0"/>
                <a:ea typeface="华文楷体" panose="02010600040101010101" pitchFamily="2" charset="-122"/>
                <a:cs typeface="STKaiti" panose="02010600040101010101" charset="-122"/>
              </a:rPr>
              <a:t>int</a:t>
            </a:r>
            <a:r>
              <a:rPr lang="en-US" altLang="zh-CN" kern="100" dirty="0">
                <a:latin typeface="Consolas" panose="020B0609020204030204" pitchFamily="49" charset="0"/>
                <a:ea typeface="华文楷体" panose="02010600040101010101" pitchFamily="2" charset="-122"/>
                <a:cs typeface="STKaiti" panose="02010600040101010101" charset="-122"/>
              </a:rPr>
              <a:t>&gt; </a:t>
            </a:r>
            <a:r>
              <a:rPr lang="en-US" altLang="zh-CN" kern="100" dirty="0" err="1">
                <a:latin typeface="Consolas" panose="020B0609020204030204" pitchFamily="49" charset="0"/>
                <a:ea typeface="华文楷体" panose="02010600040101010101" pitchFamily="2" charset="-122"/>
                <a:cs typeface="STKaiti" panose="02010600040101010101" charset="-122"/>
              </a:rPr>
              <a:t>vec</a:t>
            </a:r>
            <a:r>
              <a:rPr lang="en-US" altLang="zh-CN" kern="100" dirty="0">
                <a:latin typeface="Consolas" panose="020B0609020204030204" pitchFamily="49" charset="0"/>
                <a:ea typeface="华文楷体" panose="02010600040101010101" pitchFamily="2" charset="-122"/>
                <a:cs typeface="STKaiti" panose="02010600040101010101" charset="-122"/>
              </a:rPr>
              <a:t> = {1,2,3,4,5};</a:t>
            </a:r>
          </a:p>
          <a:p>
            <a:pPr marL="0" indent="0">
              <a:lnSpc>
                <a:spcPct val="100000"/>
              </a:lnSpc>
              <a:buSzPct val="75000"/>
              <a:buNone/>
            </a:pPr>
            <a:r>
              <a:rPr lang="en-US" altLang="zh-CN" kern="100" dirty="0">
                <a:latin typeface="Consolas" panose="020B0609020204030204" pitchFamily="49" charset="0"/>
                <a:ea typeface="华文楷体" panose="02010600040101010101" pitchFamily="2" charset="-122"/>
                <a:cs typeface="STKaiti" panose="02010600040101010101" charset="-122"/>
              </a:rPr>
              <a:t>   auto first = </a:t>
            </a:r>
            <a:r>
              <a:rPr lang="en-US" altLang="zh-CN" kern="100" dirty="0" err="1">
                <a:latin typeface="Consolas" panose="020B0609020204030204" pitchFamily="49" charset="0"/>
                <a:ea typeface="华文楷体" panose="02010600040101010101" pitchFamily="2" charset="-122"/>
                <a:cs typeface="STKaiti" panose="02010600040101010101" charset="-122"/>
              </a:rPr>
              <a:t>vec.begin</a:t>
            </a:r>
            <a:r>
              <a:rPr lang="en-US" altLang="zh-CN" kern="100" dirty="0">
                <a:latin typeface="Consolas" panose="020B0609020204030204" pitchFamily="49" charset="0"/>
                <a:ea typeface="华文楷体" panose="02010600040101010101" pitchFamily="2" charset="-122"/>
                <a:cs typeface="STKaiti" panose="02010600040101010101" charset="-122"/>
              </a:rPr>
              <a:t>();</a:t>
            </a:r>
          </a:p>
          <a:p>
            <a:pPr marL="0" indent="0">
              <a:lnSpc>
                <a:spcPct val="100000"/>
              </a:lnSpc>
              <a:buSzPct val="75000"/>
              <a:buNone/>
            </a:pPr>
            <a:r>
              <a:rPr lang="en-US" altLang="zh-CN" kern="100" dirty="0">
                <a:latin typeface="Consolas" panose="020B0609020204030204" pitchFamily="49" charset="0"/>
                <a:ea typeface="华文楷体" panose="02010600040101010101" pitchFamily="2" charset="-122"/>
                <a:cs typeface="STKaiti" panose="02010600040101010101" charset="-122"/>
              </a:rPr>
              <a:t>   auto second = </a:t>
            </a:r>
            <a:r>
              <a:rPr lang="en-US" altLang="zh-CN" kern="100" dirty="0" err="1">
                <a:latin typeface="Consolas" panose="020B0609020204030204" pitchFamily="49" charset="0"/>
                <a:ea typeface="华文楷体" panose="02010600040101010101" pitchFamily="2" charset="-122"/>
                <a:cs typeface="STKaiti" panose="02010600040101010101" charset="-122"/>
              </a:rPr>
              <a:t>vec.begin</a:t>
            </a:r>
            <a:r>
              <a:rPr lang="en-US" altLang="zh-CN" kern="100" dirty="0">
                <a:latin typeface="Consolas" panose="020B0609020204030204" pitchFamily="49" charset="0"/>
                <a:ea typeface="华文楷体" panose="02010600040101010101" pitchFamily="2" charset="-122"/>
                <a:cs typeface="STKaiti" panose="02010600040101010101" charset="-122"/>
              </a:rPr>
              <a:t>() + 1;</a:t>
            </a:r>
          </a:p>
          <a:p>
            <a:pPr marL="0" indent="0">
              <a:lnSpc>
                <a:spcPct val="100000"/>
              </a:lnSpc>
              <a:buSzPct val="75000"/>
              <a:buNone/>
            </a:pPr>
            <a:r>
              <a:rPr lang="en-US" altLang="zh-CN" kern="100" dirty="0">
                <a:latin typeface="Consolas" panose="020B0609020204030204" pitchFamily="49" charset="0"/>
                <a:ea typeface="华文楷体" panose="02010600040101010101" pitchFamily="2" charset="-122"/>
                <a:cs typeface="STKaiti" panose="02010600040101010101" charset="-122"/>
              </a:rPr>
              <a:t>   auto third = </a:t>
            </a:r>
            <a:r>
              <a:rPr lang="en-US" altLang="zh-CN" kern="100" dirty="0" err="1">
                <a:latin typeface="Consolas" panose="020B0609020204030204" pitchFamily="49" charset="0"/>
                <a:ea typeface="华文楷体" panose="02010600040101010101" pitchFamily="2" charset="-122"/>
                <a:cs typeface="STKaiti" panose="02010600040101010101" charset="-122"/>
              </a:rPr>
              <a:t>vec.begin</a:t>
            </a:r>
            <a:r>
              <a:rPr lang="en-US" altLang="zh-CN" kern="100" dirty="0">
                <a:latin typeface="Consolas" panose="020B0609020204030204" pitchFamily="49" charset="0"/>
                <a:ea typeface="华文楷体" panose="02010600040101010101" pitchFamily="2" charset="-122"/>
                <a:cs typeface="STKaiti" panose="02010600040101010101" charset="-122"/>
              </a:rPr>
              <a:t>() + 2;</a:t>
            </a:r>
          </a:p>
          <a:p>
            <a:pPr marL="0" indent="0">
              <a:lnSpc>
                <a:spcPct val="100000"/>
              </a:lnSpc>
              <a:buSzPct val="75000"/>
              <a:buNone/>
            </a:pPr>
            <a:r>
              <a:rPr lang="en-US" altLang="zh-CN" kern="100" dirty="0">
                <a:latin typeface="Consolas" panose="020B0609020204030204" pitchFamily="49" charset="0"/>
                <a:ea typeface="华文楷体" panose="02010600040101010101" pitchFamily="2" charset="-122"/>
                <a:cs typeface="STKaiti" panose="02010600040101010101" charset="-122"/>
              </a:rPr>
              <a:t>   auto ret = </a:t>
            </a:r>
            <a:r>
              <a:rPr lang="en-US" altLang="zh-CN" kern="100" dirty="0" err="1">
                <a:latin typeface="Consolas" panose="020B0609020204030204" pitchFamily="49" charset="0"/>
                <a:ea typeface="华文楷体" panose="02010600040101010101" pitchFamily="2" charset="-122"/>
                <a:cs typeface="STKaiti" panose="02010600040101010101" charset="-122"/>
              </a:rPr>
              <a:t>vec.erase</a:t>
            </a:r>
            <a:r>
              <a:rPr lang="en-US" altLang="zh-CN" kern="100" dirty="0">
                <a:latin typeface="Consolas" panose="020B0609020204030204" pitchFamily="49" charset="0"/>
                <a:ea typeface="华文楷体" panose="02010600040101010101" pitchFamily="2" charset="-122"/>
                <a:cs typeface="STKaiti" panose="02010600040101010101" charset="-122"/>
              </a:rPr>
              <a:t>(second);</a:t>
            </a:r>
          </a:p>
          <a:p>
            <a:pPr marL="0" indent="0">
              <a:lnSpc>
                <a:spcPct val="100000"/>
              </a:lnSpc>
              <a:buSzPct val="75000"/>
              <a:buNone/>
            </a:pPr>
            <a:r>
              <a:rPr lang="en-US" altLang="zh-CN" kern="100" dirty="0">
                <a:latin typeface="Consolas" panose="020B0609020204030204" pitchFamily="49" charset="0"/>
                <a:ea typeface="华文楷体" panose="02010600040101010101" pitchFamily="2" charset="-122"/>
                <a:cs typeface="STKaiti" panose="02010600040101010101" charset="-122"/>
              </a:rPr>
              <a:t>   </a:t>
            </a:r>
            <a:r>
              <a:rPr lang="en-US" altLang="zh-CN" b="1" kern="100" dirty="0">
                <a:solidFill>
                  <a:srgbClr val="008000"/>
                </a:solidFill>
                <a:latin typeface="Consolas" panose="020B0609020204030204" pitchFamily="49" charset="0"/>
                <a:ea typeface="华文楷体" panose="02010600040101010101" pitchFamily="2" charset="-122"/>
                <a:cs typeface="STKaiti" panose="02010600040101010101" charset="-122"/>
              </a:rPr>
              <a:t>//first</a:t>
            </a:r>
            <a:r>
              <a:rPr lang="zh-CN" altLang="en-US" b="1" kern="100" dirty="0">
                <a:solidFill>
                  <a:srgbClr val="008000"/>
                </a:solidFill>
                <a:latin typeface="Consolas" panose="020B0609020204030204" pitchFamily="49" charset="0"/>
                <a:ea typeface="华文楷体" panose="02010600040101010101" pitchFamily="2" charset="-122"/>
                <a:cs typeface="STKaiti" panose="02010600040101010101" charset="-122"/>
              </a:rPr>
              <a:t>指向</a:t>
            </a:r>
            <a:r>
              <a:rPr lang="en-US" altLang="zh-CN" b="1" kern="100" dirty="0">
                <a:solidFill>
                  <a:srgbClr val="008000"/>
                </a:solidFill>
                <a:latin typeface="Consolas" panose="020B0609020204030204" pitchFamily="49" charset="0"/>
                <a:ea typeface="华文楷体" panose="02010600040101010101" pitchFamily="2" charset="-122"/>
                <a:cs typeface="STKaiti" panose="02010600040101010101" charset="-122"/>
              </a:rPr>
              <a:t>1</a:t>
            </a:r>
            <a:r>
              <a:rPr lang="zh-CN" altLang="en-US" b="1" kern="100" dirty="0">
                <a:solidFill>
                  <a:srgbClr val="008000"/>
                </a:solidFill>
                <a:latin typeface="Consolas" panose="020B0609020204030204" pitchFamily="49" charset="0"/>
                <a:ea typeface="华文楷体" panose="02010600040101010101" pitchFamily="2" charset="-122"/>
                <a:cs typeface="STKaiti" panose="02010600040101010101" charset="-122"/>
              </a:rPr>
              <a:t>，</a:t>
            </a:r>
            <a:r>
              <a:rPr lang="en-US" altLang="zh-CN" b="1" kern="100" dirty="0">
                <a:solidFill>
                  <a:srgbClr val="008000"/>
                </a:solidFill>
                <a:latin typeface="Consolas" panose="020B0609020204030204" pitchFamily="49" charset="0"/>
                <a:ea typeface="华文楷体" panose="02010600040101010101" pitchFamily="2" charset="-122"/>
                <a:cs typeface="STKaiti" panose="02010600040101010101" charset="-122"/>
              </a:rPr>
              <a:t>second</a:t>
            </a:r>
            <a:r>
              <a:rPr lang="zh-CN" altLang="en-US" b="1" kern="100" dirty="0">
                <a:solidFill>
                  <a:srgbClr val="008000"/>
                </a:solidFill>
                <a:latin typeface="Consolas" panose="020B0609020204030204" pitchFamily="49" charset="0"/>
                <a:ea typeface="华文楷体" panose="02010600040101010101" pitchFamily="2" charset="-122"/>
                <a:cs typeface="STKaiti" panose="02010600040101010101" charset="-122"/>
              </a:rPr>
              <a:t>和</a:t>
            </a:r>
            <a:r>
              <a:rPr lang="en-US" altLang="zh-CN" b="1" kern="100" dirty="0">
                <a:solidFill>
                  <a:srgbClr val="008000"/>
                </a:solidFill>
                <a:latin typeface="Consolas" panose="020B0609020204030204" pitchFamily="49" charset="0"/>
                <a:ea typeface="华文楷体" panose="02010600040101010101" pitchFamily="2" charset="-122"/>
                <a:cs typeface="STKaiti" panose="02010600040101010101" charset="-122"/>
              </a:rPr>
              <a:t>third</a:t>
            </a:r>
            <a:r>
              <a:rPr lang="zh-CN" altLang="en-US" b="1" kern="100" dirty="0">
                <a:solidFill>
                  <a:srgbClr val="008000"/>
                </a:solidFill>
                <a:latin typeface="Consolas" panose="020B0609020204030204" pitchFamily="49" charset="0"/>
                <a:ea typeface="华文楷体" panose="02010600040101010101" pitchFamily="2" charset="-122"/>
                <a:cs typeface="STKaiti" panose="02010600040101010101" charset="-122"/>
              </a:rPr>
              <a:t>失效</a:t>
            </a:r>
            <a:endParaRPr lang="en-US" altLang="zh-CN" b="1" kern="100" dirty="0">
              <a:solidFill>
                <a:srgbClr val="008000"/>
              </a:solidFill>
              <a:latin typeface="Consolas" panose="020B0609020204030204" pitchFamily="49" charset="0"/>
              <a:ea typeface="华文楷体" panose="02010600040101010101" pitchFamily="2" charset="-122"/>
              <a:cs typeface="STKaiti" panose="02010600040101010101" charset="-122"/>
            </a:endParaRPr>
          </a:p>
          <a:p>
            <a:pPr marL="0" indent="0">
              <a:lnSpc>
                <a:spcPct val="100000"/>
              </a:lnSpc>
              <a:buSzPct val="75000"/>
              <a:buNone/>
            </a:pPr>
            <a:r>
              <a:rPr lang="en-US" altLang="zh-CN" b="1" kern="100" dirty="0">
                <a:solidFill>
                  <a:srgbClr val="008000"/>
                </a:solidFill>
                <a:latin typeface="Consolas" panose="020B0609020204030204" pitchFamily="49" charset="0"/>
                <a:ea typeface="华文楷体" panose="02010600040101010101" pitchFamily="2" charset="-122"/>
                <a:cs typeface="STKaiti" panose="02010600040101010101" charset="-122"/>
              </a:rPr>
              <a:t>   //ret</a:t>
            </a:r>
            <a:r>
              <a:rPr lang="zh-CN" altLang="en-US" b="1" kern="100" dirty="0">
                <a:solidFill>
                  <a:srgbClr val="008000"/>
                </a:solidFill>
                <a:latin typeface="Consolas" panose="020B0609020204030204" pitchFamily="49" charset="0"/>
                <a:ea typeface="华文楷体" panose="02010600040101010101" pitchFamily="2" charset="-122"/>
                <a:cs typeface="STKaiti" panose="02010600040101010101" charset="-122"/>
              </a:rPr>
              <a:t>指向</a:t>
            </a:r>
            <a:r>
              <a:rPr lang="en-US" altLang="zh-CN" b="1" kern="100" dirty="0">
                <a:solidFill>
                  <a:srgbClr val="008000"/>
                </a:solidFill>
                <a:latin typeface="Consolas" panose="020B0609020204030204" pitchFamily="49" charset="0"/>
                <a:ea typeface="华文楷体" panose="02010600040101010101" pitchFamily="2" charset="-122"/>
                <a:cs typeface="STKaiti" panose="02010600040101010101" charset="-122"/>
              </a:rPr>
              <a:t>3</a:t>
            </a: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41</a:t>
            </a:fld>
            <a:endParaRPr lang="en-US" altLang="zh-CN"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6"/>
            <a:ext cx="7886700" cy="1325563"/>
          </a:xfrm>
        </p:spPr>
        <p:txBody>
          <a:bodyPr/>
          <a:lstStyle/>
          <a:p>
            <a:r>
              <a:rPr kumimoji="1" lang="en-US" altLang="zh-CN" b="1" dirty="0">
                <a:latin typeface="微软雅黑" panose="020B0503020204020204" pitchFamily="34" charset="-122"/>
                <a:ea typeface="微软雅黑" panose="020B0503020204020204" pitchFamily="34" charset="-122"/>
              </a:rPr>
              <a:t>STL</a:t>
            </a:r>
            <a:r>
              <a:rPr kumimoji="1" lang="zh-CN" altLang="en-US" b="1" dirty="0">
                <a:latin typeface="微软雅黑" panose="020B0503020204020204" pitchFamily="34" charset="-122"/>
                <a:ea typeface="微软雅黑" panose="020B0503020204020204" pitchFamily="34" charset="-122"/>
              </a:rPr>
              <a:t>容器：</a:t>
            </a:r>
            <a:r>
              <a:rPr kumimoji="1" lang="en-US" altLang="zh-CN" b="1" dirty="0">
                <a:latin typeface="微软雅黑" panose="020B0503020204020204" pitchFamily="34" charset="-122"/>
                <a:ea typeface="微软雅黑" panose="020B0503020204020204" pitchFamily="34" charset="-122"/>
              </a:rPr>
              <a:t>erase</a:t>
            </a:r>
            <a:r>
              <a:rPr kumimoji="1" lang="zh-CN" altLang="en-US" b="1" dirty="0">
                <a:latin typeface="微软雅黑" panose="020B0503020204020204" pitchFamily="34" charset="-122"/>
                <a:ea typeface="微软雅黑" panose="020B0503020204020204" pitchFamily="34" charset="-122"/>
              </a:rPr>
              <a:t>失效原理</a:t>
            </a: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42</a:t>
            </a:fld>
            <a:endParaRPr lang="en-US" altLang="zh-CN" dirty="0"/>
          </a:p>
        </p:txBody>
      </p:sp>
      <p:grpSp>
        <p:nvGrpSpPr>
          <p:cNvPr id="4" name="组合 3"/>
          <p:cNvGrpSpPr/>
          <p:nvPr/>
        </p:nvGrpSpPr>
        <p:grpSpPr>
          <a:xfrm>
            <a:off x="1353670" y="2312894"/>
            <a:ext cx="5396755" cy="735106"/>
            <a:chOff x="1353670" y="2312894"/>
            <a:chExt cx="5396755" cy="735106"/>
          </a:xfrm>
        </p:grpSpPr>
        <p:sp>
          <p:nvSpPr>
            <p:cNvPr id="3" name="矩形 2"/>
            <p:cNvSpPr/>
            <p:nvPr/>
          </p:nvSpPr>
          <p:spPr>
            <a:xfrm>
              <a:off x="1353670" y="2312894"/>
              <a:ext cx="770965" cy="735106"/>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4400" dirty="0"/>
                <a:t>1</a:t>
              </a:r>
              <a:endParaRPr lang="zh-CN" altLang="en-US" sz="4400" dirty="0"/>
            </a:p>
          </p:txBody>
        </p:sp>
        <p:sp>
          <p:nvSpPr>
            <p:cNvPr id="7" name="矩形 6"/>
            <p:cNvSpPr/>
            <p:nvPr/>
          </p:nvSpPr>
          <p:spPr>
            <a:xfrm>
              <a:off x="2124635" y="2312894"/>
              <a:ext cx="770965" cy="735106"/>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4400" dirty="0">
                  <a:solidFill>
                    <a:srgbClr val="FF0000"/>
                  </a:solidFill>
                </a:rPr>
                <a:t>2</a:t>
              </a:r>
              <a:endParaRPr lang="zh-CN" altLang="en-US" sz="4400" dirty="0">
                <a:solidFill>
                  <a:srgbClr val="FF0000"/>
                </a:solidFill>
              </a:endParaRPr>
            </a:p>
          </p:txBody>
        </p:sp>
        <p:sp>
          <p:nvSpPr>
            <p:cNvPr id="8" name="矩形 7"/>
            <p:cNvSpPr/>
            <p:nvPr/>
          </p:nvSpPr>
          <p:spPr>
            <a:xfrm>
              <a:off x="2895600" y="2312894"/>
              <a:ext cx="770965" cy="735106"/>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4400" dirty="0"/>
                <a:t>3</a:t>
              </a:r>
              <a:endParaRPr lang="zh-CN" altLang="en-US" sz="4400" dirty="0"/>
            </a:p>
          </p:txBody>
        </p:sp>
        <p:sp>
          <p:nvSpPr>
            <p:cNvPr id="9" name="矩形 8"/>
            <p:cNvSpPr/>
            <p:nvPr/>
          </p:nvSpPr>
          <p:spPr>
            <a:xfrm>
              <a:off x="3666565" y="2312894"/>
              <a:ext cx="770965" cy="735106"/>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4400" dirty="0"/>
                <a:t>4</a:t>
              </a:r>
              <a:endParaRPr lang="zh-CN" altLang="en-US" sz="4400" dirty="0"/>
            </a:p>
          </p:txBody>
        </p:sp>
        <p:sp>
          <p:nvSpPr>
            <p:cNvPr id="10" name="矩形 9"/>
            <p:cNvSpPr/>
            <p:nvPr/>
          </p:nvSpPr>
          <p:spPr>
            <a:xfrm>
              <a:off x="4437530" y="2312894"/>
              <a:ext cx="770965" cy="735106"/>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4400" dirty="0"/>
                <a:t>5</a:t>
              </a:r>
              <a:endParaRPr lang="zh-CN" altLang="en-US" sz="4400" dirty="0"/>
            </a:p>
          </p:txBody>
        </p:sp>
        <p:sp>
          <p:nvSpPr>
            <p:cNvPr id="11" name="矩形 10"/>
            <p:cNvSpPr/>
            <p:nvPr/>
          </p:nvSpPr>
          <p:spPr>
            <a:xfrm>
              <a:off x="5208495" y="2312894"/>
              <a:ext cx="770965" cy="735106"/>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4400"/>
            </a:p>
          </p:txBody>
        </p:sp>
        <p:sp>
          <p:nvSpPr>
            <p:cNvPr id="12" name="矩形 11"/>
            <p:cNvSpPr/>
            <p:nvPr/>
          </p:nvSpPr>
          <p:spPr>
            <a:xfrm>
              <a:off x="5979460" y="2312894"/>
              <a:ext cx="770965" cy="735106"/>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4400"/>
            </a:p>
          </p:txBody>
        </p:sp>
      </p:grpSp>
      <p:grpSp>
        <p:nvGrpSpPr>
          <p:cNvPr id="27" name="组合 26"/>
          <p:cNvGrpSpPr/>
          <p:nvPr/>
        </p:nvGrpSpPr>
        <p:grpSpPr>
          <a:xfrm>
            <a:off x="1353669" y="4769223"/>
            <a:ext cx="5396755" cy="735106"/>
            <a:chOff x="1353670" y="2312894"/>
            <a:chExt cx="5396755" cy="735106"/>
          </a:xfrm>
        </p:grpSpPr>
        <p:sp>
          <p:nvSpPr>
            <p:cNvPr id="28" name="矩形 27"/>
            <p:cNvSpPr/>
            <p:nvPr/>
          </p:nvSpPr>
          <p:spPr>
            <a:xfrm>
              <a:off x="1353670" y="2312894"/>
              <a:ext cx="770965" cy="735106"/>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4400" dirty="0"/>
                <a:t>1</a:t>
              </a:r>
              <a:endParaRPr lang="zh-CN" altLang="en-US" sz="4400" dirty="0"/>
            </a:p>
          </p:txBody>
        </p:sp>
        <p:sp>
          <p:nvSpPr>
            <p:cNvPr id="29" name="矩形 28"/>
            <p:cNvSpPr/>
            <p:nvPr/>
          </p:nvSpPr>
          <p:spPr>
            <a:xfrm>
              <a:off x="2124635" y="2312894"/>
              <a:ext cx="770965" cy="735106"/>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4400" dirty="0">
                  <a:solidFill>
                    <a:srgbClr val="FF0000"/>
                  </a:solidFill>
                </a:rPr>
                <a:t>3</a:t>
              </a:r>
              <a:endParaRPr lang="zh-CN" altLang="en-US" sz="4400" dirty="0">
                <a:solidFill>
                  <a:srgbClr val="FF0000"/>
                </a:solidFill>
              </a:endParaRPr>
            </a:p>
          </p:txBody>
        </p:sp>
        <p:sp>
          <p:nvSpPr>
            <p:cNvPr id="30" name="矩形 29"/>
            <p:cNvSpPr/>
            <p:nvPr/>
          </p:nvSpPr>
          <p:spPr>
            <a:xfrm>
              <a:off x="2895600" y="2312894"/>
              <a:ext cx="770965" cy="735106"/>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4400" dirty="0">
                  <a:solidFill>
                    <a:srgbClr val="FF0000"/>
                  </a:solidFill>
                </a:rPr>
                <a:t>4</a:t>
              </a:r>
              <a:endParaRPr lang="zh-CN" altLang="en-US" sz="4400" dirty="0">
                <a:solidFill>
                  <a:srgbClr val="FF0000"/>
                </a:solidFill>
              </a:endParaRPr>
            </a:p>
          </p:txBody>
        </p:sp>
        <p:sp>
          <p:nvSpPr>
            <p:cNvPr id="31" name="矩形 30"/>
            <p:cNvSpPr/>
            <p:nvPr/>
          </p:nvSpPr>
          <p:spPr>
            <a:xfrm>
              <a:off x="3666565" y="2312894"/>
              <a:ext cx="770965" cy="735106"/>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4400" dirty="0">
                  <a:solidFill>
                    <a:srgbClr val="FF0000"/>
                  </a:solidFill>
                </a:rPr>
                <a:t>5</a:t>
              </a:r>
              <a:endParaRPr lang="zh-CN" altLang="en-US" sz="4400" dirty="0">
                <a:solidFill>
                  <a:srgbClr val="FF0000"/>
                </a:solidFill>
              </a:endParaRPr>
            </a:p>
          </p:txBody>
        </p:sp>
        <p:sp>
          <p:nvSpPr>
            <p:cNvPr id="32" name="矩形 31"/>
            <p:cNvSpPr/>
            <p:nvPr/>
          </p:nvSpPr>
          <p:spPr>
            <a:xfrm>
              <a:off x="4437530" y="2312894"/>
              <a:ext cx="770965" cy="735106"/>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4400" dirty="0"/>
            </a:p>
          </p:txBody>
        </p:sp>
        <p:sp>
          <p:nvSpPr>
            <p:cNvPr id="33" name="矩形 32"/>
            <p:cNvSpPr/>
            <p:nvPr/>
          </p:nvSpPr>
          <p:spPr>
            <a:xfrm>
              <a:off x="5208495" y="2312894"/>
              <a:ext cx="770965" cy="735106"/>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4400"/>
            </a:p>
          </p:txBody>
        </p:sp>
        <p:sp>
          <p:nvSpPr>
            <p:cNvPr id="34" name="矩形 33"/>
            <p:cNvSpPr/>
            <p:nvPr/>
          </p:nvSpPr>
          <p:spPr>
            <a:xfrm>
              <a:off x="5979460" y="2312894"/>
              <a:ext cx="770965" cy="735106"/>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4400"/>
            </a:p>
          </p:txBody>
        </p:sp>
      </p:grpSp>
      <p:cxnSp>
        <p:nvCxnSpPr>
          <p:cNvPr id="36" name="直接箭头连接符 35"/>
          <p:cNvCxnSpPr>
            <a:endCxn id="7" idx="0"/>
          </p:cNvCxnSpPr>
          <p:nvPr/>
        </p:nvCxnSpPr>
        <p:spPr>
          <a:xfrm>
            <a:off x="2510118" y="1690689"/>
            <a:ext cx="0" cy="622205"/>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sp>
        <p:nvSpPr>
          <p:cNvPr id="37" name="文本框 36"/>
          <p:cNvSpPr txBox="1"/>
          <p:nvPr/>
        </p:nvSpPr>
        <p:spPr>
          <a:xfrm>
            <a:off x="2751311" y="1581804"/>
            <a:ext cx="1107996" cy="646331"/>
          </a:xfrm>
          <a:prstGeom prst="rect">
            <a:avLst/>
          </a:prstGeom>
          <a:noFill/>
        </p:spPr>
        <p:txBody>
          <a:bodyPr wrap="none" rtlCol="0">
            <a:spAutoFit/>
          </a:bodyPr>
          <a:lstStyle/>
          <a:p>
            <a:r>
              <a:rPr lang="zh-CN" altLang="en-US" sz="3600" dirty="0">
                <a:solidFill>
                  <a:srgbClr val="FF0000"/>
                </a:solidFill>
                <a:latin typeface="华文楷体" panose="02010600040101010101" pitchFamily="2" charset="-122"/>
                <a:ea typeface="华文楷体" panose="02010600040101010101" pitchFamily="2" charset="-122"/>
              </a:rPr>
              <a:t>删除</a:t>
            </a:r>
          </a:p>
        </p:txBody>
      </p:sp>
      <p:cxnSp>
        <p:nvCxnSpPr>
          <p:cNvPr id="41" name="直接箭头连接符 40"/>
          <p:cNvCxnSpPr>
            <a:stCxn id="3" idx="2"/>
            <a:endCxn id="28" idx="0"/>
          </p:cNvCxnSpPr>
          <p:nvPr/>
        </p:nvCxnSpPr>
        <p:spPr>
          <a:xfrm flipH="1">
            <a:off x="1739152" y="3048000"/>
            <a:ext cx="1" cy="1721223"/>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sp>
        <p:nvSpPr>
          <p:cNvPr id="42" name="文本框 41"/>
          <p:cNvSpPr txBox="1"/>
          <p:nvPr/>
        </p:nvSpPr>
        <p:spPr>
          <a:xfrm>
            <a:off x="438415" y="3585446"/>
            <a:ext cx="1107996" cy="646331"/>
          </a:xfrm>
          <a:prstGeom prst="rect">
            <a:avLst/>
          </a:prstGeom>
          <a:noFill/>
        </p:spPr>
        <p:txBody>
          <a:bodyPr wrap="none" rtlCol="0">
            <a:spAutoFit/>
          </a:bodyPr>
          <a:lstStyle/>
          <a:p>
            <a:r>
              <a:rPr lang="zh-CN" altLang="en-US" sz="3600" dirty="0">
                <a:latin typeface="华文楷体" panose="02010600040101010101" pitchFamily="2" charset="-122"/>
                <a:ea typeface="华文楷体" panose="02010600040101010101" pitchFamily="2" charset="-122"/>
              </a:rPr>
              <a:t>有效</a:t>
            </a:r>
          </a:p>
        </p:txBody>
      </p:sp>
      <p:cxnSp>
        <p:nvCxnSpPr>
          <p:cNvPr id="44" name="直接箭头连接符 43"/>
          <p:cNvCxnSpPr>
            <a:stCxn id="7" idx="2"/>
          </p:cNvCxnSpPr>
          <p:nvPr/>
        </p:nvCxnSpPr>
        <p:spPr>
          <a:xfrm flipH="1">
            <a:off x="2510116" y="3048000"/>
            <a:ext cx="2" cy="537446"/>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45" name="直接箭头连接符 44"/>
          <p:cNvCxnSpPr/>
          <p:nvPr/>
        </p:nvCxnSpPr>
        <p:spPr>
          <a:xfrm flipH="1">
            <a:off x="3281078" y="3048000"/>
            <a:ext cx="2" cy="537446"/>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46" name="直接箭头连接符 45"/>
          <p:cNvCxnSpPr/>
          <p:nvPr/>
        </p:nvCxnSpPr>
        <p:spPr>
          <a:xfrm flipH="1">
            <a:off x="4040406" y="3048000"/>
            <a:ext cx="2" cy="537446"/>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47" name="直接箭头连接符 46"/>
          <p:cNvCxnSpPr/>
          <p:nvPr/>
        </p:nvCxnSpPr>
        <p:spPr>
          <a:xfrm flipH="1">
            <a:off x="4829293" y="3048436"/>
            <a:ext cx="2" cy="537446"/>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sp>
        <p:nvSpPr>
          <p:cNvPr id="48" name="文本框 47"/>
          <p:cNvSpPr txBox="1"/>
          <p:nvPr/>
        </p:nvSpPr>
        <p:spPr>
          <a:xfrm>
            <a:off x="3031883" y="3660742"/>
            <a:ext cx="1107996" cy="646331"/>
          </a:xfrm>
          <a:prstGeom prst="rect">
            <a:avLst/>
          </a:prstGeom>
          <a:noFill/>
        </p:spPr>
        <p:txBody>
          <a:bodyPr wrap="none" rtlCol="0">
            <a:spAutoFit/>
          </a:bodyPr>
          <a:lstStyle/>
          <a:p>
            <a:r>
              <a:rPr lang="zh-CN" altLang="en-US" sz="3600" dirty="0">
                <a:solidFill>
                  <a:srgbClr val="FF0000"/>
                </a:solidFill>
                <a:latin typeface="华文楷体" panose="02010600040101010101" pitchFamily="2" charset="-122"/>
                <a:ea typeface="华文楷体" panose="02010600040101010101" pitchFamily="2" charset="-122"/>
              </a:rPr>
              <a:t>失效</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迭代器：失效</a:t>
            </a:r>
          </a:p>
        </p:txBody>
      </p:sp>
      <p:sp>
        <p:nvSpPr>
          <p:cNvPr id="3" name="内容占位符 2"/>
          <p:cNvSpPr>
            <a:spLocks noGrp="1"/>
          </p:cNvSpPr>
          <p:nvPr>
            <p:ph idx="1"/>
          </p:nvPr>
        </p:nvSpPr>
        <p:spPr>
          <a:xfrm>
            <a:off x="475689" y="1724123"/>
            <a:ext cx="8192622" cy="4802185"/>
          </a:xfrm>
        </p:spPr>
        <p:txBody>
          <a:bodyPr>
            <a:normAutofit/>
          </a:bodyPr>
          <a:lstStyle/>
          <a:p>
            <a:pPr>
              <a:lnSpc>
                <a:spcPct val="100000"/>
              </a:lnSpc>
              <a:buSzPct val="75000"/>
              <a:buFont typeface="Wingdings" panose="05000000000000000000" pitchFamily="2" charset="2"/>
              <a:buChar char="n"/>
            </a:pPr>
            <a:r>
              <a:rPr lang="zh-CN" altLang="en-US" sz="32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迭代器是否会失效，和实现容器的</a:t>
            </a:r>
            <a:r>
              <a:rPr lang="zh-CN" altLang="en-US" sz="3200"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数据结构</a:t>
            </a:r>
            <a:r>
              <a:rPr lang="zh-CN" altLang="en-US" sz="32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有关</a:t>
            </a:r>
            <a:endParaRPr lang="en-US" altLang="zh-CN" sz="3200"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sz="32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在文档中，容器的修改操作有一项</a:t>
            </a:r>
            <a:r>
              <a:rPr lang="en-US" altLang="zh-CN" sz="32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Iterator validity</a:t>
            </a:r>
            <a:r>
              <a:rPr lang="zh-CN" altLang="en-US" sz="32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，表示该操作是否会引发迭代器失效</a:t>
            </a:r>
            <a:endParaRPr lang="en-US" altLang="zh-CN" sz="3200"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sz="3200" b="1" u="sng" kern="100" dirty="0">
                <a:solidFill>
                  <a:srgbClr val="003366"/>
                </a:solidFill>
                <a:latin typeface="华文楷体" panose="02010600040101010101" pitchFamily="2" charset="-122"/>
                <a:ea typeface="华文楷体" panose="02010600040101010101" pitchFamily="2" charset="-122"/>
                <a:cs typeface="STKaiti" panose="02010600040101010101" charset="-122"/>
              </a:rPr>
              <a:t>一个</a:t>
            </a:r>
            <a:r>
              <a:rPr lang="zh-CN" altLang="en-US" sz="3200" b="1" u="sng" kern="100" dirty="0">
                <a:solidFill>
                  <a:srgbClr val="FF0000"/>
                </a:solidFill>
                <a:latin typeface="华文楷体" panose="02010600040101010101" pitchFamily="2" charset="-122"/>
                <a:ea typeface="华文楷体" panose="02010600040101010101" pitchFamily="2" charset="-122"/>
                <a:cs typeface="STKaiti" panose="02010600040101010101" charset="-122"/>
              </a:rPr>
              <a:t>绝对安全</a:t>
            </a:r>
            <a:r>
              <a:rPr lang="zh-CN" altLang="en-US" sz="3200" b="1" u="sng" kern="100" dirty="0">
                <a:solidFill>
                  <a:srgbClr val="003366"/>
                </a:solidFill>
                <a:latin typeface="华文楷体" panose="02010600040101010101" pitchFamily="2" charset="-122"/>
                <a:ea typeface="华文楷体" panose="02010600040101010101" pitchFamily="2" charset="-122"/>
                <a:cs typeface="STKaiti" panose="02010600040101010101" charset="-122"/>
              </a:rPr>
              <a:t>的准则：</a:t>
            </a:r>
            <a:endParaRPr lang="en-US" altLang="zh-CN" sz="3200" b="1" u="sng"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en-US" altLang="zh-CN" sz="32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	</a:t>
            </a:r>
            <a:r>
              <a:rPr lang="zh-CN" altLang="en-US" sz="3200" b="1" u="sng" kern="100" dirty="0">
                <a:solidFill>
                  <a:srgbClr val="003366"/>
                </a:solidFill>
                <a:latin typeface="华文楷体" panose="02010600040101010101" pitchFamily="2" charset="-122"/>
                <a:ea typeface="华文楷体" panose="02010600040101010101" pitchFamily="2" charset="-122"/>
                <a:cs typeface="STKaiti" panose="02010600040101010101" charset="-122"/>
              </a:rPr>
              <a:t>在修改过容器后，不使用之前的迭代器</a:t>
            </a:r>
            <a:endParaRPr lang="en-US" altLang="zh-CN" sz="3200" b="1" u="sng"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sz="32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若一定要使用，查文档确定迭代器是否有效</a:t>
            </a:r>
            <a:endParaRPr lang="en-US" altLang="zh-CN" sz="3200"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43</a:t>
            </a:fld>
            <a:endParaRPr lang="en-US" altLang="zh-CN" dirty="0"/>
          </a:p>
        </p:txBody>
      </p:sp>
      <p:sp>
        <p:nvSpPr>
          <p:cNvPr id="4" name="文本框 3"/>
          <p:cNvSpPr txBox="1"/>
          <p:nvPr/>
        </p:nvSpPr>
        <p:spPr>
          <a:xfrm>
            <a:off x="1329634" y="5916006"/>
            <a:ext cx="6531976" cy="1015663"/>
          </a:xfrm>
          <a:prstGeom prst="rect">
            <a:avLst/>
          </a:prstGeom>
          <a:noFill/>
        </p:spPr>
        <p:txBody>
          <a:bodyPr wrap="square" rtlCol="0">
            <a:spAutoFit/>
          </a:bodyPr>
          <a:lstStyle/>
          <a:p>
            <a:r>
              <a:rPr lang="zh-CN" altLang="en-US" sz="2000" b="1" dirty="0"/>
              <a:t>例如</a:t>
            </a:r>
            <a:r>
              <a:rPr lang="zh-CN" altLang="en-US" sz="2000" dirty="0"/>
              <a:t>：查询</a:t>
            </a:r>
            <a:r>
              <a:rPr lang="en-US" altLang="zh-CN" sz="2000" dirty="0" err="1"/>
              <a:t>push_back</a:t>
            </a:r>
            <a:r>
              <a:rPr lang="zh-CN" altLang="en-US" sz="2000" dirty="0"/>
              <a:t>对迭代器是否失效的影响</a:t>
            </a:r>
            <a:endParaRPr lang="en-US" altLang="zh-CN" sz="2000" dirty="0"/>
          </a:p>
          <a:p>
            <a:r>
              <a:rPr lang="en-US" altLang="zh-CN" sz="2000" dirty="0">
                <a:hlinkClick r:id="rId3"/>
              </a:rPr>
              <a:t>http://cplusplus.com/reference/vector/vector/push_back/</a:t>
            </a:r>
            <a:endParaRPr lang="en-US" altLang="zh-CN" sz="2000" dirty="0"/>
          </a:p>
          <a:p>
            <a:endParaRPr lang="en-US" altLang="zh-CN" sz="2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2"/>
            </p:custDataLst>
          </p:nvPr>
        </p:nvSpPr>
        <p:spPr>
          <a:xfrm>
            <a:off x="914400" y="635000"/>
            <a:ext cx="7315200" cy="129259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下面关于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vector</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的相关描述正确的是</a:t>
            </a:r>
          </a:p>
        </p:txBody>
      </p:sp>
      <p:sp>
        <p:nvSpPr>
          <p:cNvPr id="7" name="文本框 6"/>
          <p:cNvSpPr txBox="1"/>
          <p:nvPr>
            <p:custDataLst>
              <p:tags r:id="rId3"/>
            </p:custDataLst>
          </p:nvPr>
        </p:nvSpPr>
        <p:spPr>
          <a:xfrm>
            <a:off x="1070517" y="2172752"/>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Vector</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在任意位置插入的平均复杂度为</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O(1)</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4"/>
            </p:custDataLst>
          </p:nvPr>
        </p:nvSpPr>
        <p:spPr>
          <a:xfrm>
            <a:off x="1070517" y="3074608"/>
            <a:ext cx="7928516"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vector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在大小发生改变时，可能致使所有迭代器失效</a:t>
            </a:r>
          </a:p>
        </p:txBody>
      </p:sp>
      <p:sp>
        <p:nvSpPr>
          <p:cNvPr id="9" name="文本框 8"/>
          <p:cNvSpPr txBox="1"/>
          <p:nvPr>
            <p:custDataLst>
              <p:tags r:id="rId5"/>
            </p:custDataLst>
          </p:nvPr>
        </p:nvSpPr>
        <p:spPr>
          <a:xfrm>
            <a:off x="1070516" y="4043371"/>
            <a:ext cx="7928517"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定义</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vector&lt;int&gt; </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vec</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{1,2,3};</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则*</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vec.end</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的值为</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a:t>
            </a:r>
          </a:p>
        </p:txBody>
      </p:sp>
      <p:sp>
        <p:nvSpPr>
          <p:cNvPr id="10" name="文本框 9"/>
          <p:cNvSpPr txBox="1"/>
          <p:nvPr>
            <p:custDataLst>
              <p:tags r:id="rId6"/>
            </p:custDataLst>
          </p:nvPr>
        </p:nvSpPr>
        <p:spPr>
          <a:xfrm>
            <a:off x="1070516" y="5067886"/>
            <a:ext cx="7839307"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当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vector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size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达到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capacity</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，则将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vector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的内容迁移到另外申请的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2*capacity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的空间</a:t>
            </a:r>
          </a:p>
        </p:txBody>
      </p:sp>
      <p:sp>
        <p:nvSpPr>
          <p:cNvPr id="11" name="矩形 10"/>
          <p:cNvSpPr>
            <a:spLocks noChangeAspect="1"/>
          </p:cNvSpPr>
          <p:nvPr>
            <p:custDataLst>
              <p:tags r:id="rId7"/>
            </p:custDataLst>
          </p:nvPr>
        </p:nvSpPr>
        <p:spPr>
          <a:xfrm>
            <a:off x="356142" y="2237045"/>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p:cNvSpPr>
            <a:spLocks noChangeAspect="1"/>
          </p:cNvSpPr>
          <p:nvPr>
            <p:custDataLst>
              <p:tags r:id="rId8"/>
            </p:custDataLst>
          </p:nvPr>
        </p:nvSpPr>
        <p:spPr>
          <a:xfrm>
            <a:off x="356142" y="3172353"/>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12"/>
          <p:cNvSpPr>
            <a:spLocks noChangeAspect="1"/>
          </p:cNvSpPr>
          <p:nvPr>
            <p:custDataLst>
              <p:tags r:id="rId9"/>
            </p:custDataLst>
          </p:nvPr>
        </p:nvSpPr>
        <p:spPr>
          <a:xfrm>
            <a:off x="356142" y="4107664"/>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矩形 13"/>
          <p:cNvSpPr>
            <a:spLocks noChangeAspect="1"/>
          </p:cNvSpPr>
          <p:nvPr>
            <p:custDataLst>
              <p:tags r:id="rId10"/>
            </p:custDataLst>
          </p:nvPr>
        </p:nvSpPr>
        <p:spPr>
          <a:xfrm>
            <a:off x="356142" y="4942609"/>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sp>
        <p:nvSpPr>
          <p:cNvPr id="2" name="矩形 1"/>
          <p:cNvSpPr/>
          <p:nvPr>
            <p:custDataLst>
              <p:tags r:id="rId12"/>
            </p:custDataLst>
          </p:nvPr>
        </p:nvSpPr>
        <p:spPr>
          <a:xfrm>
            <a:off x="9525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23" name="文本框 22"/>
          <p:cNvSpPr txBox="1"/>
          <p:nvPr>
            <p:custDataLst>
              <p:tags r:id="rId13"/>
            </p:custDataLst>
          </p:nvPr>
        </p:nvSpPr>
        <p:spPr>
          <a:xfrm>
            <a:off x="9613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可为此题添加文本、图片、公式等解析，且需将内容全部放在本区域内。正常使用需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3.0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a:t>
            </a:r>
          </a:p>
        </p:txBody>
      </p:sp>
      <p:sp>
        <p:nvSpPr>
          <p:cNvPr id="24" name="文本框 23"/>
          <p:cNvSpPr txBox="1"/>
          <p:nvPr>
            <p:custDataLst>
              <p:tags r:id="rId14"/>
            </p:custDataLst>
          </p:nvPr>
        </p:nvSpPr>
        <p:spPr>
          <a:xfrm>
            <a:off x="9779000" y="1270000"/>
            <a:ext cx="3332480" cy="707886"/>
          </a:xfrm>
          <a:prstGeom prst="rect">
            <a:avLst/>
          </a:prstGeom>
          <a:noFill/>
        </p:spPr>
        <p:txBody>
          <a:bodyPr vert="horz" rtlCol="0" anchor="t" anchorCtr="0">
            <a:spAutoFit/>
          </a:bodyPr>
          <a:lstStyle/>
          <a:p>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 </a:t>
            </a:r>
            <a:r>
              <a:rPr kumimoji="1" lang="en-US" altLang="zh-CN" sz="2000" dirty="0" err="1"/>
              <a:t>vec.end</a:t>
            </a:r>
            <a:r>
              <a:rPr kumimoji="1" lang="en-US" altLang="zh-CN" sz="2000" dirty="0"/>
              <a:t>()</a:t>
            </a:r>
            <a:r>
              <a:rPr kumimoji="1" lang="zh-CN" altLang="en-US" sz="2000" dirty="0"/>
              <a:t>为最后一个元素的后一位置的迭代器</a:t>
            </a:r>
            <a:endPar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22" name="组合 21"/>
          <p:cNvGrpSpPr/>
          <p:nvPr>
            <p:custDataLst>
              <p:tags r:id="rId15"/>
            </p:custDataLst>
          </p:nvPr>
        </p:nvGrpSpPr>
        <p:grpSpPr>
          <a:xfrm>
            <a:off x="9537700" y="0"/>
            <a:ext cx="3815080" cy="647700"/>
            <a:chOff x="9537700" y="0"/>
            <a:chExt cx="3815080" cy="647700"/>
          </a:xfrm>
        </p:grpSpPr>
        <p:sp>
          <p:nvSpPr>
            <p:cNvPr id="3" name="RemarkBack"/>
            <p:cNvSpPr/>
            <p:nvPr>
              <p:custDataLst>
                <p:tags r:id="rId25"/>
              </p:custDataLst>
            </p:nvPr>
          </p:nvSpPr>
          <p:spPr>
            <a:xfrm>
              <a:off x="9537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RemarkBlock"/>
            <p:cNvSpPr/>
            <p:nvPr>
              <p:custDataLst>
                <p:tags r:id="rId26"/>
              </p:custDataLst>
            </p:nvPr>
          </p:nvSpPr>
          <p:spPr>
            <a:xfrm>
              <a:off x="9537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RemarkTitleText"/>
            <p:cNvSpPr txBox="1"/>
            <p:nvPr>
              <p:custDataLst>
                <p:tags r:id="rId27"/>
              </p:custDataLst>
            </p:nvPr>
          </p:nvSpPr>
          <p:spPr>
            <a:xfrm>
              <a:off x="9779000" y="0"/>
              <a:ext cx="1905000" cy="635000"/>
            </a:xfrm>
            <a:prstGeom prst="rect">
              <a:avLst/>
            </a:prstGeom>
            <a:noFill/>
          </p:spPr>
          <p:txBody>
            <a:bodyPr vert="horz" wrap="none" rtlCol="0" anchor="ctr" anchorCtr="0">
              <a:noAutofit/>
            </a:bodyPr>
            <a:lstStyle/>
            <a:p>
              <a:r>
                <a:rPr lang="zh-CN" altLang="en-US">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sp>
        <p:nvSpPr>
          <p:cNvPr id="25" name="RemarkBack"/>
          <p:cNvSpPr/>
          <p:nvPr>
            <p:custDataLst>
              <p:tags r:id="rId16"/>
            </p:custDataLst>
          </p:nvPr>
        </p:nvSpPr>
        <p:spPr>
          <a:xfrm>
            <a:off x="9537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RemarkBlock"/>
          <p:cNvSpPr/>
          <p:nvPr>
            <p:custDataLst>
              <p:tags r:id="rId17"/>
            </p:custDataLst>
          </p:nvPr>
        </p:nvSpPr>
        <p:spPr>
          <a:xfrm>
            <a:off x="9537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RemarkTitleText"/>
          <p:cNvSpPr txBox="1"/>
          <p:nvPr>
            <p:custDataLst>
              <p:tags r:id="rId18"/>
            </p:custDataLst>
          </p:nvPr>
        </p:nvSpPr>
        <p:spPr>
          <a:xfrm>
            <a:off x="9779000" y="0"/>
            <a:ext cx="1905000" cy="635000"/>
          </a:xfrm>
          <a:prstGeom prst="rect">
            <a:avLst/>
          </a:prstGeom>
          <a:noFill/>
        </p:spPr>
        <p:txBody>
          <a:bodyPr vert="horz" wrap="none" rtlCol="0" anchor="ctr" anchorCtr="0">
            <a:noAutofit/>
          </a:bodyPr>
          <a:lstStyle/>
          <a:p>
            <a:r>
              <a:rPr lang="zh-CN" altLang="en-US">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nvGrpSpPr>
          <p:cNvPr id="20" name="组合 19"/>
          <p:cNvGrpSpPr/>
          <p:nvPr>
            <p:custDataLst>
              <p:tags r:id="rId19"/>
            </p:custDataLst>
          </p:nvPr>
        </p:nvGrpSpPr>
        <p:grpSpPr>
          <a:xfrm>
            <a:off x="0" y="0"/>
            <a:ext cx="9144000" cy="635000"/>
            <a:chOff x="0" y="0"/>
            <a:chExt cx="9144000" cy="635000"/>
          </a:xfrm>
        </p:grpSpPr>
        <p:sp>
          <p:nvSpPr>
            <p:cNvPr id="16" name="TitleBackground"/>
            <p:cNvSpPr/>
            <p:nvPr>
              <p:custDataLst>
                <p:tags r:id="rId21"/>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22"/>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23"/>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9" name="TipText"/>
            <p:cNvSpPr txBox="1"/>
            <p:nvPr>
              <p:custDataLst>
                <p:tags r:id="rId24"/>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p:cNvPicPr/>
          <p:nvPr>
            <p:custDataLst>
              <p:tags r:id="rId20"/>
            </p:custDataLst>
          </p:nvPr>
        </p:nvPicPr>
        <p:blipFill>
          <a:blip r:embed="rId3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b="1" dirty="0">
                <a:latin typeface="微软雅黑" panose="020B0503020204020204" pitchFamily="34" charset="-122"/>
                <a:ea typeface="微软雅黑" panose="020B0503020204020204" pitchFamily="34" charset="-122"/>
              </a:rPr>
              <a:t>STL</a:t>
            </a:r>
            <a:r>
              <a:rPr kumimoji="1" lang="zh-CN" altLang="en-US" b="1" dirty="0">
                <a:latin typeface="微软雅黑" panose="020B0503020204020204" pitchFamily="34" charset="-122"/>
                <a:ea typeface="微软雅黑" panose="020B0503020204020204" pitchFamily="34" charset="-122"/>
              </a:rPr>
              <a:t>容器</a:t>
            </a:r>
            <a:endParaRPr lang="zh-CN" altLang="en-US" dirty="0"/>
          </a:p>
        </p:txBody>
      </p:sp>
      <p:sp>
        <p:nvSpPr>
          <p:cNvPr id="3" name="内容占位符 2"/>
          <p:cNvSpPr>
            <a:spLocks noGrp="1"/>
          </p:cNvSpPr>
          <p:nvPr>
            <p:ph idx="1"/>
          </p:nvPr>
        </p:nvSpPr>
        <p:spPr/>
        <p:txBody>
          <a:bodyPr/>
          <a:lstStyle/>
          <a:p>
            <a:r>
              <a:rPr lang="zh-CN" altLang="en-US" b="1" kern="100" dirty="0">
                <a:solidFill>
                  <a:srgbClr val="003366"/>
                </a:solidFill>
                <a:latin typeface="华文楷体" panose="02010600040101010101" pitchFamily="2" charset="-122"/>
                <a:ea typeface="华文楷体" panose="02010600040101010101" pitchFamily="2" charset="-122"/>
              </a:rPr>
              <a:t>接下来简要介绍几种常见容器</a:t>
            </a:r>
            <a:endParaRPr lang="en-US" altLang="zh-CN" b="1" kern="100" dirty="0">
              <a:solidFill>
                <a:srgbClr val="003366"/>
              </a:solidFill>
              <a:latin typeface="华文楷体" panose="02010600040101010101" pitchFamily="2" charset="-122"/>
              <a:ea typeface="华文楷体" panose="02010600040101010101" pitchFamily="2" charset="-122"/>
            </a:endParaRPr>
          </a:p>
          <a:p>
            <a:pPr lvl="1"/>
            <a:r>
              <a:rPr lang="zh-CN" altLang="en-US" sz="2800" b="1" kern="100" dirty="0">
                <a:solidFill>
                  <a:srgbClr val="003366"/>
                </a:solidFill>
                <a:latin typeface="华文楷体" panose="02010600040101010101" pitchFamily="2" charset="-122"/>
                <a:ea typeface="华文楷体" panose="02010600040101010101" pitchFamily="2" charset="-122"/>
              </a:rPr>
              <a:t>链表容器 </a:t>
            </a:r>
            <a:r>
              <a:rPr lang="en-US" altLang="zh-CN" sz="2800" b="1" kern="100" dirty="0">
                <a:solidFill>
                  <a:srgbClr val="003366"/>
                </a:solidFill>
                <a:latin typeface="华文楷体" panose="02010600040101010101" pitchFamily="2" charset="-122"/>
                <a:ea typeface="华文楷体" panose="02010600040101010101" pitchFamily="2" charset="-122"/>
              </a:rPr>
              <a:t>list</a:t>
            </a:r>
          </a:p>
          <a:p>
            <a:pPr lvl="1"/>
            <a:r>
              <a:rPr lang="zh-CN" altLang="en-US" sz="2800" b="1" kern="100" dirty="0">
                <a:solidFill>
                  <a:srgbClr val="003366"/>
                </a:solidFill>
                <a:latin typeface="华文楷体" panose="02010600040101010101" pitchFamily="2" charset="-122"/>
                <a:ea typeface="华文楷体" panose="02010600040101010101" pitchFamily="2" charset="-122"/>
              </a:rPr>
              <a:t>无序集合 </a:t>
            </a:r>
            <a:r>
              <a:rPr lang="en-US" altLang="zh-CN" sz="2800" b="1" kern="100" dirty="0">
                <a:solidFill>
                  <a:srgbClr val="003366"/>
                </a:solidFill>
                <a:latin typeface="华文楷体" panose="02010600040101010101" pitchFamily="2" charset="-122"/>
                <a:ea typeface="华文楷体" panose="02010600040101010101" pitchFamily="2" charset="-122"/>
              </a:rPr>
              <a:t>set</a:t>
            </a:r>
          </a:p>
          <a:p>
            <a:pPr lvl="1"/>
            <a:r>
              <a:rPr lang="zh-CN" altLang="en-US" sz="2800" b="1" kern="100" dirty="0">
                <a:solidFill>
                  <a:srgbClr val="003366"/>
                </a:solidFill>
                <a:latin typeface="华文楷体" panose="02010600040101010101" pitchFamily="2" charset="-122"/>
                <a:ea typeface="华文楷体" panose="02010600040101010101" pitchFamily="2" charset="-122"/>
              </a:rPr>
              <a:t>关联数组 </a:t>
            </a:r>
            <a:r>
              <a:rPr lang="en-US" altLang="zh-CN" sz="2800" b="1" kern="100" dirty="0">
                <a:solidFill>
                  <a:srgbClr val="003366"/>
                </a:solidFill>
                <a:latin typeface="华文楷体" panose="02010600040101010101" pitchFamily="2" charset="-122"/>
                <a:ea typeface="华文楷体" panose="02010600040101010101" pitchFamily="2" charset="-122"/>
              </a:rPr>
              <a:t>map</a:t>
            </a:r>
          </a:p>
          <a:p>
            <a:endParaRPr lang="en-US" altLang="zh-CN" b="1" kern="100" dirty="0">
              <a:solidFill>
                <a:srgbClr val="003366"/>
              </a:solidFill>
              <a:latin typeface="华文楷体" panose="02010600040101010101" pitchFamily="2" charset="-122"/>
              <a:ea typeface="华文楷体" panose="02010600040101010101" pitchFamily="2" charset="-122"/>
            </a:endParaRPr>
          </a:p>
          <a:p>
            <a:r>
              <a:rPr lang="zh-CN" altLang="en-US" b="1" kern="100" dirty="0">
                <a:solidFill>
                  <a:srgbClr val="003366"/>
                </a:solidFill>
                <a:latin typeface="华文楷体" panose="02010600040101010101" pitchFamily="2" charset="-122"/>
                <a:ea typeface="华文楷体" panose="02010600040101010101" pitchFamily="2" charset="-122"/>
              </a:rPr>
              <a:t>具体使用方法大家可以在作业中多做探索</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b="1" dirty="0">
                <a:latin typeface="微软雅黑" panose="020B0503020204020204" pitchFamily="34" charset="-122"/>
                <a:ea typeface="微软雅黑" panose="020B0503020204020204" pitchFamily="34" charset="-122"/>
              </a:rPr>
              <a:t>STL</a:t>
            </a:r>
            <a:r>
              <a:rPr kumimoji="1" lang="zh-CN" altLang="en-US" b="1" dirty="0">
                <a:latin typeface="微软雅黑" panose="020B0503020204020204" pitchFamily="34" charset="-122"/>
                <a:ea typeface="微软雅黑" panose="020B0503020204020204" pitchFamily="34" charset="-122"/>
              </a:rPr>
              <a:t>容器：</a:t>
            </a:r>
            <a:r>
              <a:rPr kumimoji="1" lang="en-US" altLang="zh-CN" b="1" dirty="0">
                <a:latin typeface="微软雅黑" panose="020B0503020204020204" pitchFamily="34" charset="-122"/>
                <a:ea typeface="微软雅黑" panose="020B0503020204020204" pitchFamily="34" charset="-122"/>
              </a:rPr>
              <a:t>list</a:t>
            </a:r>
            <a:endParaRPr kumimoji="1" lang="zh-CN" altLang="en-US" b="1"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628649" y="1690688"/>
            <a:ext cx="8082213" cy="5030787"/>
          </a:xfrm>
        </p:spPr>
        <p:txBody>
          <a:bodyPr>
            <a:normAutofit/>
          </a:bodyPr>
          <a:lstStyle/>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rPr>
              <a:t>链表容器（底层实现是</a:t>
            </a:r>
            <a:r>
              <a:rPr lang="zh-CN" altLang="en-US" b="1" kern="100" dirty="0">
                <a:solidFill>
                  <a:srgbClr val="FF0000"/>
                </a:solidFill>
                <a:latin typeface="华文楷体" panose="02010600040101010101" pitchFamily="2" charset="-122"/>
                <a:ea typeface="华文楷体" panose="02010600040101010101" pitchFamily="2" charset="-122"/>
              </a:rPr>
              <a:t>双向链表</a:t>
            </a:r>
            <a:r>
              <a:rPr lang="zh-CN" altLang="en-US" b="1" kern="100" dirty="0">
                <a:solidFill>
                  <a:srgbClr val="003366"/>
                </a:solidFill>
                <a:latin typeface="华文楷体" panose="02010600040101010101" pitchFamily="2" charset="-122"/>
                <a:ea typeface="华文楷体" panose="02010600040101010101" pitchFamily="2" charset="-122"/>
              </a:rPr>
              <a:t>）</a:t>
            </a:r>
            <a:endParaRPr lang="en-US" altLang="zh-CN" b="1" kern="100" dirty="0">
              <a:solidFill>
                <a:srgbClr val="003366"/>
              </a:solidFill>
              <a:latin typeface="华文楷体" panose="02010600040101010101" pitchFamily="2" charset="-122"/>
              <a:ea typeface="华文楷体" panose="02010600040101010101" pitchFamily="2" charset="-122"/>
            </a:endParaRPr>
          </a:p>
          <a:p>
            <a:pPr marL="0" indent="0">
              <a:lnSpc>
                <a:spcPct val="120000"/>
              </a:lnSpc>
              <a:buSzPct val="75000"/>
              <a:buNone/>
            </a:pPr>
            <a:r>
              <a:rPr lang="en-US" altLang="zh-CN" sz="2400" kern="100" dirty="0">
                <a:latin typeface="Consolas" panose="020B0609020204030204" pitchFamily="49" charset="0"/>
                <a:ea typeface="华文楷体" panose="02010600040101010101" pitchFamily="2" charset="-122"/>
              </a:rPr>
              <a:t>template&lt;</a:t>
            </a:r>
            <a:br>
              <a:rPr lang="en-US" altLang="zh-CN" sz="2400" kern="100" dirty="0">
                <a:latin typeface="Consolas" panose="020B0609020204030204" pitchFamily="49" charset="0"/>
                <a:ea typeface="华文楷体" panose="02010600040101010101" pitchFamily="2" charset="-122"/>
              </a:rPr>
            </a:br>
            <a:r>
              <a:rPr lang="en-US" altLang="zh-CN" sz="2400" kern="100" dirty="0">
                <a:latin typeface="Consolas" panose="020B0609020204030204" pitchFamily="49" charset="0"/>
                <a:ea typeface="华文楷体" panose="02010600040101010101" pitchFamily="2" charset="-122"/>
              </a:rPr>
              <a:t>    class T,</a:t>
            </a:r>
            <a:br>
              <a:rPr lang="en-US" altLang="zh-CN" sz="2400" kern="100" dirty="0">
                <a:latin typeface="Consolas" panose="020B0609020204030204" pitchFamily="49" charset="0"/>
                <a:ea typeface="华文楷体" panose="02010600040101010101" pitchFamily="2" charset="-122"/>
              </a:rPr>
            </a:br>
            <a:r>
              <a:rPr lang="en-US" altLang="zh-CN" sz="2400" kern="100" dirty="0">
                <a:latin typeface="Consolas" panose="020B0609020204030204" pitchFamily="49" charset="0"/>
                <a:ea typeface="华文楷体" panose="02010600040101010101" pitchFamily="2" charset="-122"/>
              </a:rPr>
              <a:t>    class </a:t>
            </a:r>
            <a:r>
              <a:rPr lang="en-US" altLang="zh-CN" sz="2400" kern="100" dirty="0">
                <a:solidFill>
                  <a:srgbClr val="FF0000"/>
                </a:solidFill>
                <a:latin typeface="Consolas" panose="020B0609020204030204" pitchFamily="49" charset="0"/>
                <a:ea typeface="华文楷体" panose="02010600040101010101" pitchFamily="2" charset="-122"/>
              </a:rPr>
              <a:t>Allocator</a:t>
            </a:r>
            <a:r>
              <a:rPr lang="en-US" altLang="zh-CN" sz="2400" kern="100" dirty="0">
                <a:latin typeface="Consolas" panose="020B0609020204030204" pitchFamily="49" charset="0"/>
                <a:ea typeface="华文楷体" panose="02010600040101010101" pitchFamily="2" charset="-122"/>
              </a:rPr>
              <a:t> = </a:t>
            </a:r>
            <a:r>
              <a:rPr lang="en-US" altLang="zh-CN" sz="2400" kern="100" dirty="0">
                <a:latin typeface="Consolas" panose="020B0609020204030204" pitchFamily="49" charset="0"/>
                <a:ea typeface="华文楷体" panose="02010600040101010101" pitchFamily="2" charset="-122"/>
                <a:hlinkClick r:id="rId2"/>
              </a:rPr>
              <a:t>std::allocator</a:t>
            </a:r>
            <a:r>
              <a:rPr lang="en-US" altLang="zh-CN" sz="2400" kern="100" dirty="0">
                <a:latin typeface="Consolas" panose="020B0609020204030204" pitchFamily="49" charset="0"/>
                <a:ea typeface="华文楷体" panose="02010600040101010101" pitchFamily="2" charset="-122"/>
              </a:rPr>
              <a:t>&lt;T&gt;</a:t>
            </a:r>
          </a:p>
          <a:p>
            <a:pPr marL="0" indent="0">
              <a:lnSpc>
                <a:spcPct val="120000"/>
              </a:lnSpc>
              <a:buSzPct val="75000"/>
              <a:buNone/>
            </a:pPr>
            <a:r>
              <a:rPr lang="en-US" altLang="zh-CN" sz="2400" kern="100" dirty="0">
                <a:latin typeface="Consolas" panose="020B0609020204030204" pitchFamily="49" charset="0"/>
                <a:ea typeface="华文楷体" panose="02010600040101010101" pitchFamily="2" charset="-122"/>
              </a:rPr>
              <a:t>&gt; class list;</a:t>
            </a: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定义：</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en-US" altLang="zh-CN" sz="2400" kern="100" dirty="0" err="1">
                <a:latin typeface="Consolas" panose="020B0609020204030204" pitchFamily="49" charset="0"/>
                <a:ea typeface="华文楷体" panose="02010600040101010101" pitchFamily="2" charset="-122"/>
                <a:cs typeface="STKaiti" panose="02010600040101010101" charset="-122"/>
              </a:rPr>
              <a:t>std</a:t>
            </a:r>
            <a:r>
              <a:rPr lang="en-US" altLang="zh-CN" sz="2400" kern="100" dirty="0">
                <a:latin typeface="Consolas" panose="020B0609020204030204" pitchFamily="49" charset="0"/>
                <a:ea typeface="华文楷体" panose="02010600040101010101" pitchFamily="2" charset="-122"/>
                <a:cs typeface="STKaiti" panose="02010600040101010101" charset="-122"/>
              </a:rPr>
              <a:t>::list&lt;</a:t>
            </a:r>
            <a:r>
              <a:rPr lang="en-US" altLang="zh-CN" sz="2400" kern="100" dirty="0" err="1">
                <a:latin typeface="Consolas" panose="020B0609020204030204" pitchFamily="49" charset="0"/>
                <a:ea typeface="华文楷体" panose="02010600040101010101" pitchFamily="2" charset="-122"/>
                <a:cs typeface="STKaiti" panose="02010600040101010101" charset="-122"/>
              </a:rPr>
              <a:t>int</a:t>
            </a:r>
            <a:r>
              <a:rPr lang="en-US" altLang="zh-CN" sz="2400" kern="100" dirty="0">
                <a:latin typeface="Consolas" panose="020B0609020204030204" pitchFamily="49" charset="0"/>
                <a:ea typeface="华文楷体" panose="02010600040101010101" pitchFamily="2" charset="-122"/>
                <a:cs typeface="STKaiti" panose="02010600040101010101" charset="-122"/>
              </a:rPr>
              <a:t>&gt; l;</a:t>
            </a:r>
            <a:endParaRPr lang="en-US" altLang="zh-CN"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46</a:t>
            </a:fld>
            <a:endParaRPr lang="en-US" altLang="zh-CN"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b="1" dirty="0">
                <a:latin typeface="微软雅黑" panose="020B0503020204020204" pitchFamily="34" charset="-122"/>
                <a:ea typeface="微软雅黑" panose="020B0503020204020204" pitchFamily="34" charset="-122"/>
              </a:rPr>
              <a:t>STL</a:t>
            </a:r>
            <a:r>
              <a:rPr kumimoji="1" lang="zh-CN" altLang="en-US" b="1" dirty="0">
                <a:latin typeface="微软雅黑" panose="020B0503020204020204" pitchFamily="34" charset="-122"/>
                <a:ea typeface="微软雅黑" panose="020B0503020204020204" pitchFamily="34" charset="-122"/>
              </a:rPr>
              <a:t>容器：</a:t>
            </a:r>
            <a:r>
              <a:rPr kumimoji="1" lang="en-US" altLang="zh-CN" b="1" dirty="0">
                <a:latin typeface="微软雅黑" panose="020B0503020204020204" pitchFamily="34" charset="-122"/>
                <a:ea typeface="微软雅黑" panose="020B0503020204020204" pitchFamily="34" charset="-122"/>
              </a:rPr>
              <a:t>list</a:t>
            </a:r>
            <a:endParaRPr kumimoji="1" lang="zh-CN" altLang="en-US" b="1"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628649" y="1690688"/>
            <a:ext cx="8082213" cy="4665663"/>
          </a:xfrm>
        </p:spPr>
        <p:txBody>
          <a:bodyPr>
            <a:normAutofit/>
          </a:bodyPr>
          <a:lstStyle/>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插入前端：</a:t>
            </a:r>
            <a:endPar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endParaRPr>
          </a:p>
          <a:p>
            <a:pPr marL="0" indent="0">
              <a:lnSpc>
                <a:spcPct val="100000"/>
              </a:lnSpc>
              <a:buSzPct val="75000"/>
              <a:buNone/>
            </a:pPr>
            <a:r>
              <a:rPr lang="en-US" altLang="zh-CN" kern="100" dirty="0">
                <a:solidFill>
                  <a:srgbClr val="003366"/>
                </a:solidFill>
                <a:latin typeface="Consolas" panose="020B0609020204030204" pitchFamily="49" charset="0"/>
                <a:ea typeface="华文楷体" panose="02010600040101010101" pitchFamily="2" charset="-122"/>
                <a:cs typeface="STKaiti" panose="02010600040101010101" charset="-122"/>
              </a:rPr>
              <a:t> </a:t>
            </a:r>
            <a:r>
              <a:rPr lang="en-US" altLang="zh-CN" sz="2400" kern="100" dirty="0" err="1">
                <a:solidFill>
                  <a:srgbClr val="003366"/>
                </a:solidFill>
                <a:latin typeface="Consolas" panose="020B0609020204030204" pitchFamily="49" charset="0"/>
                <a:ea typeface="华文楷体" panose="02010600040101010101" pitchFamily="2" charset="-122"/>
                <a:cs typeface="STKaiti" panose="02010600040101010101" charset="-122"/>
              </a:rPr>
              <a:t>l</a:t>
            </a:r>
            <a:r>
              <a:rPr lang="en-US" altLang="zh-CN" sz="2400" kern="100" dirty="0" err="1">
                <a:latin typeface="Consolas" panose="020B0609020204030204" pitchFamily="49" charset="0"/>
                <a:ea typeface="华文楷体" panose="02010600040101010101" pitchFamily="2" charset="-122"/>
                <a:cs typeface="STKaiti" panose="02010600040101010101" charset="-122"/>
              </a:rPr>
              <a:t>.</a:t>
            </a:r>
            <a:r>
              <a:rPr lang="en-US" altLang="zh-CN" sz="2400" kern="100" dirty="0" err="1">
                <a:solidFill>
                  <a:srgbClr val="FF0000"/>
                </a:solidFill>
                <a:latin typeface="Consolas" panose="020B0609020204030204" pitchFamily="49" charset="0"/>
                <a:ea typeface="华文楷体" panose="02010600040101010101" pitchFamily="2" charset="-122"/>
                <a:cs typeface="STKaiti" panose="02010600040101010101" charset="-122"/>
              </a:rPr>
              <a:t>push_front</a:t>
            </a:r>
            <a:r>
              <a:rPr lang="en-US" altLang="zh-CN" sz="2400" kern="100" dirty="0">
                <a:latin typeface="Consolas" panose="020B0609020204030204" pitchFamily="49" charset="0"/>
                <a:ea typeface="华文楷体" panose="02010600040101010101" pitchFamily="2" charset="-122"/>
                <a:cs typeface="STKaiti" panose="02010600040101010101" charset="-122"/>
              </a:rPr>
              <a:t>(1);</a:t>
            </a: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插入末端：</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en-US" altLang="zh-CN" kern="100" dirty="0">
                <a:solidFill>
                  <a:srgbClr val="003366"/>
                </a:solidFill>
                <a:latin typeface="Consolas" panose="020B0609020204030204" pitchFamily="49" charset="0"/>
                <a:ea typeface="华文楷体" panose="02010600040101010101" pitchFamily="2" charset="-122"/>
                <a:cs typeface="STKaiti" panose="02010600040101010101" charset="-122"/>
              </a:rPr>
              <a:t> </a:t>
            </a:r>
            <a:r>
              <a:rPr lang="en-US" altLang="zh-CN" sz="2400" kern="100" dirty="0" err="1">
                <a:solidFill>
                  <a:srgbClr val="003366"/>
                </a:solidFill>
                <a:latin typeface="Consolas" panose="020B0609020204030204" pitchFamily="49" charset="0"/>
                <a:ea typeface="华文楷体" panose="02010600040101010101" pitchFamily="2" charset="-122"/>
                <a:cs typeface="STKaiti" panose="02010600040101010101" charset="-122"/>
              </a:rPr>
              <a:t>l</a:t>
            </a:r>
            <a:r>
              <a:rPr lang="en-US" altLang="zh-CN" sz="2400" kern="100" dirty="0" err="1">
                <a:latin typeface="Consolas" panose="020B0609020204030204" pitchFamily="49" charset="0"/>
                <a:ea typeface="华文楷体" panose="02010600040101010101" pitchFamily="2" charset="-122"/>
                <a:cs typeface="STKaiti" panose="02010600040101010101" charset="-122"/>
              </a:rPr>
              <a:t>.</a:t>
            </a:r>
            <a:r>
              <a:rPr lang="en-US" altLang="zh-CN" sz="2400" kern="100" dirty="0" err="1">
                <a:solidFill>
                  <a:srgbClr val="FF0000"/>
                </a:solidFill>
                <a:latin typeface="Consolas" panose="020B0609020204030204" pitchFamily="49" charset="0"/>
                <a:ea typeface="华文楷体" panose="02010600040101010101" pitchFamily="2" charset="-122"/>
                <a:cs typeface="STKaiti" panose="02010600040101010101" charset="-122"/>
              </a:rPr>
              <a:t>push_back</a:t>
            </a:r>
            <a:r>
              <a:rPr lang="en-US" altLang="zh-CN" sz="2400" kern="100" dirty="0">
                <a:latin typeface="Consolas" panose="020B0609020204030204" pitchFamily="49" charset="0"/>
                <a:ea typeface="华文楷体" panose="02010600040101010101" pitchFamily="2" charset="-122"/>
                <a:cs typeface="STKaiti" panose="02010600040101010101" charset="-122"/>
              </a:rPr>
              <a:t>(2); </a:t>
            </a:r>
            <a:endParaRPr lang="en-US" altLang="zh-CN" sz="2400"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查询：</a:t>
            </a:r>
            <a:endPar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endParaRPr>
          </a:p>
          <a:p>
            <a:pPr marL="0" indent="0">
              <a:lnSpc>
                <a:spcPct val="100000"/>
              </a:lnSpc>
              <a:buSzPct val="75000"/>
              <a:buNone/>
            </a:pPr>
            <a:r>
              <a:rPr lang="en-US" altLang="zh-CN" kern="100" dirty="0">
                <a:solidFill>
                  <a:srgbClr val="003366"/>
                </a:solidFill>
                <a:latin typeface="Consolas" panose="020B0609020204030204" pitchFamily="49" charset="0"/>
                <a:ea typeface="华文楷体" panose="02010600040101010101" pitchFamily="2" charset="-122"/>
                <a:cs typeface="STKaiti" panose="02010600040101010101" charset="-122"/>
              </a:rPr>
              <a:t> </a:t>
            </a:r>
            <a:r>
              <a:rPr lang="en-US" altLang="zh-CN" sz="2400" kern="100" dirty="0">
                <a:latin typeface="Consolas" panose="020B0609020204030204" pitchFamily="49" charset="0"/>
                <a:ea typeface="华文楷体" panose="02010600040101010101" pitchFamily="2" charset="-122"/>
                <a:cs typeface="STKaiti" panose="02010600040101010101" charset="-122"/>
              </a:rPr>
              <a:t>std::</a:t>
            </a:r>
            <a:r>
              <a:rPr lang="en-US" altLang="zh-CN" sz="2400" kern="100" dirty="0">
                <a:solidFill>
                  <a:srgbClr val="FF0000"/>
                </a:solidFill>
                <a:latin typeface="Consolas" panose="020B0609020204030204" pitchFamily="49" charset="0"/>
                <a:ea typeface="华文楷体" panose="02010600040101010101" pitchFamily="2" charset="-122"/>
                <a:cs typeface="STKaiti" panose="02010600040101010101" charset="-122"/>
              </a:rPr>
              <a:t>find</a:t>
            </a:r>
            <a:r>
              <a:rPr lang="en-US" altLang="zh-CN" sz="2400" kern="100" dirty="0">
                <a:latin typeface="Consolas" panose="020B0609020204030204" pitchFamily="49" charset="0"/>
                <a:ea typeface="华文楷体" panose="02010600040101010101" pitchFamily="2" charset="-122"/>
                <a:cs typeface="STKaiti" panose="02010600040101010101" charset="-122"/>
              </a:rPr>
              <a:t>(</a:t>
            </a:r>
            <a:r>
              <a:rPr lang="en-US" altLang="zh-CN" sz="2400" kern="100" dirty="0" err="1">
                <a:solidFill>
                  <a:srgbClr val="003366"/>
                </a:solidFill>
                <a:latin typeface="Consolas" panose="020B0609020204030204" pitchFamily="49" charset="0"/>
                <a:ea typeface="华文楷体" panose="02010600040101010101" pitchFamily="2" charset="-122"/>
              </a:rPr>
              <a:t>l</a:t>
            </a:r>
            <a:r>
              <a:rPr lang="en-US" altLang="zh-CN" sz="2400" kern="100" dirty="0" err="1">
                <a:latin typeface="Consolas" panose="020B0609020204030204" pitchFamily="49" charset="0"/>
                <a:ea typeface="华文楷体" panose="02010600040101010101" pitchFamily="2" charset="-122"/>
                <a:cs typeface="STKaiti" panose="02010600040101010101" charset="-122"/>
              </a:rPr>
              <a:t>.begin</a:t>
            </a:r>
            <a:r>
              <a:rPr lang="en-US" altLang="zh-CN" sz="2400" kern="100" dirty="0">
                <a:latin typeface="Consolas" panose="020B0609020204030204" pitchFamily="49" charset="0"/>
                <a:ea typeface="华文楷体" panose="02010600040101010101" pitchFamily="2" charset="-122"/>
                <a:cs typeface="STKaiti" panose="02010600040101010101" charset="-122"/>
              </a:rPr>
              <a:t>(), </a:t>
            </a:r>
            <a:r>
              <a:rPr lang="en-US" altLang="zh-CN" sz="2400" kern="100" dirty="0" err="1">
                <a:solidFill>
                  <a:srgbClr val="003366"/>
                </a:solidFill>
                <a:latin typeface="Consolas" panose="020B0609020204030204" pitchFamily="49" charset="0"/>
                <a:ea typeface="华文楷体" panose="02010600040101010101" pitchFamily="2" charset="-122"/>
              </a:rPr>
              <a:t>l</a:t>
            </a:r>
            <a:r>
              <a:rPr lang="en-US" altLang="zh-CN" sz="2400" kern="100" dirty="0" err="1">
                <a:latin typeface="Consolas" panose="020B0609020204030204" pitchFamily="49" charset="0"/>
                <a:ea typeface="华文楷体" panose="02010600040101010101" pitchFamily="2" charset="-122"/>
                <a:cs typeface="STKaiti" panose="02010600040101010101" charset="-122"/>
              </a:rPr>
              <a:t>.end</a:t>
            </a:r>
            <a:r>
              <a:rPr lang="en-US" altLang="zh-CN" sz="2400" kern="100" dirty="0">
                <a:latin typeface="Consolas" panose="020B0609020204030204" pitchFamily="49" charset="0"/>
                <a:ea typeface="华文楷体" panose="02010600040101010101" pitchFamily="2" charset="-122"/>
                <a:cs typeface="STKaiti" panose="02010600040101010101" charset="-122"/>
              </a:rPr>
              <a:t>(), 2);</a:t>
            </a:r>
            <a:r>
              <a:rPr lang="en-US" altLang="zh-CN" sz="2400" kern="100" dirty="0">
                <a:solidFill>
                  <a:srgbClr val="003366"/>
                </a:solidFill>
                <a:latin typeface="Consolas" panose="020B0609020204030204" pitchFamily="49" charset="0"/>
                <a:ea typeface="华文楷体" panose="02010600040101010101" pitchFamily="2" charset="-122"/>
                <a:cs typeface="STKaiti" panose="02010600040101010101" charset="-122"/>
              </a:rPr>
              <a:t> </a:t>
            </a:r>
            <a:r>
              <a:rPr lang="en-US" altLang="zh-CN" sz="2400" kern="100" dirty="0">
                <a:solidFill>
                  <a:srgbClr val="008000"/>
                </a:solidFill>
                <a:latin typeface="Consolas" panose="020B0609020204030204" pitchFamily="49" charset="0"/>
                <a:ea typeface="华文楷体" panose="02010600040101010101" pitchFamily="2" charset="-122"/>
                <a:cs typeface="STKaiti" panose="02010600040101010101" charset="-122"/>
              </a:rPr>
              <a:t>//</a:t>
            </a:r>
            <a:r>
              <a:rPr lang="zh-CN" altLang="en-US" sz="2400" kern="100" dirty="0">
                <a:solidFill>
                  <a:srgbClr val="008000"/>
                </a:solidFill>
                <a:latin typeface="Consolas" panose="020B0609020204030204" pitchFamily="49" charset="0"/>
                <a:ea typeface="华文楷体" panose="02010600040101010101" pitchFamily="2" charset="-122"/>
                <a:cs typeface="STKaiti" panose="02010600040101010101" charset="-122"/>
              </a:rPr>
              <a:t>返回迭代器</a:t>
            </a:r>
            <a:endParaRPr lang="en-US" altLang="zh-CN" sz="2400" kern="100" dirty="0">
              <a:solidFill>
                <a:srgbClr val="008000"/>
              </a:solidFill>
              <a:latin typeface="Consolas" panose="020B0609020204030204" pitchFamily="49" charset="0"/>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插入指定位置：</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en-US" altLang="zh-CN" kern="100" dirty="0">
                <a:solidFill>
                  <a:srgbClr val="003366"/>
                </a:solidFill>
                <a:latin typeface="Consolas" panose="020B0609020204030204" pitchFamily="49" charset="0"/>
                <a:ea typeface="华文楷体" panose="02010600040101010101" pitchFamily="2" charset="-122"/>
                <a:cs typeface="STKaiti" panose="02010600040101010101" charset="-122"/>
              </a:rPr>
              <a:t> </a:t>
            </a:r>
            <a:r>
              <a:rPr lang="en-US" altLang="zh-CN" sz="2400" kern="100" dirty="0" err="1">
                <a:solidFill>
                  <a:srgbClr val="003366"/>
                </a:solidFill>
                <a:latin typeface="Consolas" panose="020B0609020204030204" pitchFamily="49" charset="0"/>
                <a:ea typeface="华文楷体" panose="02010600040101010101" pitchFamily="2" charset="-122"/>
              </a:rPr>
              <a:t>l</a:t>
            </a:r>
            <a:r>
              <a:rPr lang="en-US" altLang="zh-CN" sz="2400" kern="100" dirty="0" err="1">
                <a:latin typeface="Consolas" panose="020B0609020204030204" pitchFamily="49" charset="0"/>
                <a:ea typeface="华文楷体" panose="02010600040101010101" pitchFamily="2" charset="-122"/>
                <a:cs typeface="STKaiti" panose="02010600040101010101" charset="-122"/>
              </a:rPr>
              <a:t>.</a:t>
            </a:r>
            <a:r>
              <a:rPr lang="en-US" altLang="zh-CN" sz="2400" kern="100" dirty="0" err="1">
                <a:solidFill>
                  <a:srgbClr val="FF0000"/>
                </a:solidFill>
                <a:latin typeface="Consolas" panose="020B0609020204030204" pitchFamily="49" charset="0"/>
                <a:ea typeface="华文楷体" panose="02010600040101010101" pitchFamily="2" charset="-122"/>
                <a:cs typeface="STKaiti" panose="02010600040101010101" charset="-122"/>
              </a:rPr>
              <a:t>insert</a:t>
            </a:r>
            <a:r>
              <a:rPr lang="en-US" altLang="zh-CN" sz="2400" kern="100" dirty="0">
                <a:latin typeface="Consolas" panose="020B0609020204030204" pitchFamily="49" charset="0"/>
                <a:ea typeface="华文楷体" panose="02010600040101010101" pitchFamily="2" charset="-122"/>
                <a:cs typeface="STKaiti" panose="02010600040101010101" charset="-122"/>
              </a:rPr>
              <a:t>(it, 4); </a:t>
            </a:r>
            <a:r>
              <a:rPr lang="en-US" altLang="zh-CN" sz="2400" kern="100" dirty="0">
                <a:solidFill>
                  <a:srgbClr val="008000"/>
                </a:solidFill>
                <a:latin typeface="Consolas" panose="020B0609020204030204" pitchFamily="49" charset="0"/>
                <a:ea typeface="华文楷体" panose="02010600040101010101" pitchFamily="2" charset="-122"/>
                <a:cs typeface="STKaiti" panose="02010600040101010101" charset="-122"/>
              </a:rPr>
              <a:t>//it</a:t>
            </a:r>
            <a:r>
              <a:rPr lang="zh-CN" altLang="en-US" sz="2400" kern="100" dirty="0">
                <a:solidFill>
                  <a:srgbClr val="008000"/>
                </a:solidFill>
                <a:latin typeface="Consolas" panose="020B0609020204030204" pitchFamily="49" charset="0"/>
                <a:ea typeface="华文楷体" panose="02010600040101010101" pitchFamily="2" charset="-122"/>
                <a:cs typeface="STKaiti" panose="02010600040101010101" charset="-122"/>
              </a:rPr>
              <a:t>为迭代器</a:t>
            </a:r>
            <a:endParaRPr lang="en-US" altLang="zh-CN" sz="2400" kern="100" dirty="0">
              <a:solidFill>
                <a:srgbClr val="008000"/>
              </a:solidFill>
              <a:latin typeface="Consolas" panose="020B0609020204030204" pitchFamily="49" charset="0"/>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47</a:t>
            </a:fld>
            <a:endParaRPr lang="en-US" altLang="zh-CN"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b="1" dirty="0">
                <a:latin typeface="微软雅黑" panose="020B0503020204020204" pitchFamily="34" charset="-122"/>
                <a:ea typeface="微软雅黑" panose="020B0503020204020204" pitchFamily="34" charset="-122"/>
              </a:rPr>
              <a:t>STL</a:t>
            </a:r>
            <a:r>
              <a:rPr kumimoji="1" lang="zh-CN" altLang="en-US" b="1" dirty="0">
                <a:latin typeface="微软雅黑" panose="020B0503020204020204" pitchFamily="34" charset="-122"/>
                <a:ea typeface="微软雅黑" panose="020B0503020204020204" pitchFamily="34" charset="-122"/>
              </a:rPr>
              <a:t>容器：</a:t>
            </a:r>
            <a:r>
              <a:rPr kumimoji="1" lang="en-US" altLang="zh-CN" b="1" dirty="0">
                <a:latin typeface="微软雅黑" panose="020B0503020204020204" pitchFamily="34" charset="-122"/>
                <a:ea typeface="微软雅黑" panose="020B0503020204020204" pitchFamily="34" charset="-122"/>
              </a:rPr>
              <a:t>list</a:t>
            </a:r>
            <a:endParaRPr kumimoji="1" lang="zh-CN" altLang="en-US" b="1"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628649" y="1690689"/>
            <a:ext cx="8082213" cy="4553700"/>
          </a:xfrm>
        </p:spPr>
        <p:txBody>
          <a:bodyPr>
            <a:normAutofit/>
          </a:bodyPr>
          <a:lstStyle/>
          <a:p>
            <a:pPr>
              <a:lnSpc>
                <a:spcPct val="100000"/>
              </a:lnSpc>
              <a:buSzPct val="75000"/>
              <a:buFont typeface="Wingdings" panose="05000000000000000000" pitchFamily="2" charset="2"/>
              <a:buChar char="n"/>
            </a:pP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不支持下标</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等随机访问</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支持在任意位置</a:t>
            </a: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高速</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插入</a:t>
            </a:r>
            <a:r>
              <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删除数据</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其访问主要依赖迭代器</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插入和删除操作</a:t>
            </a: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不会导致迭代器失效</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（除指向被删除的元素的迭代器外）</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48</a:t>
            </a:fld>
            <a:endParaRPr lang="en-US" altLang="zh-CN"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b="1" dirty="0">
                <a:latin typeface="微软雅黑" panose="020B0503020204020204" pitchFamily="34" charset="-122"/>
                <a:ea typeface="微软雅黑" panose="020B0503020204020204" pitchFamily="34" charset="-122"/>
              </a:rPr>
              <a:t>STL</a:t>
            </a:r>
            <a:r>
              <a:rPr kumimoji="1" lang="zh-CN" altLang="en-US" b="1" dirty="0">
                <a:latin typeface="微软雅黑" panose="020B0503020204020204" pitchFamily="34" charset="-122"/>
                <a:ea typeface="微软雅黑" panose="020B0503020204020204" pitchFamily="34" charset="-122"/>
              </a:rPr>
              <a:t>容器：</a:t>
            </a:r>
            <a:r>
              <a:rPr kumimoji="1" lang="en-US" altLang="zh-CN" b="1" dirty="0">
                <a:latin typeface="微软雅黑" panose="020B0503020204020204" pitchFamily="34" charset="-122"/>
                <a:ea typeface="微软雅黑" panose="020B0503020204020204" pitchFamily="34" charset="-122"/>
              </a:rPr>
              <a:t>set</a:t>
            </a:r>
            <a:endParaRPr kumimoji="1" lang="zh-CN" altLang="en-US" b="1"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628649" y="1690688"/>
            <a:ext cx="8082213" cy="5030788"/>
          </a:xfrm>
        </p:spPr>
        <p:txBody>
          <a:bodyPr>
            <a:normAutofit fontScale="92500" lnSpcReduction="10000"/>
          </a:bodyPr>
          <a:lstStyle/>
          <a:p>
            <a:pPr>
              <a:lnSpc>
                <a:spcPct val="100000"/>
              </a:lnSpc>
              <a:buSzPct val="75000"/>
              <a:buFont typeface="Wingdings" panose="05000000000000000000" pitchFamily="2" charset="2"/>
              <a:buChar char="n"/>
            </a:pP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不重复元素</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构成的</a:t>
            </a: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无序集合</a:t>
            </a:r>
            <a:endParaRPr lang="en-US" altLang="zh-CN" b="1" kern="100" dirty="0">
              <a:solidFill>
                <a:srgbClr val="FF0000"/>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en-US" altLang="zh-CN" kern="100" dirty="0">
                <a:latin typeface="Consolas" panose="020B0609020204030204" pitchFamily="49" charset="0"/>
                <a:ea typeface="华文楷体" panose="02010600040101010101" pitchFamily="2" charset="-122"/>
                <a:cs typeface="STKaiti" panose="02010600040101010101" charset="-122"/>
              </a:rPr>
              <a:t> template&lt; class </a:t>
            </a:r>
            <a:r>
              <a:rPr lang="en-US" altLang="zh-CN" kern="100" dirty="0">
                <a:solidFill>
                  <a:srgbClr val="FF0000"/>
                </a:solidFill>
                <a:latin typeface="Consolas" panose="020B0609020204030204" pitchFamily="49" charset="0"/>
                <a:ea typeface="华文楷体" panose="02010600040101010101" pitchFamily="2" charset="-122"/>
                <a:cs typeface="STKaiti" panose="02010600040101010101" charset="-122"/>
              </a:rPr>
              <a:t>Key</a:t>
            </a:r>
            <a:r>
              <a:rPr lang="en-US" altLang="zh-CN" kern="100" dirty="0">
                <a:latin typeface="Consolas" panose="020B0609020204030204" pitchFamily="49" charset="0"/>
                <a:ea typeface="华文楷体" panose="02010600040101010101" pitchFamily="2" charset="-122"/>
                <a:cs typeface="STKaiti" panose="02010600040101010101" charset="-122"/>
              </a:rPr>
              <a:t>,</a:t>
            </a:r>
          </a:p>
          <a:p>
            <a:pPr marL="0" indent="0">
              <a:lnSpc>
                <a:spcPct val="100000"/>
              </a:lnSpc>
              <a:buSzPct val="75000"/>
              <a:buNone/>
            </a:pPr>
            <a:r>
              <a:rPr lang="en-US" altLang="zh-CN" kern="100" dirty="0">
                <a:latin typeface="Consolas" panose="020B0609020204030204" pitchFamily="49" charset="0"/>
                <a:ea typeface="华文楷体" panose="02010600040101010101" pitchFamily="2" charset="-122"/>
                <a:cs typeface="STKaiti" panose="02010600040101010101" charset="-122"/>
              </a:rPr>
              <a:t>   class </a:t>
            </a:r>
            <a:r>
              <a:rPr lang="en-US" altLang="zh-CN" kern="100" dirty="0">
                <a:solidFill>
                  <a:srgbClr val="FF0000"/>
                </a:solidFill>
                <a:latin typeface="Consolas" panose="020B0609020204030204" pitchFamily="49" charset="0"/>
                <a:ea typeface="华文楷体" panose="02010600040101010101" pitchFamily="2" charset="-122"/>
                <a:cs typeface="STKaiti" panose="02010600040101010101" charset="-122"/>
              </a:rPr>
              <a:t>Compare</a:t>
            </a:r>
            <a:r>
              <a:rPr lang="en-US" altLang="zh-CN" kern="100" dirty="0">
                <a:latin typeface="Consolas" panose="020B0609020204030204" pitchFamily="49" charset="0"/>
                <a:ea typeface="华文楷体" panose="02010600040101010101" pitchFamily="2" charset="-122"/>
                <a:cs typeface="STKaiti" panose="02010600040101010101" charset="-122"/>
              </a:rPr>
              <a:t> = </a:t>
            </a:r>
            <a:r>
              <a:rPr lang="en-US" altLang="zh-CN" kern="100" dirty="0" err="1">
                <a:latin typeface="Consolas" panose="020B0609020204030204" pitchFamily="49" charset="0"/>
                <a:ea typeface="华文楷体" panose="02010600040101010101" pitchFamily="2" charset="-122"/>
                <a:cs typeface="STKaiti" panose="02010600040101010101" charset="-122"/>
              </a:rPr>
              <a:t>std</a:t>
            </a:r>
            <a:r>
              <a:rPr lang="en-US" altLang="zh-CN" kern="100" dirty="0">
                <a:latin typeface="Consolas" panose="020B0609020204030204" pitchFamily="49" charset="0"/>
                <a:ea typeface="华文楷体" panose="02010600040101010101" pitchFamily="2" charset="-122"/>
                <a:cs typeface="STKaiti" panose="02010600040101010101" charset="-122"/>
              </a:rPr>
              <a:t>::less&lt;Key&gt;,</a:t>
            </a:r>
          </a:p>
          <a:p>
            <a:pPr marL="0" indent="0">
              <a:lnSpc>
                <a:spcPct val="100000"/>
              </a:lnSpc>
              <a:buSzPct val="75000"/>
              <a:buNone/>
            </a:pPr>
            <a:r>
              <a:rPr lang="en-US" altLang="zh-CN" kern="100" dirty="0">
                <a:latin typeface="Consolas" panose="020B0609020204030204" pitchFamily="49" charset="0"/>
                <a:ea typeface="华文楷体" panose="02010600040101010101" pitchFamily="2" charset="-122"/>
                <a:cs typeface="STKaiti" panose="02010600040101010101" charset="-122"/>
              </a:rPr>
              <a:t>   class </a:t>
            </a:r>
            <a:r>
              <a:rPr lang="en-US" altLang="zh-CN" kern="100" dirty="0">
                <a:solidFill>
                  <a:srgbClr val="FF0000"/>
                </a:solidFill>
                <a:latin typeface="Consolas" panose="020B0609020204030204" pitchFamily="49" charset="0"/>
                <a:ea typeface="华文楷体" panose="02010600040101010101" pitchFamily="2" charset="-122"/>
                <a:cs typeface="STKaiti" panose="02010600040101010101" charset="-122"/>
              </a:rPr>
              <a:t>Allocator</a:t>
            </a:r>
            <a:r>
              <a:rPr lang="en-US" altLang="zh-CN" kern="100" dirty="0">
                <a:latin typeface="Consolas" panose="020B0609020204030204" pitchFamily="49" charset="0"/>
                <a:ea typeface="华文楷体" panose="02010600040101010101" pitchFamily="2" charset="-122"/>
                <a:cs typeface="STKaiti" panose="02010600040101010101" charset="-122"/>
              </a:rPr>
              <a:t> = </a:t>
            </a:r>
            <a:r>
              <a:rPr lang="en-US" altLang="zh-CN" kern="100" dirty="0" err="1">
                <a:latin typeface="Consolas" panose="020B0609020204030204" pitchFamily="49" charset="0"/>
                <a:ea typeface="华文楷体" panose="02010600040101010101" pitchFamily="2" charset="-122"/>
                <a:cs typeface="STKaiti" panose="02010600040101010101" charset="-122"/>
              </a:rPr>
              <a:t>std</a:t>
            </a:r>
            <a:r>
              <a:rPr lang="en-US" altLang="zh-CN" kern="100" dirty="0">
                <a:latin typeface="Consolas" panose="020B0609020204030204" pitchFamily="49" charset="0"/>
                <a:ea typeface="华文楷体" panose="02010600040101010101" pitchFamily="2" charset="-122"/>
                <a:cs typeface="STKaiti" panose="02010600040101010101" charset="-122"/>
              </a:rPr>
              <a:t>::allocator&lt;Key&gt;</a:t>
            </a:r>
          </a:p>
          <a:p>
            <a:pPr marL="0" indent="0">
              <a:lnSpc>
                <a:spcPct val="100000"/>
              </a:lnSpc>
              <a:buSzPct val="75000"/>
              <a:buNone/>
            </a:pPr>
            <a:r>
              <a:rPr lang="en-US" altLang="zh-CN" kern="100" dirty="0">
                <a:latin typeface="Consolas" panose="020B0609020204030204" pitchFamily="49" charset="0"/>
                <a:ea typeface="华文楷体" panose="02010600040101010101" pitchFamily="2" charset="-122"/>
                <a:cs typeface="STKaiti" panose="02010600040101010101" charset="-122"/>
              </a:rPr>
              <a:t> &gt; class set;</a:t>
            </a: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内部按大小顺序排列，比较器由函数对象</a:t>
            </a:r>
            <a:r>
              <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rPr>
              <a:t>Compare</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完成。</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注意：</a:t>
            </a: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无序</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是指不保持</a:t>
            </a: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插入顺序</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，容器内部排列顺序是根据元素大小排列。</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定义：</a:t>
            </a:r>
            <a:endPar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endParaRPr>
          </a:p>
          <a:p>
            <a:pPr marL="0" indent="0">
              <a:lnSpc>
                <a:spcPct val="100000"/>
              </a:lnSpc>
              <a:buSzPct val="75000"/>
              <a:buNone/>
            </a:pPr>
            <a:r>
              <a:rPr lang="en-US" altLang="zh-CN" kern="100" dirty="0">
                <a:latin typeface="Consolas" panose="020B0609020204030204" pitchFamily="49" charset="0"/>
                <a:ea typeface="华文楷体" panose="02010600040101010101" pitchFamily="2" charset="-122"/>
                <a:cs typeface="STKaiti" panose="02010600040101010101" charset="-122"/>
              </a:rPr>
              <a:t> </a:t>
            </a:r>
            <a:r>
              <a:rPr lang="en-US" altLang="zh-CN" kern="100" dirty="0" err="1">
                <a:latin typeface="Consolas" panose="020B0609020204030204" pitchFamily="49" charset="0"/>
                <a:ea typeface="华文楷体" panose="02010600040101010101" pitchFamily="2" charset="-122"/>
                <a:cs typeface="STKaiti" panose="02010600040101010101" charset="-122"/>
              </a:rPr>
              <a:t>std</a:t>
            </a:r>
            <a:r>
              <a:rPr lang="en-US" altLang="zh-CN" kern="100" dirty="0">
                <a:latin typeface="Consolas" panose="020B0609020204030204" pitchFamily="49" charset="0"/>
                <a:ea typeface="华文楷体" panose="02010600040101010101" pitchFamily="2" charset="-122"/>
                <a:cs typeface="STKaiti" panose="02010600040101010101" charset="-122"/>
              </a:rPr>
              <a:t>::set&lt;</a:t>
            </a:r>
            <a:r>
              <a:rPr lang="en-US" altLang="zh-CN" kern="100" dirty="0" err="1">
                <a:latin typeface="Consolas" panose="020B0609020204030204" pitchFamily="49" charset="0"/>
                <a:ea typeface="华文楷体" panose="02010600040101010101" pitchFamily="2" charset="-122"/>
                <a:cs typeface="STKaiti" panose="02010600040101010101" charset="-122"/>
              </a:rPr>
              <a:t>int</a:t>
            </a:r>
            <a:r>
              <a:rPr lang="en-US" altLang="zh-CN" kern="100" dirty="0">
                <a:latin typeface="Consolas" panose="020B0609020204030204" pitchFamily="49" charset="0"/>
                <a:ea typeface="华文楷体" panose="02010600040101010101" pitchFamily="2" charset="-122"/>
                <a:cs typeface="STKaiti" panose="02010600040101010101" charset="-122"/>
              </a:rPr>
              <a:t>&gt; s;</a:t>
            </a: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49</a:t>
            </a:fld>
            <a:endParaRPr lang="en-US" altLang="zh-CN"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b="1" dirty="0">
                <a:latin typeface="微软雅黑" panose="020B0503020204020204" pitchFamily="34" charset="-122"/>
                <a:ea typeface="微软雅黑" panose="020B0503020204020204" pitchFamily="34" charset="-122"/>
              </a:rPr>
              <a:t>STL</a:t>
            </a:r>
            <a:r>
              <a:rPr kumimoji="1" lang="zh-CN" altLang="en-US" b="1" dirty="0">
                <a:latin typeface="微软雅黑" panose="020B0503020204020204" pitchFamily="34" charset="-122"/>
                <a:ea typeface="微软雅黑" panose="020B0503020204020204" pitchFamily="34" charset="-122"/>
              </a:rPr>
              <a:t>容器：</a:t>
            </a:r>
            <a:r>
              <a:rPr kumimoji="1" lang="en-US" altLang="zh-CN" b="1" dirty="0">
                <a:latin typeface="微软雅黑" panose="020B0503020204020204" pitchFamily="34" charset="-122"/>
                <a:ea typeface="微软雅黑" panose="020B0503020204020204" pitchFamily="34" charset="-122"/>
              </a:rPr>
              <a:t>set</a:t>
            </a:r>
            <a:endParaRPr kumimoji="1" lang="zh-CN" altLang="en-US" b="1"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628649" y="1690688"/>
            <a:ext cx="8082213" cy="4665663"/>
          </a:xfrm>
        </p:spPr>
        <p:txBody>
          <a:bodyPr>
            <a:normAutofit/>
          </a:bodyPr>
          <a:lstStyle/>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插入（不允许出现重复元素）：</a:t>
            </a:r>
            <a:endPar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endParaRPr>
          </a:p>
          <a:p>
            <a:pPr marL="0" indent="0">
              <a:lnSpc>
                <a:spcPct val="100000"/>
              </a:lnSpc>
              <a:buSzPct val="75000"/>
              <a:buNone/>
            </a:pPr>
            <a:r>
              <a:rPr lang="en-US" altLang="zh-CN" kern="100" dirty="0">
                <a:solidFill>
                  <a:srgbClr val="003366"/>
                </a:solidFill>
                <a:latin typeface="Consolas" panose="020B0609020204030204" pitchFamily="49" charset="0"/>
                <a:ea typeface="华文楷体" panose="02010600040101010101" pitchFamily="2" charset="-122"/>
                <a:cs typeface="STKaiti" panose="02010600040101010101" charset="-122"/>
              </a:rPr>
              <a:t> </a:t>
            </a:r>
            <a:r>
              <a:rPr lang="en-US" altLang="zh-CN" kern="100" dirty="0" err="1">
                <a:latin typeface="Consolas" panose="020B0609020204030204" pitchFamily="49" charset="0"/>
                <a:ea typeface="华文楷体" panose="02010600040101010101" pitchFamily="2" charset="-122"/>
                <a:cs typeface="STKaiti" panose="02010600040101010101" charset="-122"/>
              </a:rPr>
              <a:t>s.</a:t>
            </a:r>
            <a:r>
              <a:rPr lang="en-US" altLang="zh-CN" kern="100" dirty="0" err="1">
                <a:solidFill>
                  <a:srgbClr val="FF0000"/>
                </a:solidFill>
                <a:latin typeface="Consolas" panose="020B0609020204030204" pitchFamily="49" charset="0"/>
                <a:ea typeface="华文楷体" panose="02010600040101010101" pitchFamily="2" charset="-122"/>
                <a:cs typeface="STKaiti" panose="02010600040101010101" charset="-122"/>
              </a:rPr>
              <a:t>insert</a:t>
            </a:r>
            <a:r>
              <a:rPr lang="en-US" altLang="zh-CN" kern="100" dirty="0">
                <a:latin typeface="Consolas" panose="020B0609020204030204" pitchFamily="49" charset="0"/>
                <a:ea typeface="华文楷体" panose="02010600040101010101" pitchFamily="2" charset="-122"/>
                <a:cs typeface="STKaiti" panose="02010600040101010101" charset="-122"/>
              </a:rPr>
              <a:t>(</a:t>
            </a:r>
            <a:r>
              <a:rPr lang="en-US" altLang="zh-CN" kern="100" dirty="0" err="1">
                <a:latin typeface="Consolas" panose="020B0609020204030204" pitchFamily="49" charset="0"/>
                <a:ea typeface="华文楷体" panose="02010600040101010101" pitchFamily="2" charset="-122"/>
                <a:cs typeface="STKaiti" panose="02010600040101010101" charset="-122"/>
              </a:rPr>
              <a:t>val</a:t>
            </a:r>
            <a:r>
              <a:rPr lang="en-US" altLang="zh-CN" kern="100" dirty="0">
                <a:latin typeface="Consolas" panose="020B0609020204030204" pitchFamily="49" charset="0"/>
                <a:ea typeface="华文楷体" panose="02010600040101010101" pitchFamily="2" charset="-122"/>
                <a:cs typeface="STKaiti" panose="02010600040101010101" charset="-122"/>
              </a:rPr>
              <a:t>);</a:t>
            </a: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查询值为</a:t>
            </a:r>
            <a:r>
              <a:rPr lang="en-US" altLang="zh-CN" b="1" kern="100" dirty="0" err="1">
                <a:latin typeface="Consolas" panose="020B0609020204030204" pitchFamily="49" charset="0"/>
                <a:ea typeface="华文楷体" panose="02010600040101010101" pitchFamily="2" charset="-122"/>
              </a:rPr>
              <a:t>val</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的元素：</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en-US" altLang="zh-CN" kern="100" dirty="0">
                <a:solidFill>
                  <a:srgbClr val="003366"/>
                </a:solidFill>
                <a:latin typeface="Consolas" panose="020B0609020204030204" pitchFamily="49" charset="0"/>
                <a:ea typeface="华文楷体" panose="02010600040101010101" pitchFamily="2" charset="-122"/>
                <a:cs typeface="STKaiti" panose="02010600040101010101" charset="-122"/>
              </a:rPr>
              <a:t> </a:t>
            </a:r>
            <a:r>
              <a:rPr lang="en-US" altLang="zh-CN" kern="100" dirty="0" err="1">
                <a:latin typeface="Consolas" panose="020B0609020204030204" pitchFamily="49" charset="0"/>
                <a:ea typeface="华文楷体" panose="02010600040101010101" pitchFamily="2" charset="-122"/>
                <a:cs typeface="STKaiti" panose="02010600040101010101" charset="-122"/>
              </a:rPr>
              <a:t>s.</a:t>
            </a:r>
            <a:r>
              <a:rPr lang="en-US" altLang="zh-CN" kern="100" dirty="0" err="1">
                <a:solidFill>
                  <a:srgbClr val="FF0000"/>
                </a:solidFill>
                <a:latin typeface="Consolas" panose="020B0609020204030204" pitchFamily="49" charset="0"/>
                <a:ea typeface="华文楷体" panose="02010600040101010101" pitchFamily="2" charset="-122"/>
                <a:cs typeface="STKaiti" panose="02010600040101010101" charset="-122"/>
              </a:rPr>
              <a:t>find</a:t>
            </a:r>
            <a:r>
              <a:rPr lang="en-US" altLang="zh-CN" kern="100" dirty="0">
                <a:latin typeface="Consolas" panose="020B0609020204030204" pitchFamily="49" charset="0"/>
                <a:ea typeface="华文楷体" panose="02010600040101010101" pitchFamily="2" charset="-122"/>
                <a:cs typeface="STKaiti" panose="02010600040101010101" charset="-122"/>
              </a:rPr>
              <a:t>(</a:t>
            </a:r>
            <a:r>
              <a:rPr lang="en-US" altLang="zh-CN" kern="100" dirty="0" err="1">
                <a:latin typeface="Consolas" panose="020B0609020204030204" pitchFamily="49" charset="0"/>
                <a:ea typeface="华文楷体" panose="02010600040101010101" pitchFamily="2" charset="-122"/>
                <a:cs typeface="STKaiti" panose="02010600040101010101" charset="-122"/>
              </a:rPr>
              <a:t>val</a:t>
            </a:r>
            <a:r>
              <a:rPr lang="en-US" altLang="zh-CN" kern="100" dirty="0">
                <a:latin typeface="Consolas" panose="020B0609020204030204" pitchFamily="49" charset="0"/>
                <a:ea typeface="华文楷体" panose="02010600040101010101" pitchFamily="2" charset="-122"/>
                <a:cs typeface="STKaiti" panose="02010600040101010101" charset="-122"/>
              </a:rPr>
              <a:t>);   </a:t>
            </a:r>
            <a:r>
              <a:rPr lang="en-US" altLang="zh-CN" b="1" kern="100" dirty="0">
                <a:solidFill>
                  <a:srgbClr val="008000"/>
                </a:solidFill>
                <a:latin typeface="Consolas" panose="020B0609020204030204" pitchFamily="49" charset="0"/>
                <a:ea typeface="华文楷体" panose="02010600040101010101" pitchFamily="2" charset="-122"/>
                <a:cs typeface="STKaiti" panose="02010600040101010101" charset="-122"/>
              </a:rPr>
              <a:t>//</a:t>
            </a:r>
            <a:r>
              <a:rPr lang="zh-CN" altLang="en-US" b="1" kern="100" dirty="0">
                <a:solidFill>
                  <a:srgbClr val="008000"/>
                </a:solidFill>
                <a:latin typeface="华文楷体" panose="02010600040101010101" pitchFamily="2" charset="-122"/>
                <a:ea typeface="华文楷体" panose="02010600040101010101" pitchFamily="2" charset="-122"/>
                <a:cs typeface="STKaiti" panose="02010600040101010101" charset="-122"/>
              </a:rPr>
              <a:t>返回迭代器</a:t>
            </a:r>
            <a:endParaRPr lang="en-US" altLang="zh-CN" b="1" kern="100" dirty="0">
              <a:solidFill>
                <a:srgbClr val="008000"/>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删除：</a:t>
            </a:r>
            <a:endPar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endParaRPr>
          </a:p>
          <a:p>
            <a:pPr marL="0" indent="0">
              <a:lnSpc>
                <a:spcPct val="100000"/>
              </a:lnSpc>
              <a:buSzPct val="75000"/>
              <a:buNone/>
            </a:pPr>
            <a:r>
              <a:rPr lang="en-US" altLang="zh-CN" kern="100" dirty="0">
                <a:solidFill>
                  <a:srgbClr val="003366"/>
                </a:solidFill>
                <a:latin typeface="Consolas" panose="020B0609020204030204" pitchFamily="49" charset="0"/>
                <a:ea typeface="华文楷体" panose="02010600040101010101" pitchFamily="2" charset="-122"/>
                <a:cs typeface="STKaiti" panose="02010600040101010101" charset="-122"/>
              </a:rPr>
              <a:t> </a:t>
            </a:r>
            <a:r>
              <a:rPr lang="en-US" altLang="zh-CN" kern="100" dirty="0" err="1">
                <a:latin typeface="Consolas" panose="020B0609020204030204" pitchFamily="49" charset="0"/>
                <a:ea typeface="华文楷体" panose="02010600040101010101" pitchFamily="2" charset="-122"/>
                <a:cs typeface="STKaiti" panose="02010600040101010101" charset="-122"/>
              </a:rPr>
              <a:t>s.</a:t>
            </a:r>
            <a:r>
              <a:rPr lang="en-US" altLang="zh-CN" kern="100" dirty="0" err="1">
                <a:solidFill>
                  <a:srgbClr val="FF0000"/>
                </a:solidFill>
                <a:latin typeface="Consolas" panose="020B0609020204030204" pitchFamily="49" charset="0"/>
                <a:ea typeface="华文楷体" panose="02010600040101010101" pitchFamily="2" charset="-122"/>
                <a:cs typeface="STKaiti" panose="02010600040101010101" charset="-122"/>
              </a:rPr>
              <a:t>erase</a:t>
            </a:r>
            <a:r>
              <a:rPr lang="en-US" altLang="zh-CN" kern="100" dirty="0">
                <a:latin typeface="Consolas" panose="020B0609020204030204" pitchFamily="49" charset="0"/>
                <a:ea typeface="华文楷体" panose="02010600040101010101" pitchFamily="2" charset="-122"/>
                <a:cs typeface="STKaiti" panose="02010600040101010101" charset="-122"/>
              </a:rPr>
              <a:t>(</a:t>
            </a:r>
            <a:r>
              <a:rPr lang="en-US" altLang="zh-CN" kern="100" dirty="0" err="1">
                <a:latin typeface="Consolas" panose="020B0609020204030204" pitchFamily="49" charset="0"/>
                <a:ea typeface="华文楷体" panose="02010600040101010101" pitchFamily="2" charset="-122"/>
                <a:cs typeface="STKaiti" panose="02010600040101010101" charset="-122"/>
              </a:rPr>
              <a:t>s.find</a:t>
            </a:r>
            <a:r>
              <a:rPr lang="en-US" altLang="zh-CN" kern="100" dirty="0">
                <a:latin typeface="Consolas" panose="020B0609020204030204" pitchFamily="49" charset="0"/>
                <a:ea typeface="华文楷体" panose="02010600040101010101" pitchFamily="2" charset="-122"/>
                <a:cs typeface="STKaiti" panose="02010600040101010101" charset="-122"/>
              </a:rPr>
              <a:t>(</a:t>
            </a:r>
            <a:r>
              <a:rPr lang="en-US" altLang="zh-CN" kern="100" dirty="0" err="1">
                <a:latin typeface="Consolas" panose="020B0609020204030204" pitchFamily="49" charset="0"/>
                <a:ea typeface="华文楷体" panose="02010600040101010101" pitchFamily="2" charset="-122"/>
                <a:cs typeface="STKaiti" panose="02010600040101010101" charset="-122"/>
              </a:rPr>
              <a:t>val</a:t>
            </a:r>
            <a:r>
              <a:rPr lang="en-US" altLang="zh-CN" kern="100" dirty="0">
                <a:latin typeface="Consolas" panose="020B0609020204030204" pitchFamily="49" charset="0"/>
                <a:ea typeface="华文楷体" panose="02010600040101010101" pitchFamily="2" charset="-122"/>
                <a:cs typeface="STKaiti" panose="02010600040101010101" charset="-122"/>
              </a:rPr>
              <a:t>));</a:t>
            </a:r>
            <a:r>
              <a:rPr lang="en-US" altLang="zh-CN" kern="100" dirty="0">
                <a:solidFill>
                  <a:srgbClr val="003366"/>
                </a:solidFill>
                <a:latin typeface="Consolas" panose="020B0609020204030204" pitchFamily="49" charset="0"/>
                <a:ea typeface="华文楷体" panose="02010600040101010101" pitchFamily="2" charset="-122"/>
                <a:cs typeface="STKaiti" panose="02010600040101010101" charset="-122"/>
              </a:rPr>
              <a:t>   </a:t>
            </a:r>
            <a:r>
              <a:rPr lang="en-US" altLang="zh-CN" b="1" kern="100" dirty="0">
                <a:solidFill>
                  <a:srgbClr val="008000"/>
                </a:solidFill>
                <a:latin typeface="Consolas" panose="020B0609020204030204" pitchFamily="49" charset="0"/>
                <a:ea typeface="华文楷体" panose="02010600040101010101" pitchFamily="2" charset="-122"/>
              </a:rPr>
              <a:t>//</a:t>
            </a:r>
            <a:r>
              <a:rPr lang="zh-CN" altLang="en-US" b="1" kern="100" dirty="0">
                <a:solidFill>
                  <a:srgbClr val="008000"/>
                </a:solidFill>
                <a:latin typeface="Consolas" panose="020B0609020204030204" pitchFamily="49" charset="0"/>
                <a:ea typeface="华文楷体" panose="02010600040101010101" pitchFamily="2" charset="-122"/>
              </a:rPr>
              <a:t>导致迭代器失效</a:t>
            </a:r>
            <a:endParaRPr lang="en-US" altLang="zh-CN" b="1" kern="100" dirty="0">
              <a:solidFill>
                <a:srgbClr val="008000"/>
              </a:solidFill>
              <a:latin typeface="Consolas" panose="020B0609020204030204" pitchFamily="49" charset="0"/>
              <a:ea typeface="华文楷体" panose="02010600040101010101" pitchFamily="2"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统计：</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en-US" altLang="zh-CN" kern="100" dirty="0">
                <a:solidFill>
                  <a:srgbClr val="003366"/>
                </a:solidFill>
                <a:latin typeface="Consolas" panose="020B0609020204030204" pitchFamily="49" charset="0"/>
                <a:ea typeface="华文楷体" panose="02010600040101010101" pitchFamily="2" charset="-122"/>
                <a:cs typeface="STKaiti" panose="02010600040101010101" charset="-122"/>
              </a:rPr>
              <a:t> </a:t>
            </a:r>
            <a:r>
              <a:rPr lang="en-US" altLang="zh-CN" kern="100" dirty="0" err="1">
                <a:latin typeface="Consolas" panose="020B0609020204030204" pitchFamily="49" charset="0"/>
                <a:ea typeface="华文楷体" panose="02010600040101010101" pitchFamily="2" charset="-122"/>
                <a:cs typeface="STKaiti" panose="02010600040101010101" charset="-122"/>
              </a:rPr>
              <a:t>s.</a:t>
            </a:r>
            <a:r>
              <a:rPr lang="en-US" altLang="zh-CN" kern="100" dirty="0" err="1">
                <a:solidFill>
                  <a:srgbClr val="FF0000"/>
                </a:solidFill>
                <a:latin typeface="Consolas" panose="020B0609020204030204" pitchFamily="49" charset="0"/>
                <a:ea typeface="华文楷体" panose="02010600040101010101" pitchFamily="2" charset="-122"/>
                <a:cs typeface="STKaiti" panose="02010600040101010101" charset="-122"/>
              </a:rPr>
              <a:t>count</a:t>
            </a:r>
            <a:r>
              <a:rPr lang="en-US" altLang="zh-CN" kern="100" dirty="0">
                <a:latin typeface="Consolas" panose="020B0609020204030204" pitchFamily="49" charset="0"/>
                <a:ea typeface="华文楷体" panose="02010600040101010101" pitchFamily="2" charset="-122"/>
                <a:cs typeface="STKaiti" panose="02010600040101010101" charset="-122"/>
              </a:rPr>
              <a:t>(</a:t>
            </a:r>
            <a:r>
              <a:rPr lang="en-US" altLang="zh-CN" kern="100" dirty="0" err="1">
                <a:latin typeface="Consolas" panose="020B0609020204030204" pitchFamily="49" charset="0"/>
                <a:ea typeface="华文楷体" panose="02010600040101010101" pitchFamily="2" charset="-122"/>
                <a:cs typeface="STKaiti" panose="02010600040101010101" charset="-122"/>
              </a:rPr>
              <a:t>val</a:t>
            </a:r>
            <a:r>
              <a:rPr lang="en-US" altLang="zh-CN" kern="100" dirty="0">
                <a:latin typeface="Consolas" panose="020B0609020204030204" pitchFamily="49" charset="0"/>
                <a:ea typeface="华文楷体" panose="02010600040101010101" pitchFamily="2" charset="-122"/>
                <a:cs typeface="STKaiti" panose="02010600040101010101" charset="-122"/>
              </a:rPr>
              <a:t>);   </a:t>
            </a:r>
            <a:r>
              <a:rPr lang="en-US" altLang="zh-CN" b="1" kern="100" dirty="0">
                <a:solidFill>
                  <a:srgbClr val="008000"/>
                </a:solidFill>
                <a:latin typeface="Consolas" panose="020B0609020204030204" pitchFamily="49" charset="0"/>
                <a:ea typeface="华文楷体" panose="02010600040101010101" pitchFamily="2" charset="-122"/>
              </a:rPr>
              <a:t>//</a:t>
            </a:r>
            <a:r>
              <a:rPr lang="en-US" altLang="zh-CN" b="1" kern="100" dirty="0" err="1">
                <a:solidFill>
                  <a:srgbClr val="008000"/>
                </a:solidFill>
                <a:latin typeface="Consolas" panose="020B0609020204030204" pitchFamily="49" charset="0"/>
                <a:ea typeface="华文楷体" panose="02010600040101010101" pitchFamily="2" charset="-122"/>
              </a:rPr>
              <a:t>val</a:t>
            </a:r>
            <a:r>
              <a:rPr lang="zh-CN" altLang="en-US" b="1" kern="100" dirty="0">
                <a:solidFill>
                  <a:srgbClr val="008000"/>
                </a:solidFill>
                <a:latin typeface="Consolas" panose="020B0609020204030204" pitchFamily="49" charset="0"/>
                <a:ea typeface="华文楷体" panose="02010600040101010101" pitchFamily="2" charset="-122"/>
              </a:rPr>
              <a:t>的个数，总是</a:t>
            </a:r>
            <a:r>
              <a:rPr lang="en-US" altLang="zh-CN" b="1" kern="100" dirty="0">
                <a:solidFill>
                  <a:srgbClr val="008000"/>
                </a:solidFill>
                <a:latin typeface="Consolas" panose="020B0609020204030204" pitchFamily="49" charset="0"/>
                <a:ea typeface="华文楷体" panose="02010600040101010101" pitchFamily="2" charset="-122"/>
              </a:rPr>
              <a:t>0</a:t>
            </a:r>
            <a:r>
              <a:rPr lang="zh-CN" altLang="en-US" b="1" kern="100" dirty="0">
                <a:solidFill>
                  <a:srgbClr val="008000"/>
                </a:solidFill>
                <a:latin typeface="Consolas" panose="020B0609020204030204" pitchFamily="49" charset="0"/>
                <a:ea typeface="华文楷体" panose="02010600040101010101" pitchFamily="2" charset="-122"/>
              </a:rPr>
              <a:t>或</a:t>
            </a:r>
            <a:r>
              <a:rPr lang="en-US" altLang="zh-CN" b="1" kern="100" dirty="0">
                <a:solidFill>
                  <a:srgbClr val="008000"/>
                </a:solidFill>
                <a:latin typeface="Consolas" panose="020B0609020204030204" pitchFamily="49" charset="0"/>
                <a:ea typeface="华文楷体" panose="02010600040101010101" pitchFamily="2" charset="-122"/>
              </a:rPr>
              <a:t>1</a:t>
            </a:r>
          </a:p>
          <a:p>
            <a:pPr marL="0" indent="0">
              <a:lnSpc>
                <a:spcPct val="100000"/>
              </a:lnSpc>
              <a:buSzPct val="75000"/>
              <a:buNone/>
            </a:pPr>
            <a:endParaRPr lang="en-US" altLang="zh-CN"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50</a:t>
            </a:fld>
            <a:endParaRPr lang="en-US" altLang="zh-CN"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b="1" dirty="0">
                <a:latin typeface="微软雅黑" panose="020B0503020204020204" pitchFamily="34" charset="-122"/>
                <a:ea typeface="微软雅黑" panose="020B0503020204020204" pitchFamily="34" charset="-122"/>
              </a:rPr>
              <a:t>STL</a:t>
            </a:r>
            <a:r>
              <a:rPr kumimoji="1" lang="zh-CN" altLang="en-US" b="1" dirty="0">
                <a:latin typeface="微软雅黑" panose="020B0503020204020204" pitchFamily="34" charset="-122"/>
                <a:ea typeface="微软雅黑" panose="020B0503020204020204" pitchFamily="34" charset="-122"/>
              </a:rPr>
              <a:t>容器：</a:t>
            </a:r>
            <a:r>
              <a:rPr kumimoji="1" lang="en-US" altLang="zh-CN" b="1" dirty="0">
                <a:latin typeface="微软雅黑" panose="020B0503020204020204" pitchFamily="34" charset="-122"/>
                <a:ea typeface="微软雅黑" panose="020B0503020204020204" pitchFamily="34" charset="-122"/>
              </a:rPr>
              <a:t>map</a:t>
            </a:r>
            <a:endParaRPr kumimoji="1" lang="zh-CN" altLang="en-US" b="1"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628649" y="1690688"/>
            <a:ext cx="8082213" cy="4665663"/>
          </a:xfrm>
        </p:spPr>
        <p:txBody>
          <a:bodyPr>
            <a:normAutofit/>
          </a:bodyPr>
          <a:lstStyle/>
          <a:p>
            <a:pPr>
              <a:lnSpc>
                <a:spcPct val="100000"/>
              </a:lnSpc>
              <a:buSzPct val="75000"/>
              <a:buFont typeface="Wingdings" panose="05000000000000000000" pitchFamily="2" charset="2"/>
              <a:buChar char="n"/>
            </a:pP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关联数组</a:t>
            </a:r>
            <a:endParaRPr lang="en-US" altLang="zh-CN" b="1" kern="100" dirty="0">
              <a:solidFill>
                <a:srgbClr val="FF0000"/>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每个元素由两个数据项组成，</a:t>
            </a:r>
            <a:r>
              <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rPr>
              <a:t>map</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将一个数据项映射到另一个数据项中。</a:t>
            </a:r>
            <a:endPar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endParaRPr>
          </a:p>
          <a:p>
            <a:pPr marL="0" indent="0">
              <a:lnSpc>
                <a:spcPct val="100000"/>
              </a:lnSpc>
              <a:buSzPct val="75000"/>
              <a:buNone/>
            </a:pPr>
            <a:r>
              <a:rPr lang="en-US" altLang="zh-CN" kern="100" dirty="0">
                <a:latin typeface="Consolas" panose="020B0609020204030204" pitchFamily="49" charset="0"/>
                <a:ea typeface="华文楷体" panose="02010600040101010101" pitchFamily="2" charset="-122"/>
                <a:cs typeface="STKaiti" panose="02010600040101010101" charset="-122"/>
              </a:rPr>
              <a:t> </a:t>
            </a:r>
            <a:r>
              <a:rPr lang="en-US" altLang="zh-CN" sz="2400" kern="100" dirty="0">
                <a:latin typeface="Consolas" panose="020B0609020204030204" pitchFamily="49" charset="0"/>
                <a:ea typeface="华文楷体" panose="02010600040101010101" pitchFamily="2" charset="-122"/>
                <a:cs typeface="STKaiti" panose="02010600040101010101" charset="-122"/>
              </a:rPr>
              <a:t>template&lt;class </a:t>
            </a:r>
            <a:r>
              <a:rPr lang="en-US" altLang="zh-CN" sz="2400" kern="100" dirty="0">
                <a:solidFill>
                  <a:srgbClr val="FF0000"/>
                </a:solidFill>
                <a:latin typeface="Consolas" panose="020B0609020204030204" pitchFamily="49" charset="0"/>
                <a:ea typeface="华文楷体" panose="02010600040101010101" pitchFamily="2" charset="-122"/>
                <a:cs typeface="STKaiti" panose="02010600040101010101" charset="-122"/>
              </a:rPr>
              <a:t>Key</a:t>
            </a:r>
            <a:r>
              <a:rPr lang="en-US" altLang="zh-CN" sz="2400" kern="100" dirty="0">
                <a:latin typeface="Consolas" panose="020B0609020204030204" pitchFamily="49" charset="0"/>
                <a:ea typeface="华文楷体" panose="02010600040101010101" pitchFamily="2" charset="-122"/>
                <a:cs typeface="STKaiti" panose="02010600040101010101" charset="-122"/>
              </a:rPr>
              <a:t>,</a:t>
            </a:r>
          </a:p>
          <a:p>
            <a:pPr marL="0" indent="0">
              <a:lnSpc>
                <a:spcPct val="100000"/>
              </a:lnSpc>
              <a:buSzPct val="75000"/>
              <a:buNone/>
            </a:pPr>
            <a:r>
              <a:rPr lang="en-US" altLang="zh-CN" sz="2400" kern="100" dirty="0">
                <a:latin typeface="Consolas" panose="020B0609020204030204" pitchFamily="49" charset="0"/>
                <a:ea typeface="华文楷体" panose="02010600040101010101" pitchFamily="2" charset="-122"/>
                <a:cs typeface="STKaiti" panose="02010600040101010101" charset="-122"/>
              </a:rPr>
              <a:t>   class </a:t>
            </a:r>
            <a:r>
              <a:rPr lang="en-US" altLang="zh-CN" sz="2400" kern="100" dirty="0">
                <a:solidFill>
                  <a:srgbClr val="FF0000"/>
                </a:solidFill>
                <a:latin typeface="Consolas" panose="020B0609020204030204" pitchFamily="49" charset="0"/>
                <a:ea typeface="华文楷体" panose="02010600040101010101" pitchFamily="2" charset="-122"/>
                <a:cs typeface="STKaiti" panose="02010600040101010101" charset="-122"/>
              </a:rPr>
              <a:t>T</a:t>
            </a:r>
            <a:r>
              <a:rPr lang="en-US" altLang="zh-CN" sz="2400" kern="100" dirty="0">
                <a:latin typeface="Consolas" panose="020B0609020204030204" pitchFamily="49" charset="0"/>
                <a:ea typeface="华文楷体" panose="02010600040101010101" pitchFamily="2" charset="-122"/>
                <a:cs typeface="STKaiti" panose="02010600040101010101" charset="-122"/>
              </a:rPr>
              <a:t>,</a:t>
            </a:r>
          </a:p>
          <a:p>
            <a:pPr marL="0" indent="0">
              <a:lnSpc>
                <a:spcPct val="100000"/>
              </a:lnSpc>
              <a:buSzPct val="75000"/>
              <a:buNone/>
            </a:pPr>
            <a:r>
              <a:rPr lang="en-US" altLang="zh-CN" sz="2400" kern="100" dirty="0">
                <a:latin typeface="Consolas" panose="020B0609020204030204" pitchFamily="49" charset="0"/>
                <a:ea typeface="华文楷体" panose="02010600040101010101" pitchFamily="2" charset="-122"/>
                <a:cs typeface="STKaiti" panose="02010600040101010101" charset="-122"/>
              </a:rPr>
              <a:t>   class </a:t>
            </a:r>
            <a:r>
              <a:rPr lang="en-US" altLang="zh-CN" sz="2400" kern="100" dirty="0">
                <a:solidFill>
                  <a:srgbClr val="FF0000"/>
                </a:solidFill>
                <a:latin typeface="Consolas" panose="020B0609020204030204" pitchFamily="49" charset="0"/>
                <a:ea typeface="华文楷体" panose="02010600040101010101" pitchFamily="2" charset="-122"/>
                <a:cs typeface="STKaiti" panose="02010600040101010101" charset="-122"/>
              </a:rPr>
              <a:t>Compare</a:t>
            </a:r>
            <a:r>
              <a:rPr lang="en-US" altLang="zh-CN" sz="2400" kern="100" dirty="0">
                <a:latin typeface="Consolas" panose="020B0609020204030204" pitchFamily="49" charset="0"/>
                <a:ea typeface="华文楷体" panose="02010600040101010101" pitchFamily="2" charset="-122"/>
                <a:cs typeface="STKaiti" panose="02010600040101010101" charset="-122"/>
              </a:rPr>
              <a:t> = </a:t>
            </a:r>
            <a:r>
              <a:rPr lang="en-US" altLang="zh-CN" sz="2400" kern="100" dirty="0" err="1">
                <a:latin typeface="Consolas" panose="020B0609020204030204" pitchFamily="49" charset="0"/>
                <a:ea typeface="华文楷体" panose="02010600040101010101" pitchFamily="2" charset="-122"/>
                <a:cs typeface="STKaiti" panose="02010600040101010101" charset="-122"/>
              </a:rPr>
              <a:t>std</a:t>
            </a:r>
            <a:r>
              <a:rPr lang="en-US" altLang="zh-CN" sz="2400" kern="100" dirty="0">
                <a:latin typeface="Consolas" panose="020B0609020204030204" pitchFamily="49" charset="0"/>
                <a:ea typeface="华文楷体" panose="02010600040101010101" pitchFamily="2" charset="-122"/>
                <a:cs typeface="STKaiti" panose="02010600040101010101" charset="-122"/>
              </a:rPr>
              <a:t>::less&lt;Key&gt;,</a:t>
            </a:r>
          </a:p>
          <a:p>
            <a:pPr marL="0" indent="0">
              <a:lnSpc>
                <a:spcPct val="100000"/>
              </a:lnSpc>
              <a:buSzPct val="75000"/>
              <a:buNone/>
            </a:pPr>
            <a:r>
              <a:rPr lang="en-US" altLang="zh-CN" sz="2400" kern="100" dirty="0">
                <a:latin typeface="Consolas" panose="020B0609020204030204" pitchFamily="49" charset="0"/>
                <a:ea typeface="华文楷体" panose="02010600040101010101" pitchFamily="2" charset="-122"/>
                <a:cs typeface="STKaiti" panose="02010600040101010101" charset="-122"/>
              </a:rPr>
              <a:t>   class </a:t>
            </a:r>
            <a:r>
              <a:rPr lang="en-US" altLang="zh-CN" sz="2400" kern="100" dirty="0">
                <a:solidFill>
                  <a:srgbClr val="FF0000"/>
                </a:solidFill>
                <a:latin typeface="Consolas" panose="020B0609020204030204" pitchFamily="49" charset="0"/>
                <a:ea typeface="华文楷体" panose="02010600040101010101" pitchFamily="2" charset="-122"/>
                <a:cs typeface="STKaiti" panose="02010600040101010101" charset="-122"/>
              </a:rPr>
              <a:t>Allocator</a:t>
            </a:r>
            <a:r>
              <a:rPr lang="en-US" altLang="zh-CN" sz="2400" kern="100" dirty="0">
                <a:latin typeface="Consolas" panose="020B0609020204030204" pitchFamily="49" charset="0"/>
                <a:ea typeface="华文楷体" panose="02010600040101010101" pitchFamily="2" charset="-122"/>
                <a:cs typeface="STKaiti" panose="02010600040101010101" charset="-122"/>
              </a:rPr>
              <a:t> =</a:t>
            </a:r>
          </a:p>
          <a:p>
            <a:pPr marL="0" indent="0">
              <a:lnSpc>
                <a:spcPct val="100000"/>
              </a:lnSpc>
              <a:buSzPct val="75000"/>
              <a:buNone/>
            </a:pPr>
            <a:r>
              <a:rPr lang="en-US" altLang="zh-CN" sz="2400" kern="100" dirty="0">
                <a:latin typeface="Consolas" panose="020B0609020204030204" pitchFamily="49" charset="0"/>
                <a:ea typeface="华文楷体" panose="02010600040101010101" pitchFamily="2" charset="-122"/>
                <a:cs typeface="STKaiti" panose="02010600040101010101" charset="-122"/>
              </a:rPr>
              <a:t>      </a:t>
            </a:r>
            <a:r>
              <a:rPr lang="en-US" altLang="zh-CN" sz="2400" kern="100" dirty="0" err="1">
                <a:latin typeface="Consolas" panose="020B0609020204030204" pitchFamily="49" charset="0"/>
                <a:ea typeface="华文楷体" panose="02010600040101010101" pitchFamily="2" charset="-122"/>
                <a:cs typeface="STKaiti" panose="02010600040101010101" charset="-122"/>
              </a:rPr>
              <a:t>std</a:t>
            </a:r>
            <a:r>
              <a:rPr lang="en-US" altLang="zh-CN" sz="2400" kern="100" dirty="0">
                <a:latin typeface="Consolas" panose="020B0609020204030204" pitchFamily="49" charset="0"/>
                <a:ea typeface="华文楷体" panose="02010600040101010101" pitchFamily="2" charset="-122"/>
                <a:cs typeface="STKaiti" panose="02010600040101010101" charset="-122"/>
              </a:rPr>
              <a:t>::allocator&lt;</a:t>
            </a:r>
            <a:r>
              <a:rPr lang="en-US" altLang="zh-CN" sz="2400" kern="100" dirty="0" err="1">
                <a:latin typeface="Consolas" panose="020B0609020204030204" pitchFamily="49" charset="0"/>
                <a:ea typeface="华文楷体" panose="02010600040101010101" pitchFamily="2" charset="-122"/>
                <a:cs typeface="STKaiti" panose="02010600040101010101" charset="-122"/>
              </a:rPr>
              <a:t>std</a:t>
            </a:r>
            <a:r>
              <a:rPr lang="en-US" altLang="zh-CN" sz="2400" kern="100" dirty="0">
                <a:latin typeface="Consolas" panose="020B0609020204030204" pitchFamily="49" charset="0"/>
                <a:ea typeface="华文楷体" panose="02010600040101010101" pitchFamily="2" charset="-122"/>
                <a:cs typeface="STKaiti" panose="02010600040101010101" charset="-122"/>
              </a:rPr>
              <a:t>::pair&lt;</a:t>
            </a:r>
            <a:r>
              <a:rPr lang="en-US" altLang="zh-CN" sz="2400" kern="100" dirty="0" err="1">
                <a:latin typeface="Consolas" panose="020B0609020204030204" pitchFamily="49" charset="0"/>
                <a:ea typeface="华文楷体" panose="02010600040101010101" pitchFamily="2" charset="-122"/>
                <a:cs typeface="STKaiti" panose="02010600040101010101" charset="-122"/>
              </a:rPr>
              <a:t>const</a:t>
            </a:r>
            <a:r>
              <a:rPr lang="en-US" altLang="zh-CN" sz="2400" kern="100" dirty="0">
                <a:latin typeface="Consolas" panose="020B0609020204030204" pitchFamily="49" charset="0"/>
                <a:ea typeface="华文楷体" panose="02010600040101010101" pitchFamily="2" charset="-122"/>
                <a:cs typeface="STKaiti" panose="02010600040101010101" charset="-122"/>
              </a:rPr>
              <a:t> Key, T&gt; &gt;</a:t>
            </a:r>
          </a:p>
          <a:p>
            <a:pPr marL="0" indent="0">
              <a:lnSpc>
                <a:spcPct val="100000"/>
              </a:lnSpc>
              <a:buSzPct val="75000"/>
              <a:buNone/>
            </a:pPr>
            <a:r>
              <a:rPr lang="en-US" altLang="zh-CN" sz="2400" kern="100" dirty="0">
                <a:latin typeface="Consolas" panose="020B0609020204030204" pitchFamily="49" charset="0"/>
                <a:ea typeface="华文楷体" panose="02010600040101010101" pitchFamily="2" charset="-122"/>
                <a:cs typeface="STKaiti" panose="02010600040101010101" charset="-122"/>
              </a:rPr>
              <a:t> &gt; class map;</a:t>
            </a: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51</a:t>
            </a:fld>
            <a:endParaRPr lang="en-US" altLang="zh-CN"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b="1" dirty="0">
                <a:latin typeface="微软雅黑" panose="020B0503020204020204" pitchFamily="34" charset="-122"/>
                <a:ea typeface="微软雅黑" panose="020B0503020204020204" pitchFamily="34" charset="-122"/>
              </a:rPr>
              <a:t>STL</a:t>
            </a:r>
            <a:r>
              <a:rPr kumimoji="1" lang="zh-CN" altLang="en-US" b="1" dirty="0">
                <a:latin typeface="微软雅黑" panose="020B0503020204020204" pitchFamily="34" charset="-122"/>
                <a:ea typeface="微软雅黑" panose="020B0503020204020204" pitchFamily="34" charset="-122"/>
              </a:rPr>
              <a:t>容器：</a:t>
            </a:r>
            <a:r>
              <a:rPr kumimoji="1" lang="en-US" altLang="zh-CN" b="1" dirty="0">
                <a:latin typeface="微软雅黑" panose="020B0503020204020204" pitchFamily="34" charset="-122"/>
                <a:ea typeface="微软雅黑" panose="020B0503020204020204" pitchFamily="34" charset="-122"/>
              </a:rPr>
              <a:t>map</a:t>
            </a:r>
            <a:endParaRPr kumimoji="1" lang="zh-CN" altLang="en-US" b="1"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628650" y="1519275"/>
            <a:ext cx="8082213" cy="5338725"/>
          </a:xfrm>
        </p:spPr>
        <p:txBody>
          <a:bodyPr>
            <a:normAutofit lnSpcReduction="10000"/>
          </a:bodyPr>
          <a:lstStyle/>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其值类型为</a:t>
            </a:r>
            <a:r>
              <a:rPr lang="en-US" altLang="zh-CN" b="1" kern="100" dirty="0">
                <a:latin typeface="Consolas" panose="020B0609020204030204" pitchFamily="49" charset="0"/>
                <a:ea typeface="华文楷体" panose="02010600040101010101" pitchFamily="2" charset="-122"/>
                <a:cs typeface="STKaiti" panose="02010600040101010101" charset="-122"/>
              </a:rPr>
              <a:t>pair&lt;Key, T&gt;</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en-US" altLang="zh-CN" b="1" kern="100" dirty="0">
                <a:latin typeface="Consolas" panose="020B0609020204030204" pitchFamily="49" charset="0"/>
                <a:ea typeface="华文楷体" panose="02010600040101010101" pitchFamily="2" charset="-122"/>
                <a:cs typeface="STKaiti" panose="02010600040101010101" charset="-122"/>
              </a:rPr>
              <a:t>map</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中的元素</a:t>
            </a:r>
            <a:r>
              <a:rPr lang="en-US" altLang="zh-CN" b="1" kern="100" dirty="0">
                <a:solidFill>
                  <a:srgbClr val="FF0000"/>
                </a:solidFill>
                <a:latin typeface="Consolas" panose="020B0609020204030204" pitchFamily="49" charset="0"/>
                <a:ea typeface="华文楷体" panose="02010600040101010101" pitchFamily="2" charset="-122"/>
                <a:cs typeface="STKaiti" panose="02010600040101010101" charset="-122"/>
              </a:rPr>
              <a:t>key</a:t>
            </a:r>
            <a:r>
              <a:rPr lang="zh-CN" altLang="en-US" b="1" kern="100" dirty="0">
                <a:solidFill>
                  <a:srgbClr val="FF0000"/>
                </a:solidFill>
                <a:latin typeface="Consolas" panose="020B0609020204030204" pitchFamily="49" charset="0"/>
                <a:ea typeface="华文楷体" panose="02010600040101010101" pitchFamily="2" charset="-122"/>
                <a:cs typeface="STKaiti" panose="02010600040101010101" charset="-122"/>
              </a:rPr>
              <a:t>必须</a:t>
            </a: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互不相同</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可以通过</a:t>
            </a: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下标</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访问（即使</a:t>
            </a:r>
            <a:r>
              <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key</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不是整数）。下标访问时如果元素不存在，则创建对应元素。</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也可使用</a:t>
            </a:r>
            <a:r>
              <a:rPr lang="en-US" altLang="zh-CN" b="1" kern="100" dirty="0">
                <a:latin typeface="Consolas" panose="020B0609020204030204" pitchFamily="49" charset="0"/>
                <a:ea typeface="华文楷体" panose="02010600040101010101" pitchFamily="2" charset="-122"/>
                <a:cs typeface="STKaiti" panose="02010600040101010101" charset="-122"/>
              </a:rPr>
              <a:t>insert</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函数进行插入。   </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457200" lvl="1" indent="0">
              <a:lnSpc>
                <a:spcPct val="100000"/>
              </a:lnSpc>
              <a:buSzPct val="75000"/>
              <a:buNone/>
            </a:pPr>
            <a:r>
              <a:rPr lang="en-US" altLang="zh-CN" sz="1900" kern="100" dirty="0">
                <a:latin typeface="Consolas" panose="020B0609020204030204" pitchFamily="49" charset="0"/>
                <a:ea typeface="华文楷体" panose="02010600040101010101" pitchFamily="2" charset="-122"/>
                <a:cs typeface="STKaiti" panose="02010600040101010101" charset="-122"/>
              </a:rPr>
              <a:t>#include &lt;string&gt;</a:t>
            </a:r>
          </a:p>
          <a:p>
            <a:pPr marL="457200" lvl="1" indent="0">
              <a:lnSpc>
                <a:spcPct val="100000"/>
              </a:lnSpc>
              <a:buSzPct val="75000"/>
              <a:buNone/>
            </a:pPr>
            <a:r>
              <a:rPr lang="en-US" altLang="zh-CN" sz="1900" kern="100" dirty="0">
                <a:latin typeface="Consolas" panose="020B0609020204030204" pitchFamily="49" charset="0"/>
                <a:ea typeface="华文楷体" panose="02010600040101010101" pitchFamily="2" charset="-122"/>
                <a:cs typeface="STKaiti" panose="02010600040101010101" charset="-122"/>
              </a:rPr>
              <a:t>#include &lt;map&gt; </a:t>
            </a:r>
          </a:p>
          <a:p>
            <a:pPr marL="457200" lvl="1" indent="0">
              <a:lnSpc>
                <a:spcPct val="100000"/>
              </a:lnSpc>
              <a:buSzPct val="75000"/>
              <a:buNone/>
            </a:pPr>
            <a:r>
              <a:rPr lang="en-US" altLang="zh-CN" sz="1900" kern="100" dirty="0">
                <a:latin typeface="Consolas" panose="020B0609020204030204" pitchFamily="49" charset="0"/>
                <a:ea typeface="华文楷体" panose="02010600040101010101" pitchFamily="2" charset="-122"/>
                <a:cs typeface="STKaiti" panose="02010600040101010101" charset="-122"/>
              </a:rPr>
              <a:t>int main() {</a:t>
            </a:r>
          </a:p>
          <a:p>
            <a:pPr marL="457200" lvl="1" indent="0">
              <a:lnSpc>
                <a:spcPct val="100000"/>
              </a:lnSpc>
              <a:buSzPct val="75000"/>
              <a:buNone/>
            </a:pPr>
            <a:r>
              <a:rPr lang="en-US" altLang="zh-CN" sz="1900" kern="100" dirty="0">
                <a:latin typeface="Consolas" panose="020B0609020204030204" pitchFamily="49" charset="0"/>
                <a:ea typeface="华文楷体" panose="02010600040101010101" pitchFamily="2" charset="-122"/>
                <a:cs typeface="STKaiti" panose="02010600040101010101" charset="-122"/>
              </a:rPr>
              <a:t>    std::map&lt;std::string, int&gt; s;</a:t>
            </a:r>
          </a:p>
          <a:p>
            <a:pPr marL="457200" lvl="1" indent="0">
              <a:lnSpc>
                <a:spcPct val="100000"/>
              </a:lnSpc>
              <a:buSzPct val="75000"/>
              <a:buNone/>
            </a:pPr>
            <a:r>
              <a:rPr lang="en-US" altLang="zh-CN" sz="1900" kern="100" dirty="0">
                <a:latin typeface="Consolas" panose="020B0609020204030204" pitchFamily="49" charset="0"/>
                <a:ea typeface="华文楷体" panose="02010600040101010101" pitchFamily="2" charset="-122"/>
                <a:cs typeface="STKaiti" panose="02010600040101010101" charset="-122"/>
              </a:rPr>
              <a:t>    s["Monday"] = 1;</a:t>
            </a:r>
          </a:p>
          <a:p>
            <a:pPr marL="457200" lvl="1" indent="0">
              <a:lnSpc>
                <a:spcPct val="100000"/>
              </a:lnSpc>
              <a:buSzPct val="75000"/>
              <a:buNone/>
            </a:pPr>
            <a:r>
              <a:rPr lang="en-US" altLang="zh-CN" sz="1900" kern="100" dirty="0">
                <a:latin typeface="Consolas" panose="020B0609020204030204" pitchFamily="49" charset="0"/>
                <a:ea typeface="华文楷体" panose="02010600040101010101" pitchFamily="2" charset="-122"/>
                <a:cs typeface="STKaiti" panose="02010600040101010101" charset="-122"/>
              </a:rPr>
              <a:t>    </a:t>
            </a:r>
            <a:r>
              <a:rPr lang="en-US" altLang="zh-CN" sz="1900" kern="100" dirty="0" err="1">
                <a:latin typeface="Consolas" panose="020B0609020204030204" pitchFamily="49" charset="0"/>
                <a:ea typeface="华文楷体" panose="02010600040101010101" pitchFamily="2" charset="-122"/>
                <a:cs typeface="STKaiti" panose="02010600040101010101" charset="-122"/>
              </a:rPr>
              <a:t>s.insert</a:t>
            </a:r>
            <a:r>
              <a:rPr lang="en-US" altLang="zh-CN" sz="1900" kern="100" dirty="0">
                <a:latin typeface="Consolas" panose="020B0609020204030204" pitchFamily="49" charset="0"/>
                <a:ea typeface="华文楷体" panose="02010600040101010101" pitchFamily="2" charset="-122"/>
                <a:cs typeface="STKaiti" panose="02010600040101010101" charset="-122"/>
              </a:rPr>
              <a:t>(std::</a:t>
            </a:r>
            <a:r>
              <a:rPr lang="en-US" altLang="zh-CN" sz="1900" kern="100" dirty="0" err="1">
                <a:latin typeface="Consolas" panose="020B0609020204030204" pitchFamily="49" charset="0"/>
                <a:ea typeface="华文楷体" panose="02010600040101010101" pitchFamily="2" charset="-122"/>
                <a:cs typeface="STKaiti" panose="02010600040101010101" charset="-122"/>
              </a:rPr>
              <a:t>make_pair</a:t>
            </a:r>
            <a:r>
              <a:rPr lang="en-US" altLang="zh-CN" sz="1900" kern="100" dirty="0">
                <a:latin typeface="Consolas" panose="020B0609020204030204" pitchFamily="49" charset="0"/>
                <a:ea typeface="华文楷体" panose="02010600040101010101" pitchFamily="2" charset="-122"/>
                <a:cs typeface="STKaiti" panose="02010600040101010101" charset="-122"/>
              </a:rPr>
              <a:t>(std::string("Tuesday"), 2));</a:t>
            </a:r>
          </a:p>
          <a:p>
            <a:pPr marL="457200" lvl="1" indent="0">
              <a:lnSpc>
                <a:spcPct val="100000"/>
              </a:lnSpc>
              <a:buSzPct val="75000"/>
              <a:buNone/>
            </a:pPr>
            <a:r>
              <a:rPr lang="en-US" altLang="zh-CN" sz="1900" kern="100" dirty="0">
                <a:latin typeface="Consolas" panose="020B0609020204030204" pitchFamily="49" charset="0"/>
                <a:ea typeface="华文楷体" panose="02010600040101010101" pitchFamily="2" charset="-122"/>
                <a:cs typeface="STKaiti" panose="02010600040101010101" charset="-122"/>
              </a:rPr>
              <a:t>    return 0;</a:t>
            </a:r>
          </a:p>
          <a:p>
            <a:pPr marL="457200" lvl="1" indent="0">
              <a:lnSpc>
                <a:spcPct val="100000"/>
              </a:lnSpc>
              <a:buSzPct val="75000"/>
              <a:buNone/>
            </a:pPr>
            <a:r>
              <a:rPr lang="en-US" altLang="zh-CN" sz="1900" kern="100" dirty="0">
                <a:latin typeface="Consolas" panose="020B0609020204030204" pitchFamily="49" charset="0"/>
                <a:ea typeface="华文楷体" panose="02010600040101010101" pitchFamily="2" charset="-122"/>
                <a:cs typeface="STKaiti" panose="02010600040101010101" charset="-122"/>
              </a:rPr>
              <a:t>}</a:t>
            </a:r>
            <a:endParaRPr lang="en-US" altLang="zh-CN" sz="3000" kern="100" dirty="0">
              <a:latin typeface="Consolas" panose="020B0609020204030204" pitchFamily="49" charset="0"/>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52</a:t>
            </a:fld>
            <a:endParaRPr lang="en-US" altLang="zh-CN"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b="1" dirty="0">
                <a:latin typeface="微软雅黑" panose="020B0503020204020204" pitchFamily="34" charset="-122"/>
                <a:ea typeface="微软雅黑" panose="020B0503020204020204" pitchFamily="34" charset="-122"/>
              </a:rPr>
              <a:t>STL</a:t>
            </a:r>
            <a:r>
              <a:rPr kumimoji="1" lang="zh-CN" altLang="en-US" b="1" dirty="0">
                <a:latin typeface="微软雅黑" panose="020B0503020204020204" pitchFamily="34" charset="-122"/>
                <a:ea typeface="微软雅黑" panose="020B0503020204020204" pitchFamily="34" charset="-122"/>
              </a:rPr>
              <a:t>容器：</a:t>
            </a:r>
            <a:r>
              <a:rPr kumimoji="1" lang="en-US" altLang="zh-CN" b="1" dirty="0">
                <a:latin typeface="微软雅黑" panose="020B0503020204020204" pitchFamily="34" charset="-122"/>
                <a:ea typeface="微软雅黑" panose="020B0503020204020204" pitchFamily="34" charset="-122"/>
              </a:rPr>
              <a:t>map</a:t>
            </a:r>
            <a:endParaRPr kumimoji="1" lang="zh-CN" altLang="en-US" b="1"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628649" y="1690688"/>
            <a:ext cx="8270024" cy="4665663"/>
          </a:xfrm>
        </p:spPr>
        <p:txBody>
          <a:bodyPr>
            <a:normAutofit/>
          </a:bodyPr>
          <a:lstStyle/>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查询键为</a:t>
            </a:r>
            <a:r>
              <a:rPr lang="en-US" altLang="zh-CN" b="1" kern="100" dirty="0">
                <a:latin typeface="Consolas" panose="020B0609020204030204" pitchFamily="49" charset="0"/>
                <a:ea typeface="华文楷体" panose="02010600040101010101" pitchFamily="2" charset="-122"/>
              </a:rPr>
              <a:t>key</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的元素：</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   </a:t>
            </a:r>
            <a:r>
              <a:rPr lang="en-US" altLang="zh-CN" b="1" kern="100" dirty="0" err="1">
                <a:latin typeface="华文楷体" panose="02010600040101010101" pitchFamily="2" charset="-122"/>
                <a:ea typeface="华文楷体" panose="02010600040101010101" pitchFamily="2" charset="-122"/>
                <a:cs typeface="STKaiti" panose="02010600040101010101" charset="-122"/>
              </a:rPr>
              <a:t>s.</a:t>
            </a:r>
            <a:r>
              <a:rPr lang="en-US" altLang="zh-CN" b="1" kern="100" dirty="0" err="1">
                <a:solidFill>
                  <a:srgbClr val="FF0000"/>
                </a:solidFill>
                <a:latin typeface="华文楷体" panose="02010600040101010101" pitchFamily="2" charset="-122"/>
                <a:ea typeface="华文楷体" panose="02010600040101010101" pitchFamily="2" charset="-122"/>
                <a:cs typeface="STKaiti" panose="02010600040101010101" charset="-122"/>
              </a:rPr>
              <a:t>find</a:t>
            </a:r>
            <a:r>
              <a:rPr lang="en-US" altLang="zh-CN" b="1" kern="100" dirty="0">
                <a:latin typeface="华文楷体" panose="02010600040101010101" pitchFamily="2" charset="-122"/>
                <a:ea typeface="华文楷体" panose="02010600040101010101" pitchFamily="2" charset="-122"/>
                <a:cs typeface="STKaiti" panose="02010600040101010101" charset="-122"/>
              </a:rPr>
              <a:t>(key);               </a:t>
            </a:r>
            <a:r>
              <a:rPr lang="en-US" altLang="zh-CN" b="1" kern="100" dirty="0">
                <a:solidFill>
                  <a:srgbClr val="008000"/>
                </a:solidFill>
                <a:latin typeface="Consolas" panose="020B0609020204030204" pitchFamily="49" charset="0"/>
                <a:ea typeface="华文楷体" panose="02010600040101010101" pitchFamily="2" charset="-122"/>
              </a:rPr>
              <a:t>// </a:t>
            </a:r>
            <a:r>
              <a:rPr lang="zh-CN" altLang="en-US" b="1" kern="100" dirty="0">
                <a:solidFill>
                  <a:srgbClr val="008000"/>
                </a:solidFill>
                <a:latin typeface="Consolas" panose="020B0609020204030204" pitchFamily="49" charset="0"/>
                <a:ea typeface="华文楷体" panose="02010600040101010101" pitchFamily="2" charset="-122"/>
              </a:rPr>
              <a:t>返回迭代器</a:t>
            </a:r>
            <a:endParaRPr lang="en-US" altLang="zh-CN" b="1" kern="100" dirty="0">
              <a:solidFill>
                <a:srgbClr val="008000"/>
              </a:solidFill>
              <a:latin typeface="Consolas" panose="020B0609020204030204" pitchFamily="49" charset="0"/>
              <a:ea typeface="华文楷体" panose="02010600040101010101" pitchFamily="2"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统计键为</a:t>
            </a:r>
            <a:r>
              <a:rPr lang="en-US" altLang="zh-CN" b="1" kern="100" dirty="0">
                <a:latin typeface="Consolas" panose="020B0609020204030204" pitchFamily="49" charset="0"/>
                <a:ea typeface="华文楷体" panose="02010600040101010101" pitchFamily="2" charset="-122"/>
              </a:rPr>
              <a:t>key</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的元素个数：</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   </a:t>
            </a:r>
            <a:r>
              <a:rPr lang="en-US" altLang="zh-CN" b="1" kern="100" dirty="0" err="1">
                <a:latin typeface="华文楷体" panose="02010600040101010101" pitchFamily="2" charset="-122"/>
                <a:ea typeface="华文楷体" panose="02010600040101010101" pitchFamily="2" charset="-122"/>
                <a:cs typeface="STKaiti" panose="02010600040101010101" charset="-122"/>
              </a:rPr>
              <a:t>s.</a:t>
            </a:r>
            <a:r>
              <a:rPr lang="en-US" altLang="zh-CN" b="1" kern="100" dirty="0" err="1">
                <a:solidFill>
                  <a:srgbClr val="FF0000"/>
                </a:solidFill>
                <a:latin typeface="华文楷体" panose="02010600040101010101" pitchFamily="2" charset="-122"/>
                <a:ea typeface="华文楷体" panose="02010600040101010101" pitchFamily="2" charset="-122"/>
                <a:cs typeface="STKaiti" panose="02010600040101010101" charset="-122"/>
              </a:rPr>
              <a:t>count</a:t>
            </a:r>
            <a:r>
              <a:rPr lang="en-US" altLang="zh-CN" b="1" kern="100" dirty="0">
                <a:latin typeface="华文楷体" panose="02010600040101010101" pitchFamily="2" charset="-122"/>
                <a:ea typeface="华文楷体" panose="02010600040101010101" pitchFamily="2" charset="-122"/>
                <a:cs typeface="STKaiti" panose="02010600040101010101" charset="-122"/>
              </a:rPr>
              <a:t>(key);</a:t>
            </a:r>
            <a:r>
              <a:rPr lang="zh-CN" altLang="en-US" b="1" kern="100" dirty="0">
                <a:latin typeface="华文楷体" panose="02010600040101010101" pitchFamily="2" charset="-122"/>
                <a:ea typeface="华文楷体" panose="02010600040101010101" pitchFamily="2" charset="-122"/>
                <a:cs typeface="STKaiti" panose="02010600040101010101" charset="-122"/>
              </a:rPr>
              <a:t>            </a:t>
            </a:r>
            <a:r>
              <a:rPr lang="en-US" altLang="zh-CN" b="1" kern="100" dirty="0">
                <a:solidFill>
                  <a:srgbClr val="008000"/>
                </a:solidFill>
                <a:latin typeface="Consolas" panose="020B0609020204030204" pitchFamily="49" charset="0"/>
                <a:ea typeface="华文楷体" panose="02010600040101010101" pitchFamily="2" charset="-122"/>
              </a:rPr>
              <a:t>//</a:t>
            </a:r>
            <a:r>
              <a:rPr lang="zh-CN" altLang="en-US" b="1" kern="100" dirty="0">
                <a:solidFill>
                  <a:srgbClr val="008000"/>
                </a:solidFill>
                <a:latin typeface="Consolas" panose="020B0609020204030204" pitchFamily="49" charset="0"/>
                <a:ea typeface="华文楷体" panose="02010600040101010101" pitchFamily="2" charset="-122"/>
              </a:rPr>
              <a:t> 返回</a:t>
            </a:r>
            <a:r>
              <a:rPr lang="en-US" altLang="zh-CN" b="1" kern="100" dirty="0">
                <a:solidFill>
                  <a:srgbClr val="008000"/>
                </a:solidFill>
                <a:latin typeface="Consolas" panose="020B0609020204030204" pitchFamily="49" charset="0"/>
                <a:ea typeface="华文楷体" panose="02010600040101010101" pitchFamily="2" charset="-122"/>
              </a:rPr>
              <a:t>0</a:t>
            </a:r>
            <a:r>
              <a:rPr lang="zh-CN" altLang="en-US" b="1" kern="100" dirty="0">
                <a:solidFill>
                  <a:srgbClr val="008000"/>
                </a:solidFill>
                <a:latin typeface="Consolas" panose="020B0609020204030204" pitchFamily="49" charset="0"/>
                <a:ea typeface="华文楷体" panose="02010600040101010101" pitchFamily="2" charset="-122"/>
              </a:rPr>
              <a:t>或</a:t>
            </a:r>
            <a:r>
              <a:rPr lang="en-US" altLang="zh-CN" b="1" kern="100" dirty="0">
                <a:solidFill>
                  <a:srgbClr val="008000"/>
                </a:solidFill>
                <a:latin typeface="Consolas" panose="020B0609020204030204" pitchFamily="49" charset="0"/>
                <a:ea typeface="华文楷体" panose="02010600040101010101" pitchFamily="2" charset="-122"/>
              </a:rPr>
              <a:t>1</a:t>
            </a: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删除：</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   </a:t>
            </a:r>
            <a:r>
              <a:rPr lang="en-US" altLang="zh-CN" b="1" kern="100" dirty="0">
                <a:latin typeface="华文楷体" panose="02010600040101010101" pitchFamily="2" charset="-122"/>
                <a:ea typeface="华文楷体" panose="02010600040101010101" pitchFamily="2" charset="-122"/>
                <a:cs typeface="STKaiti" panose="02010600040101010101" charset="-122"/>
              </a:rPr>
              <a:t>s.</a:t>
            </a:r>
            <a:r>
              <a:rPr lang="en-US" altLang="zh-CN"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erase</a:t>
            </a:r>
            <a:r>
              <a:rPr lang="en-US" altLang="zh-CN" b="1" kern="100" dirty="0">
                <a:latin typeface="华文楷体" panose="02010600040101010101" pitchFamily="2" charset="-122"/>
                <a:ea typeface="华文楷体" panose="02010600040101010101" pitchFamily="2" charset="-122"/>
                <a:cs typeface="STKaiti" panose="02010600040101010101" charset="-122"/>
              </a:rPr>
              <a:t>(</a:t>
            </a:r>
            <a:r>
              <a:rPr lang="en-US" altLang="zh-CN" b="1" kern="100" dirty="0" err="1">
                <a:latin typeface="华文楷体" panose="02010600040101010101" pitchFamily="2" charset="-122"/>
                <a:ea typeface="华文楷体" panose="02010600040101010101" pitchFamily="2" charset="-122"/>
                <a:cs typeface="STKaiti" panose="02010600040101010101" charset="-122"/>
              </a:rPr>
              <a:t>s.find</a:t>
            </a:r>
            <a:r>
              <a:rPr lang="en-US" altLang="zh-CN" b="1" kern="100" dirty="0">
                <a:latin typeface="华文楷体" panose="02010600040101010101" pitchFamily="2" charset="-122"/>
                <a:ea typeface="华文楷体" panose="02010600040101010101" pitchFamily="2" charset="-122"/>
                <a:cs typeface="STKaiti" panose="02010600040101010101" charset="-122"/>
              </a:rPr>
              <a:t>(key));   </a:t>
            </a:r>
            <a:r>
              <a:rPr lang="en-US" altLang="zh-CN" b="1" kern="100" dirty="0">
                <a:solidFill>
                  <a:srgbClr val="008000"/>
                </a:solidFill>
                <a:latin typeface="Consolas" panose="020B0609020204030204" pitchFamily="49" charset="0"/>
                <a:ea typeface="华文楷体" panose="02010600040101010101" pitchFamily="2" charset="-122"/>
              </a:rPr>
              <a:t>//</a:t>
            </a:r>
            <a:r>
              <a:rPr lang="zh-CN" altLang="en-US" b="1" kern="100" dirty="0">
                <a:solidFill>
                  <a:srgbClr val="008000"/>
                </a:solidFill>
                <a:latin typeface="Consolas" panose="020B0609020204030204" pitchFamily="49" charset="0"/>
                <a:ea typeface="华文楷体" panose="02010600040101010101" pitchFamily="2" charset="-122"/>
              </a:rPr>
              <a:t>导致被删元素的迭代器失效</a:t>
            </a:r>
            <a:endParaRPr lang="en-US" altLang="zh-CN" b="1" kern="100" dirty="0">
              <a:solidFill>
                <a:srgbClr val="008000"/>
              </a:solidFill>
              <a:latin typeface="Consolas" panose="020B0609020204030204" pitchFamily="49" charset="0"/>
              <a:ea typeface="华文楷体" panose="02010600040101010101" pitchFamily="2"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53</a:t>
            </a:fld>
            <a:endParaRPr lang="en-US" altLang="zh-CN"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b="1" dirty="0">
                <a:latin typeface="微软雅黑" panose="020B0503020204020204" pitchFamily="34" charset="-122"/>
                <a:ea typeface="微软雅黑" panose="020B0503020204020204" pitchFamily="34" charset="-122"/>
              </a:rPr>
              <a:t>STL</a:t>
            </a:r>
            <a:r>
              <a:rPr kumimoji="1" lang="zh-CN" altLang="en-US" b="1" dirty="0">
                <a:latin typeface="微软雅黑" panose="020B0503020204020204" pitchFamily="34" charset="-122"/>
                <a:ea typeface="微软雅黑" panose="020B0503020204020204" pitchFamily="34" charset="-122"/>
              </a:rPr>
              <a:t>容器：</a:t>
            </a:r>
            <a:r>
              <a:rPr kumimoji="1" lang="en-US" altLang="zh-CN" b="1" dirty="0">
                <a:latin typeface="微软雅黑" panose="020B0503020204020204" pitchFamily="34" charset="-122"/>
                <a:ea typeface="微软雅黑" panose="020B0503020204020204" pitchFamily="34" charset="-122"/>
              </a:rPr>
              <a:t>map</a:t>
            </a:r>
            <a:r>
              <a:rPr kumimoji="1" lang="zh-CN" altLang="en-US" b="1" dirty="0">
                <a:latin typeface="微软雅黑" panose="020B0503020204020204" pitchFamily="34" charset="-122"/>
                <a:ea typeface="微软雅黑" panose="020B0503020204020204" pitchFamily="34" charset="-122"/>
              </a:rPr>
              <a:t>举例</a:t>
            </a:r>
          </a:p>
        </p:txBody>
      </p:sp>
      <p:sp>
        <p:nvSpPr>
          <p:cNvPr id="3" name="内容占位符 2"/>
          <p:cNvSpPr>
            <a:spLocks noGrp="1"/>
          </p:cNvSpPr>
          <p:nvPr>
            <p:ph idx="1"/>
          </p:nvPr>
        </p:nvSpPr>
        <p:spPr>
          <a:xfrm>
            <a:off x="628649" y="1690688"/>
            <a:ext cx="8082213" cy="4665663"/>
          </a:xfrm>
        </p:spPr>
        <p:txBody>
          <a:bodyPr>
            <a:normAutofit fontScale="92500"/>
          </a:bodyPr>
          <a:lstStyle/>
          <a:p>
            <a:pPr>
              <a:lnSpc>
                <a:spcPct val="100000"/>
              </a:lnSpc>
              <a:buSzPct val="75000"/>
              <a:buFont typeface="Wingdings" panose="05000000000000000000" pitchFamily="2" charset="2"/>
              <a:buChar char="n"/>
            </a:pPr>
            <a:r>
              <a:rPr lang="en-US" altLang="zh-CN" b="1" kern="100" dirty="0">
                <a:latin typeface="Consolas" panose="020B0609020204030204" pitchFamily="49" charset="0"/>
                <a:ea typeface="华文楷体" panose="02010600040101010101" pitchFamily="2" charset="-122"/>
                <a:cs typeface="STKaiti" panose="02010600040101010101" charset="-122"/>
              </a:rPr>
              <a:t>map</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常用作稀疏数组或以字符串为下标的数组。</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en-US" altLang="zh-CN" sz="2400" kern="100" dirty="0">
                <a:latin typeface="Consolas" panose="020B0609020204030204" pitchFamily="49" charset="0"/>
                <a:ea typeface="华文楷体" panose="02010600040101010101" pitchFamily="2" charset="-122"/>
                <a:cs typeface="STKaiti" panose="02010600040101010101" charset="-122"/>
              </a:rPr>
              <a:t>#include &lt;string&gt;</a:t>
            </a:r>
          </a:p>
          <a:p>
            <a:pPr marL="0" indent="0">
              <a:lnSpc>
                <a:spcPct val="100000"/>
              </a:lnSpc>
              <a:buSzPct val="75000"/>
              <a:buNone/>
            </a:pPr>
            <a:r>
              <a:rPr lang="en-US" altLang="zh-CN" sz="2400" kern="100" dirty="0">
                <a:latin typeface="Consolas" panose="020B0609020204030204" pitchFamily="49" charset="0"/>
                <a:ea typeface="华文楷体" panose="02010600040101010101" pitchFamily="2" charset="-122"/>
                <a:cs typeface="STKaiti" panose="02010600040101010101" charset="-122"/>
              </a:rPr>
              <a:t>#include &lt;map&gt; </a:t>
            </a:r>
          </a:p>
          <a:p>
            <a:pPr marL="0" indent="0">
              <a:lnSpc>
                <a:spcPct val="100000"/>
              </a:lnSpc>
              <a:buSzPct val="75000"/>
              <a:buNone/>
            </a:pPr>
            <a:endParaRPr lang="en-US" altLang="zh-CN" sz="2400" kern="100" dirty="0">
              <a:latin typeface="Consolas" panose="020B0609020204030204" pitchFamily="49" charset="0"/>
              <a:ea typeface="华文楷体" panose="02010600040101010101" pitchFamily="2" charset="-122"/>
              <a:cs typeface="STKaiti" panose="02010600040101010101" charset="-122"/>
            </a:endParaRPr>
          </a:p>
          <a:p>
            <a:pPr marL="0" indent="0">
              <a:lnSpc>
                <a:spcPct val="100000"/>
              </a:lnSpc>
              <a:buSzPct val="75000"/>
              <a:buNone/>
            </a:pPr>
            <a:r>
              <a:rPr lang="en-US" altLang="zh-CN" sz="2400" kern="100" dirty="0">
                <a:latin typeface="Consolas" panose="020B0609020204030204" pitchFamily="49" charset="0"/>
                <a:ea typeface="华文楷体" panose="02010600040101010101" pitchFamily="2" charset="-122"/>
                <a:cs typeface="STKaiti" panose="02010600040101010101" charset="-122"/>
              </a:rPr>
              <a:t>int main() {</a:t>
            </a:r>
          </a:p>
          <a:p>
            <a:pPr marL="0" indent="0">
              <a:lnSpc>
                <a:spcPct val="100000"/>
              </a:lnSpc>
              <a:buSzPct val="75000"/>
              <a:buNone/>
            </a:pPr>
            <a:r>
              <a:rPr lang="en-US" altLang="zh-CN" sz="2400" kern="100" dirty="0">
                <a:latin typeface="Consolas" panose="020B0609020204030204" pitchFamily="49" charset="0"/>
                <a:ea typeface="华文楷体" panose="02010600040101010101" pitchFamily="2" charset="-122"/>
                <a:cs typeface="STKaiti" panose="02010600040101010101" charset="-122"/>
              </a:rPr>
              <a:t>    std::map&lt;std::string, std::string&gt; M;</a:t>
            </a:r>
          </a:p>
          <a:p>
            <a:pPr marL="0" indent="0">
              <a:lnSpc>
                <a:spcPct val="100000"/>
              </a:lnSpc>
              <a:buSzPct val="75000"/>
              <a:buNone/>
            </a:pPr>
            <a:r>
              <a:rPr lang="en-US" altLang="zh-CN" sz="2400" kern="100" dirty="0">
                <a:latin typeface="Consolas" panose="020B0609020204030204" pitchFamily="49" charset="0"/>
                <a:ea typeface="华文楷体" panose="02010600040101010101" pitchFamily="2" charset="-122"/>
                <a:cs typeface="STKaiti" panose="02010600040101010101" charset="-122"/>
              </a:rPr>
              <a:t>    M["</a:t>
            </a:r>
            <a:r>
              <a:rPr lang="en-US" altLang="zh-CN" sz="2400" kern="100" dirty="0" err="1">
                <a:latin typeface="Consolas" panose="020B0609020204030204" pitchFamily="49" charset="0"/>
                <a:ea typeface="华文楷体" panose="02010600040101010101" pitchFamily="2" charset="-122"/>
                <a:cs typeface="STKaiti" panose="02010600040101010101" charset="-122"/>
              </a:rPr>
              <a:t>fp</a:t>
            </a:r>
            <a:r>
              <a:rPr lang="en-US" altLang="zh-CN" sz="2400" kern="100" dirty="0">
                <a:latin typeface="Consolas" panose="020B0609020204030204" pitchFamily="49" charset="0"/>
                <a:ea typeface="华文楷体" panose="02010600040101010101" pitchFamily="2" charset="-122"/>
                <a:cs typeface="STKaiti" panose="02010600040101010101" charset="-122"/>
              </a:rPr>
              <a:t>"] = "c";</a:t>
            </a:r>
          </a:p>
          <a:p>
            <a:pPr marL="0" indent="0">
              <a:lnSpc>
                <a:spcPct val="100000"/>
              </a:lnSpc>
              <a:buSzPct val="75000"/>
              <a:buNone/>
            </a:pPr>
            <a:r>
              <a:rPr lang="en-US" altLang="zh-CN" sz="2400" kern="100" dirty="0">
                <a:latin typeface="Consolas" panose="020B0609020204030204" pitchFamily="49" charset="0"/>
                <a:ea typeface="华文楷体" panose="02010600040101010101" pitchFamily="2" charset="-122"/>
                <a:cs typeface="STKaiti" panose="02010600040101010101" charset="-122"/>
              </a:rPr>
              <a:t>    M["</a:t>
            </a:r>
            <a:r>
              <a:rPr lang="en-US" altLang="zh-CN" sz="2400" kern="100" dirty="0" err="1">
                <a:latin typeface="Consolas" panose="020B0609020204030204" pitchFamily="49" charset="0"/>
                <a:ea typeface="华文楷体" panose="02010600040101010101" pitchFamily="2" charset="-122"/>
                <a:cs typeface="STKaiti" panose="02010600040101010101" charset="-122"/>
              </a:rPr>
              <a:t>oop</a:t>
            </a:r>
            <a:r>
              <a:rPr lang="en-US" altLang="zh-CN" sz="2400" kern="100" dirty="0">
                <a:latin typeface="Consolas" panose="020B0609020204030204" pitchFamily="49" charset="0"/>
                <a:ea typeface="华文楷体" panose="02010600040101010101" pitchFamily="2" charset="-122"/>
                <a:cs typeface="STKaiti" panose="02010600040101010101" charset="-122"/>
              </a:rPr>
              <a:t>"] = M["</a:t>
            </a:r>
            <a:r>
              <a:rPr lang="en-US" altLang="zh-CN" sz="2400" kern="100" dirty="0" err="1">
                <a:latin typeface="Consolas" panose="020B0609020204030204" pitchFamily="49" charset="0"/>
                <a:ea typeface="华文楷体" panose="02010600040101010101" pitchFamily="2" charset="-122"/>
                <a:cs typeface="STKaiti" panose="02010600040101010101" charset="-122"/>
              </a:rPr>
              <a:t>fp</a:t>
            </a:r>
            <a:r>
              <a:rPr lang="en-US" altLang="zh-CN" sz="2400" kern="100" dirty="0">
                <a:latin typeface="Consolas" panose="020B0609020204030204" pitchFamily="49" charset="0"/>
                <a:ea typeface="华文楷体" panose="02010600040101010101" pitchFamily="2" charset="-122"/>
                <a:cs typeface="STKaiti" panose="02010600040101010101" charset="-122"/>
              </a:rPr>
              <a:t>"] + "++"; </a:t>
            </a:r>
            <a:r>
              <a:rPr lang="en-US" altLang="zh-CN" sz="2400" kern="100" dirty="0">
                <a:solidFill>
                  <a:srgbClr val="008000"/>
                </a:solidFill>
                <a:latin typeface="Consolas" panose="020B0609020204030204" pitchFamily="49" charset="0"/>
                <a:ea typeface="华文楷体" panose="02010600040101010101" pitchFamily="2" charset="-122"/>
                <a:cs typeface="STKaiti" panose="02010600040101010101" charset="-122"/>
              </a:rPr>
              <a:t>// M["</a:t>
            </a:r>
            <a:r>
              <a:rPr lang="en-US" altLang="zh-CN" sz="2400" kern="100" dirty="0" err="1">
                <a:solidFill>
                  <a:srgbClr val="008000"/>
                </a:solidFill>
                <a:latin typeface="Consolas" panose="020B0609020204030204" pitchFamily="49" charset="0"/>
                <a:ea typeface="华文楷体" panose="02010600040101010101" pitchFamily="2" charset="-122"/>
                <a:cs typeface="STKaiti" panose="02010600040101010101" charset="-122"/>
              </a:rPr>
              <a:t>oop</a:t>
            </a:r>
            <a:r>
              <a:rPr lang="en-US" altLang="zh-CN" sz="2400" kern="100" dirty="0">
                <a:solidFill>
                  <a:srgbClr val="008000"/>
                </a:solidFill>
                <a:latin typeface="Consolas" panose="020B0609020204030204" pitchFamily="49" charset="0"/>
                <a:ea typeface="华文楷体" panose="02010600040101010101" pitchFamily="2" charset="-122"/>
                <a:cs typeface="STKaiti" panose="02010600040101010101" charset="-122"/>
              </a:rPr>
              <a:t>"] = "</a:t>
            </a:r>
            <a:r>
              <a:rPr lang="en-US" altLang="zh-CN" sz="2400" kern="100" dirty="0" err="1">
                <a:solidFill>
                  <a:srgbClr val="008000"/>
                </a:solidFill>
                <a:latin typeface="Consolas" panose="020B0609020204030204" pitchFamily="49" charset="0"/>
                <a:ea typeface="华文楷体" panose="02010600040101010101" pitchFamily="2" charset="-122"/>
                <a:cs typeface="STKaiti" panose="02010600040101010101" charset="-122"/>
              </a:rPr>
              <a:t>c++</a:t>
            </a:r>
            <a:r>
              <a:rPr lang="en-US" altLang="zh-CN" sz="2400" kern="100" dirty="0">
                <a:solidFill>
                  <a:srgbClr val="008000"/>
                </a:solidFill>
                <a:latin typeface="Consolas" panose="020B0609020204030204" pitchFamily="49" charset="0"/>
                <a:ea typeface="华文楷体" panose="02010600040101010101" pitchFamily="2" charset="-122"/>
                <a:cs typeface="STKaiti" panose="02010600040101010101" charset="-122"/>
              </a:rPr>
              <a:t>"</a:t>
            </a:r>
          </a:p>
          <a:p>
            <a:pPr marL="0" indent="0">
              <a:lnSpc>
                <a:spcPct val="100000"/>
              </a:lnSpc>
              <a:buSzPct val="75000"/>
              <a:buNone/>
            </a:pPr>
            <a:r>
              <a:rPr lang="en-US" altLang="zh-CN" sz="2400" kern="100" dirty="0">
                <a:latin typeface="Consolas" panose="020B0609020204030204" pitchFamily="49" charset="0"/>
                <a:ea typeface="华文楷体" panose="02010600040101010101" pitchFamily="2" charset="-122"/>
                <a:cs typeface="STKaiti" panose="02010600040101010101" charset="-122"/>
              </a:rPr>
              <a:t>    return 0;</a:t>
            </a:r>
          </a:p>
          <a:p>
            <a:pPr marL="0" indent="0">
              <a:lnSpc>
                <a:spcPct val="100000"/>
              </a:lnSpc>
              <a:buSzPct val="75000"/>
              <a:buNone/>
            </a:pPr>
            <a:r>
              <a:rPr lang="en-US" altLang="zh-CN" sz="2400" kern="100" dirty="0">
                <a:latin typeface="Consolas" panose="020B0609020204030204" pitchFamily="49" charset="0"/>
                <a:ea typeface="华文楷体" panose="02010600040101010101" pitchFamily="2" charset="-122"/>
                <a:cs typeface="STKaiti" panose="02010600040101010101" charset="-122"/>
              </a:rPr>
              <a:t>}</a:t>
            </a:r>
            <a:endParaRPr lang="en-US" altLang="zh-CN" sz="2100" kern="100" dirty="0">
              <a:solidFill>
                <a:srgbClr val="00B050"/>
              </a:solidFill>
              <a:latin typeface="Consolas" panose="020B0609020204030204" pitchFamily="49" charset="0"/>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54</a:t>
            </a:fld>
            <a:endParaRPr lang="en-US" altLang="zh-CN"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b="1" dirty="0">
                <a:latin typeface="微软雅黑" panose="020B0503020204020204" pitchFamily="34" charset="-122"/>
                <a:ea typeface="微软雅黑" panose="020B0503020204020204" pitchFamily="34" charset="-122"/>
              </a:rPr>
              <a:t>STL</a:t>
            </a:r>
            <a:r>
              <a:rPr kumimoji="1" lang="zh-CN" altLang="en-US" b="1" dirty="0">
                <a:latin typeface="微软雅黑" panose="020B0503020204020204" pitchFamily="34" charset="-122"/>
                <a:ea typeface="微软雅黑" panose="020B0503020204020204" pitchFamily="34" charset="-122"/>
              </a:rPr>
              <a:t>容器：关联容器原理</a:t>
            </a:r>
          </a:p>
        </p:txBody>
      </p:sp>
      <p:sp>
        <p:nvSpPr>
          <p:cNvPr id="3" name="内容占位符 2"/>
          <p:cNvSpPr>
            <a:spLocks noGrp="1"/>
          </p:cNvSpPr>
          <p:nvPr>
            <p:ph idx="1"/>
          </p:nvPr>
        </p:nvSpPr>
        <p:spPr>
          <a:xfrm>
            <a:off x="628649" y="1690688"/>
            <a:ext cx="8082213" cy="4665663"/>
          </a:xfrm>
        </p:spPr>
        <p:txBody>
          <a:bodyPr>
            <a:normAutofit/>
          </a:bodyPr>
          <a:lstStyle/>
          <a:p>
            <a:pPr>
              <a:lnSpc>
                <a:spcPct val="100000"/>
              </a:lnSpc>
              <a:buSzPct val="75000"/>
              <a:buFont typeface="Wingdings" panose="05000000000000000000" pitchFamily="2" charset="2"/>
              <a:buChar char="n"/>
            </a:pPr>
            <a:r>
              <a:rPr lang="en-US" altLang="zh-CN" b="1" kern="100" dirty="0">
                <a:latin typeface="Consolas" panose="020B0609020204030204" pitchFamily="49" charset="0"/>
                <a:ea typeface="华文楷体" panose="02010600040101010101" pitchFamily="2" charset="-122"/>
                <a:cs typeface="STKaiti" panose="02010600040101010101" charset="-122"/>
              </a:rPr>
              <a:t>Set</a:t>
            </a:r>
            <a:r>
              <a:rPr lang="zh-CN" altLang="en-US" b="1" kern="100" dirty="0">
                <a:solidFill>
                  <a:srgbClr val="003366"/>
                </a:solidFill>
                <a:latin typeface="Consolas" panose="020B0609020204030204" pitchFamily="49" charset="0"/>
                <a:ea typeface="华文楷体" panose="02010600040101010101" pitchFamily="2" charset="-122"/>
                <a:cs typeface="STKaiti" panose="02010600040101010101" charset="-122"/>
              </a:rPr>
              <a:t>和</a:t>
            </a:r>
            <a:r>
              <a:rPr lang="en-US" altLang="zh-CN" b="1" kern="100" dirty="0">
                <a:latin typeface="Consolas" panose="020B0609020204030204" pitchFamily="49" charset="0"/>
                <a:ea typeface="华文楷体" panose="02010600040101010101" pitchFamily="2" charset="-122"/>
                <a:cs typeface="STKaiti" panose="02010600040101010101" charset="-122"/>
              </a:rPr>
              <a:t>Map</a:t>
            </a:r>
            <a:r>
              <a:rPr lang="zh-CN" altLang="en-US" b="1" kern="100" dirty="0">
                <a:solidFill>
                  <a:srgbClr val="003366"/>
                </a:solidFill>
                <a:latin typeface="Consolas" panose="020B0609020204030204" pitchFamily="49" charset="0"/>
                <a:ea typeface="华文楷体" panose="02010600040101010101" pitchFamily="2" charset="-122"/>
                <a:cs typeface="STKaiti" panose="02010600040101010101" charset="-122"/>
              </a:rPr>
              <a:t>所用到的数据结构都是</a:t>
            </a:r>
            <a:r>
              <a:rPr lang="zh-CN" altLang="en-US" b="1" kern="100" dirty="0">
                <a:solidFill>
                  <a:srgbClr val="FF0000"/>
                </a:solidFill>
                <a:latin typeface="Consolas" panose="020B0609020204030204" pitchFamily="49" charset="0"/>
                <a:ea typeface="华文楷体" panose="02010600040101010101" pitchFamily="2" charset="-122"/>
                <a:cs typeface="STKaiti" panose="02010600040101010101" charset="-122"/>
              </a:rPr>
              <a:t>红黑树</a:t>
            </a:r>
            <a:r>
              <a:rPr lang="zh-CN" altLang="en-US" b="1" kern="100" dirty="0">
                <a:solidFill>
                  <a:srgbClr val="003366"/>
                </a:solidFill>
                <a:latin typeface="Consolas" panose="020B0609020204030204" pitchFamily="49" charset="0"/>
                <a:ea typeface="华文楷体" panose="02010600040101010101" pitchFamily="2" charset="-122"/>
                <a:cs typeface="STKaiti" panose="02010600040101010101" charset="-122"/>
              </a:rPr>
              <a:t>（一种二叉平衡树）</a:t>
            </a:r>
            <a:endPar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Consolas" panose="020B0609020204030204" pitchFamily="49" charset="0"/>
                <a:ea typeface="华文楷体" panose="02010600040101010101" pitchFamily="2" charset="-122"/>
                <a:cs typeface="STKaiti" panose="02010600040101010101" charset="-122"/>
              </a:rPr>
              <a:t>其几乎所有操作复杂度均为</a:t>
            </a:r>
            <a:r>
              <a:rPr lang="en-US" altLang="zh-CN" b="1" kern="100" dirty="0">
                <a:latin typeface="Consolas" panose="020B0609020204030204" pitchFamily="49" charset="0"/>
                <a:ea typeface="华文楷体" panose="02010600040101010101" pitchFamily="2" charset="-122"/>
                <a:cs typeface="STKaiti" panose="02010600040101010101" charset="-122"/>
              </a:rPr>
              <a:t>O(</a:t>
            </a:r>
            <a:r>
              <a:rPr lang="en-US" altLang="zh-CN" b="1" kern="100" dirty="0" err="1">
                <a:latin typeface="Consolas" panose="020B0609020204030204" pitchFamily="49" charset="0"/>
                <a:ea typeface="华文楷体" panose="02010600040101010101" pitchFamily="2" charset="-122"/>
                <a:cs typeface="STKaiti" panose="02010600040101010101" charset="-122"/>
              </a:rPr>
              <a:t>logn</a:t>
            </a:r>
            <a:r>
              <a:rPr lang="en-US" altLang="zh-CN" b="1" kern="100" dirty="0">
                <a:latin typeface="Consolas" panose="020B0609020204030204" pitchFamily="49" charset="0"/>
                <a:ea typeface="华文楷体" panose="02010600040101010101" pitchFamily="2" charset="-122"/>
                <a:cs typeface="STKaiti" panose="02010600040101010101" charset="-122"/>
              </a:rPr>
              <a:t>)</a:t>
            </a:r>
          </a:p>
          <a:p>
            <a:pPr>
              <a:lnSpc>
                <a:spcPct val="100000"/>
              </a:lnSpc>
              <a:buSzPct val="75000"/>
              <a:buFont typeface="Wingdings" panose="05000000000000000000" pitchFamily="2" charset="2"/>
              <a:buChar char="n"/>
            </a:pPr>
            <a:r>
              <a:rPr lang="zh-CN" altLang="en-US" b="1" kern="100" dirty="0">
                <a:solidFill>
                  <a:srgbClr val="003366"/>
                </a:solidFill>
                <a:latin typeface="Consolas" panose="020B0609020204030204" pitchFamily="49" charset="0"/>
                <a:ea typeface="华文楷体" panose="02010600040101010101" pitchFamily="2" charset="-122"/>
                <a:cs typeface="STKaiti" panose="02010600040101010101" charset="-122"/>
              </a:rPr>
              <a:t>相关内容将在数据结构课程中学习</a:t>
            </a:r>
            <a:endPar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55</a:t>
            </a:fld>
            <a:endParaRPr lang="en-US" altLang="zh-CN"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b="1" dirty="0">
                <a:latin typeface="微软雅黑" panose="020B0503020204020204" pitchFamily="34" charset="-122"/>
                <a:ea typeface="微软雅黑" panose="020B0503020204020204" pitchFamily="34" charset="-122"/>
              </a:rPr>
              <a:t>STL</a:t>
            </a:r>
            <a:r>
              <a:rPr kumimoji="1" lang="zh-CN" altLang="en-US" b="1" dirty="0">
                <a:latin typeface="微软雅黑" panose="020B0503020204020204" pitchFamily="34" charset="-122"/>
                <a:ea typeface="微软雅黑" panose="020B0503020204020204" pitchFamily="34" charset="-122"/>
              </a:rPr>
              <a:t>容器：总结</a:t>
            </a:r>
          </a:p>
        </p:txBody>
      </p:sp>
      <p:sp>
        <p:nvSpPr>
          <p:cNvPr id="3" name="内容占位符 2"/>
          <p:cNvSpPr>
            <a:spLocks noGrp="1"/>
          </p:cNvSpPr>
          <p:nvPr>
            <p:ph idx="1"/>
          </p:nvPr>
        </p:nvSpPr>
        <p:spPr>
          <a:xfrm>
            <a:off x="327570" y="1661743"/>
            <a:ext cx="8693770" cy="5048582"/>
          </a:xfrm>
        </p:spPr>
        <p:txBody>
          <a:bodyPr>
            <a:normAutofit/>
          </a:bodyPr>
          <a:lstStyle/>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序列容器：</a:t>
            </a:r>
            <a:r>
              <a:rPr lang="en-US" altLang="zh-CN" b="1" kern="100" dirty="0">
                <a:latin typeface="Consolas" panose="020B0609020204030204" pitchFamily="49" charset="0"/>
                <a:ea typeface="华文楷体" panose="02010600040101010101" pitchFamily="2" charset="-122"/>
                <a:cs typeface="STKaiti" panose="02010600040101010101" charset="-122"/>
              </a:rPr>
              <a:t>vector</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r>
              <a:rPr lang="en-US" altLang="zh-CN" b="1" kern="100" dirty="0">
                <a:latin typeface="Consolas" panose="020B0609020204030204" pitchFamily="49" charset="0"/>
                <a:ea typeface="华文楷体" panose="02010600040101010101" pitchFamily="2" charset="-122"/>
                <a:cs typeface="STKaiti" panose="02010600040101010101" charset="-122"/>
              </a:rPr>
              <a:t>list</a:t>
            </a: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关联容器：</a:t>
            </a:r>
            <a:r>
              <a:rPr lang="en-US" altLang="zh-CN" b="1" kern="100" dirty="0">
                <a:latin typeface="Consolas" panose="020B0609020204030204" pitchFamily="49" charset="0"/>
                <a:ea typeface="华文楷体" panose="02010600040101010101" pitchFamily="2" charset="-122"/>
                <a:cs typeface="STKaiti" panose="02010600040101010101" charset="-122"/>
              </a:rPr>
              <a:t>set</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r>
              <a:rPr lang="en-US" altLang="zh-CN" b="1" kern="100" dirty="0">
                <a:latin typeface="Consolas" panose="020B0609020204030204" pitchFamily="49" charset="0"/>
                <a:ea typeface="华文楷体" panose="02010600040101010101" pitchFamily="2" charset="-122"/>
                <a:cs typeface="STKaiti" panose="02010600040101010101" charset="-122"/>
              </a:rPr>
              <a:t>map</a:t>
            </a: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序列容器与关联容器的区别：</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   </a:t>
            </a:r>
            <a:r>
              <a:rPr lang="zh-CN" altLang="en-US"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序列容器中的元素</a:t>
            </a:r>
            <a:r>
              <a:rPr lang="zh-CN" altLang="en-US" sz="2400"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有顺序</a:t>
            </a:r>
            <a:r>
              <a:rPr lang="zh-CN" altLang="en-US"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，可以</a:t>
            </a:r>
            <a:r>
              <a:rPr lang="zh-CN" altLang="en-US" sz="2400"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按顺序</a:t>
            </a:r>
            <a:r>
              <a:rPr lang="zh-CN" altLang="en-US"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访问。</a:t>
            </a:r>
            <a:endParaRPr lang="en-US" altLang="zh-CN"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en-US" altLang="zh-CN"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   </a:t>
            </a:r>
            <a:r>
              <a:rPr lang="zh-CN" altLang="en-US"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关联容器中的元素</a:t>
            </a:r>
            <a:r>
              <a:rPr lang="zh-CN" altLang="en-US" sz="2400"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无顺序</a:t>
            </a:r>
            <a:r>
              <a:rPr lang="zh-CN" altLang="en-US"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，可以</a:t>
            </a:r>
            <a:r>
              <a:rPr lang="zh-CN" altLang="en-US" sz="2400"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按数值</a:t>
            </a:r>
            <a:r>
              <a:rPr lang="zh-CN" altLang="en-US"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（大小）访问。</a:t>
            </a:r>
            <a:endParaRPr lang="en-US" altLang="zh-CN"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en-US" altLang="zh-CN"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    </a:t>
            </a:r>
            <a:r>
              <a:rPr lang="en-US" altLang="zh-CN" sz="2400" b="1" kern="100" dirty="0">
                <a:latin typeface="Consolas" panose="020B0609020204030204" pitchFamily="49" charset="0"/>
                <a:ea typeface="华文楷体" panose="02010600040101010101" pitchFamily="2" charset="-122"/>
                <a:cs typeface="STKaiti" panose="02010600040101010101" charset="-122"/>
              </a:rPr>
              <a:t>vector</a:t>
            </a:r>
            <a:r>
              <a:rPr lang="zh-CN" altLang="en-US"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中插入删除操作会使操作位置之后全部的迭代器失效。</a:t>
            </a:r>
            <a:endParaRPr lang="en-US" altLang="zh-CN"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en-US" altLang="zh-CN"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   </a:t>
            </a:r>
            <a:r>
              <a:rPr lang="zh-CN" altLang="en-US"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其他容器中只有被删除元素的迭代器失效。</a:t>
            </a:r>
            <a:endParaRPr lang="en-US" altLang="zh-CN"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56</a:t>
            </a:fld>
            <a:endParaRPr lang="en-US" altLang="zh-CN"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b="1" dirty="0">
                <a:latin typeface="微软雅黑" panose="020B0503020204020204" pitchFamily="34" charset="-122"/>
                <a:ea typeface="微软雅黑" panose="020B0503020204020204" pitchFamily="34" charset="-122"/>
              </a:rPr>
              <a:t>STL</a:t>
            </a:r>
            <a:r>
              <a:rPr kumimoji="1" lang="zh-CN" altLang="en-US" b="1" dirty="0">
                <a:latin typeface="微软雅黑" panose="020B0503020204020204" pitchFamily="34" charset="-122"/>
                <a:ea typeface="微软雅黑" panose="020B0503020204020204" pitchFamily="34" charset="-122"/>
              </a:rPr>
              <a:t>容器：总结</a:t>
            </a:r>
          </a:p>
        </p:txBody>
      </p:sp>
      <p:sp>
        <p:nvSpPr>
          <p:cNvPr id="3" name="内容占位符 2"/>
          <p:cNvSpPr>
            <a:spLocks noGrp="1"/>
          </p:cNvSpPr>
          <p:nvPr>
            <p:ph idx="1"/>
          </p:nvPr>
        </p:nvSpPr>
        <p:spPr>
          <a:xfrm>
            <a:off x="327570" y="1661743"/>
            <a:ext cx="8693770" cy="5048582"/>
          </a:xfrm>
        </p:spPr>
        <p:txBody>
          <a:bodyPr>
            <a:normAutofit fontScale="92500" lnSpcReduction="10000"/>
          </a:bodyPr>
          <a:lstStyle/>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选择合适的容器：</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   </a:t>
            </a:r>
            <a:r>
              <a:rPr lang="zh-CN" altLang="en-US"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在实际应用中，容器的选择可能需要综合考虑多方面因素，包括算法复杂度，功能需求，内存分配策略等，下面提供几个可供参考但不完整的角度（</a:t>
            </a:r>
            <a:r>
              <a:rPr lang="zh-CN" altLang="en-US" sz="2400" b="1" kern="100" dirty="0">
                <a:solidFill>
                  <a:srgbClr val="C00000"/>
                </a:solidFill>
                <a:latin typeface="华文楷体" panose="02010600040101010101" pitchFamily="2" charset="-122"/>
                <a:ea typeface="华文楷体" panose="02010600040101010101" pitchFamily="2" charset="-122"/>
                <a:cs typeface="STKaiti" panose="02010600040101010101" charset="-122"/>
              </a:rPr>
              <a:t>可以进一步阅读</a:t>
            </a:r>
            <a:r>
              <a:rPr lang="en-US" altLang="zh-CN" sz="2400" b="1" kern="100" dirty="0">
                <a:solidFill>
                  <a:srgbClr val="C00000"/>
                </a:solidFill>
                <a:latin typeface="华文楷体" panose="02010600040101010101" pitchFamily="2" charset="-122"/>
                <a:ea typeface="华文楷体" panose="02010600040101010101" pitchFamily="2" charset="-122"/>
                <a:cs typeface="STKaiti" panose="02010600040101010101" charset="-122"/>
              </a:rPr>
              <a:t>《Effective STL》</a:t>
            </a:r>
            <a:r>
              <a:rPr lang="zh-CN" altLang="en-US"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endParaRPr lang="en-US" altLang="zh-CN"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zh-CN" altLang="en-US"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   （</a:t>
            </a:r>
            <a:r>
              <a:rPr lang="en-US" altLang="zh-CN"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1</a:t>
            </a:r>
            <a:r>
              <a:rPr lang="zh-CN" altLang="en-US"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r>
              <a:rPr lang="zh-CN" altLang="en-US" sz="2400"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算法复杂度</a:t>
            </a:r>
            <a:r>
              <a:rPr lang="zh-CN" altLang="en-US"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：对于序列容器而言，如果在序列中间存在频繁的插入或删除操作，使用</a:t>
            </a:r>
            <a:r>
              <a:rPr lang="en-US" altLang="zh-CN"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list</a:t>
            </a:r>
            <a:r>
              <a:rPr lang="zh-CN" altLang="en-US"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，否则使用</a:t>
            </a:r>
            <a:r>
              <a:rPr lang="en-US" altLang="zh-CN"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vector</a:t>
            </a:r>
            <a:r>
              <a:rPr lang="zh-CN" altLang="en-US"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（或</a:t>
            </a:r>
            <a:r>
              <a:rPr lang="en-US" altLang="zh-CN"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deque</a:t>
            </a:r>
            <a:r>
              <a:rPr lang="zh-CN" altLang="en-US"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endParaRPr lang="en-US" altLang="zh-CN"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zh-CN" altLang="en-US"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   （</a:t>
            </a:r>
            <a:r>
              <a:rPr lang="en-US" altLang="zh-CN"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2</a:t>
            </a:r>
            <a:r>
              <a:rPr lang="zh-CN" altLang="en-US"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r>
              <a:rPr lang="zh-CN" altLang="en-US" sz="2400"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元素的顺序</a:t>
            </a:r>
            <a:r>
              <a:rPr lang="zh-CN" altLang="en-US"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：如果需要在容器的任意位置插入新元素，需要选择序列容器而不是关联容器</a:t>
            </a:r>
            <a:endParaRPr lang="en-US" altLang="zh-CN"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zh-CN" altLang="en-US"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   （</a:t>
            </a:r>
            <a:r>
              <a:rPr lang="en-US" altLang="zh-CN"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3</a:t>
            </a:r>
            <a:r>
              <a:rPr lang="zh-CN" altLang="en-US"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r>
              <a:rPr lang="zh-CN" altLang="en-US" sz="2400"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元素查找速度</a:t>
            </a:r>
            <a:r>
              <a:rPr lang="zh-CN" altLang="en-US"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：如元素的查找速度是关键的考虑因素，可以考虑排序的</a:t>
            </a:r>
            <a:r>
              <a:rPr lang="en-US" altLang="zh-CN"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vector</a:t>
            </a:r>
            <a:r>
              <a:rPr lang="zh-CN" altLang="en-US"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或关联容器</a:t>
            </a:r>
            <a:r>
              <a:rPr lang="en-US" altLang="zh-CN"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set</a:t>
            </a:r>
            <a:r>
              <a:rPr lang="zh-CN" altLang="en-US"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r>
              <a:rPr lang="en-US" altLang="zh-CN"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map</a:t>
            </a:r>
            <a:r>
              <a:rPr lang="zh-CN" altLang="en-US"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等</a:t>
            </a:r>
            <a:endParaRPr lang="en-US" altLang="zh-CN"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zh-CN" altLang="en-US"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   （</a:t>
            </a:r>
            <a:r>
              <a:rPr lang="en-US" altLang="zh-CN"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4</a:t>
            </a:r>
            <a:r>
              <a:rPr lang="zh-CN" altLang="en-US"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r>
              <a:rPr lang="zh-CN" altLang="en-US" sz="2400"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迭代器、指针或引用失效</a:t>
            </a:r>
            <a:r>
              <a:rPr lang="zh-CN" altLang="en-US"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：如果希望在元素插入和删除操作后</a:t>
            </a:r>
            <a:r>
              <a:rPr lang="en-US" altLang="zh-CN"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r>
              <a:rPr lang="zh-CN" altLang="en-US"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迭代器、指针或引用失效的情况尽可能少出现，可以考虑使用</a:t>
            </a:r>
            <a:r>
              <a:rPr lang="en-US" altLang="zh-CN"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list</a:t>
            </a:r>
            <a:r>
              <a:rPr lang="zh-CN" altLang="en-US"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和关联容器</a:t>
            </a:r>
            <a:r>
              <a:rPr lang="en-US" altLang="zh-CN"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set</a:t>
            </a:r>
            <a:r>
              <a:rPr lang="zh-CN" altLang="en-US"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r>
              <a:rPr lang="en-US" altLang="zh-CN"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map</a:t>
            </a:r>
            <a:r>
              <a:rPr lang="zh-CN" altLang="en-US"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等</a:t>
            </a:r>
            <a:endParaRPr lang="en-US" altLang="zh-CN"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57</a:t>
            </a:fld>
            <a:endParaRPr lang="en-US" altLang="zh-CN"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2"/>
            </p:custDataLst>
          </p:nvPr>
        </p:nvSpPr>
        <p:spPr>
          <a:xfrm>
            <a:off x="914400" y="635001"/>
            <a:ext cx="7315200" cy="128301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下列关于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STL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的说法正确的是：</a:t>
            </a:r>
          </a:p>
        </p:txBody>
      </p:sp>
      <p:sp>
        <p:nvSpPr>
          <p:cNvPr id="7" name="文本框 6"/>
          <p:cNvSpPr txBox="1"/>
          <p:nvPr>
            <p:custDataLst>
              <p:tags r:id="rId3"/>
            </p:custDataLst>
          </p:nvPr>
        </p:nvSpPr>
        <p:spPr>
          <a:xfrm>
            <a:off x="1525905" y="2215390"/>
            <a:ext cx="7092176"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vector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在大小发生改变时，可能致使所有迭代器失效</a:t>
            </a:r>
          </a:p>
        </p:txBody>
      </p:sp>
      <p:sp>
        <p:nvSpPr>
          <p:cNvPr id="8" name="文本框 7"/>
          <p:cNvSpPr txBox="1"/>
          <p:nvPr>
            <p:custDataLst>
              <p:tags r:id="rId4"/>
            </p:custDataLst>
          </p:nvPr>
        </p:nvSpPr>
        <p:spPr>
          <a:xfrm>
            <a:off x="1525905" y="3232340"/>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为了计算效率，</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list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的访问主要依赖下标</a:t>
            </a:r>
          </a:p>
        </p:txBody>
      </p:sp>
      <p:sp>
        <p:nvSpPr>
          <p:cNvPr id="9" name="文本框 8"/>
          <p:cNvSpPr txBox="1"/>
          <p:nvPr>
            <p:custDataLst>
              <p:tags r:id="rId5"/>
            </p:custDataLst>
          </p:nvPr>
        </p:nvSpPr>
        <p:spPr>
          <a:xfrm>
            <a:off x="1525905" y="4330648"/>
            <a:ext cx="7002966"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通过下标访问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map&lt;</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int,int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&gt;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时，如果元素不存在，程序会抛出异常</a:t>
            </a:r>
          </a:p>
        </p:txBody>
      </p:sp>
      <p:sp>
        <p:nvSpPr>
          <p:cNvPr id="10" name="文本框 9"/>
          <p:cNvSpPr txBox="1"/>
          <p:nvPr>
            <p:custDataLst>
              <p:tags r:id="rId6"/>
            </p:custDataLst>
          </p:nvPr>
        </p:nvSpPr>
        <p:spPr>
          <a:xfrm>
            <a:off x="1525904" y="5310559"/>
            <a:ext cx="6779941"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关联容器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如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map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set)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可以使用迭代器访问</a:t>
            </a:r>
          </a:p>
        </p:txBody>
      </p:sp>
      <p:sp>
        <p:nvSpPr>
          <p:cNvPr id="11" name="矩形 10"/>
          <p:cNvSpPr>
            <a:spLocks noChangeAspect="1"/>
          </p:cNvSpPr>
          <p:nvPr>
            <p:custDataLst>
              <p:tags r:id="rId7"/>
            </p:custDataLst>
          </p:nvPr>
        </p:nvSpPr>
        <p:spPr>
          <a:xfrm>
            <a:off x="811530" y="2128543"/>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p:cNvSpPr>
            <a:spLocks noChangeAspect="1"/>
          </p:cNvSpPr>
          <p:nvPr>
            <p:custDataLst>
              <p:tags r:id="rId8"/>
            </p:custDataLst>
          </p:nvPr>
        </p:nvSpPr>
        <p:spPr>
          <a:xfrm>
            <a:off x="811530" y="3296633"/>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12"/>
          <p:cNvSpPr>
            <a:spLocks noChangeAspect="1"/>
          </p:cNvSpPr>
          <p:nvPr>
            <p:custDataLst>
              <p:tags r:id="rId9"/>
            </p:custDataLst>
          </p:nvPr>
        </p:nvSpPr>
        <p:spPr>
          <a:xfrm>
            <a:off x="811530" y="4207548"/>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矩形 13"/>
          <p:cNvSpPr>
            <a:spLocks noChangeAspect="1"/>
          </p:cNvSpPr>
          <p:nvPr>
            <p:custDataLst>
              <p:tags r:id="rId10"/>
            </p:custDataLst>
          </p:nvPr>
        </p:nvSpPr>
        <p:spPr>
          <a:xfrm>
            <a:off x="811530" y="5374852"/>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sp>
        <p:nvSpPr>
          <p:cNvPr id="2" name="矩形 1"/>
          <p:cNvSpPr/>
          <p:nvPr>
            <p:custDataLst>
              <p:tags r:id="rId12"/>
            </p:custDataLst>
          </p:nvPr>
        </p:nvSpPr>
        <p:spPr>
          <a:xfrm>
            <a:off x="9525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23" name="文本框 22"/>
          <p:cNvSpPr txBox="1"/>
          <p:nvPr>
            <p:custDataLst>
              <p:tags r:id="rId13"/>
            </p:custDataLst>
          </p:nvPr>
        </p:nvSpPr>
        <p:spPr>
          <a:xfrm>
            <a:off x="9613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可为此题添加文本、图片、公式等解析，且需将内容全部放在本区域内。正常使用需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3.0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a:t>
            </a:r>
          </a:p>
        </p:txBody>
      </p:sp>
      <p:sp>
        <p:nvSpPr>
          <p:cNvPr id="24" name="文本框 23"/>
          <p:cNvSpPr txBox="1"/>
          <p:nvPr>
            <p:custDataLst>
              <p:tags r:id="rId14"/>
            </p:custDataLst>
          </p:nvPr>
        </p:nvSpPr>
        <p:spPr>
          <a:xfrm>
            <a:off x="9779000" y="1270000"/>
            <a:ext cx="3332480" cy="1631216"/>
          </a:xfrm>
          <a:prstGeom prst="rect">
            <a:avLst/>
          </a:prstGeom>
          <a:noFill/>
        </p:spPr>
        <p:txBody>
          <a:bodyPr vert="horz" rtlCol="0" anchor="t" anchorCtr="0">
            <a:spAutoFit/>
          </a:bodyPr>
          <a:lstStyle/>
          <a:p>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 </a:t>
            </a:r>
            <a:r>
              <a:rPr kumimoji="1" lang="en-US" altLang="zh-CN" sz="2000" dirty="0"/>
              <a:t>list</a:t>
            </a:r>
            <a:r>
              <a:rPr lang="zh-CN" altLang="en-US" sz="2000" b="1" kern="100" dirty="0">
                <a:solidFill>
                  <a:srgbClr val="003366"/>
                </a:solidFill>
                <a:latin typeface="华文楷体" panose="02010600040101010101" pitchFamily="2" charset="-122"/>
                <a:ea typeface="华文楷体" panose="02010600040101010101" pitchFamily="2" charset="-122"/>
              </a:rPr>
              <a:t>底层实现是</a:t>
            </a:r>
            <a:r>
              <a:rPr lang="zh-CN" altLang="en-US" sz="2000" b="1" kern="100" dirty="0">
                <a:solidFill>
                  <a:srgbClr val="FF0000"/>
                </a:solidFill>
                <a:latin typeface="华文楷体" panose="02010600040101010101" pitchFamily="2" charset="-122"/>
                <a:ea typeface="华文楷体" panose="02010600040101010101" pitchFamily="2" charset="-122"/>
              </a:rPr>
              <a:t>双向链表，下标访问复杂度为</a:t>
            </a:r>
            <a:r>
              <a:rPr lang="en-US" altLang="zh-CN" sz="2000" b="1" kern="100" dirty="0">
                <a:solidFill>
                  <a:srgbClr val="FF0000"/>
                </a:solidFill>
                <a:latin typeface="华文楷体" panose="02010600040101010101" pitchFamily="2" charset="-122"/>
                <a:ea typeface="华文楷体" panose="02010600040101010101" pitchFamily="2" charset="-122"/>
              </a:rPr>
              <a:t>O(n)</a:t>
            </a:r>
          </a:p>
          <a:p>
            <a:endParaRPr lang="en-US" altLang="zh-CN" sz="2000" b="1" kern="100" dirty="0">
              <a:solidFill>
                <a:srgbClr val="FF0000"/>
              </a:solidFill>
              <a:latin typeface="华文楷体" panose="02010600040101010101" pitchFamily="2" charset="-122"/>
              <a:ea typeface="华文楷体" panose="02010600040101010101" pitchFamily="2" charset="-122"/>
              <a:sym typeface="Microsoft Yahei" panose="020B0503020204020204" pitchFamily="34" charset="-122"/>
            </a:endParaRPr>
          </a:p>
          <a:p>
            <a:r>
              <a:rPr lang="en-US" altLang="zh-CN" sz="2000" b="1" kern="100" dirty="0">
                <a:solidFill>
                  <a:srgbClr val="FF0000"/>
                </a:solidFill>
                <a:latin typeface="华文楷体" panose="02010600040101010101" pitchFamily="2" charset="-122"/>
                <a:ea typeface="华文楷体" panose="02010600040101010101" pitchFamily="2" charset="-122"/>
                <a:sym typeface="Microsoft Yahei" panose="020B0503020204020204" pitchFamily="34" charset="-122"/>
              </a:rPr>
              <a:t>C: </a:t>
            </a:r>
            <a:r>
              <a:rPr lang="en-US" altLang="zh-CN" sz="2000" b="1" kern="100" dirty="0">
                <a:solidFill>
                  <a:srgbClr val="FF0000"/>
                </a:solidFill>
                <a:latin typeface="华文楷体" panose="02010600040101010101" pitchFamily="2" charset="-122"/>
                <a:ea typeface="华文楷体" panose="02010600040101010101" pitchFamily="2" charset="-122"/>
              </a:rPr>
              <a:t>map</a:t>
            </a:r>
            <a:r>
              <a:rPr lang="zh-CN" altLang="en-US" sz="20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下标访问时，如果元素不存在，则创建对应元素。</a:t>
            </a:r>
            <a:endPar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22" name="组合 21"/>
          <p:cNvGrpSpPr/>
          <p:nvPr>
            <p:custDataLst>
              <p:tags r:id="rId15"/>
            </p:custDataLst>
          </p:nvPr>
        </p:nvGrpSpPr>
        <p:grpSpPr>
          <a:xfrm>
            <a:off x="9537700" y="0"/>
            <a:ext cx="3815080" cy="647700"/>
            <a:chOff x="9537700" y="0"/>
            <a:chExt cx="3815080" cy="647700"/>
          </a:xfrm>
        </p:grpSpPr>
        <p:sp>
          <p:nvSpPr>
            <p:cNvPr id="3" name="RemarkBack"/>
            <p:cNvSpPr/>
            <p:nvPr>
              <p:custDataLst>
                <p:tags r:id="rId25"/>
              </p:custDataLst>
            </p:nvPr>
          </p:nvSpPr>
          <p:spPr>
            <a:xfrm>
              <a:off x="9537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RemarkBlock"/>
            <p:cNvSpPr/>
            <p:nvPr>
              <p:custDataLst>
                <p:tags r:id="rId26"/>
              </p:custDataLst>
            </p:nvPr>
          </p:nvSpPr>
          <p:spPr>
            <a:xfrm>
              <a:off x="9537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RemarkTitleText"/>
            <p:cNvSpPr txBox="1"/>
            <p:nvPr>
              <p:custDataLst>
                <p:tags r:id="rId27"/>
              </p:custDataLst>
            </p:nvPr>
          </p:nvSpPr>
          <p:spPr>
            <a:xfrm>
              <a:off x="9779000" y="0"/>
              <a:ext cx="1905000" cy="635000"/>
            </a:xfrm>
            <a:prstGeom prst="rect">
              <a:avLst/>
            </a:prstGeom>
            <a:noFill/>
          </p:spPr>
          <p:txBody>
            <a:bodyPr vert="horz" wrap="none" rtlCol="0" anchor="ctr" anchorCtr="0">
              <a:noAutofit/>
            </a:bodyPr>
            <a:lstStyle/>
            <a:p>
              <a:r>
                <a:rPr lang="zh-CN" altLang="en-US">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sp>
        <p:nvSpPr>
          <p:cNvPr id="25" name="RemarkBack"/>
          <p:cNvSpPr/>
          <p:nvPr>
            <p:custDataLst>
              <p:tags r:id="rId16"/>
            </p:custDataLst>
          </p:nvPr>
        </p:nvSpPr>
        <p:spPr>
          <a:xfrm>
            <a:off x="9537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RemarkBlock"/>
          <p:cNvSpPr/>
          <p:nvPr>
            <p:custDataLst>
              <p:tags r:id="rId17"/>
            </p:custDataLst>
          </p:nvPr>
        </p:nvSpPr>
        <p:spPr>
          <a:xfrm>
            <a:off x="9537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RemarkTitleText"/>
          <p:cNvSpPr txBox="1"/>
          <p:nvPr>
            <p:custDataLst>
              <p:tags r:id="rId18"/>
            </p:custDataLst>
          </p:nvPr>
        </p:nvSpPr>
        <p:spPr>
          <a:xfrm>
            <a:off x="9779000" y="0"/>
            <a:ext cx="1905000" cy="635000"/>
          </a:xfrm>
          <a:prstGeom prst="rect">
            <a:avLst/>
          </a:prstGeom>
          <a:noFill/>
        </p:spPr>
        <p:txBody>
          <a:bodyPr vert="horz" wrap="none" rtlCol="0" anchor="ctr" anchorCtr="0">
            <a:noAutofit/>
          </a:bodyPr>
          <a:lstStyle/>
          <a:p>
            <a:r>
              <a:rPr lang="zh-CN" altLang="en-US">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nvGrpSpPr>
          <p:cNvPr id="20" name="组合 19"/>
          <p:cNvGrpSpPr/>
          <p:nvPr>
            <p:custDataLst>
              <p:tags r:id="rId19"/>
            </p:custDataLst>
          </p:nvPr>
        </p:nvGrpSpPr>
        <p:grpSpPr>
          <a:xfrm>
            <a:off x="0" y="0"/>
            <a:ext cx="9144000" cy="635000"/>
            <a:chOff x="0" y="0"/>
            <a:chExt cx="9144000" cy="635000"/>
          </a:xfrm>
        </p:grpSpPr>
        <p:sp>
          <p:nvSpPr>
            <p:cNvPr id="16" name="TitleBackground"/>
            <p:cNvSpPr/>
            <p:nvPr>
              <p:custDataLst>
                <p:tags r:id="rId21"/>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22"/>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23"/>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9" name="TipText"/>
            <p:cNvSpPr txBox="1"/>
            <p:nvPr>
              <p:custDataLst>
                <p:tags r:id="rId24"/>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p:cNvPicPr/>
          <p:nvPr>
            <p:custDataLst>
              <p:tags r:id="rId20"/>
            </p:custDataLst>
          </p:nvPr>
        </p:nvPicPr>
        <p:blipFill>
          <a:blip r:embed="rId3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下列从</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运行效率</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使用方式</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的角度上考虑，关于容器的选择合理的是：</a:t>
            </a:r>
          </a:p>
        </p:txBody>
      </p:sp>
      <p:sp>
        <p:nvSpPr>
          <p:cNvPr id="7" name="文本框 6"/>
          <p:cNvSpPr txBox="1"/>
          <p:nvPr>
            <p:custDataLst>
              <p:tags r:id="rId3"/>
            </p:custDataLst>
          </p:nvPr>
        </p:nvSpPr>
        <p:spPr>
          <a:xfrm>
            <a:off x="1438506" y="2456656"/>
            <a:ext cx="7172094"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使用下标访问容器中的元素选择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list</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4"/>
            </p:custDataLst>
          </p:nvPr>
        </p:nvSpPr>
        <p:spPr>
          <a:xfrm>
            <a:off x="1438506" y="3313906"/>
            <a:ext cx="7172093"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使用键值对方式访问元素选择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map</a:t>
            </a:r>
          </a:p>
        </p:txBody>
      </p:sp>
      <p:sp>
        <p:nvSpPr>
          <p:cNvPr id="9" name="文本框 8"/>
          <p:cNvSpPr txBox="1"/>
          <p:nvPr>
            <p:custDataLst>
              <p:tags r:id="rId5"/>
            </p:custDataLst>
          </p:nvPr>
        </p:nvSpPr>
        <p:spPr>
          <a:xfrm>
            <a:off x="1438506" y="4171156"/>
            <a:ext cx="741158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对容器的中间位置进行插入</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删除选择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vector</a:t>
            </a:r>
          </a:p>
        </p:txBody>
      </p:sp>
      <p:sp>
        <p:nvSpPr>
          <p:cNvPr id="10" name="文本框 9"/>
          <p:cNvSpPr txBox="1"/>
          <p:nvPr>
            <p:custDataLst>
              <p:tags r:id="rId6"/>
            </p:custDataLst>
          </p:nvPr>
        </p:nvSpPr>
        <p:spPr>
          <a:xfrm>
            <a:off x="1438507" y="5028406"/>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在容器的首尾插入元素选择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vector</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7"/>
            </p:custDataLst>
          </p:nvPr>
        </p:nvSpPr>
        <p:spPr>
          <a:xfrm>
            <a:off x="724132" y="2520949"/>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8"/>
            </p:custDataLst>
          </p:nvPr>
        </p:nvSpPr>
        <p:spPr>
          <a:xfrm>
            <a:off x="724132" y="3378199"/>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p:cNvSpPr>
            <a:spLocks noChangeAspect="1"/>
          </p:cNvSpPr>
          <p:nvPr>
            <p:custDataLst>
              <p:tags r:id="rId9"/>
            </p:custDataLst>
          </p:nvPr>
        </p:nvSpPr>
        <p:spPr>
          <a:xfrm>
            <a:off x="724132" y="4235449"/>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p:cNvSpPr>
            <a:spLocks noChangeAspect="1"/>
          </p:cNvSpPr>
          <p:nvPr>
            <p:custDataLst>
              <p:tags r:id="rId10"/>
            </p:custDataLst>
          </p:nvPr>
        </p:nvSpPr>
        <p:spPr>
          <a:xfrm>
            <a:off x="724132" y="5092699"/>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sp>
        <p:nvSpPr>
          <p:cNvPr id="2" name="矩形 1"/>
          <p:cNvSpPr/>
          <p:nvPr>
            <p:custDataLst>
              <p:tags r:id="rId12"/>
            </p:custDataLst>
          </p:nvPr>
        </p:nvSpPr>
        <p:spPr>
          <a:xfrm>
            <a:off x="9525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23" name="文本框 22"/>
          <p:cNvSpPr txBox="1"/>
          <p:nvPr>
            <p:custDataLst>
              <p:tags r:id="rId13"/>
            </p:custDataLst>
          </p:nvPr>
        </p:nvSpPr>
        <p:spPr>
          <a:xfrm>
            <a:off x="9613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可为此题添加文本、图片、公式等解析，且需将内容全部放在本区域内。正常使用需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3.0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a:t>
            </a:r>
          </a:p>
        </p:txBody>
      </p:sp>
      <p:sp>
        <p:nvSpPr>
          <p:cNvPr id="24" name="文本框 23"/>
          <p:cNvSpPr txBox="1"/>
          <p:nvPr>
            <p:custDataLst>
              <p:tags r:id="rId14"/>
            </p:custDataLst>
          </p:nvPr>
        </p:nvSpPr>
        <p:spPr>
          <a:xfrm>
            <a:off x="9779000" y="1270000"/>
            <a:ext cx="3332480" cy="1631216"/>
          </a:xfrm>
          <a:prstGeom prst="rect">
            <a:avLst/>
          </a:prstGeom>
          <a:noFill/>
        </p:spPr>
        <p:txBody>
          <a:bodyPr vert="horz" rtlCol="0" anchor="t" anchorCtr="0">
            <a:spAutoFit/>
          </a:bodyPr>
          <a:lstStyle/>
          <a:p>
            <a:pPr lvl="0"/>
            <a:r>
              <a:rPr kumimoji="1" lang="en-US" altLang="zh-CN" sz="2000">
                <a:solidFill>
                  <a:prstClr val="black"/>
                </a:solidFill>
              </a:rPr>
              <a:t>A. list</a:t>
            </a:r>
            <a:r>
              <a:rPr kumimoji="1" lang="zh-CN" altLang="en-US" sz="2000">
                <a:solidFill>
                  <a:prstClr val="black"/>
                </a:solidFill>
              </a:rPr>
              <a:t>下标访问复杂度为</a:t>
            </a:r>
            <a:r>
              <a:rPr kumimoji="1" lang="en-US" altLang="zh-CN" sz="2000">
                <a:solidFill>
                  <a:prstClr val="black"/>
                </a:solidFill>
              </a:rPr>
              <a:t>O(n)</a:t>
            </a:r>
            <a:r>
              <a:rPr kumimoji="1" lang="zh-CN" altLang="en-US" sz="2000">
                <a:solidFill>
                  <a:prstClr val="black"/>
                </a:solidFill>
              </a:rPr>
              <a:t>，</a:t>
            </a:r>
            <a:endParaRPr kumimoji="1" lang="en-US" altLang="zh-CN" sz="2000">
              <a:solidFill>
                <a:prstClr val="black"/>
              </a:solidFill>
            </a:endParaRPr>
          </a:p>
          <a:p>
            <a:pPr lvl="0"/>
            <a:r>
              <a:rPr kumimoji="1" lang="en-US" altLang="zh-CN" sz="2000">
                <a:solidFill>
                  <a:prstClr val="black"/>
                </a:solidFill>
              </a:rPr>
              <a:t>C. vector</a:t>
            </a:r>
            <a:r>
              <a:rPr kumimoji="1" lang="zh-CN" altLang="en-US" sz="2000">
                <a:solidFill>
                  <a:prstClr val="black"/>
                </a:solidFill>
              </a:rPr>
              <a:t>插入删除复杂度为</a:t>
            </a:r>
            <a:r>
              <a:rPr kumimoji="1" lang="en-US" altLang="zh-CN" sz="2000">
                <a:solidFill>
                  <a:prstClr val="black"/>
                </a:solidFill>
              </a:rPr>
              <a:t>O(n)</a:t>
            </a:r>
          </a:p>
          <a:p>
            <a:pPr lvl="0"/>
            <a:r>
              <a:rPr kumimoji="1" lang="en-US" altLang="zh-CN" sz="2000">
                <a:solidFill>
                  <a:prstClr val="black"/>
                </a:solidFill>
              </a:rPr>
              <a:t>D. vector</a:t>
            </a:r>
            <a:r>
              <a:rPr kumimoji="1" lang="zh-CN" altLang="en-US" sz="2000">
                <a:solidFill>
                  <a:prstClr val="black"/>
                </a:solidFill>
              </a:rPr>
              <a:t>尾部插入平均复杂度为</a:t>
            </a:r>
            <a:r>
              <a:rPr kumimoji="1" lang="en-US" altLang="zh-CN" sz="2000">
                <a:solidFill>
                  <a:prstClr val="black"/>
                </a:solidFill>
              </a:rPr>
              <a:t>O(1)</a:t>
            </a:r>
            <a:r>
              <a:rPr kumimoji="1" lang="zh-CN" altLang="en-US" sz="2000">
                <a:solidFill>
                  <a:prstClr val="black"/>
                </a:solidFill>
              </a:rPr>
              <a:t>，头部为</a:t>
            </a:r>
            <a:r>
              <a:rPr kumimoji="1" lang="en-US" altLang="zh-CN" sz="2000">
                <a:solidFill>
                  <a:prstClr val="black"/>
                </a:solidFill>
              </a:rPr>
              <a:t>O(n)</a:t>
            </a:r>
            <a:endPar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22" name="组合 21"/>
          <p:cNvGrpSpPr/>
          <p:nvPr>
            <p:custDataLst>
              <p:tags r:id="rId15"/>
            </p:custDataLst>
          </p:nvPr>
        </p:nvGrpSpPr>
        <p:grpSpPr>
          <a:xfrm>
            <a:off x="9537700" y="0"/>
            <a:ext cx="3815080" cy="647700"/>
            <a:chOff x="9537700" y="0"/>
            <a:chExt cx="3815080" cy="647700"/>
          </a:xfrm>
        </p:grpSpPr>
        <p:sp>
          <p:nvSpPr>
            <p:cNvPr id="3" name="RemarkBack"/>
            <p:cNvSpPr/>
            <p:nvPr>
              <p:custDataLst>
                <p:tags r:id="rId25"/>
              </p:custDataLst>
            </p:nvPr>
          </p:nvSpPr>
          <p:spPr>
            <a:xfrm>
              <a:off x="9537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RemarkBlock"/>
            <p:cNvSpPr/>
            <p:nvPr>
              <p:custDataLst>
                <p:tags r:id="rId26"/>
              </p:custDataLst>
            </p:nvPr>
          </p:nvSpPr>
          <p:spPr>
            <a:xfrm>
              <a:off x="9537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RemarkTitleText"/>
            <p:cNvSpPr txBox="1"/>
            <p:nvPr>
              <p:custDataLst>
                <p:tags r:id="rId27"/>
              </p:custDataLst>
            </p:nvPr>
          </p:nvSpPr>
          <p:spPr>
            <a:xfrm>
              <a:off x="9779000" y="0"/>
              <a:ext cx="1905000" cy="635000"/>
            </a:xfrm>
            <a:prstGeom prst="rect">
              <a:avLst/>
            </a:prstGeom>
            <a:noFill/>
          </p:spPr>
          <p:txBody>
            <a:bodyPr vert="horz" wrap="none" rtlCol="0" anchor="ctr" anchorCtr="0">
              <a:noAutofit/>
            </a:bodyPr>
            <a:lstStyle/>
            <a:p>
              <a:r>
                <a:rPr lang="zh-CN" altLang="en-US">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sp>
        <p:nvSpPr>
          <p:cNvPr id="25" name="RemarkBack"/>
          <p:cNvSpPr/>
          <p:nvPr>
            <p:custDataLst>
              <p:tags r:id="rId16"/>
            </p:custDataLst>
          </p:nvPr>
        </p:nvSpPr>
        <p:spPr>
          <a:xfrm>
            <a:off x="9537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RemarkBlock"/>
          <p:cNvSpPr/>
          <p:nvPr>
            <p:custDataLst>
              <p:tags r:id="rId17"/>
            </p:custDataLst>
          </p:nvPr>
        </p:nvSpPr>
        <p:spPr>
          <a:xfrm>
            <a:off x="9537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RemarkTitleText"/>
          <p:cNvSpPr txBox="1"/>
          <p:nvPr>
            <p:custDataLst>
              <p:tags r:id="rId18"/>
            </p:custDataLst>
          </p:nvPr>
        </p:nvSpPr>
        <p:spPr>
          <a:xfrm>
            <a:off x="9779000" y="0"/>
            <a:ext cx="1905000" cy="635000"/>
          </a:xfrm>
          <a:prstGeom prst="rect">
            <a:avLst/>
          </a:prstGeom>
          <a:noFill/>
        </p:spPr>
        <p:txBody>
          <a:bodyPr vert="horz" wrap="none" rtlCol="0" anchor="ctr" anchorCtr="0">
            <a:noAutofit/>
          </a:bodyPr>
          <a:lstStyle/>
          <a:p>
            <a:r>
              <a:rPr lang="zh-CN" altLang="en-US">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nvGrpSpPr>
          <p:cNvPr id="20" name="组合 19"/>
          <p:cNvGrpSpPr/>
          <p:nvPr>
            <p:custDataLst>
              <p:tags r:id="rId19"/>
            </p:custDataLst>
          </p:nvPr>
        </p:nvGrpSpPr>
        <p:grpSpPr>
          <a:xfrm>
            <a:off x="0" y="0"/>
            <a:ext cx="9144000" cy="635000"/>
            <a:chOff x="0" y="0"/>
            <a:chExt cx="9144000" cy="635000"/>
          </a:xfrm>
        </p:grpSpPr>
        <p:sp>
          <p:nvSpPr>
            <p:cNvPr id="16" name="TitleBackground"/>
            <p:cNvSpPr/>
            <p:nvPr>
              <p:custDataLst>
                <p:tags r:id="rId21"/>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22"/>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23"/>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p:cNvSpPr txBox="1"/>
            <p:nvPr>
              <p:custDataLst>
                <p:tags r:id="rId24"/>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p:cNvPicPr/>
          <p:nvPr>
            <p:custDataLst>
              <p:tags r:id="rId20"/>
            </p:custDataLst>
          </p:nvPr>
        </p:nvPicPr>
        <p:blipFill>
          <a:blip r:embed="rId3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ctrTitle" idx="4294967295"/>
          </p:nvPr>
        </p:nvSpPr>
        <p:spPr>
          <a:xfrm>
            <a:off x="683568" y="2564904"/>
            <a:ext cx="7772400" cy="1470025"/>
          </a:xfrm>
        </p:spPr>
        <p:txBody>
          <a:bodyPr/>
          <a:lstStyle/>
          <a:p>
            <a:pPr algn="ctr" eaLnBrk="1" hangingPunct="1"/>
            <a:r>
              <a:rPr lang="en-US" altLang="zh-CN" sz="5400" b="1" dirty="0">
                <a:solidFill>
                  <a:srgbClr val="003366"/>
                </a:solidFill>
                <a:latin typeface="微软雅黑" panose="020B0503020204020204" pitchFamily="34" charset="-122"/>
                <a:ea typeface="微软雅黑" panose="020B0503020204020204" pitchFamily="34" charset="-122"/>
                <a:cs typeface="微软雅黑" panose="020B0503020204020204" pitchFamily="34" charset="-122"/>
              </a:rPr>
              <a:t>string</a:t>
            </a:r>
            <a:br>
              <a:rPr lang="en-US" altLang="zh-CN" sz="5400" dirty="0">
                <a:solidFill>
                  <a:srgbClr val="003366"/>
                </a:solidFill>
                <a:latin typeface="微软雅黑" panose="020B0503020204020204" pitchFamily="34" charset="-122"/>
                <a:ea typeface="微软雅黑" panose="020B0503020204020204" pitchFamily="34" charset="-122"/>
                <a:cs typeface="微软雅黑" panose="020B0503020204020204" pitchFamily="34" charset="-122"/>
              </a:rPr>
            </a:br>
            <a:r>
              <a:rPr lang="zh-CN" altLang="en-US" sz="5400" dirty="0">
                <a:solidFill>
                  <a:srgbClr val="003366"/>
                </a:solidFill>
                <a:latin typeface="微软雅黑" panose="020B0503020204020204" pitchFamily="34" charset="-122"/>
                <a:ea typeface="微软雅黑" panose="020B0503020204020204" pitchFamily="34" charset="-122"/>
                <a:cs typeface="微软雅黑" panose="020B0503020204020204" pitchFamily="34" charset="-122"/>
              </a:rPr>
              <a:t>字符串类</a:t>
            </a:r>
            <a:endParaRPr lang="en-US" altLang="zh-CN" sz="5400" b="1" dirty="0">
              <a:solidFill>
                <a:srgbClr val="003366"/>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579" name="灯片编号占位符 5"/>
          <p:cNvSpPr>
            <a:spLocks noGrp="1"/>
          </p:cNvSpPr>
          <p:nvPr>
            <p:ph type="sldNum" sz="quarter" idx="12"/>
          </p:nvPr>
        </p:nvSpPr>
        <p:spPr>
          <a:xfrm>
            <a:off x="6991350" y="6524625"/>
            <a:ext cx="2133600" cy="3333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90204" pitchFamily="34" charset="0"/>
                <a:ea typeface="华文中宋" panose="02010600040101010101" pitchFamily="2" charset="-122"/>
              </a:defRPr>
            </a:lvl1pPr>
            <a:lvl2pPr marL="742950" indent="-285750">
              <a:spcBef>
                <a:spcPct val="20000"/>
              </a:spcBef>
              <a:buChar char="–"/>
              <a:defRPr sz="2800">
                <a:solidFill>
                  <a:schemeClr val="tx1"/>
                </a:solidFill>
                <a:latin typeface="Arial" panose="020B0604020202090204" pitchFamily="34" charset="0"/>
                <a:ea typeface="华文中宋" panose="02010600040101010101" pitchFamily="2" charset="-122"/>
              </a:defRPr>
            </a:lvl2pPr>
            <a:lvl3pPr marL="1143000" indent="-228600">
              <a:spcBef>
                <a:spcPct val="20000"/>
              </a:spcBef>
              <a:buChar char="•"/>
              <a:defRPr sz="2400">
                <a:solidFill>
                  <a:schemeClr val="tx1"/>
                </a:solidFill>
                <a:latin typeface="Arial" panose="020B0604020202090204" pitchFamily="34" charset="0"/>
                <a:ea typeface="华文中宋" panose="02010600040101010101" pitchFamily="2" charset="-122"/>
              </a:defRPr>
            </a:lvl3pPr>
            <a:lvl4pPr marL="1600200" indent="-228600">
              <a:spcBef>
                <a:spcPct val="20000"/>
              </a:spcBef>
              <a:buChar char="–"/>
              <a:defRPr sz="2000">
                <a:solidFill>
                  <a:schemeClr val="tx1"/>
                </a:solidFill>
                <a:latin typeface="Arial" panose="020B0604020202090204" pitchFamily="34" charset="0"/>
                <a:ea typeface="华文中宋" panose="02010600040101010101" pitchFamily="2" charset="-122"/>
              </a:defRPr>
            </a:lvl4pPr>
            <a:lvl5pPr marL="2057400" indent="-228600">
              <a:spcBef>
                <a:spcPct val="20000"/>
              </a:spcBef>
              <a:buChar char="»"/>
              <a:defRPr sz="2000">
                <a:solidFill>
                  <a:schemeClr val="tx1"/>
                </a:solidFill>
                <a:latin typeface="Arial" panose="020B0604020202090204" pitchFamily="34" charset="0"/>
                <a:ea typeface="华文中宋"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华文中宋"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华文中宋"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华文中宋"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华文中宋" panose="02010600040101010101" pitchFamily="2" charset="-122"/>
              </a:defRPr>
            </a:lvl9pPr>
          </a:lstStyle>
          <a:p>
            <a:pPr>
              <a:spcBef>
                <a:spcPct val="0"/>
              </a:spcBef>
              <a:buFontTx/>
              <a:buNone/>
            </a:pPr>
            <a:fld id="{B6D092EB-5C25-4AA2-B2CD-B9A2BCD4DB8F}" type="slidenum">
              <a:rPr lang="en-US" altLang="zh-CN" sz="1400">
                <a:solidFill>
                  <a:schemeClr val="hlink"/>
                </a:solidFill>
                <a:ea typeface="宋体" pitchFamily="2" charset="-122"/>
              </a:rPr>
              <a:t>60</a:t>
            </a:fld>
            <a:endParaRPr lang="en-US" altLang="zh-CN" sz="1400">
              <a:solidFill>
                <a:schemeClr val="hlink"/>
              </a:solidFill>
              <a:ea typeface="宋体"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变长字符串</a:t>
            </a:r>
          </a:p>
        </p:txBody>
      </p:sp>
      <p:sp>
        <p:nvSpPr>
          <p:cNvPr id="6" name="内容占位符 5"/>
          <p:cNvSpPr>
            <a:spLocks noGrp="1"/>
          </p:cNvSpPr>
          <p:nvPr>
            <p:ph idx="1"/>
          </p:nvPr>
        </p:nvSpPr>
        <p:spPr/>
        <p:txBody>
          <a:bodyPr/>
          <a:lstStyle/>
          <a:p>
            <a:r>
              <a:rPr lang="zh-CN" altLang="en-US" dirty="0"/>
              <a:t>字符串是</a:t>
            </a:r>
            <a:r>
              <a:rPr lang="en-US" altLang="zh-CN" dirty="0"/>
              <a:t>char</a:t>
            </a:r>
            <a:r>
              <a:rPr lang="zh-CN" altLang="en-US" dirty="0"/>
              <a:t>的数组</a:t>
            </a:r>
            <a:endParaRPr lang="en-US" altLang="zh-CN" dirty="0"/>
          </a:p>
          <a:p>
            <a:r>
              <a:rPr lang="zh-CN" altLang="en-US" dirty="0"/>
              <a:t>但如果我们无法提前确认字符串长度？</a:t>
            </a:r>
            <a:endParaRPr lang="en-US" altLang="zh-CN" dirty="0"/>
          </a:p>
          <a:p>
            <a:pPr lvl="1"/>
            <a:r>
              <a:rPr lang="en-US" altLang="zh-CN" sz="2800" b="1" dirty="0">
                <a:solidFill>
                  <a:srgbClr val="003366"/>
                </a:solidFill>
              </a:rPr>
              <a:t>vector&lt;char&gt;</a:t>
            </a:r>
            <a:r>
              <a:rPr lang="zh-CN" altLang="en-US" sz="2800" b="1" dirty="0">
                <a:solidFill>
                  <a:srgbClr val="003366"/>
                </a:solidFill>
              </a:rPr>
              <a:t>？</a:t>
            </a:r>
            <a:endParaRPr lang="en-US" altLang="zh-CN" sz="2800" b="1" dirty="0">
              <a:solidFill>
                <a:srgbClr val="003366"/>
              </a:solidFill>
            </a:endParaRPr>
          </a:p>
          <a:p>
            <a:endParaRPr lang="en-US" altLang="zh-CN" dirty="0"/>
          </a:p>
          <a:p>
            <a:r>
              <a:rPr lang="en-US" altLang="zh-CN" dirty="0"/>
              <a:t>STL</a:t>
            </a:r>
            <a:r>
              <a:rPr lang="zh-CN" altLang="en-US" dirty="0"/>
              <a:t>为我们提供了更方便的</a:t>
            </a:r>
            <a:r>
              <a:rPr lang="en-US" altLang="zh-CN" dirty="0"/>
              <a:t>string</a:t>
            </a:r>
            <a:r>
              <a:rPr lang="zh-CN" altLang="en-US" dirty="0"/>
              <a:t>类型</a:t>
            </a:r>
            <a:endParaRPr lang="en-US" altLang="zh-CN" dirty="0"/>
          </a:p>
          <a:p>
            <a:pPr lvl="1"/>
            <a:r>
              <a:rPr lang="zh-CN" altLang="en-US" b="1" dirty="0">
                <a:solidFill>
                  <a:srgbClr val="3A536D"/>
                </a:solidFill>
              </a:rPr>
              <a:t>允许简洁的拼接操作</a:t>
            </a:r>
            <a:endParaRPr lang="en-US" altLang="zh-CN" b="1" dirty="0">
              <a:solidFill>
                <a:srgbClr val="3A536D"/>
              </a:solidFill>
            </a:endParaRPr>
          </a:p>
          <a:p>
            <a:pPr eaLnBrk="1" hangingPunct="1">
              <a:spcBef>
                <a:spcPct val="0"/>
              </a:spcBef>
              <a:buClrTx/>
              <a:buSzTx/>
              <a:buFontTx/>
              <a:buNone/>
            </a:pPr>
            <a:r>
              <a:rPr lang="en-US" altLang="zh-CN" b="1" dirty="0">
                <a:latin typeface="Lucida Console" panose="020B0609040504020204" pitchFamily="49" charset="0"/>
              </a:rPr>
              <a:t>		</a:t>
            </a:r>
            <a:r>
              <a:rPr lang="en-US" altLang="zh-CN" sz="2000" b="1" dirty="0">
                <a:solidFill>
                  <a:schemeClr val="tx1"/>
                </a:solidFill>
                <a:latin typeface="Lucida Console" panose="020B0609040504020204" pitchFamily="49" charset="0"/>
                <a:ea typeface="幼圆" panose="02010509060101010101" charset="-122"/>
              </a:rPr>
              <a:t>s</a:t>
            </a:r>
            <a:r>
              <a:rPr lang="en-US" altLang="zh-CN" sz="2000" dirty="0">
                <a:solidFill>
                  <a:schemeClr val="tx1"/>
                </a:solidFill>
                <a:latin typeface="Lucida Console" panose="020B0609040504020204" pitchFamily="49" charset="0"/>
                <a:ea typeface="幼圆" panose="02010509060101010101" charset="-122"/>
              </a:rPr>
              <a:t>tring </a:t>
            </a:r>
            <a:r>
              <a:rPr lang="en-US" altLang="zh-CN" sz="2000" dirty="0" err="1">
                <a:solidFill>
                  <a:schemeClr val="tx1"/>
                </a:solidFill>
                <a:latin typeface="Lucida Console" panose="020B0609040504020204" pitchFamily="49" charset="0"/>
                <a:ea typeface="幼圆" panose="02010509060101010101" charset="-122"/>
              </a:rPr>
              <a:t>fullname</a:t>
            </a:r>
            <a:r>
              <a:rPr lang="en-US" altLang="zh-CN" sz="2000" dirty="0">
                <a:solidFill>
                  <a:schemeClr val="tx1"/>
                </a:solidFill>
                <a:latin typeface="Lucida Console" panose="020B0609040504020204" pitchFamily="49" charset="0"/>
                <a:ea typeface="幼圆" panose="02010509060101010101" charset="-122"/>
              </a:rPr>
              <a:t> = </a:t>
            </a:r>
            <a:r>
              <a:rPr lang="en-US" altLang="zh-CN" sz="2000" dirty="0" err="1">
                <a:solidFill>
                  <a:schemeClr val="tx1"/>
                </a:solidFill>
                <a:latin typeface="Lucida Console" panose="020B0609040504020204" pitchFamily="49" charset="0"/>
                <a:ea typeface="幼圆" panose="02010509060101010101" charset="-122"/>
              </a:rPr>
              <a:t>firstname</a:t>
            </a:r>
            <a:r>
              <a:rPr lang="en-US" altLang="zh-CN" sz="2000" dirty="0">
                <a:solidFill>
                  <a:schemeClr val="tx1"/>
                </a:solidFill>
                <a:latin typeface="Lucida Console" panose="020B0609040504020204" pitchFamily="49" charset="0"/>
                <a:ea typeface="幼圆" panose="02010509060101010101" charset="-122"/>
              </a:rPr>
              <a:t> + " " + </a:t>
            </a:r>
            <a:r>
              <a:rPr lang="en-US" altLang="zh-CN" sz="2000" dirty="0" err="1">
                <a:solidFill>
                  <a:schemeClr val="tx1"/>
                </a:solidFill>
                <a:latin typeface="Lucida Console" panose="020B0609040504020204" pitchFamily="49" charset="0"/>
                <a:ea typeface="幼圆" panose="02010509060101010101" charset="-122"/>
              </a:rPr>
              <a:t>lastname</a:t>
            </a:r>
            <a:r>
              <a:rPr lang="en-US" altLang="zh-CN" sz="2000" dirty="0">
                <a:solidFill>
                  <a:schemeClr val="tx1"/>
                </a:solidFill>
                <a:latin typeface="Lucida Console" panose="020B0609040504020204" pitchFamily="49" charset="0"/>
                <a:ea typeface="幼圆" panose="02010509060101010101" charset="-122"/>
              </a:rPr>
              <a:t>;</a:t>
            </a:r>
          </a:p>
          <a:p>
            <a:pPr lvl="1"/>
            <a:r>
              <a:rPr lang="zh-CN" altLang="en-US" b="1" dirty="0">
                <a:solidFill>
                  <a:srgbClr val="3A536D"/>
                </a:solidFill>
              </a:rPr>
              <a:t>也能够使用惯用的输入输出方法</a:t>
            </a:r>
            <a:endParaRPr lang="en-US" altLang="zh-CN" b="1" dirty="0">
              <a:solidFill>
                <a:srgbClr val="3A536D"/>
              </a:solidFill>
            </a:endParaRPr>
          </a:p>
          <a:p>
            <a:pPr marL="457200" lvl="1" indent="0">
              <a:buNone/>
            </a:pPr>
            <a:r>
              <a:rPr lang="en-US" altLang="zh-CN" dirty="0"/>
              <a:t>	</a:t>
            </a:r>
            <a:r>
              <a:rPr lang="en-US" altLang="zh-CN" sz="2000" b="1" dirty="0" err="1">
                <a:latin typeface="Lucida Console" panose="020B0609040504020204" pitchFamily="49" charset="0"/>
                <a:ea typeface="幼圆" panose="02010509060101010101" charset="-122"/>
              </a:rPr>
              <a:t>cout</a:t>
            </a:r>
            <a:r>
              <a:rPr lang="en-US" altLang="zh-CN" sz="2000" b="1" dirty="0">
                <a:latin typeface="Lucida Console" panose="020B0609040504020204" pitchFamily="49" charset="0"/>
                <a:ea typeface="幼圆" panose="02010509060101010101" charset="-122"/>
              </a:rPr>
              <a:t> &lt;&lt; </a:t>
            </a:r>
            <a:r>
              <a:rPr lang="en-US" altLang="zh-CN" sz="2000" b="1" dirty="0" err="1">
                <a:latin typeface="Lucida Console" panose="020B0609040504020204" pitchFamily="49" charset="0"/>
                <a:ea typeface="幼圆" panose="02010509060101010101" charset="-122"/>
              </a:rPr>
              <a:t>fullname</a:t>
            </a:r>
            <a:r>
              <a:rPr lang="en-US" altLang="zh-CN" sz="2000" b="1" dirty="0">
                <a:latin typeface="Lucida Console" panose="020B0609040504020204" pitchFamily="49" charset="0"/>
                <a:ea typeface="幼圆" panose="02010509060101010101" charset="-122"/>
              </a:rPr>
              <a:t> &lt;&lt; </a:t>
            </a:r>
            <a:r>
              <a:rPr lang="en-US" altLang="zh-CN" sz="2000" b="1" dirty="0" err="1">
                <a:latin typeface="Lucida Console" panose="020B0609040504020204" pitchFamily="49" charset="0"/>
                <a:ea typeface="幼圆" panose="02010509060101010101" charset="-122"/>
              </a:rPr>
              <a:t>endl</a:t>
            </a:r>
            <a:r>
              <a:rPr lang="en-US" altLang="zh-CN" sz="2000" b="1" dirty="0">
                <a:latin typeface="Lucida Console" panose="020B0609040504020204" pitchFamily="49" charset="0"/>
                <a:ea typeface="幼圆" panose="02010509060101010101" charset="-122"/>
              </a:rPr>
              <a:t>;</a:t>
            </a:r>
            <a:endParaRPr lang="zh-CN" altLang="en-US" sz="2000" dirty="0"/>
          </a:p>
        </p:txBody>
      </p:sp>
      <p:sp>
        <p:nvSpPr>
          <p:cNvPr id="2" name="灯片编号占位符 1"/>
          <p:cNvSpPr>
            <a:spLocks noGrp="1"/>
          </p:cNvSpPr>
          <p:nvPr>
            <p:ph type="sldNum" sz="quarter" idx="12"/>
          </p:nvPr>
        </p:nvSpPr>
        <p:spPr/>
        <p:txBody>
          <a:bodyPr/>
          <a:lstStyle/>
          <a:p>
            <a:pPr>
              <a:defRPr/>
            </a:pPr>
            <a:fld id="{C34C3BD7-260C-4BC9-9C17-940D7F59C4D1}" type="slidenum">
              <a:rPr lang="en-US" altLang="zh-CN" smtClean="0"/>
              <a:t>61</a:t>
            </a:fld>
            <a:endParaRPr lang="en-US" altLang="zh-CN"/>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string</a:t>
            </a:r>
            <a:r>
              <a:rPr lang="zh-CN" altLang="en-US" dirty="0"/>
              <a:t>类常用函数</a:t>
            </a:r>
          </a:p>
        </p:txBody>
      </p:sp>
      <p:sp>
        <p:nvSpPr>
          <p:cNvPr id="3" name="内容占位符 2"/>
          <p:cNvSpPr>
            <a:spLocks noGrp="1"/>
          </p:cNvSpPr>
          <p:nvPr>
            <p:ph idx="1"/>
          </p:nvPr>
        </p:nvSpPr>
        <p:spPr>
          <a:xfrm>
            <a:off x="628650" y="1628800"/>
            <a:ext cx="8191822" cy="4749029"/>
          </a:xfrm>
        </p:spPr>
        <p:txBody>
          <a:bodyPr/>
          <a:lstStyle/>
          <a:p>
            <a:r>
              <a:rPr lang="zh-CN" altLang="en-US" dirty="0"/>
              <a:t>构造方式</a:t>
            </a:r>
            <a:endParaRPr lang="en-US" altLang="zh-CN" dirty="0"/>
          </a:p>
          <a:p>
            <a:pPr lvl="1"/>
            <a:r>
              <a:rPr lang="en-US" altLang="zh-CN" sz="2000" dirty="0"/>
              <a:t>string s0(</a:t>
            </a:r>
            <a:r>
              <a:rPr lang="en-US" altLang="zh-CN" sz="2000" b="1" dirty="0">
                <a:ea typeface="幼圆" panose="02010509060101010101" charset="-122"/>
              </a:rPr>
              <a:t>"</a:t>
            </a:r>
            <a:r>
              <a:rPr lang="en-US" altLang="zh-CN" sz="2000" dirty="0"/>
              <a:t>Initial string</a:t>
            </a:r>
            <a:r>
              <a:rPr lang="en-US" altLang="zh-CN" sz="2000" b="1" dirty="0">
                <a:ea typeface="幼圆" panose="02010509060101010101" charset="-122"/>
              </a:rPr>
              <a:t>"</a:t>
            </a:r>
            <a:r>
              <a:rPr lang="en-US" altLang="zh-CN" sz="2000" dirty="0"/>
              <a:t>); </a:t>
            </a:r>
            <a:r>
              <a:rPr lang="en-US" altLang="zh-CN" sz="2000" dirty="0">
                <a:solidFill>
                  <a:schemeClr val="accent1"/>
                </a:solidFill>
              </a:rPr>
              <a:t>//</a:t>
            </a:r>
            <a:r>
              <a:rPr lang="zh-CN" altLang="en-US" sz="2000" dirty="0">
                <a:solidFill>
                  <a:schemeClr val="accent1"/>
                </a:solidFill>
              </a:rPr>
              <a:t>从</a:t>
            </a:r>
            <a:r>
              <a:rPr lang="en-US" altLang="zh-CN" sz="2000" dirty="0">
                <a:solidFill>
                  <a:schemeClr val="accent1"/>
                </a:solidFill>
              </a:rPr>
              <a:t>c</a:t>
            </a:r>
            <a:r>
              <a:rPr lang="zh-CN" altLang="en-US" sz="2000" dirty="0">
                <a:solidFill>
                  <a:schemeClr val="accent1"/>
                </a:solidFill>
              </a:rPr>
              <a:t>风格字符串构造</a:t>
            </a:r>
            <a:endParaRPr lang="en-US" altLang="zh-CN" sz="2000" dirty="0">
              <a:solidFill>
                <a:schemeClr val="accent1"/>
              </a:solidFill>
            </a:endParaRPr>
          </a:p>
          <a:p>
            <a:pPr lvl="1"/>
            <a:r>
              <a:rPr lang="en-US" altLang="zh-CN" sz="2000" dirty="0"/>
              <a:t>string s1;			 </a:t>
            </a:r>
            <a:r>
              <a:rPr lang="en-US" altLang="zh-CN" sz="2000" dirty="0">
                <a:solidFill>
                  <a:schemeClr val="accent1"/>
                </a:solidFill>
              </a:rPr>
              <a:t>//</a:t>
            </a:r>
            <a:r>
              <a:rPr lang="zh-CN" altLang="en-US" sz="2000" dirty="0">
                <a:solidFill>
                  <a:schemeClr val="accent1"/>
                </a:solidFill>
              </a:rPr>
              <a:t>默认空字符串</a:t>
            </a:r>
            <a:endParaRPr lang="en-US" altLang="zh-CN" sz="2000" dirty="0">
              <a:solidFill>
                <a:schemeClr val="accent1"/>
              </a:solidFill>
            </a:endParaRPr>
          </a:p>
          <a:p>
            <a:pPr lvl="1"/>
            <a:r>
              <a:rPr lang="en-US" altLang="zh-CN" sz="2000" dirty="0"/>
              <a:t>string s2(s0, 8, 3);		</a:t>
            </a:r>
            <a:r>
              <a:rPr lang="en-US" altLang="zh-CN" sz="2000" dirty="0">
                <a:solidFill>
                  <a:schemeClr val="accent1"/>
                </a:solidFill>
              </a:rPr>
              <a:t> //</a:t>
            </a:r>
            <a:r>
              <a:rPr lang="zh-CN" altLang="en-US" sz="2000" dirty="0">
                <a:solidFill>
                  <a:schemeClr val="accent1"/>
                </a:solidFill>
              </a:rPr>
              <a:t>截取：“</a:t>
            </a:r>
            <a:r>
              <a:rPr lang="en-US" altLang="zh-CN" sz="2000" dirty="0" err="1">
                <a:solidFill>
                  <a:schemeClr val="accent1"/>
                </a:solidFill>
              </a:rPr>
              <a:t>str</a:t>
            </a:r>
            <a:r>
              <a:rPr lang="zh-CN" altLang="en-US" sz="2000" dirty="0">
                <a:solidFill>
                  <a:schemeClr val="accent1"/>
                </a:solidFill>
              </a:rPr>
              <a:t>”，</a:t>
            </a:r>
            <a:r>
              <a:rPr lang="en-US" altLang="zh-CN" sz="2000" dirty="0">
                <a:solidFill>
                  <a:schemeClr val="accent1"/>
                </a:solidFill>
              </a:rPr>
              <a:t>index</a:t>
            </a:r>
            <a:r>
              <a:rPr lang="zh-CN" altLang="en-US" sz="2000" dirty="0">
                <a:solidFill>
                  <a:schemeClr val="accent1"/>
                </a:solidFill>
              </a:rPr>
              <a:t>从</a:t>
            </a:r>
            <a:r>
              <a:rPr lang="en-US" altLang="zh-CN" sz="2000" dirty="0">
                <a:solidFill>
                  <a:schemeClr val="accent1"/>
                </a:solidFill>
              </a:rPr>
              <a:t>8</a:t>
            </a:r>
            <a:r>
              <a:rPr lang="zh-CN" altLang="en-US" sz="2000" dirty="0">
                <a:solidFill>
                  <a:schemeClr val="accent1"/>
                </a:solidFill>
              </a:rPr>
              <a:t>开始，长度为</a:t>
            </a:r>
            <a:r>
              <a:rPr lang="en-US" altLang="zh-CN" sz="2000" dirty="0">
                <a:solidFill>
                  <a:schemeClr val="accent1"/>
                </a:solidFill>
              </a:rPr>
              <a:t>3</a:t>
            </a:r>
          </a:p>
          <a:p>
            <a:pPr lvl="1"/>
            <a:r>
              <a:rPr lang="en-US" altLang="zh-CN" sz="2000" dirty="0"/>
              <a:t>string s3(</a:t>
            </a:r>
            <a:r>
              <a:rPr lang="en-US" altLang="zh-CN" sz="2000" b="1" dirty="0">
                <a:ea typeface="幼圆" panose="02010509060101010101" charset="-122"/>
                <a:sym typeface="+mn-ea"/>
              </a:rPr>
              <a:t>"</a:t>
            </a:r>
            <a:r>
              <a:rPr lang="en-US" altLang="zh-CN" sz="2000" dirty="0"/>
              <a:t>Another character sequence</a:t>
            </a:r>
            <a:r>
              <a:rPr lang="en-US" altLang="zh-CN" sz="2000" b="1" dirty="0">
                <a:ea typeface="幼圆" panose="02010509060101010101" charset="-122"/>
                <a:sym typeface="+mn-ea"/>
              </a:rPr>
              <a:t>"</a:t>
            </a:r>
            <a:r>
              <a:rPr lang="en-US" altLang="zh-CN" sz="2000" dirty="0"/>
              <a:t>, 12);</a:t>
            </a:r>
            <a:br>
              <a:rPr lang="en-US" altLang="zh-CN" sz="2000" dirty="0"/>
            </a:br>
            <a:r>
              <a:rPr lang="en-US" altLang="zh-CN" sz="2000" dirty="0"/>
              <a:t>					  </a:t>
            </a:r>
            <a:r>
              <a:rPr lang="en-US" altLang="zh-CN" sz="2000" dirty="0">
                <a:solidFill>
                  <a:schemeClr val="accent1"/>
                </a:solidFill>
              </a:rPr>
              <a:t>//</a:t>
            </a:r>
            <a:r>
              <a:rPr lang="zh-CN" altLang="en-US" sz="2000" dirty="0">
                <a:solidFill>
                  <a:schemeClr val="accent1"/>
                </a:solidFill>
              </a:rPr>
              <a:t>截取：“</a:t>
            </a:r>
            <a:r>
              <a:rPr lang="en-US" altLang="zh-CN" sz="2000" dirty="0">
                <a:solidFill>
                  <a:schemeClr val="accent1"/>
                </a:solidFill>
              </a:rPr>
              <a:t>Another char</a:t>
            </a:r>
            <a:r>
              <a:rPr lang="zh-CN" altLang="en-US" dirty="0">
                <a:solidFill>
                  <a:schemeClr val="accent1"/>
                </a:solidFill>
              </a:rPr>
              <a:t>”</a:t>
            </a:r>
            <a:endParaRPr lang="en-US" altLang="zh-CN" dirty="0">
              <a:solidFill>
                <a:schemeClr val="accent1"/>
              </a:solidFill>
            </a:endParaRPr>
          </a:p>
          <a:p>
            <a:pPr lvl="1"/>
            <a:r>
              <a:rPr lang="en-US" altLang="zh-CN" sz="2000" dirty="0"/>
              <a:t>string s4(10, 'x');		 </a:t>
            </a:r>
            <a:r>
              <a:rPr lang="en-US" altLang="zh-CN" sz="2000" dirty="0">
                <a:solidFill>
                  <a:schemeClr val="accent1"/>
                </a:solidFill>
              </a:rPr>
              <a:t>//</a:t>
            </a:r>
            <a:r>
              <a:rPr lang="zh-CN" altLang="en-US" sz="2000" dirty="0">
                <a:solidFill>
                  <a:schemeClr val="accent1"/>
                </a:solidFill>
              </a:rPr>
              <a:t>复制字符：</a:t>
            </a:r>
            <a:r>
              <a:rPr lang="en-US" altLang="zh-CN" sz="2000" dirty="0" err="1">
                <a:solidFill>
                  <a:schemeClr val="accent1"/>
                </a:solidFill>
              </a:rPr>
              <a:t>xxxxxxxxxx</a:t>
            </a:r>
            <a:endParaRPr lang="en-US" altLang="zh-CN" sz="2000" dirty="0">
              <a:solidFill>
                <a:schemeClr val="accent1"/>
              </a:solidFill>
            </a:endParaRPr>
          </a:p>
          <a:p>
            <a:pPr lvl="1"/>
            <a:r>
              <a:rPr lang="en-US" altLang="zh-CN" sz="2000" dirty="0"/>
              <a:t>string s5(s0.begin(), s0.begin()+7);</a:t>
            </a:r>
            <a:br>
              <a:rPr lang="en-US" altLang="zh-CN" sz="2000" dirty="0"/>
            </a:br>
            <a:r>
              <a:rPr lang="en-US" altLang="zh-CN" sz="2000" dirty="0"/>
              <a:t>					 </a:t>
            </a:r>
            <a:r>
              <a:rPr lang="en-US" altLang="zh-CN" sz="2000" dirty="0">
                <a:solidFill>
                  <a:schemeClr val="accent1"/>
                </a:solidFill>
              </a:rPr>
              <a:t>//</a:t>
            </a:r>
            <a:r>
              <a:rPr lang="zh-CN" altLang="en-US" sz="2000" dirty="0">
                <a:solidFill>
                  <a:schemeClr val="accent1"/>
                </a:solidFill>
              </a:rPr>
              <a:t>复制截取</a:t>
            </a:r>
            <a:r>
              <a:rPr lang="en-US" altLang="zh-CN" sz="2000" dirty="0">
                <a:solidFill>
                  <a:schemeClr val="accent1"/>
                </a:solidFill>
              </a:rPr>
              <a:t>: Initial</a:t>
            </a:r>
          </a:p>
          <a:p>
            <a:pPr lvl="1"/>
            <a:endParaRPr lang="en-US" altLang="zh-CN" sz="2000" dirty="0"/>
          </a:p>
          <a:p>
            <a:r>
              <a:rPr lang="zh-CN" altLang="en-US" dirty="0"/>
              <a:t>转换为</a:t>
            </a:r>
            <a:r>
              <a:rPr lang="en-US" altLang="zh-CN" dirty="0"/>
              <a:t>c</a:t>
            </a:r>
            <a:r>
              <a:rPr lang="zh-CN" altLang="en-US" dirty="0"/>
              <a:t>风格字符串</a:t>
            </a:r>
            <a:endParaRPr lang="en-US" altLang="zh-CN" dirty="0"/>
          </a:p>
          <a:p>
            <a:pPr lvl="1"/>
            <a:r>
              <a:rPr lang="en-US" altLang="zh-CN" sz="2000" dirty="0" err="1"/>
              <a:t>str.c_str</a:t>
            </a:r>
            <a:r>
              <a:rPr lang="en-US" altLang="zh-CN" sz="2000" dirty="0"/>
              <a:t>() </a:t>
            </a:r>
            <a:r>
              <a:rPr lang="en-US" altLang="zh-CN" sz="2000" dirty="0">
                <a:solidFill>
                  <a:schemeClr val="accent1"/>
                </a:solidFill>
              </a:rPr>
              <a:t>//</a:t>
            </a:r>
            <a:r>
              <a:rPr lang="zh-CN" altLang="en-US" sz="2000" dirty="0">
                <a:solidFill>
                  <a:schemeClr val="accent1"/>
                </a:solidFill>
              </a:rPr>
              <a:t>注意返回值为</a:t>
            </a:r>
            <a:r>
              <a:rPr lang="zh-CN" altLang="en-US" sz="2000" dirty="0">
                <a:solidFill>
                  <a:srgbClr val="FF0000"/>
                </a:solidFill>
              </a:rPr>
              <a:t>常量字符指针</a:t>
            </a:r>
            <a:r>
              <a:rPr lang="en-US" altLang="zh-CN" sz="2000" dirty="0">
                <a:solidFill>
                  <a:srgbClr val="FF0000"/>
                </a:solidFill>
              </a:rPr>
              <a:t>(const char*)</a:t>
            </a:r>
            <a:r>
              <a:rPr lang="zh-CN" altLang="en-US" sz="2000" dirty="0">
                <a:solidFill>
                  <a:schemeClr val="accent1"/>
                </a:solidFill>
              </a:rPr>
              <a:t>，不能修改</a:t>
            </a:r>
            <a:endParaRPr lang="en-US" altLang="zh-CN" sz="2000" dirty="0">
              <a:solidFill>
                <a:schemeClr val="accent1"/>
              </a:solidFill>
            </a:endParaRPr>
          </a:p>
          <a:p>
            <a:endParaRPr lang="zh-CN" altLang="en-US" dirty="0"/>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62</a:t>
            </a:fld>
            <a:endParaRPr lang="en-US" altLang="zh-CN"/>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string</a:t>
            </a:r>
            <a:r>
              <a:rPr lang="zh-CN" altLang="en-US" dirty="0"/>
              <a:t>类常用函数</a:t>
            </a:r>
          </a:p>
        </p:txBody>
      </p:sp>
      <p:sp>
        <p:nvSpPr>
          <p:cNvPr id="3" name="内容占位符 2"/>
          <p:cNvSpPr>
            <a:spLocks noGrp="1"/>
          </p:cNvSpPr>
          <p:nvPr>
            <p:ph idx="1"/>
          </p:nvPr>
        </p:nvSpPr>
        <p:spPr/>
        <p:txBody>
          <a:bodyPr/>
          <a:lstStyle/>
          <a:p>
            <a:r>
              <a:rPr lang="zh-CN" altLang="en-US" dirty="0"/>
              <a:t>和</a:t>
            </a:r>
            <a:r>
              <a:rPr lang="en-US" altLang="zh-CN" dirty="0"/>
              <a:t>vector</a:t>
            </a:r>
            <a:r>
              <a:rPr lang="zh-CN" altLang="en-US" dirty="0"/>
              <a:t>类似</a:t>
            </a:r>
            <a:endParaRPr lang="en-US" altLang="zh-CN" dirty="0"/>
          </a:p>
          <a:p>
            <a:pPr lvl="1"/>
            <a:r>
              <a:rPr lang="zh-CN" altLang="en-US" dirty="0"/>
              <a:t>访问</a:t>
            </a:r>
            <a:r>
              <a:rPr lang="en-US" altLang="zh-CN" dirty="0"/>
              <a:t>/</a:t>
            </a:r>
            <a:r>
              <a:rPr lang="zh-CN" altLang="en-US" dirty="0"/>
              <a:t>修改元素：</a:t>
            </a:r>
            <a:r>
              <a:rPr lang="en-US" altLang="zh-CN" dirty="0" err="1"/>
              <a:t>cout</a:t>
            </a:r>
            <a:r>
              <a:rPr lang="en-US" altLang="zh-CN" dirty="0"/>
              <a:t> &lt;&lt; </a:t>
            </a:r>
            <a:r>
              <a:rPr lang="en-US" altLang="zh-CN" dirty="0" err="1"/>
              <a:t>str</a:t>
            </a:r>
            <a:r>
              <a:rPr lang="en-US" altLang="zh-CN" dirty="0"/>
              <a:t>[1]; </a:t>
            </a:r>
            <a:r>
              <a:rPr lang="en-US" altLang="zh-CN" dirty="0" err="1"/>
              <a:t>str</a:t>
            </a:r>
            <a:r>
              <a:rPr lang="en-US" altLang="zh-CN" dirty="0"/>
              <a:t>[1]='a';</a:t>
            </a:r>
          </a:p>
          <a:p>
            <a:pPr lvl="1"/>
            <a:r>
              <a:rPr lang="zh-CN" altLang="en-US" dirty="0"/>
              <a:t>查询长度：</a:t>
            </a:r>
            <a:r>
              <a:rPr lang="en-US" altLang="zh-CN" dirty="0" err="1"/>
              <a:t>str.size</a:t>
            </a:r>
            <a:r>
              <a:rPr lang="en-US" altLang="zh-CN" dirty="0"/>
              <a:t>()</a:t>
            </a:r>
          </a:p>
          <a:p>
            <a:pPr lvl="1"/>
            <a:r>
              <a:rPr lang="zh-CN" altLang="en-US" dirty="0">
                <a:latin typeface="华文楷体" panose="02010600040101010101" pitchFamily="2" charset="-122"/>
              </a:rPr>
              <a:t>清空</a:t>
            </a:r>
            <a:r>
              <a:rPr lang="en-US" altLang="zh-CN" dirty="0">
                <a:latin typeface="华文楷体" panose="02010600040101010101" pitchFamily="2" charset="-122"/>
              </a:rPr>
              <a:t>:</a:t>
            </a:r>
            <a:r>
              <a:rPr lang="en-US" altLang="zh-CN" dirty="0"/>
              <a:t>     </a:t>
            </a:r>
            <a:r>
              <a:rPr lang="en-US" altLang="zh-CN" dirty="0" err="1"/>
              <a:t>str.clear</a:t>
            </a:r>
            <a:r>
              <a:rPr lang="en-US" altLang="zh-CN" dirty="0"/>
              <a:t>()</a:t>
            </a:r>
          </a:p>
          <a:p>
            <a:pPr lvl="1"/>
            <a:r>
              <a:rPr lang="zh-CN" altLang="en-US" dirty="0"/>
              <a:t>查询是否为空：</a:t>
            </a:r>
            <a:r>
              <a:rPr lang="en-US" altLang="zh-CN" dirty="0" err="1"/>
              <a:t>str.empty</a:t>
            </a:r>
            <a:r>
              <a:rPr lang="en-US" altLang="zh-CN" dirty="0"/>
              <a:t>()</a:t>
            </a:r>
          </a:p>
          <a:p>
            <a:pPr lvl="1"/>
            <a:r>
              <a:rPr lang="zh-CN" altLang="en-US" dirty="0"/>
              <a:t>迭代访问</a:t>
            </a:r>
            <a:r>
              <a:rPr lang="en-US" altLang="zh-CN" dirty="0">
                <a:latin typeface="华文楷体" panose="02010600040101010101" pitchFamily="2" charset="-122"/>
              </a:rPr>
              <a:t>:</a:t>
            </a:r>
            <a:r>
              <a:rPr lang="en-US" altLang="zh-CN" dirty="0"/>
              <a:t> for(char c : </a:t>
            </a:r>
            <a:r>
              <a:rPr lang="en-US" altLang="zh-CN" dirty="0" err="1"/>
              <a:t>str</a:t>
            </a:r>
            <a:r>
              <a:rPr lang="en-US" altLang="zh-CN" dirty="0"/>
              <a:t>)</a:t>
            </a:r>
          </a:p>
          <a:p>
            <a:pPr lvl="1"/>
            <a:r>
              <a:rPr lang="zh-CN" altLang="en-US" dirty="0"/>
              <a:t>向尾部增加：</a:t>
            </a:r>
            <a:br>
              <a:rPr lang="en-US" altLang="zh-CN" dirty="0"/>
            </a:br>
            <a:r>
              <a:rPr lang="en-US" altLang="zh-CN" dirty="0"/>
              <a:t>		</a:t>
            </a:r>
            <a:r>
              <a:rPr lang="en-US" altLang="zh-CN" dirty="0" err="1"/>
              <a:t>str.push_back</a:t>
            </a:r>
            <a:r>
              <a:rPr lang="en-US" altLang="zh-CN" dirty="0"/>
              <a:t>('a');</a:t>
            </a:r>
            <a:br>
              <a:rPr lang="en-US" altLang="zh-CN" dirty="0"/>
            </a:br>
            <a:r>
              <a:rPr lang="en-US" altLang="zh-CN" dirty="0"/>
              <a:t>		</a:t>
            </a:r>
            <a:r>
              <a:rPr lang="en-US" altLang="zh-CN" dirty="0" err="1"/>
              <a:t>str.append</a:t>
            </a:r>
            <a:r>
              <a:rPr lang="en-US" altLang="zh-CN" dirty="0"/>
              <a:t>(s2);</a:t>
            </a:r>
          </a:p>
          <a:p>
            <a:r>
              <a:rPr lang="zh-CN" altLang="en-US" dirty="0"/>
              <a:t>不同之处</a:t>
            </a:r>
            <a:endParaRPr lang="en-US" altLang="zh-CN" dirty="0"/>
          </a:p>
          <a:p>
            <a:pPr lvl="1"/>
            <a:r>
              <a:rPr lang="zh-CN" altLang="en-US" sz="2000" dirty="0"/>
              <a:t>查询长度也可以使用</a:t>
            </a:r>
            <a:r>
              <a:rPr lang="en-US" altLang="zh-CN" sz="2000" dirty="0" err="1"/>
              <a:t>str.length</a:t>
            </a:r>
            <a:r>
              <a:rPr lang="en-US" altLang="zh-CN" sz="2000" dirty="0"/>
              <a:t>()</a:t>
            </a:r>
            <a:r>
              <a:rPr lang="zh-CN" altLang="en-US" sz="2000" dirty="0"/>
              <a:t>，与</a:t>
            </a:r>
            <a:r>
              <a:rPr lang="en-US" altLang="zh-CN" sz="2000" dirty="0"/>
              <a:t>size()</a:t>
            </a:r>
            <a:r>
              <a:rPr lang="zh-CN" altLang="en-US" sz="2000" dirty="0"/>
              <a:t>返回值相同</a:t>
            </a:r>
            <a:endParaRPr lang="en-US" altLang="zh-CN" sz="2000" dirty="0"/>
          </a:p>
          <a:p>
            <a:pPr lvl="1"/>
            <a:r>
              <a:rPr lang="zh-CN" altLang="en-US" sz="2000" dirty="0"/>
              <a:t>向尾部增加也可以使用 </a:t>
            </a:r>
            <a:r>
              <a:rPr lang="en-US" altLang="zh-CN" sz="2000" dirty="0" err="1"/>
              <a:t>str</a:t>
            </a:r>
            <a:r>
              <a:rPr lang="en-US" altLang="zh-CN" sz="2000" dirty="0"/>
              <a:t> += 'a' </a:t>
            </a:r>
            <a:r>
              <a:rPr lang="zh-CN" altLang="en-US" sz="2000" dirty="0"/>
              <a:t>或者 </a:t>
            </a:r>
            <a:r>
              <a:rPr lang="en-US" altLang="zh-CN" sz="2000" dirty="0" err="1"/>
              <a:t>str</a:t>
            </a:r>
            <a:r>
              <a:rPr lang="en-US" altLang="zh-CN" sz="2000" dirty="0"/>
              <a:t> += s2</a:t>
            </a:r>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63</a:t>
            </a:fld>
            <a:endParaRPr lang="en-US" altLang="zh-CN"/>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string</a:t>
            </a:r>
            <a:r>
              <a:rPr lang="zh-CN" altLang="en-US" dirty="0"/>
              <a:t>类常用函数</a:t>
            </a:r>
          </a:p>
        </p:txBody>
      </p:sp>
      <p:sp>
        <p:nvSpPr>
          <p:cNvPr id="3" name="内容占位符 2"/>
          <p:cNvSpPr>
            <a:spLocks noGrp="1"/>
          </p:cNvSpPr>
          <p:nvPr>
            <p:ph idx="1"/>
          </p:nvPr>
        </p:nvSpPr>
        <p:spPr/>
        <p:txBody>
          <a:bodyPr/>
          <a:lstStyle/>
          <a:p>
            <a:r>
              <a:rPr lang="zh-CN" altLang="en-US" dirty="0"/>
              <a:t>三种输入方式</a:t>
            </a:r>
            <a:endParaRPr lang="en-US" altLang="zh-CN" dirty="0"/>
          </a:p>
          <a:p>
            <a:pPr lvl="1"/>
            <a:r>
              <a:rPr lang="zh-CN" altLang="en-US" dirty="0"/>
              <a:t>读取可见字符直到遇到空格</a:t>
            </a:r>
            <a:br>
              <a:rPr lang="en-US" altLang="zh-CN" dirty="0"/>
            </a:br>
            <a:r>
              <a:rPr lang="en-US" altLang="zh-CN" dirty="0"/>
              <a:t>	</a:t>
            </a:r>
            <a:r>
              <a:rPr lang="en-US" altLang="zh-CN" dirty="0" err="1"/>
              <a:t>cin</a:t>
            </a:r>
            <a:r>
              <a:rPr lang="en-US" altLang="zh-CN" dirty="0"/>
              <a:t> &gt;&gt; </a:t>
            </a:r>
            <a:r>
              <a:rPr lang="en-US" altLang="zh-CN" dirty="0" err="1"/>
              <a:t>firstname</a:t>
            </a:r>
            <a:r>
              <a:rPr lang="en-US" altLang="zh-CN" dirty="0"/>
              <a:t>;</a:t>
            </a:r>
            <a:br>
              <a:rPr lang="en-US" altLang="zh-CN" dirty="0"/>
            </a:br>
            <a:r>
              <a:rPr lang="en-US" altLang="zh-CN" dirty="0"/>
              <a:t>		</a:t>
            </a:r>
            <a:r>
              <a:rPr lang="en-US" altLang="zh-CN" dirty="0">
                <a:solidFill>
                  <a:schemeClr val="accent1"/>
                </a:solidFill>
              </a:rPr>
              <a:t>//Mike</a:t>
            </a:r>
          </a:p>
          <a:p>
            <a:pPr lvl="1"/>
            <a:endParaRPr lang="en-US" altLang="zh-CN" dirty="0"/>
          </a:p>
          <a:p>
            <a:pPr lvl="1"/>
            <a:r>
              <a:rPr lang="zh-CN" altLang="en-US" dirty="0"/>
              <a:t>读一行</a:t>
            </a:r>
            <a:br>
              <a:rPr lang="en-US" altLang="zh-CN" dirty="0"/>
            </a:br>
            <a:r>
              <a:rPr lang="en-US" altLang="zh-CN" dirty="0"/>
              <a:t>	</a:t>
            </a:r>
            <a:r>
              <a:rPr lang="en-US" altLang="zh-CN" dirty="0" err="1"/>
              <a:t>getline</a:t>
            </a:r>
            <a:r>
              <a:rPr lang="en-US" altLang="zh-CN" dirty="0"/>
              <a:t>(</a:t>
            </a:r>
            <a:r>
              <a:rPr lang="en-US" altLang="zh-CN" dirty="0" err="1"/>
              <a:t>cin</a:t>
            </a:r>
            <a:r>
              <a:rPr lang="en-US" altLang="zh-CN" dirty="0"/>
              <a:t>, </a:t>
            </a:r>
            <a:r>
              <a:rPr lang="en-US" altLang="zh-CN" dirty="0" err="1"/>
              <a:t>fullname</a:t>
            </a:r>
            <a:r>
              <a:rPr lang="en-US" altLang="zh-CN" dirty="0"/>
              <a:t>); </a:t>
            </a:r>
            <a:r>
              <a:rPr lang="en-US" altLang="zh-CN" dirty="0">
                <a:solidFill>
                  <a:schemeClr val="accent1"/>
                </a:solidFill>
              </a:rPr>
              <a:t>//Mike William</a:t>
            </a:r>
          </a:p>
          <a:p>
            <a:pPr lvl="1"/>
            <a:endParaRPr lang="en-US" altLang="zh-CN" dirty="0"/>
          </a:p>
          <a:p>
            <a:pPr lvl="1"/>
            <a:r>
              <a:rPr lang="zh-CN" altLang="en-US" dirty="0"/>
              <a:t>读到指定分隔符为止（可以读入换行符）</a:t>
            </a:r>
            <a:br>
              <a:rPr lang="en-US" altLang="zh-CN" dirty="0"/>
            </a:br>
            <a:r>
              <a:rPr lang="en-US" altLang="zh-CN" dirty="0"/>
              <a:t>	</a:t>
            </a:r>
            <a:r>
              <a:rPr lang="en-US" altLang="zh-CN" dirty="0" err="1"/>
              <a:t>getline</a:t>
            </a:r>
            <a:r>
              <a:rPr lang="en-US" altLang="zh-CN" dirty="0"/>
              <a:t>(</a:t>
            </a:r>
            <a:r>
              <a:rPr lang="en-US" altLang="zh-CN" dirty="0" err="1"/>
              <a:t>cin</a:t>
            </a:r>
            <a:r>
              <a:rPr lang="en-US" altLang="zh-CN" dirty="0"/>
              <a:t>, </a:t>
            </a:r>
            <a:r>
              <a:rPr lang="en-US" altLang="zh-CN" dirty="0" err="1"/>
              <a:t>fullnames</a:t>
            </a:r>
            <a:r>
              <a:rPr lang="en-US" altLang="zh-CN" dirty="0"/>
              <a:t>, '</a:t>
            </a:r>
            <a:r>
              <a:rPr lang="en-US" altLang="zh-CN" dirty="0">
                <a:solidFill>
                  <a:srgbClr val="FF0000"/>
                </a:solidFill>
              </a:rPr>
              <a:t>#</a:t>
            </a:r>
            <a:r>
              <a:rPr lang="en-US" altLang="zh-CN" dirty="0"/>
              <a:t>');</a:t>
            </a:r>
            <a:br>
              <a:rPr lang="en-US" altLang="zh-CN" dirty="0"/>
            </a:br>
            <a:r>
              <a:rPr lang="en-US" altLang="zh-CN" dirty="0"/>
              <a:t>		</a:t>
            </a:r>
            <a:r>
              <a:rPr lang="en-US" altLang="zh-CN" dirty="0">
                <a:solidFill>
                  <a:schemeClr val="accent1"/>
                </a:solidFill>
              </a:rPr>
              <a:t>//"Mike William</a:t>
            </a:r>
            <a:r>
              <a:rPr lang="en-US" altLang="zh-CN" dirty="0">
                <a:solidFill>
                  <a:srgbClr val="FF0000"/>
                </a:solidFill>
              </a:rPr>
              <a:t>\</a:t>
            </a:r>
            <a:r>
              <a:rPr lang="en-US" altLang="zh-CN" dirty="0" err="1">
                <a:solidFill>
                  <a:srgbClr val="FF0000"/>
                </a:solidFill>
              </a:rPr>
              <a:t>n</a:t>
            </a:r>
            <a:r>
              <a:rPr lang="en-US" altLang="zh-CN" dirty="0" err="1">
                <a:solidFill>
                  <a:schemeClr val="accent1"/>
                </a:solidFill>
              </a:rPr>
              <a:t>Andy</a:t>
            </a:r>
            <a:r>
              <a:rPr lang="en-US" altLang="zh-CN" dirty="0">
                <a:solidFill>
                  <a:schemeClr val="accent1"/>
                </a:solidFill>
              </a:rPr>
              <a:t> William</a:t>
            </a:r>
            <a:r>
              <a:rPr lang="en-US" altLang="zh-CN" dirty="0">
                <a:solidFill>
                  <a:srgbClr val="FF0000"/>
                </a:solidFill>
              </a:rPr>
              <a:t>\n</a:t>
            </a:r>
            <a:r>
              <a:rPr lang="en-US" altLang="zh-CN" dirty="0">
                <a:solidFill>
                  <a:schemeClr val="accent1"/>
                </a:solidFill>
              </a:rPr>
              <a:t>"</a:t>
            </a:r>
          </a:p>
          <a:p>
            <a:pPr lvl="1"/>
            <a:endParaRPr lang="en-US" altLang="zh-CN" dirty="0"/>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64</a:t>
            </a:fld>
            <a:endParaRPr lang="en-US" altLang="zh-CN"/>
          </a:p>
        </p:txBody>
      </p:sp>
      <p:sp>
        <p:nvSpPr>
          <p:cNvPr id="5" name="文本框 4"/>
          <p:cNvSpPr txBox="1"/>
          <p:nvPr/>
        </p:nvSpPr>
        <p:spPr>
          <a:xfrm>
            <a:off x="5858050" y="1628799"/>
            <a:ext cx="2818406" cy="1815882"/>
          </a:xfrm>
          <a:prstGeom prst="rect">
            <a:avLst/>
          </a:prstGeom>
          <a:noFill/>
          <a:ln w="22225">
            <a:solidFill>
              <a:schemeClr val="tx1"/>
            </a:solidFill>
            <a:prstDash val="dash"/>
          </a:ln>
        </p:spPr>
        <p:txBody>
          <a:bodyPr wrap="square" rtlCol="0">
            <a:spAutoFit/>
          </a:bodyPr>
          <a:lstStyle/>
          <a:p>
            <a:pPr defTabSz="457200" eaLnBrk="0" fontAlgn="base" hangingPunct="0"/>
            <a:r>
              <a:rPr lang="zh-CN" altLang="en-US" sz="2800" b="1" dirty="0">
                <a:latin typeface="Calibri" charset="0"/>
              </a:rPr>
              <a:t>输入文本</a:t>
            </a:r>
            <a:endParaRPr lang="en-US" altLang="zh-CN" sz="2800" b="1" dirty="0">
              <a:latin typeface="Calibri" charset="0"/>
            </a:endParaRPr>
          </a:p>
          <a:p>
            <a:pPr defTabSz="457200" eaLnBrk="0" fontAlgn="base" hangingPunct="0"/>
            <a:r>
              <a:rPr lang="en-US" altLang="zh-CN" sz="2800" b="1" dirty="0">
                <a:latin typeface="Calibri" charset="0"/>
              </a:rPr>
              <a:t>	Mike William</a:t>
            </a:r>
          </a:p>
          <a:p>
            <a:pPr defTabSz="457200" eaLnBrk="0" fontAlgn="base" hangingPunct="0"/>
            <a:r>
              <a:rPr lang="en-US" altLang="zh-CN" sz="2800" b="1" dirty="0">
                <a:latin typeface="Calibri" charset="0"/>
              </a:rPr>
              <a:t>	Andy William</a:t>
            </a:r>
          </a:p>
          <a:p>
            <a:pPr defTabSz="457200" eaLnBrk="0" fontAlgn="base" hangingPunct="0"/>
            <a:r>
              <a:rPr lang="en-US" altLang="zh-CN" sz="2800" b="1" dirty="0">
                <a:latin typeface="Calibri" charset="0"/>
              </a:rPr>
              <a:t>	#</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string</a:t>
            </a:r>
            <a:r>
              <a:rPr lang="zh-CN" altLang="en-US" dirty="0"/>
              <a:t>类常用函数</a:t>
            </a:r>
          </a:p>
        </p:txBody>
      </p:sp>
      <p:sp>
        <p:nvSpPr>
          <p:cNvPr id="3" name="内容占位符 2"/>
          <p:cNvSpPr>
            <a:spLocks noGrp="1"/>
          </p:cNvSpPr>
          <p:nvPr>
            <p:ph idx="1"/>
          </p:nvPr>
        </p:nvSpPr>
        <p:spPr>
          <a:xfrm>
            <a:off x="683568" y="1442195"/>
            <a:ext cx="8047806" cy="4749029"/>
          </a:xfrm>
        </p:spPr>
        <p:txBody>
          <a:bodyPr/>
          <a:lstStyle/>
          <a:p>
            <a:r>
              <a:rPr lang="zh-CN" altLang="en-US" dirty="0"/>
              <a:t>拼接</a:t>
            </a:r>
            <a:endParaRPr lang="en-US" altLang="zh-CN" dirty="0"/>
          </a:p>
          <a:p>
            <a:pPr lvl="1"/>
            <a:r>
              <a:rPr lang="en-US" altLang="zh-CN" sz="2000" dirty="0"/>
              <a:t>string </a:t>
            </a:r>
            <a:r>
              <a:rPr lang="en-US" altLang="zh-CN" sz="2000" dirty="0" err="1"/>
              <a:t>fullname</a:t>
            </a:r>
            <a:r>
              <a:rPr lang="en-US" altLang="zh-CN" sz="2000" dirty="0"/>
              <a:t> = </a:t>
            </a:r>
            <a:r>
              <a:rPr lang="en-US" altLang="zh-CN" sz="2000" dirty="0" err="1"/>
              <a:t>firstname</a:t>
            </a:r>
            <a:r>
              <a:rPr lang="en-US" altLang="zh-CN" sz="2000" dirty="0"/>
              <a:t> + " " + </a:t>
            </a:r>
            <a:r>
              <a:rPr lang="en-US" altLang="zh-CN" sz="2000" dirty="0" err="1"/>
              <a:t>lastname</a:t>
            </a:r>
            <a:r>
              <a:rPr lang="en-US" altLang="zh-CN" sz="2000" dirty="0"/>
              <a:t>;</a:t>
            </a:r>
          </a:p>
          <a:p>
            <a:pPr lvl="1"/>
            <a:r>
              <a:rPr lang="zh-CN" altLang="en-US" sz="2000" dirty="0"/>
              <a:t>注意：拼接的</a:t>
            </a:r>
            <a:r>
              <a:rPr lang="zh-CN" altLang="en-US" sz="2000" dirty="0">
                <a:solidFill>
                  <a:srgbClr val="FF0000"/>
                </a:solidFill>
              </a:rPr>
              <a:t>时间复杂度</a:t>
            </a:r>
            <a:r>
              <a:rPr lang="zh-CN" altLang="en-US" sz="2000" dirty="0"/>
              <a:t>为生成的字符串长度</a:t>
            </a:r>
            <a:endParaRPr lang="en-US" altLang="zh-CN" sz="2000" dirty="0"/>
          </a:p>
          <a:p>
            <a:pPr lvl="1"/>
            <a:r>
              <a:rPr lang="zh-CN" altLang="en-US" sz="2000" dirty="0"/>
              <a:t>例如：</a:t>
            </a:r>
            <a:endParaRPr lang="en-US" altLang="zh-CN" sz="2000" dirty="0"/>
          </a:p>
          <a:p>
            <a:pPr marL="457200" lvl="1" indent="0">
              <a:buNone/>
            </a:pPr>
            <a:r>
              <a:rPr lang="en-US" altLang="zh-CN" sz="2000" dirty="0"/>
              <a:t>	for(</a:t>
            </a:r>
            <a:r>
              <a:rPr lang="en-US" altLang="zh-CN" sz="2000" dirty="0" err="1"/>
              <a:t>int</a:t>
            </a:r>
            <a:r>
              <a:rPr lang="en-US" altLang="zh-CN" sz="2000" dirty="0"/>
              <a:t> </a:t>
            </a:r>
            <a:r>
              <a:rPr lang="en-US" altLang="zh-CN" sz="2000" dirty="0" err="1"/>
              <a:t>i</a:t>
            </a:r>
            <a:r>
              <a:rPr lang="en-US" altLang="zh-CN" sz="2000" dirty="0"/>
              <a:t> = 0; </a:t>
            </a:r>
            <a:r>
              <a:rPr lang="en-US" altLang="zh-CN" sz="2000" dirty="0" err="1"/>
              <a:t>i</a:t>
            </a:r>
            <a:r>
              <a:rPr lang="en-US" altLang="zh-CN" sz="2000" dirty="0"/>
              <a:t> &lt; n; </a:t>
            </a:r>
            <a:r>
              <a:rPr lang="en-US" altLang="zh-CN" sz="2000" dirty="0" err="1"/>
              <a:t>i</a:t>
            </a:r>
            <a:r>
              <a:rPr lang="en-US" altLang="zh-CN" sz="2000" dirty="0"/>
              <a:t>++)</a:t>
            </a:r>
          </a:p>
          <a:p>
            <a:pPr marL="457200" lvl="1" indent="0">
              <a:buNone/>
            </a:pPr>
            <a:r>
              <a:rPr lang="en-US" altLang="zh-CN" sz="2000" dirty="0"/>
              <a:t>      </a:t>
            </a:r>
            <a:r>
              <a:rPr lang="en-US" altLang="zh-CN" sz="2000" dirty="0" err="1"/>
              <a:t>allname</a:t>
            </a:r>
            <a:r>
              <a:rPr lang="en-US" altLang="zh-CN" sz="2000" dirty="0"/>
              <a:t> = </a:t>
            </a:r>
            <a:r>
              <a:rPr lang="en-US" altLang="zh-CN" sz="2000" dirty="0" err="1"/>
              <a:t>allname</a:t>
            </a:r>
            <a:r>
              <a:rPr lang="en-US" altLang="zh-CN" sz="2000" dirty="0"/>
              <a:t> + name[</a:t>
            </a:r>
            <a:r>
              <a:rPr lang="en-US" altLang="zh-CN" sz="2000" dirty="0" err="1"/>
              <a:t>i</a:t>
            </a:r>
            <a:r>
              <a:rPr lang="en-US" altLang="zh-CN" sz="2000" dirty="0"/>
              <a:t>] + "\n"</a:t>
            </a:r>
          </a:p>
          <a:p>
            <a:pPr marL="457200" lvl="1" indent="0">
              <a:buNone/>
            </a:pPr>
            <a:r>
              <a:rPr lang="en-US" altLang="zh-CN" sz="1800" dirty="0"/>
              <a:t>	</a:t>
            </a:r>
            <a:r>
              <a:rPr lang="en-US" altLang="zh-CN" sz="1800" dirty="0">
                <a:solidFill>
                  <a:srgbClr val="FF0000"/>
                </a:solidFill>
              </a:rPr>
              <a:t>//</a:t>
            </a:r>
            <a:r>
              <a:rPr lang="zh-CN" altLang="en-US" sz="1800" dirty="0">
                <a:solidFill>
                  <a:srgbClr val="FF0000"/>
                </a:solidFill>
              </a:rPr>
              <a:t>时间复杂度</a:t>
            </a:r>
            <a:r>
              <a:rPr lang="en-US" altLang="zh-CN" sz="1800" dirty="0">
                <a:solidFill>
                  <a:srgbClr val="FF0000"/>
                </a:solidFill>
              </a:rPr>
              <a:t>O(n^2</a:t>
            </a:r>
            <a:r>
              <a:rPr lang="zh-CN" altLang="en-US" sz="1800" dirty="0">
                <a:solidFill>
                  <a:srgbClr val="FF0000"/>
                </a:solidFill>
              </a:rPr>
              <a:t>*</a:t>
            </a:r>
            <a:r>
              <a:rPr lang="en-US" altLang="zh-CN" sz="1800" dirty="0">
                <a:solidFill>
                  <a:srgbClr val="FF0000"/>
                </a:solidFill>
              </a:rPr>
              <a:t>L)</a:t>
            </a:r>
            <a:r>
              <a:rPr lang="zh-CN" altLang="en-US" sz="1800" dirty="0">
                <a:solidFill>
                  <a:srgbClr val="FF0000"/>
                </a:solidFill>
              </a:rPr>
              <a:t>的时间，</a:t>
            </a:r>
            <a:r>
              <a:rPr lang="en-US" altLang="zh-CN" sz="1800" dirty="0">
                <a:solidFill>
                  <a:srgbClr val="FF0000"/>
                </a:solidFill>
              </a:rPr>
              <a:t>L</a:t>
            </a:r>
            <a:r>
              <a:rPr lang="zh-CN" altLang="en-US" sz="1800" dirty="0">
                <a:solidFill>
                  <a:srgbClr val="FF0000"/>
                </a:solidFill>
              </a:rPr>
              <a:t>表示每个子串的平均长度</a:t>
            </a:r>
            <a:endParaRPr lang="en-US" altLang="zh-CN" sz="1800" dirty="0">
              <a:solidFill>
                <a:srgbClr val="FF0000"/>
              </a:solidFill>
            </a:endParaRPr>
          </a:p>
          <a:p>
            <a:pPr lvl="1"/>
            <a:r>
              <a:rPr lang="zh-CN" altLang="en-US" sz="1800" dirty="0"/>
              <a:t>拼接多个字符串最好使用 </a:t>
            </a:r>
            <a:r>
              <a:rPr lang="en-US" altLang="zh-CN" sz="2000" dirty="0"/>
              <a:t>operator+= </a:t>
            </a:r>
            <a:r>
              <a:rPr lang="zh-CN" altLang="en-US" sz="1800" dirty="0"/>
              <a:t>或者 </a:t>
            </a:r>
            <a:r>
              <a:rPr lang="en-US" altLang="zh-CN" sz="2000" dirty="0" err="1"/>
              <a:t>stringstream</a:t>
            </a:r>
            <a:endParaRPr lang="en-US" altLang="zh-CN" sz="1800" dirty="0"/>
          </a:p>
          <a:p>
            <a:r>
              <a:rPr lang="zh-CN" altLang="en-US" dirty="0"/>
              <a:t>比较</a:t>
            </a:r>
            <a:endParaRPr lang="en-US" altLang="zh-CN" dirty="0"/>
          </a:p>
          <a:p>
            <a:pPr lvl="1"/>
            <a:r>
              <a:rPr lang="zh-CN" altLang="en-US" dirty="0"/>
              <a:t>我们可以直接使用运算符按</a:t>
            </a:r>
            <a:r>
              <a:rPr lang="zh-CN" altLang="en-US" dirty="0">
                <a:solidFill>
                  <a:srgbClr val="FF0000"/>
                </a:solidFill>
              </a:rPr>
              <a:t>字典序</a:t>
            </a:r>
            <a:r>
              <a:rPr lang="zh-CN" altLang="en-US" dirty="0"/>
              <a:t>比较字符串大小</a:t>
            </a:r>
            <a:endParaRPr lang="en-US" altLang="zh-CN" dirty="0"/>
          </a:p>
          <a:p>
            <a:pPr lvl="1"/>
            <a:r>
              <a:rPr lang="en-US" altLang="zh-CN" dirty="0"/>
              <a:t>string a</a:t>
            </a:r>
            <a:r>
              <a:rPr lang="zh-CN" altLang="en-US" dirty="0"/>
              <a:t> </a:t>
            </a:r>
            <a:r>
              <a:rPr lang="en-US" altLang="zh-CN" dirty="0"/>
              <a:t>=</a:t>
            </a:r>
            <a:r>
              <a:rPr lang="zh-CN" altLang="en-US" dirty="0"/>
              <a:t> </a:t>
            </a:r>
            <a:r>
              <a:rPr lang="en-US" altLang="zh-CN" dirty="0"/>
              <a:t>"</a:t>
            </a:r>
            <a:r>
              <a:rPr lang="en-US" altLang="zh-CN" dirty="0" err="1"/>
              <a:t>alice</a:t>
            </a:r>
            <a:r>
              <a:rPr lang="en-US" altLang="zh-CN" dirty="0"/>
              <a:t>", b = "bob";</a:t>
            </a:r>
          </a:p>
          <a:p>
            <a:pPr lvl="1"/>
            <a:r>
              <a:rPr lang="en-US" altLang="zh-CN" dirty="0"/>
              <a:t>a == b </a:t>
            </a:r>
            <a:r>
              <a:rPr lang="en-US" altLang="zh-CN" dirty="0">
                <a:solidFill>
                  <a:schemeClr val="accent1"/>
                </a:solidFill>
              </a:rPr>
              <a:t>//False</a:t>
            </a:r>
            <a:br>
              <a:rPr lang="en-US" altLang="zh-CN" dirty="0"/>
            </a:br>
            <a:r>
              <a:rPr lang="en-US" altLang="zh-CN" dirty="0"/>
              <a:t>a</a:t>
            </a:r>
            <a:r>
              <a:rPr lang="zh-CN" altLang="en-US" dirty="0"/>
              <a:t> </a:t>
            </a:r>
            <a:r>
              <a:rPr lang="en-US" altLang="zh-CN" dirty="0"/>
              <a:t>&lt;</a:t>
            </a:r>
            <a:r>
              <a:rPr lang="zh-CN" altLang="en-US" dirty="0"/>
              <a:t> </a:t>
            </a:r>
            <a:r>
              <a:rPr lang="en-US" altLang="zh-CN" dirty="0"/>
              <a:t>b</a:t>
            </a:r>
            <a:r>
              <a:rPr lang="zh-CN" altLang="en-US" dirty="0"/>
              <a:t>  </a:t>
            </a:r>
            <a:r>
              <a:rPr lang="en-US" altLang="zh-CN" dirty="0">
                <a:solidFill>
                  <a:schemeClr val="accent1"/>
                </a:solidFill>
              </a:rPr>
              <a:t>//True</a:t>
            </a:r>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65</a:t>
            </a:fld>
            <a:endParaRPr lang="en-US" altLang="zh-CN"/>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string</a:t>
            </a:r>
            <a:r>
              <a:rPr lang="zh-CN" altLang="en-US" dirty="0"/>
              <a:t>类常用函数</a:t>
            </a:r>
          </a:p>
        </p:txBody>
      </p:sp>
      <p:sp>
        <p:nvSpPr>
          <p:cNvPr id="3" name="内容占位符 2"/>
          <p:cNvSpPr>
            <a:spLocks noGrp="1"/>
          </p:cNvSpPr>
          <p:nvPr>
            <p:ph idx="1"/>
          </p:nvPr>
        </p:nvSpPr>
        <p:spPr>
          <a:xfrm>
            <a:off x="539552" y="1442195"/>
            <a:ext cx="8280920" cy="4749029"/>
          </a:xfrm>
        </p:spPr>
        <p:txBody>
          <a:bodyPr/>
          <a:lstStyle/>
          <a:p>
            <a:r>
              <a:rPr lang="zh-CN" altLang="en-US" dirty="0"/>
              <a:t>数值类型字符串化</a:t>
            </a:r>
            <a:endParaRPr lang="en-US" altLang="zh-CN" dirty="0"/>
          </a:p>
          <a:p>
            <a:pPr lvl="1"/>
            <a:r>
              <a:rPr lang="en-US" altLang="zh-CN" sz="2000" dirty="0" err="1"/>
              <a:t>to_string</a:t>
            </a:r>
            <a:r>
              <a:rPr lang="en-US" altLang="zh-CN" sz="2000" dirty="0"/>
              <a:t>(1)			</a:t>
            </a:r>
            <a:r>
              <a:rPr lang="en-US" altLang="zh-CN" sz="2000" dirty="0">
                <a:solidFill>
                  <a:schemeClr val="accent1"/>
                </a:solidFill>
              </a:rPr>
              <a:t>//"1"</a:t>
            </a:r>
          </a:p>
          <a:p>
            <a:pPr lvl="1"/>
            <a:r>
              <a:rPr lang="en-US" altLang="zh-CN" sz="2000" dirty="0" err="1"/>
              <a:t>to_string</a:t>
            </a:r>
            <a:r>
              <a:rPr lang="en-US" altLang="zh-CN" sz="2000" dirty="0"/>
              <a:t>(3.14)		</a:t>
            </a:r>
            <a:r>
              <a:rPr lang="en-US" altLang="zh-CN" sz="2000" dirty="0">
                <a:solidFill>
                  <a:schemeClr val="accent1"/>
                </a:solidFill>
              </a:rPr>
              <a:t>//"3.14"</a:t>
            </a:r>
          </a:p>
          <a:p>
            <a:pPr lvl="1"/>
            <a:r>
              <a:rPr lang="en-US" altLang="zh-CN" sz="2000" dirty="0" err="1"/>
              <a:t>to_string</a:t>
            </a:r>
            <a:r>
              <a:rPr lang="en-US" altLang="zh-CN" sz="2000" dirty="0"/>
              <a:t>(3.1415926)		</a:t>
            </a:r>
            <a:r>
              <a:rPr lang="en-US" altLang="zh-CN" sz="2000" dirty="0">
                <a:solidFill>
                  <a:schemeClr val="accent1"/>
                </a:solidFill>
              </a:rPr>
              <a:t>//"3.141593" </a:t>
            </a:r>
            <a:r>
              <a:rPr lang="zh-CN" altLang="en-US" sz="2000" dirty="0">
                <a:solidFill>
                  <a:schemeClr val="accent1"/>
                </a:solidFill>
              </a:rPr>
              <a:t>注意精度损失</a:t>
            </a:r>
            <a:endParaRPr lang="en-US" altLang="zh-CN" sz="2000" dirty="0">
              <a:solidFill>
                <a:schemeClr val="accent1"/>
              </a:solidFill>
            </a:endParaRPr>
          </a:p>
          <a:p>
            <a:pPr lvl="1"/>
            <a:r>
              <a:rPr lang="en-US" altLang="zh-CN" sz="2000" dirty="0" err="1"/>
              <a:t>to_string</a:t>
            </a:r>
            <a:r>
              <a:rPr lang="en-US" altLang="zh-CN" sz="2000" dirty="0"/>
              <a:t>(1+2+3)		</a:t>
            </a:r>
            <a:r>
              <a:rPr lang="en-US" altLang="zh-CN" sz="2000" dirty="0">
                <a:solidFill>
                  <a:schemeClr val="accent1"/>
                </a:solidFill>
              </a:rPr>
              <a:t>//"6"</a:t>
            </a:r>
          </a:p>
          <a:p>
            <a:pPr lvl="1"/>
            <a:endParaRPr lang="en-US" altLang="zh-CN" sz="1800" dirty="0"/>
          </a:p>
          <a:p>
            <a:r>
              <a:rPr lang="zh-CN" altLang="en-US" dirty="0"/>
              <a:t>字符串转数值类型</a:t>
            </a:r>
            <a:endParaRPr lang="en-US" altLang="zh-CN" dirty="0"/>
          </a:p>
          <a:p>
            <a:pPr lvl="1"/>
            <a:r>
              <a:rPr lang="en-US" altLang="zh-CN" sz="2000" dirty="0" err="1"/>
              <a:t>int</a:t>
            </a:r>
            <a:r>
              <a:rPr lang="en-US" altLang="zh-CN" sz="2000" dirty="0"/>
              <a:t> a = </a:t>
            </a:r>
            <a:r>
              <a:rPr lang="en-US" altLang="zh-CN" sz="2000" dirty="0" err="1"/>
              <a:t>s</a:t>
            </a:r>
            <a:r>
              <a:rPr lang="en-US" altLang="zh-CN" sz="2000" dirty="0" err="1">
                <a:solidFill>
                  <a:srgbClr val="FF0000"/>
                </a:solidFill>
              </a:rPr>
              <a:t>to</a:t>
            </a:r>
            <a:r>
              <a:rPr lang="en-US" altLang="zh-CN" sz="2000" dirty="0" err="1"/>
              <a:t>i</a:t>
            </a:r>
            <a:r>
              <a:rPr lang="en-US" altLang="zh-CN" sz="2000" dirty="0"/>
              <a:t>("2001")		  </a:t>
            </a:r>
            <a:r>
              <a:rPr lang="en-US" altLang="zh-CN" sz="2000" dirty="0">
                <a:solidFill>
                  <a:schemeClr val="accent1"/>
                </a:solidFill>
              </a:rPr>
              <a:t>//a=2001</a:t>
            </a:r>
          </a:p>
          <a:p>
            <a:pPr lvl="1"/>
            <a:r>
              <a:rPr lang="en-US" altLang="zh-CN" sz="2000" dirty="0"/>
              <a:t>std::string::</a:t>
            </a:r>
            <a:r>
              <a:rPr lang="en-US" altLang="zh-CN" sz="2000" dirty="0" err="1"/>
              <a:t>size_type</a:t>
            </a:r>
            <a:r>
              <a:rPr lang="en-US" altLang="zh-CN" sz="2000" dirty="0"/>
              <a:t> </a:t>
            </a:r>
            <a:r>
              <a:rPr lang="en-US" altLang="zh-CN" sz="2000" dirty="0" err="1"/>
              <a:t>sz</a:t>
            </a:r>
            <a:r>
              <a:rPr lang="en-US" altLang="zh-CN" sz="2000" dirty="0"/>
              <a:t>;  </a:t>
            </a:r>
            <a:r>
              <a:rPr lang="en-US" altLang="zh-CN" sz="2000" dirty="0">
                <a:solidFill>
                  <a:schemeClr val="accent1"/>
                </a:solidFill>
              </a:rPr>
              <a:t>//</a:t>
            </a:r>
            <a:r>
              <a:rPr lang="zh-CN" altLang="en-US" sz="2000" dirty="0">
                <a:solidFill>
                  <a:schemeClr val="accent1"/>
                </a:solidFill>
              </a:rPr>
              <a:t>代表长度的类型 无符号整数</a:t>
            </a:r>
            <a:endParaRPr lang="en-US" altLang="zh-CN" sz="2000" dirty="0">
              <a:solidFill>
                <a:schemeClr val="accent1"/>
              </a:solidFill>
            </a:endParaRPr>
          </a:p>
          <a:p>
            <a:pPr lvl="1"/>
            <a:r>
              <a:rPr lang="en-US" altLang="zh-CN" sz="2000" dirty="0"/>
              <a:t>int b = </a:t>
            </a:r>
            <a:r>
              <a:rPr lang="en-US" altLang="zh-CN" sz="2000" dirty="0" err="1"/>
              <a:t>s</a:t>
            </a:r>
            <a:r>
              <a:rPr lang="en-US" altLang="zh-CN" sz="2000" dirty="0" err="1">
                <a:solidFill>
                  <a:srgbClr val="FF0000"/>
                </a:solidFill>
              </a:rPr>
              <a:t>to</a:t>
            </a:r>
            <a:r>
              <a:rPr lang="en-US" altLang="zh-CN" sz="2000" dirty="0" err="1"/>
              <a:t>i</a:t>
            </a:r>
            <a:r>
              <a:rPr lang="en-US" altLang="zh-CN" sz="2000" dirty="0"/>
              <a:t>("50 cats", &amp;</a:t>
            </a:r>
            <a:r>
              <a:rPr lang="en-US" altLang="zh-CN" sz="2000" dirty="0" err="1"/>
              <a:t>sz</a:t>
            </a:r>
            <a:r>
              <a:rPr lang="en-US" altLang="zh-CN" sz="2000" dirty="0"/>
              <a:t>)  </a:t>
            </a:r>
            <a:r>
              <a:rPr lang="en-US" altLang="zh-CN" sz="2000" dirty="0">
                <a:solidFill>
                  <a:schemeClr val="accent1"/>
                </a:solidFill>
              </a:rPr>
              <a:t>//b=50 </a:t>
            </a:r>
            <a:r>
              <a:rPr lang="en-US" altLang="zh-CN" sz="2000" dirty="0" err="1">
                <a:solidFill>
                  <a:schemeClr val="accent1"/>
                </a:solidFill>
              </a:rPr>
              <a:t>sz</a:t>
            </a:r>
            <a:r>
              <a:rPr lang="en-US" altLang="zh-CN" sz="2000" dirty="0">
                <a:solidFill>
                  <a:schemeClr val="accent1"/>
                </a:solidFill>
              </a:rPr>
              <a:t>=2 </a:t>
            </a:r>
            <a:r>
              <a:rPr lang="zh-CN" altLang="en-US" sz="2000" dirty="0">
                <a:solidFill>
                  <a:schemeClr val="accent1"/>
                </a:solidFill>
              </a:rPr>
              <a:t>代表读入长度</a:t>
            </a:r>
            <a:endParaRPr lang="en-US" altLang="zh-CN" sz="2000" dirty="0"/>
          </a:p>
          <a:p>
            <a:pPr lvl="1"/>
            <a:r>
              <a:rPr lang="en-US" altLang="zh-CN" sz="2000" dirty="0" err="1"/>
              <a:t>int</a:t>
            </a:r>
            <a:r>
              <a:rPr lang="en-US" altLang="zh-CN" sz="2000" dirty="0"/>
              <a:t> c = </a:t>
            </a:r>
            <a:r>
              <a:rPr lang="en-US" altLang="zh-CN" sz="2000" dirty="0" err="1"/>
              <a:t>s</a:t>
            </a:r>
            <a:r>
              <a:rPr lang="en-US" altLang="zh-CN" sz="2000" dirty="0" err="1">
                <a:solidFill>
                  <a:srgbClr val="FF0000"/>
                </a:solidFill>
              </a:rPr>
              <a:t>to</a:t>
            </a:r>
            <a:r>
              <a:rPr lang="en-US" altLang="zh-CN" sz="2000" dirty="0" err="1"/>
              <a:t>i</a:t>
            </a:r>
            <a:r>
              <a:rPr lang="en-US" altLang="zh-CN" sz="2000" dirty="0"/>
              <a:t>("40c3", </a:t>
            </a:r>
            <a:r>
              <a:rPr lang="en-US" altLang="zh-CN" sz="2000" dirty="0" err="1"/>
              <a:t>nullptr</a:t>
            </a:r>
            <a:r>
              <a:rPr lang="en-US" altLang="zh-CN" sz="2000" dirty="0"/>
              <a:t>, 16) </a:t>
            </a:r>
            <a:r>
              <a:rPr lang="en-US" altLang="zh-CN" sz="2000" dirty="0">
                <a:solidFill>
                  <a:schemeClr val="accent1"/>
                </a:solidFill>
              </a:rPr>
              <a:t>//c=0x40c3 </a:t>
            </a:r>
            <a:r>
              <a:rPr lang="zh-CN" altLang="en-US" sz="1800" dirty="0">
                <a:solidFill>
                  <a:schemeClr val="accent1"/>
                </a:solidFill>
              </a:rPr>
              <a:t>十六进制</a:t>
            </a:r>
            <a:endParaRPr lang="en-US" altLang="zh-CN" sz="2000" dirty="0">
              <a:solidFill>
                <a:schemeClr val="accent1"/>
              </a:solidFill>
            </a:endParaRPr>
          </a:p>
          <a:p>
            <a:pPr lvl="1"/>
            <a:r>
              <a:rPr lang="en-US" altLang="zh-CN" sz="2000" dirty="0" err="1"/>
              <a:t>int</a:t>
            </a:r>
            <a:r>
              <a:rPr lang="en-US" altLang="zh-CN" sz="2000" dirty="0"/>
              <a:t> d = </a:t>
            </a:r>
            <a:r>
              <a:rPr lang="en-US" altLang="zh-CN" sz="2000" dirty="0" err="1"/>
              <a:t>s</a:t>
            </a:r>
            <a:r>
              <a:rPr lang="en-US" altLang="zh-CN" sz="2000" dirty="0" err="1">
                <a:solidFill>
                  <a:srgbClr val="FF0000"/>
                </a:solidFill>
              </a:rPr>
              <a:t>to</a:t>
            </a:r>
            <a:r>
              <a:rPr lang="en-US" altLang="zh-CN" sz="2000" dirty="0" err="1"/>
              <a:t>i</a:t>
            </a:r>
            <a:r>
              <a:rPr lang="en-US" altLang="zh-CN" sz="2000" dirty="0"/>
              <a:t>("0x7f", </a:t>
            </a:r>
            <a:r>
              <a:rPr lang="en-US" altLang="zh-CN" sz="2000" dirty="0" err="1"/>
              <a:t>nullptr</a:t>
            </a:r>
            <a:r>
              <a:rPr lang="en-US" altLang="zh-CN" sz="2000" dirty="0"/>
              <a:t>, 0)  </a:t>
            </a:r>
            <a:r>
              <a:rPr lang="en-US" altLang="zh-CN" sz="2000" dirty="0">
                <a:solidFill>
                  <a:schemeClr val="accent1"/>
                </a:solidFill>
              </a:rPr>
              <a:t>//d=0x7f </a:t>
            </a:r>
            <a:r>
              <a:rPr lang="zh-CN" altLang="en-US" sz="1800" dirty="0">
                <a:solidFill>
                  <a:schemeClr val="accent1"/>
                </a:solidFill>
              </a:rPr>
              <a:t>自动检查进制</a:t>
            </a:r>
            <a:endParaRPr lang="en-US" altLang="zh-CN" sz="2000" dirty="0">
              <a:solidFill>
                <a:schemeClr val="accent1"/>
              </a:solidFill>
            </a:endParaRPr>
          </a:p>
          <a:p>
            <a:pPr lvl="1"/>
            <a:endParaRPr lang="en-US" altLang="zh-CN" sz="2000" dirty="0"/>
          </a:p>
          <a:p>
            <a:pPr lvl="1"/>
            <a:r>
              <a:rPr lang="en-US" altLang="zh-CN" sz="2000" dirty="0"/>
              <a:t>double e = </a:t>
            </a:r>
            <a:r>
              <a:rPr lang="en-US" altLang="zh-CN" sz="2000" dirty="0" err="1"/>
              <a:t>s</a:t>
            </a:r>
            <a:r>
              <a:rPr lang="en-US" altLang="zh-CN" sz="2000" dirty="0" err="1">
                <a:solidFill>
                  <a:srgbClr val="FF0000"/>
                </a:solidFill>
              </a:rPr>
              <a:t>to</a:t>
            </a:r>
            <a:r>
              <a:rPr lang="en-US" altLang="zh-CN" sz="2000" dirty="0" err="1"/>
              <a:t>d</a:t>
            </a:r>
            <a:r>
              <a:rPr lang="en-US" altLang="zh-CN" sz="2000" dirty="0"/>
              <a:t>("34.5")	  </a:t>
            </a:r>
            <a:r>
              <a:rPr lang="en-US" altLang="zh-CN" sz="2000" dirty="0">
                <a:solidFill>
                  <a:schemeClr val="accent1"/>
                </a:solidFill>
              </a:rPr>
              <a:t>//e=34.5</a:t>
            </a:r>
            <a:endParaRPr lang="en-US" altLang="zh-CN" sz="2000" dirty="0"/>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66</a:t>
            </a:fld>
            <a:endParaRPr lang="en-US" altLang="zh-CN"/>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67</a:t>
            </a:fld>
            <a:endParaRPr lang="en-US" altLang="zh-CN"/>
          </a:p>
        </p:txBody>
      </p:sp>
      <p:sp>
        <p:nvSpPr>
          <p:cNvPr id="7" name="文本框 6"/>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pPr lvl="0" defTabSz="457200" eaLnBrk="0" fontAlgn="base" hangingPunct="0"/>
            <a:r>
              <a:rPr lang="zh-CN" altLang="en-US" sz="2600" b="1" dirty="0">
                <a:solidFill>
                  <a:srgbClr val="000000"/>
                </a:solidFill>
                <a:latin typeface="微软雅黑" panose="020B0503020204020204" pitchFamily="34" charset="-122"/>
                <a:ea typeface="微软雅黑" panose="020B0503020204020204" pitchFamily="34" charset="-122"/>
              </a:rPr>
              <a:t>对于 std::string 和 std::vector&lt;char&gt;定义的字符串 str，以下选项正确的是：</a:t>
            </a:r>
          </a:p>
        </p:txBody>
      </p:sp>
      <p:sp>
        <p:nvSpPr>
          <p:cNvPr id="8" name="文本框 7"/>
          <p:cNvSpPr txBox="1"/>
          <p:nvPr>
            <p:custDataLst>
              <p:tags r:id="rId3"/>
            </p:custDataLst>
          </p:nvPr>
        </p:nvSpPr>
        <p:spPr>
          <a:xfrm>
            <a:off x="1828800" y="2786063"/>
            <a:ext cx="6400800" cy="642938"/>
          </a:xfrm>
          <a:prstGeom prst="rect">
            <a:avLst/>
          </a:prstGeom>
          <a:noFill/>
        </p:spPr>
        <p:txBody>
          <a:bodyPr vert="horz" wrap="none" rtlCol="0" anchor="ctr" anchorCtr="0">
            <a:noAutofit/>
          </a:bodyPr>
          <a:lstStyle/>
          <a:p>
            <a:pPr lvl="0" defTabSz="457200" eaLnBrk="0" fontAlgn="base" hangingPunct="0"/>
            <a:r>
              <a:rPr lang="zh-CN" altLang="en-US" sz="2000" dirty="0">
                <a:solidFill>
                  <a:srgbClr val="000000"/>
                </a:solidFill>
                <a:latin typeface="微软雅黑" panose="020B0503020204020204" pitchFamily="34" charset="-122"/>
                <a:ea typeface="微软雅黑" panose="020B0503020204020204" pitchFamily="34" charset="-122"/>
              </a:rPr>
              <a:t>都可以使用 str.length();获得字符串长度</a:t>
            </a:r>
          </a:p>
        </p:txBody>
      </p:sp>
      <p:sp>
        <p:nvSpPr>
          <p:cNvPr id="9" name="文本框 8"/>
          <p:cNvSpPr txBox="1"/>
          <p:nvPr>
            <p:custDataLst>
              <p:tags r:id="rId4"/>
            </p:custDataLst>
          </p:nvPr>
        </p:nvSpPr>
        <p:spPr>
          <a:xfrm>
            <a:off x="1828800" y="3643313"/>
            <a:ext cx="6400800" cy="642938"/>
          </a:xfrm>
          <a:prstGeom prst="rect">
            <a:avLst/>
          </a:prstGeom>
          <a:noFill/>
        </p:spPr>
        <p:txBody>
          <a:bodyPr vert="horz" wrap="none" rtlCol="0" anchor="ctr" anchorCtr="0">
            <a:noAutofit/>
          </a:bodyPr>
          <a:lstStyle/>
          <a:p>
            <a:pPr defTabSz="457200" eaLnBrk="0" fontAlgn="base" hangingPunct="0"/>
            <a:r>
              <a:rPr lang="zh-CN" altLang="en-US" sz="2000" dirty="0">
                <a:solidFill>
                  <a:srgbClr val="000000"/>
                </a:solidFill>
                <a:latin typeface="微软雅黑" panose="020B0503020204020204" pitchFamily="34" charset="-122"/>
                <a:ea typeface="微软雅黑" panose="020B0503020204020204" pitchFamily="34" charset="-122"/>
              </a:rPr>
              <a:t>都可以使用 for(char c: str)遍历字符串中的所有字符</a:t>
            </a:r>
          </a:p>
        </p:txBody>
      </p:sp>
      <p:sp>
        <p:nvSpPr>
          <p:cNvPr id="10" name="文本框 9"/>
          <p:cNvSpPr txBox="1"/>
          <p:nvPr>
            <p:custDataLst>
              <p:tags r:id="rId5"/>
            </p:custDataLst>
          </p:nvPr>
        </p:nvSpPr>
        <p:spPr>
          <a:xfrm>
            <a:off x="1828800" y="4500563"/>
            <a:ext cx="6400800" cy="642938"/>
          </a:xfrm>
          <a:prstGeom prst="rect">
            <a:avLst/>
          </a:prstGeom>
          <a:noFill/>
        </p:spPr>
        <p:txBody>
          <a:bodyPr vert="horz" wrap="none" rtlCol="0" anchor="ctr" anchorCtr="0">
            <a:noAutofit/>
          </a:bodyPr>
          <a:lstStyle/>
          <a:p>
            <a:pPr defTabSz="457200" eaLnBrk="0" fontAlgn="base" hangingPunct="0"/>
            <a:r>
              <a:rPr lang="zh-CN" altLang="en-US" sz="2000" dirty="0">
                <a:solidFill>
                  <a:srgbClr val="000000"/>
                </a:solidFill>
                <a:latin typeface="微软雅黑" panose="020B0503020204020204" pitchFamily="34" charset="-122"/>
                <a:ea typeface="微软雅黑" panose="020B0503020204020204" pitchFamily="34" charset="-122"/>
              </a:rPr>
              <a:t>都可以使用 cin&gt;&gt;str;从标准输入输入字符串</a:t>
            </a:r>
          </a:p>
        </p:txBody>
      </p:sp>
      <p:sp>
        <p:nvSpPr>
          <p:cNvPr id="11" name="文本框 10"/>
          <p:cNvSpPr txBox="1"/>
          <p:nvPr>
            <p:custDataLst>
              <p:tags r:id="rId6"/>
            </p:custDataLst>
          </p:nvPr>
        </p:nvSpPr>
        <p:spPr>
          <a:xfrm>
            <a:off x="1828800" y="5357813"/>
            <a:ext cx="6400800" cy="642938"/>
          </a:xfrm>
          <a:prstGeom prst="rect">
            <a:avLst/>
          </a:prstGeom>
          <a:noFill/>
        </p:spPr>
        <p:txBody>
          <a:bodyPr vert="horz" wrap="none" rtlCol="0" anchor="ctr" anchorCtr="0">
            <a:noAutofit/>
          </a:bodyPr>
          <a:lstStyle/>
          <a:p>
            <a:pPr defTabSz="457200" eaLnBrk="0" fontAlgn="base" hangingPunct="0"/>
            <a:r>
              <a:rPr lang="zh-CN" altLang="en-US" sz="2000" dirty="0">
                <a:solidFill>
                  <a:srgbClr val="000000"/>
                </a:solidFill>
                <a:latin typeface="微软雅黑" panose="020B0503020204020204" pitchFamily="34" charset="-122"/>
                <a:ea typeface="微软雅黑" panose="020B0503020204020204" pitchFamily="34" charset="-122"/>
              </a:rPr>
              <a:t>都可以使用 str+="abc";向字符串尾部添加字符</a:t>
            </a:r>
          </a:p>
        </p:txBody>
      </p:sp>
      <p:sp>
        <p:nvSpPr>
          <p:cNvPr id="12" name="椭圆 11"/>
          <p:cNvSpPr>
            <a:spLocks noChangeAspect="1"/>
          </p:cNvSpPr>
          <p:nvPr>
            <p:custDataLst>
              <p:tags r:id="rId7"/>
            </p:custDataLst>
          </p:nvPr>
        </p:nvSpPr>
        <p:spPr>
          <a:xfrm>
            <a:off x="11144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defTabSz="457200" eaLnBrk="0" fontAlgn="base" hangingPunct="0"/>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椭圆 12"/>
          <p:cNvSpPr>
            <a:spLocks noChangeAspect="1"/>
          </p:cNvSpPr>
          <p:nvPr>
            <p:custDataLst>
              <p:tags r:id="rId8"/>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defTabSz="457200" eaLnBrk="0" fontAlgn="base" hangingPunct="0"/>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椭圆 13"/>
          <p:cNvSpPr>
            <a:spLocks noChangeAspect="1"/>
          </p:cNvSpPr>
          <p:nvPr>
            <p:custDataLst>
              <p:tags r:id="rId9"/>
            </p:custDataLst>
          </p:nvPr>
        </p:nvSpPr>
        <p:spPr>
          <a:xfrm>
            <a:off x="11144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defTabSz="457200" eaLnBrk="0" fontAlgn="base" hangingPunct="0"/>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椭圆 14"/>
          <p:cNvSpPr>
            <a:spLocks noChangeAspect="1"/>
          </p:cNvSpPr>
          <p:nvPr>
            <p:custDataLst>
              <p:tags r:id="rId10"/>
            </p:custDataLst>
          </p:nvPr>
        </p:nvSpPr>
        <p:spPr>
          <a:xfrm>
            <a:off x="11144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defTabSz="457200" eaLnBrk="0" fontAlgn="base" hangingPunct="0"/>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矩形: 圆角 15"/>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defTabSz="457200" eaLnBrk="0" fontAlgn="base" hangingPunct="0"/>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sp>
        <p:nvSpPr>
          <p:cNvPr id="23" name="矩形 22"/>
          <p:cNvSpPr/>
          <p:nvPr>
            <p:custDataLst>
              <p:tags r:id="rId12"/>
            </p:custDataLst>
          </p:nvPr>
        </p:nvSpPr>
        <p:spPr>
          <a:xfrm>
            <a:off x="9525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457200" eaLnBrk="0" fontAlgn="base" hangingPunct="0"/>
            <a:endParaRPr lang="zh-CN" altLang="en-US">
              <a:solidFill>
                <a:srgbClr val="FFFFFF"/>
              </a:solidFill>
            </a:endParaRPr>
          </a:p>
        </p:txBody>
      </p:sp>
      <p:sp>
        <p:nvSpPr>
          <p:cNvPr id="28" name="文本框 27"/>
          <p:cNvSpPr txBox="1"/>
          <p:nvPr>
            <p:custDataLst>
              <p:tags r:id="rId13"/>
            </p:custDataLst>
          </p:nvPr>
        </p:nvSpPr>
        <p:spPr>
          <a:xfrm>
            <a:off x="9613900" y="6219110"/>
            <a:ext cx="6692858" cy="276999"/>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wrap="none" rtlCol="0" anchor="ctr">
            <a:spAutoFit/>
          </a:bodyPr>
          <a:lstStyle/>
          <a:p>
            <a:pPr defTabSz="457200" eaLnBrk="0" fontAlgn="base" hangingPunct="0"/>
            <a:r>
              <a:rPr lang="zh-CN" altLang="en-US" sz="1200" b="1">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可为此题添加文本、图片、公式等解析，且需将内容全部放在本区域内。正常使用需</a:t>
            </a:r>
            <a:r>
              <a:rPr lang="en-US" altLang="zh-CN" sz="1200" b="1">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200" b="1">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a:t>
            </a:r>
            <a:endParaRPr lang="zh-CN" altLang="en-US" sz="1200" b="1" dirty="0">
              <a:solidFill>
                <a:srgbClr val="F84F4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9" name="文本框 28"/>
          <p:cNvSpPr txBox="1"/>
          <p:nvPr>
            <p:custDataLst>
              <p:tags r:id="rId14"/>
            </p:custDataLst>
          </p:nvPr>
        </p:nvSpPr>
        <p:spPr>
          <a:xfrm>
            <a:off x="9525000" y="1270000"/>
            <a:ext cx="3797130" cy="1938992"/>
          </a:xfrm>
          <a:prstGeom prst="rect">
            <a:avLst/>
          </a:prstGeom>
          <a:noFill/>
        </p:spPr>
        <p:txBody>
          <a:bodyPr vert="horz" wrap="none" rtlCol="0" anchor="t" anchorCtr="0">
            <a:spAutoFit/>
          </a:bodyPr>
          <a:lstStyle/>
          <a:p>
            <a:pPr defTabSz="457200" eaLnBrk="0" fontAlgn="base" hangingPunct="0"/>
            <a:r>
              <a:rPr lang="en-US" altLang="zh-CN"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 vector</a:t>
            </a:r>
            <a:r>
              <a:rPr lang="zh-CN" altLang="en-US"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只能使用</a:t>
            </a:r>
            <a:r>
              <a:rPr lang="en-US" altLang="zh-CN"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size</a:t>
            </a:r>
            <a:r>
              <a:rPr lang="zh-CN" altLang="en-US"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获得长度</a:t>
            </a:r>
            <a:endParaRPr lang="en-US" altLang="zh-CN"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pPr defTabSz="457200" eaLnBrk="0" fontAlgn="base" hangingPunct="0"/>
            <a:endParaRPr lang="en-US" altLang="zh-CN"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pPr defTabSz="457200" eaLnBrk="0" fontAlgn="base" hangingPunct="0"/>
            <a:r>
              <a:rPr lang="en-US" altLang="zh-CN"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C vector</a:t>
            </a:r>
            <a:r>
              <a:rPr lang="zh-CN" altLang="en-US"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不能使用</a:t>
            </a:r>
            <a:r>
              <a:rPr lang="en-US" altLang="zh-CN" sz="2000" b="1" dirty="0" err="1">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cin</a:t>
            </a:r>
            <a:r>
              <a:rPr lang="zh-CN" altLang="en-US"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直接输入</a:t>
            </a:r>
            <a:endParaRPr lang="en-US" altLang="zh-CN"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pPr defTabSz="457200" eaLnBrk="0" fontAlgn="base" hangingPunct="0"/>
            <a:r>
              <a:rPr lang="zh-CN" altLang="en-US"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整个序列</a:t>
            </a:r>
            <a:endParaRPr lang="en-US" altLang="zh-CN"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pPr defTabSz="457200" eaLnBrk="0" fontAlgn="base" hangingPunct="0"/>
            <a:endParaRPr lang="en-US" altLang="zh-CN"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pPr defTabSz="457200" eaLnBrk="0" fontAlgn="base" hangingPunct="0"/>
            <a:r>
              <a:rPr lang="en-US" altLang="zh-CN"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D vector</a:t>
            </a:r>
            <a:r>
              <a:rPr lang="zh-CN" altLang="en-US"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不支持</a:t>
            </a:r>
            <a:r>
              <a:rPr lang="en-US" altLang="zh-CN"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运算符</a:t>
            </a:r>
          </a:p>
        </p:txBody>
      </p:sp>
      <p:grpSp>
        <p:nvGrpSpPr>
          <p:cNvPr id="27" name="组合 26"/>
          <p:cNvGrpSpPr/>
          <p:nvPr>
            <p:custDataLst>
              <p:tags r:id="rId15"/>
            </p:custDataLst>
          </p:nvPr>
        </p:nvGrpSpPr>
        <p:grpSpPr>
          <a:xfrm>
            <a:off x="9537700" y="0"/>
            <a:ext cx="3815080" cy="647700"/>
            <a:chOff x="9537700" y="0"/>
            <a:chExt cx="3815080" cy="647700"/>
          </a:xfrm>
        </p:grpSpPr>
        <p:sp>
          <p:nvSpPr>
            <p:cNvPr id="24" name="RemarkBack"/>
            <p:cNvSpPr/>
            <p:nvPr>
              <p:custDataLst>
                <p:tags r:id="rId25"/>
              </p:custDataLst>
            </p:nvPr>
          </p:nvSpPr>
          <p:spPr>
            <a:xfrm>
              <a:off x="9537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eaLnBrk="0" fontAlgn="base" hangingPunct="0"/>
              <a:endParaRPr lang="zh-CN" altLang="en-US"/>
            </a:p>
          </p:txBody>
        </p:sp>
        <p:sp>
          <p:nvSpPr>
            <p:cNvPr id="25" name="RemarkBlock"/>
            <p:cNvSpPr/>
            <p:nvPr>
              <p:custDataLst>
                <p:tags r:id="rId26"/>
              </p:custDataLst>
            </p:nvPr>
          </p:nvSpPr>
          <p:spPr>
            <a:xfrm>
              <a:off x="9537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eaLnBrk="0" fontAlgn="base" hangingPunct="0"/>
              <a:endParaRPr lang="zh-CN" altLang="en-US"/>
            </a:p>
          </p:txBody>
        </p:sp>
        <p:sp>
          <p:nvSpPr>
            <p:cNvPr id="26" name="RemarkTitleText"/>
            <p:cNvSpPr txBox="1"/>
            <p:nvPr>
              <p:custDataLst>
                <p:tags r:id="rId27"/>
              </p:custDataLst>
            </p:nvPr>
          </p:nvSpPr>
          <p:spPr>
            <a:xfrm>
              <a:off x="9779000" y="0"/>
              <a:ext cx="1905000" cy="635000"/>
            </a:xfrm>
            <a:prstGeom prst="rect">
              <a:avLst/>
            </a:prstGeom>
            <a:noFill/>
          </p:spPr>
          <p:txBody>
            <a:bodyPr vert="horz" wrap="none" rtlCol="0" anchor="ctr" anchorCtr="0">
              <a:noAutofit/>
            </a:bodyPr>
            <a:lstStyle/>
            <a:p>
              <a:pPr defTabSz="457200" eaLnBrk="0" fontAlgn="base" hangingPunct="0"/>
              <a:r>
                <a:rPr lang="zh-CN" altLang="en-US" b="1">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endParaRPr lang="zh-CN" altLang="en-US"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2" name="RemarkBack"/>
          <p:cNvSpPr/>
          <p:nvPr>
            <p:custDataLst>
              <p:tags r:id="rId16"/>
            </p:custDataLst>
          </p:nvPr>
        </p:nvSpPr>
        <p:spPr>
          <a:xfrm>
            <a:off x="9537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eaLnBrk="0" fontAlgn="base" hangingPunct="0"/>
            <a:endParaRPr lang="zh-CN" altLang="en-US"/>
          </a:p>
        </p:txBody>
      </p:sp>
      <p:sp>
        <p:nvSpPr>
          <p:cNvPr id="3" name="RemarkBlock"/>
          <p:cNvSpPr/>
          <p:nvPr>
            <p:custDataLst>
              <p:tags r:id="rId17"/>
            </p:custDataLst>
          </p:nvPr>
        </p:nvSpPr>
        <p:spPr>
          <a:xfrm>
            <a:off x="9537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eaLnBrk="0" fontAlgn="base" hangingPunct="0"/>
            <a:endParaRPr lang="zh-CN" altLang="en-US"/>
          </a:p>
        </p:txBody>
      </p:sp>
      <p:sp>
        <p:nvSpPr>
          <p:cNvPr id="5" name="RemarkTitleText"/>
          <p:cNvSpPr txBox="1"/>
          <p:nvPr>
            <p:custDataLst>
              <p:tags r:id="rId18"/>
            </p:custDataLst>
          </p:nvPr>
        </p:nvSpPr>
        <p:spPr>
          <a:xfrm>
            <a:off x="9779000" y="0"/>
            <a:ext cx="1905000" cy="635000"/>
          </a:xfrm>
          <a:prstGeom prst="rect">
            <a:avLst/>
          </a:prstGeom>
          <a:noFill/>
        </p:spPr>
        <p:txBody>
          <a:bodyPr vert="horz" wrap="none" rtlCol="0" anchor="ctr" anchorCtr="0">
            <a:noAutofit/>
          </a:bodyPr>
          <a:lstStyle/>
          <a:p>
            <a:pPr defTabSz="457200" eaLnBrk="0" fontAlgn="base" hangingPunct="0"/>
            <a:r>
              <a:rPr lang="zh-CN" altLang="en-US" b="1">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endParaRPr lang="zh-CN" altLang="en-US"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1" name="组合 20"/>
          <p:cNvGrpSpPr/>
          <p:nvPr>
            <p:custDataLst>
              <p:tags r:id="rId19"/>
            </p:custDataLst>
          </p:nvPr>
        </p:nvGrpSpPr>
        <p:grpSpPr>
          <a:xfrm>
            <a:off x="0" y="0"/>
            <a:ext cx="9144000" cy="635000"/>
            <a:chOff x="0" y="0"/>
            <a:chExt cx="9144000" cy="635000"/>
          </a:xfrm>
        </p:grpSpPr>
        <p:sp>
          <p:nvSpPr>
            <p:cNvPr id="17" name="TitleBackground"/>
            <p:cNvSpPr/>
            <p:nvPr>
              <p:custDataLst>
                <p:tags r:id="rId21"/>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eaLnBrk="0" fontAlgn="base" hangingPunct="0"/>
              <a:endParaRPr lang="zh-CN" altLang="en-US"/>
            </a:p>
          </p:txBody>
        </p:sp>
        <p:sp>
          <p:nvSpPr>
            <p:cNvPr id="18" name="ColorBlock"/>
            <p:cNvSpPr/>
            <p:nvPr>
              <p:custDataLst>
                <p:tags r:id="rId22"/>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eaLnBrk="0" fontAlgn="base" hangingPunct="0"/>
              <a:endParaRPr lang="zh-CN" altLang="en-US"/>
            </a:p>
          </p:txBody>
        </p:sp>
        <p:sp>
          <p:nvSpPr>
            <p:cNvPr id="19" name="TypeText"/>
            <p:cNvSpPr txBox="1"/>
            <p:nvPr>
              <p:custDataLst>
                <p:tags r:id="rId23"/>
              </p:custDataLst>
            </p:nvPr>
          </p:nvSpPr>
          <p:spPr>
            <a:xfrm>
              <a:off x="254000" y="0"/>
              <a:ext cx="1905000" cy="635000"/>
            </a:xfrm>
            <a:prstGeom prst="rect">
              <a:avLst/>
            </a:prstGeom>
            <a:noFill/>
          </p:spPr>
          <p:txBody>
            <a:bodyPr vert="horz" wrap="none" rtlCol="0" anchor="ctr" anchorCtr="0">
              <a:noAutofit/>
            </a:bodyPr>
            <a:lstStyle/>
            <a:p>
              <a:pPr defTabSz="457200" eaLnBrk="0" fontAlgn="base" hangingPunct="0"/>
              <a:r>
                <a:rPr lang="zh-CN" altLang="en-US" sz="2600" b="1">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zh-CN" altLang="en-US" sz="26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TipText"/>
            <p:cNvSpPr txBox="1"/>
            <p:nvPr>
              <p:custDataLst>
                <p:tags r:id="rId24"/>
              </p:custDataLst>
            </p:nvPr>
          </p:nvSpPr>
          <p:spPr>
            <a:xfrm>
              <a:off x="1525905" y="109220"/>
              <a:ext cx="2286000" cy="508000"/>
            </a:xfrm>
            <a:prstGeom prst="rect">
              <a:avLst/>
            </a:prstGeom>
            <a:noFill/>
          </p:spPr>
          <p:txBody>
            <a:bodyPr vert="horz" wrap="none" rtlCol="0" anchor="ctr" anchorCtr="0">
              <a:noAutofit/>
            </a:bodyPr>
            <a:lstStyle/>
            <a:p>
              <a:pPr defTabSz="457200" eaLnBrk="0" fontAlgn="base" hangingPunct="0"/>
              <a:r>
                <a:rPr lang="en-US" altLang="zh-CN" sz="2000" b="1">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b="1">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b="1"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6" name="图片 5"/>
          <p:cNvPicPr/>
          <p:nvPr>
            <p:custDataLst>
              <p:tags r:id="rId20"/>
            </p:custDataLst>
          </p:nvPr>
        </p:nvPicPr>
        <p:blipFill>
          <a:blip r:embed="rId2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课后阅读</a:t>
            </a:r>
          </a:p>
        </p:txBody>
      </p:sp>
      <p:sp>
        <p:nvSpPr>
          <p:cNvPr id="3" name="内容占位符 2"/>
          <p:cNvSpPr>
            <a:spLocks noGrp="1"/>
          </p:cNvSpPr>
          <p:nvPr>
            <p:ph idx="1"/>
          </p:nvPr>
        </p:nvSpPr>
        <p:spPr>
          <a:xfrm>
            <a:off x="628650" y="1672894"/>
            <a:ext cx="8082213" cy="5048582"/>
          </a:xfrm>
        </p:spPr>
        <p:txBody>
          <a:bodyPr>
            <a:normAutofit/>
          </a:bodyPr>
          <a:lstStyle/>
          <a:p>
            <a:pPr>
              <a:lnSpc>
                <a:spcPct val="100000"/>
              </a:lnSpc>
              <a:buSzPct val="75000"/>
              <a:buFont typeface="Wingdings" panose="05000000000000000000" pitchFamily="2" charset="2"/>
              <a:buChar char="n"/>
            </a:pPr>
            <a:r>
              <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《C++</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编程思想</a:t>
            </a:r>
            <a:r>
              <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p>
          <a:p>
            <a:pPr lvl="1">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模板介绍，第十六章</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强烈推荐</a:t>
            </a:r>
            <a:r>
              <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《STL</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源码剖析</a:t>
            </a:r>
            <a:r>
              <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endParaRPr lang="en-US" altLang="zh-CN" b="1" kern="100" dirty="0">
              <a:latin typeface="Consolas" panose="020B0609020204030204" pitchFamily="49" charset="0"/>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68</a:t>
            </a:fld>
            <a:endParaRPr lang="en-US" altLang="zh-CN"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598725" y="1879155"/>
            <a:ext cx="8062912" cy="2952328"/>
          </a:xfrm>
          <a:prstGeom prst="rect">
            <a:avLst/>
          </a:prstGeom>
        </p:spPr>
        <p:txBody>
          <a:bodyPr vert="horz" lIns="91440" tIns="45720" rIns="91440" bIns="45720" rtlCol="0" anchor="ctr">
            <a:normAutofit fontScale="8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defRPr/>
            </a:pPr>
            <a:r>
              <a:rPr lang="en-US" altLang="zh-CN" sz="5400" b="1" dirty="0">
                <a:solidFill>
                  <a:srgbClr val="0066CC"/>
                </a:solidFill>
                <a:latin typeface="微软雅黑" panose="020B0503020204020204" pitchFamily="34" charset="-122"/>
                <a:ea typeface="微软雅黑" panose="020B0503020204020204" pitchFamily="34" charset="-122"/>
              </a:rPr>
              <a:t>STL</a:t>
            </a:r>
            <a:r>
              <a:rPr lang="zh-CN" altLang="en-US" sz="5400" b="1" dirty="0">
                <a:solidFill>
                  <a:srgbClr val="0066CC"/>
                </a:solidFill>
                <a:latin typeface="微软雅黑" panose="020B0503020204020204" pitchFamily="34" charset="-122"/>
                <a:ea typeface="微软雅黑" panose="020B0503020204020204" pitchFamily="34" charset="-122"/>
              </a:rPr>
              <a:t>容器示例：同义词查询库</a:t>
            </a:r>
          </a:p>
          <a:p>
            <a:pPr algn="ctr">
              <a:lnSpc>
                <a:spcPct val="150000"/>
              </a:lnSpc>
              <a:defRPr/>
            </a:pPr>
            <a:r>
              <a:rPr lang="zh-CN" altLang="en-US" sz="5400" b="1" dirty="0">
                <a:solidFill>
                  <a:srgbClr val="0066CC"/>
                </a:solidFill>
                <a:latin typeface="微软雅黑" panose="020B0503020204020204" pitchFamily="34" charset="-122"/>
                <a:ea typeface="微软雅黑" panose="020B0503020204020204" pitchFamily="34" charset="-122"/>
              </a:rPr>
              <a:t>（自学）</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例子：同义词查询库</a:t>
            </a:r>
          </a:p>
        </p:txBody>
      </p:sp>
      <p:sp>
        <p:nvSpPr>
          <p:cNvPr id="3" name="内容占位符 2"/>
          <p:cNvSpPr>
            <a:spLocks noGrp="1"/>
          </p:cNvSpPr>
          <p:nvPr>
            <p:ph idx="1"/>
          </p:nvPr>
        </p:nvSpPr>
        <p:spPr>
          <a:xfrm>
            <a:off x="628649" y="1690688"/>
            <a:ext cx="8082213" cy="4665663"/>
          </a:xfrm>
        </p:spPr>
        <p:txBody>
          <a:bodyPr>
            <a:normAutofit/>
          </a:bodyPr>
          <a:lstStyle/>
          <a:p>
            <a:pPr>
              <a:lnSpc>
                <a:spcPct val="100000"/>
              </a:lnSpc>
              <a:buSzPct val="75000"/>
              <a:buFont typeface="Wingdings" panose="05000000000000000000" pitchFamily="2" charset="2"/>
              <a:buChar char="n"/>
            </a:pPr>
            <a:r>
              <a:rPr lang="zh-CN" altLang="en-US" b="1" kern="100" dirty="0">
                <a:solidFill>
                  <a:srgbClr val="003366"/>
                </a:solidFill>
                <a:latin typeface="Consolas" panose="020B0609020204030204" pitchFamily="49" charset="0"/>
                <a:ea typeface="华文楷体" panose="02010600040101010101" pitchFamily="2" charset="-122"/>
                <a:cs typeface="STKaiti" panose="02010600040101010101" charset="-122"/>
              </a:rPr>
              <a:t>场景：针对一个大型同义词库，频繁查询给定词语的所有同义词</a:t>
            </a:r>
            <a:endPar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Consolas" panose="020B0609020204030204" pitchFamily="49" charset="0"/>
                <a:ea typeface="华文楷体" panose="02010600040101010101" pitchFamily="2" charset="-122"/>
                <a:cs typeface="STKaiti" panose="02010600040101010101" charset="-122"/>
              </a:rPr>
              <a:t>分析</a:t>
            </a:r>
            <a:endPar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endParaRPr>
          </a:p>
          <a:p>
            <a:pPr lvl="1">
              <a:lnSpc>
                <a:spcPct val="100000"/>
              </a:lnSpc>
              <a:buSzPct val="75000"/>
            </a:pPr>
            <a:r>
              <a:rPr lang="zh-CN" altLang="en-US" b="1" kern="100" dirty="0">
                <a:solidFill>
                  <a:srgbClr val="003366"/>
                </a:solidFill>
                <a:latin typeface="Consolas" panose="020B0609020204030204" pitchFamily="49" charset="0"/>
                <a:ea typeface="华文楷体" panose="02010600040101010101" pitchFamily="2" charset="-122"/>
                <a:cs typeface="STKaiti" panose="02010600040101010101" charset="-122"/>
              </a:rPr>
              <a:t>功能需求：构建词语与其同义词的映射关系</a:t>
            </a:r>
            <a:endPar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endParaRPr>
          </a:p>
          <a:p>
            <a:pPr lvl="1">
              <a:lnSpc>
                <a:spcPct val="100000"/>
              </a:lnSpc>
              <a:buSzPct val="75000"/>
            </a:pPr>
            <a:r>
              <a:rPr lang="zh-CN" altLang="en-US" b="1" kern="100" dirty="0">
                <a:solidFill>
                  <a:srgbClr val="003366"/>
                </a:solidFill>
                <a:latin typeface="Consolas" panose="020B0609020204030204" pitchFamily="49" charset="0"/>
                <a:ea typeface="华文楷体" panose="02010600040101010101" pitchFamily="2" charset="-122"/>
                <a:cs typeface="STKaiti" panose="02010600040101010101" charset="-122"/>
              </a:rPr>
              <a:t>效率：词语的查找速度很关键，考虑使用</a:t>
            </a:r>
            <a:r>
              <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rPr>
              <a:t>map</a:t>
            </a:r>
            <a:endPar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sym typeface="Wingdings" panose="05000000000000000000" pitchFamily="2" charset="2"/>
            </a:endParaRPr>
          </a:p>
          <a:p>
            <a:pPr lvl="2">
              <a:lnSpc>
                <a:spcPct val="100000"/>
              </a:lnSpc>
              <a:buSzPct val="75000"/>
            </a:pPr>
            <a:r>
              <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rPr>
              <a:t>key</a:t>
            </a:r>
            <a:r>
              <a:rPr lang="zh-CN" altLang="en-US" b="1" kern="100" dirty="0">
                <a:solidFill>
                  <a:srgbClr val="003366"/>
                </a:solidFill>
                <a:latin typeface="Consolas" panose="020B0609020204030204" pitchFamily="49" charset="0"/>
                <a:ea typeface="华文楷体" panose="02010600040101010101" pitchFamily="2" charset="-122"/>
                <a:cs typeface="STKaiti" panose="02010600040101010101" charset="-122"/>
              </a:rPr>
              <a:t>是词语，使用字符串类型</a:t>
            </a:r>
            <a:endPar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endParaRPr>
          </a:p>
          <a:p>
            <a:pPr lvl="2">
              <a:lnSpc>
                <a:spcPct val="100000"/>
              </a:lnSpc>
              <a:buSzPct val="75000"/>
            </a:pPr>
            <a:r>
              <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rPr>
              <a:t>value</a:t>
            </a:r>
            <a:r>
              <a:rPr lang="zh-CN" altLang="en-US" b="1" kern="100" dirty="0">
                <a:solidFill>
                  <a:srgbClr val="003366"/>
                </a:solidFill>
                <a:latin typeface="Consolas" panose="020B0609020204030204" pitchFamily="49" charset="0"/>
                <a:ea typeface="华文楷体" panose="02010600040101010101" pitchFamily="2" charset="-122"/>
                <a:cs typeface="STKaiti" panose="02010600040101010101" charset="-122"/>
              </a:rPr>
              <a:t>是相应的同义词容器，可以使用</a:t>
            </a:r>
            <a:r>
              <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rPr>
              <a:t>vector&lt;string&gt;</a:t>
            </a: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70</a:t>
            </a:fld>
            <a:endParaRPr lang="en-US" altLang="zh-CN"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例子：同义词查询库</a:t>
            </a:r>
          </a:p>
        </p:txBody>
      </p:sp>
      <p:sp>
        <p:nvSpPr>
          <p:cNvPr id="3" name="内容占位符 2"/>
          <p:cNvSpPr>
            <a:spLocks noGrp="1"/>
          </p:cNvSpPr>
          <p:nvPr>
            <p:ph idx="1"/>
          </p:nvPr>
        </p:nvSpPr>
        <p:spPr>
          <a:xfrm>
            <a:off x="628649" y="1690688"/>
            <a:ext cx="8082213" cy="4665663"/>
          </a:xfrm>
        </p:spPr>
        <p:txBody>
          <a:bodyPr>
            <a:normAutofit/>
          </a:bodyPr>
          <a:lstStyle/>
          <a:p>
            <a:pPr>
              <a:lnSpc>
                <a:spcPct val="100000"/>
              </a:lnSpc>
              <a:buSzPct val="75000"/>
              <a:buFont typeface="Wingdings" panose="05000000000000000000" pitchFamily="2" charset="2"/>
              <a:buChar char="n"/>
            </a:pPr>
            <a:r>
              <a:rPr lang="zh-CN" altLang="en-US" b="1" kern="100" dirty="0">
                <a:solidFill>
                  <a:srgbClr val="003366"/>
                </a:solidFill>
                <a:latin typeface="Consolas" panose="020B0609020204030204" pitchFamily="49" charset="0"/>
                <a:ea typeface="华文楷体" panose="02010600040101010101" pitchFamily="2" charset="-122"/>
                <a:cs typeface="STKaiti" panose="02010600040101010101" charset="-122"/>
              </a:rPr>
              <a:t>场景：针对一个大型同义词库，频繁查询给定词语的所有同义词</a:t>
            </a:r>
            <a:endPar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endParaRPr>
          </a:p>
          <a:p>
            <a:pPr marL="0" indent="0">
              <a:lnSpc>
                <a:spcPct val="100000"/>
              </a:lnSpc>
              <a:buSzPct val="75000"/>
              <a:buNone/>
            </a:pPr>
            <a:endPar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71</a:t>
            </a:fld>
            <a:endParaRPr lang="en-US" altLang="zh-CN" dirty="0"/>
          </a:p>
        </p:txBody>
      </p:sp>
      <p:sp>
        <p:nvSpPr>
          <p:cNvPr id="4" name="Rectangle 3"/>
          <p:cNvSpPr/>
          <p:nvPr/>
        </p:nvSpPr>
        <p:spPr>
          <a:xfrm>
            <a:off x="628648" y="2650733"/>
            <a:ext cx="7886700" cy="4016484"/>
          </a:xfrm>
          <a:prstGeom prst="rect">
            <a:avLst/>
          </a:prstGeom>
        </p:spPr>
        <p:txBody>
          <a:bodyPr wrap="square">
            <a:spAutoFit/>
          </a:bodyPr>
          <a:lstStyle/>
          <a:p>
            <a:pPr>
              <a:spcBef>
                <a:spcPts val="1000"/>
              </a:spcBef>
              <a:buSzPct val="75000"/>
            </a:pPr>
            <a:r>
              <a:rPr lang="en-US" altLang="zh-CN" kern="100" dirty="0">
                <a:latin typeface="Consolas" panose="020B0609020204030204" pitchFamily="49" charset="0"/>
                <a:ea typeface="华文楷体" panose="02010600040101010101" pitchFamily="2" charset="-122"/>
              </a:rPr>
              <a:t>// </a:t>
            </a:r>
            <a:r>
              <a:rPr lang="zh-CN" altLang="en-US" kern="100" dirty="0">
                <a:latin typeface="Consolas" panose="020B0609020204030204" pitchFamily="49" charset="0"/>
                <a:ea typeface="华文楷体" panose="02010600040101010101" pitchFamily="2" charset="-122"/>
              </a:rPr>
              <a:t>测试函数，</a:t>
            </a:r>
            <a:r>
              <a:rPr lang="en-US" altLang="zh-CN" kern="100" dirty="0" err="1">
                <a:latin typeface="Consolas" panose="020B0609020204030204" pitchFamily="49" charset="0"/>
                <a:ea typeface="华文楷体" panose="02010600040101010101" pitchFamily="2" charset="-122"/>
              </a:rPr>
              <a:t>SynonymBase</a:t>
            </a:r>
            <a:r>
              <a:rPr lang="zh-CN" altLang="en-US" kern="100" dirty="0">
                <a:latin typeface="Consolas" panose="020B0609020204030204" pitchFamily="49" charset="0"/>
                <a:ea typeface="华文楷体" panose="02010600040101010101" pitchFamily="2" charset="-122"/>
              </a:rPr>
              <a:t>是待实现的同义词查询库类</a:t>
            </a:r>
            <a:endParaRPr lang="en-US" altLang="zh-CN" kern="100" dirty="0">
              <a:latin typeface="Consolas" panose="020B0609020204030204" pitchFamily="49" charset="0"/>
              <a:ea typeface="华文楷体" panose="02010600040101010101" pitchFamily="2" charset="-122"/>
            </a:endParaRPr>
          </a:p>
          <a:p>
            <a:pPr>
              <a:spcBef>
                <a:spcPts val="1000"/>
              </a:spcBef>
              <a:buSzPct val="75000"/>
            </a:pPr>
            <a:r>
              <a:rPr lang="en-US" altLang="zh-CN" kern="100" dirty="0">
                <a:latin typeface="Consolas" panose="020B0609020204030204" pitchFamily="49" charset="0"/>
                <a:ea typeface="华文楷体" panose="02010600040101010101" pitchFamily="2" charset="-122"/>
              </a:rPr>
              <a:t>void test(</a:t>
            </a:r>
            <a:r>
              <a:rPr lang="en-US" altLang="zh-CN" kern="100" dirty="0" err="1">
                <a:latin typeface="Consolas" panose="020B0609020204030204" pitchFamily="49" charset="0"/>
                <a:ea typeface="华文楷体" panose="02010600040101010101" pitchFamily="2" charset="-122"/>
              </a:rPr>
              <a:t>SynonymBase</a:t>
            </a:r>
            <a:r>
              <a:rPr lang="en-US" altLang="zh-CN" kern="100" dirty="0">
                <a:latin typeface="Consolas" panose="020B0609020204030204" pitchFamily="49" charset="0"/>
                <a:ea typeface="华文楷体" panose="02010600040101010101" pitchFamily="2" charset="-122"/>
              </a:rPr>
              <a:t>&amp; base){</a:t>
            </a:r>
          </a:p>
          <a:p>
            <a:pPr>
              <a:spcBef>
                <a:spcPts val="1000"/>
              </a:spcBef>
              <a:buSzPct val="75000"/>
            </a:pPr>
            <a:r>
              <a:rPr lang="en-US" altLang="zh-CN" kern="100" dirty="0">
                <a:latin typeface="Consolas" panose="020B0609020204030204" pitchFamily="49" charset="0"/>
                <a:ea typeface="华文楷体" panose="02010600040101010101" pitchFamily="2" charset="-122"/>
              </a:rPr>
              <a:t>    </a:t>
            </a:r>
            <a:r>
              <a:rPr lang="en-US" altLang="zh-CN" kern="100" dirty="0" err="1">
                <a:latin typeface="Consolas" panose="020B0609020204030204" pitchFamily="49" charset="0"/>
                <a:ea typeface="华文楷体" panose="02010600040101010101" pitchFamily="2" charset="-122"/>
              </a:rPr>
              <a:t>base.add</a:t>
            </a:r>
            <a:r>
              <a:rPr lang="en-US" altLang="zh-CN" kern="100" dirty="0">
                <a:latin typeface="Consolas" panose="020B0609020204030204" pitchFamily="49" charset="0"/>
                <a:ea typeface="华文楷体" panose="02010600040101010101" pitchFamily="2" charset="-122"/>
              </a:rPr>
              <a:t>("happy", "pleased"); </a:t>
            </a:r>
            <a:r>
              <a:rPr lang="en-US" altLang="zh-CN" kern="100" dirty="0">
                <a:solidFill>
                  <a:srgbClr val="008000"/>
                </a:solidFill>
                <a:latin typeface="Consolas" panose="020B0609020204030204" pitchFamily="49" charset="0"/>
                <a:ea typeface="华文楷体" panose="02010600040101010101" pitchFamily="2" charset="-122"/>
              </a:rPr>
              <a:t>//</a:t>
            </a:r>
            <a:r>
              <a:rPr lang="zh-CN" altLang="en-US" kern="100" dirty="0">
                <a:solidFill>
                  <a:srgbClr val="008000"/>
                </a:solidFill>
                <a:latin typeface="Consolas" panose="020B0609020204030204" pitchFamily="49" charset="0"/>
                <a:ea typeface="华文楷体" panose="02010600040101010101" pitchFamily="2" charset="-122"/>
              </a:rPr>
              <a:t>加入</a:t>
            </a:r>
            <a:r>
              <a:rPr lang="en-US" altLang="zh-CN" kern="100" dirty="0">
                <a:solidFill>
                  <a:srgbClr val="008000"/>
                </a:solidFill>
                <a:latin typeface="Consolas" panose="020B0609020204030204" pitchFamily="49" charset="0"/>
                <a:ea typeface="华文楷体" panose="02010600040101010101" pitchFamily="2" charset="-122"/>
              </a:rPr>
              <a:t>happy</a:t>
            </a:r>
            <a:r>
              <a:rPr lang="zh-CN" altLang="en-US" kern="100" dirty="0">
                <a:solidFill>
                  <a:srgbClr val="008000"/>
                </a:solidFill>
                <a:latin typeface="Consolas" panose="020B0609020204030204" pitchFamily="49" charset="0"/>
                <a:ea typeface="华文楷体" panose="02010600040101010101" pitchFamily="2" charset="-122"/>
              </a:rPr>
              <a:t>同义词</a:t>
            </a:r>
            <a:r>
              <a:rPr lang="en-US" altLang="zh-CN" kern="100" dirty="0">
                <a:solidFill>
                  <a:srgbClr val="008000"/>
                </a:solidFill>
                <a:latin typeface="Consolas" panose="020B0609020204030204" pitchFamily="49" charset="0"/>
                <a:ea typeface="华文楷体" panose="02010600040101010101" pitchFamily="2" charset="-122"/>
              </a:rPr>
              <a:t>pleased</a:t>
            </a:r>
          </a:p>
          <a:p>
            <a:pPr>
              <a:spcBef>
                <a:spcPts val="1000"/>
              </a:spcBef>
              <a:buSzPct val="75000"/>
            </a:pPr>
            <a:r>
              <a:rPr lang="en-US" altLang="zh-CN" kern="100" dirty="0">
                <a:latin typeface="Consolas" panose="020B0609020204030204" pitchFamily="49" charset="0"/>
                <a:ea typeface="华文楷体" panose="02010600040101010101" pitchFamily="2" charset="-122"/>
              </a:rPr>
              <a:t>    </a:t>
            </a:r>
            <a:r>
              <a:rPr lang="en-US" altLang="zh-CN" kern="100" dirty="0" err="1">
                <a:latin typeface="Consolas" panose="020B0609020204030204" pitchFamily="49" charset="0"/>
                <a:ea typeface="华文楷体" panose="02010600040101010101" pitchFamily="2" charset="-122"/>
              </a:rPr>
              <a:t>base.add</a:t>
            </a:r>
            <a:r>
              <a:rPr lang="en-US" altLang="zh-CN" kern="100" dirty="0">
                <a:latin typeface="Consolas" panose="020B0609020204030204" pitchFamily="49" charset="0"/>
                <a:ea typeface="华文楷体" panose="02010600040101010101" pitchFamily="2" charset="-122"/>
              </a:rPr>
              <a:t>("happy", "satisfied");</a:t>
            </a:r>
          </a:p>
          <a:p>
            <a:pPr>
              <a:spcBef>
                <a:spcPts val="1000"/>
              </a:spcBef>
              <a:buSzPct val="75000"/>
            </a:pPr>
            <a:r>
              <a:rPr lang="en-US" altLang="zh-CN" kern="100" dirty="0">
                <a:latin typeface="Consolas" panose="020B0609020204030204" pitchFamily="49" charset="0"/>
                <a:ea typeface="华文楷体" panose="02010600040101010101" pitchFamily="2" charset="-122"/>
              </a:rPr>
              <a:t>    </a:t>
            </a:r>
            <a:r>
              <a:rPr lang="en-US" altLang="zh-CN" kern="100" dirty="0" err="1">
                <a:latin typeface="Consolas" panose="020B0609020204030204" pitchFamily="49" charset="0"/>
                <a:ea typeface="华文楷体" panose="02010600040101010101" pitchFamily="2" charset="-122"/>
              </a:rPr>
              <a:t>base.add</a:t>
            </a:r>
            <a:r>
              <a:rPr lang="en-US" altLang="zh-CN" kern="100" dirty="0">
                <a:latin typeface="Consolas" panose="020B0609020204030204" pitchFamily="49" charset="0"/>
                <a:ea typeface="华文楷体" panose="02010600040101010101" pitchFamily="2" charset="-122"/>
              </a:rPr>
              <a:t>("pleased", "happy");</a:t>
            </a:r>
          </a:p>
          <a:p>
            <a:pPr>
              <a:spcBef>
                <a:spcPts val="1000"/>
              </a:spcBef>
              <a:buSzPct val="75000"/>
            </a:pPr>
            <a:r>
              <a:rPr lang="en-US" altLang="zh-CN" kern="100" dirty="0">
                <a:latin typeface="Consolas" panose="020B0609020204030204" pitchFamily="49" charset="0"/>
                <a:ea typeface="华文楷体" panose="02010600040101010101" pitchFamily="2" charset="-122"/>
              </a:rPr>
              <a:t>    </a:t>
            </a:r>
            <a:r>
              <a:rPr lang="en-US" altLang="zh-CN" kern="100" dirty="0" err="1">
                <a:latin typeface="Consolas" panose="020B0609020204030204" pitchFamily="49" charset="0"/>
                <a:ea typeface="华文楷体" panose="02010600040101010101" pitchFamily="2" charset="-122"/>
              </a:rPr>
              <a:t>base.add</a:t>
            </a:r>
            <a:r>
              <a:rPr lang="en-US" altLang="zh-CN" kern="100" dirty="0">
                <a:latin typeface="Consolas" panose="020B0609020204030204" pitchFamily="49" charset="0"/>
                <a:ea typeface="华文楷体" panose="02010600040101010101" pitchFamily="2" charset="-122"/>
              </a:rPr>
              <a:t>("angry", "irritated");</a:t>
            </a:r>
          </a:p>
          <a:p>
            <a:pPr>
              <a:spcBef>
                <a:spcPts val="1000"/>
              </a:spcBef>
              <a:buSzPct val="75000"/>
            </a:pPr>
            <a:r>
              <a:rPr lang="en-US" altLang="zh-CN" kern="100" dirty="0">
                <a:latin typeface="Consolas" panose="020B0609020204030204" pitchFamily="49" charset="0"/>
                <a:ea typeface="华文楷体" panose="02010600040101010101" pitchFamily="2" charset="-122"/>
              </a:rPr>
              <a:t>    </a:t>
            </a:r>
            <a:r>
              <a:rPr lang="en-US" altLang="zh-CN" kern="100" dirty="0" err="1">
                <a:latin typeface="Consolas" panose="020B0609020204030204" pitchFamily="49" charset="0"/>
                <a:ea typeface="华文楷体" panose="02010600040101010101" pitchFamily="2" charset="-122"/>
              </a:rPr>
              <a:t>base.query</a:t>
            </a:r>
            <a:r>
              <a:rPr lang="en-US" altLang="zh-CN" kern="100" dirty="0">
                <a:latin typeface="Consolas" panose="020B0609020204030204" pitchFamily="49" charset="0"/>
                <a:ea typeface="华文楷体" panose="02010600040101010101" pitchFamily="2" charset="-122"/>
              </a:rPr>
              <a:t>("happy");   </a:t>
            </a:r>
            <a:r>
              <a:rPr lang="en-US" altLang="zh-CN" kern="100" dirty="0">
                <a:solidFill>
                  <a:srgbClr val="008000"/>
                </a:solidFill>
                <a:latin typeface="Consolas" panose="020B0609020204030204" pitchFamily="49" charset="0"/>
                <a:ea typeface="华文楷体" panose="02010600040101010101" pitchFamily="2" charset="-122"/>
              </a:rPr>
              <a:t>//</a:t>
            </a:r>
            <a:r>
              <a:rPr lang="zh-CN" altLang="en-US" kern="100" dirty="0">
                <a:solidFill>
                  <a:srgbClr val="008000"/>
                </a:solidFill>
                <a:latin typeface="Consolas" panose="020B0609020204030204" pitchFamily="49" charset="0"/>
                <a:ea typeface="华文楷体" panose="02010600040101010101" pitchFamily="2" charset="-122"/>
              </a:rPr>
              <a:t>查询输出所有</a:t>
            </a:r>
            <a:r>
              <a:rPr lang="en-US" altLang="zh-CN" kern="100" dirty="0">
                <a:solidFill>
                  <a:srgbClr val="008000"/>
                </a:solidFill>
                <a:latin typeface="Consolas" panose="020B0609020204030204" pitchFamily="49" charset="0"/>
                <a:ea typeface="华文楷体" panose="02010600040101010101" pitchFamily="2" charset="-122"/>
              </a:rPr>
              <a:t>happy</a:t>
            </a:r>
            <a:r>
              <a:rPr lang="zh-CN" altLang="en-US" kern="100" dirty="0">
                <a:solidFill>
                  <a:srgbClr val="008000"/>
                </a:solidFill>
                <a:latin typeface="Consolas" panose="020B0609020204030204" pitchFamily="49" charset="0"/>
                <a:ea typeface="华文楷体" panose="02010600040101010101" pitchFamily="2" charset="-122"/>
              </a:rPr>
              <a:t>的同义词</a:t>
            </a:r>
            <a:endParaRPr lang="en-US" altLang="zh-CN" kern="100" dirty="0">
              <a:solidFill>
                <a:srgbClr val="008000"/>
              </a:solidFill>
              <a:latin typeface="Consolas" panose="020B0609020204030204" pitchFamily="49" charset="0"/>
              <a:ea typeface="华文楷体" panose="02010600040101010101" pitchFamily="2" charset="-122"/>
            </a:endParaRPr>
          </a:p>
          <a:p>
            <a:pPr>
              <a:spcBef>
                <a:spcPts val="1000"/>
              </a:spcBef>
              <a:buSzPct val="75000"/>
            </a:pPr>
            <a:r>
              <a:rPr lang="en-US" altLang="zh-CN" kern="100" dirty="0">
                <a:latin typeface="Consolas" panose="020B0609020204030204" pitchFamily="49" charset="0"/>
                <a:ea typeface="华文楷体" panose="02010600040101010101" pitchFamily="2" charset="-122"/>
              </a:rPr>
              <a:t>    </a:t>
            </a:r>
            <a:r>
              <a:rPr lang="en-US" altLang="zh-CN" kern="100" dirty="0" err="1">
                <a:latin typeface="Consolas" panose="020B0609020204030204" pitchFamily="49" charset="0"/>
                <a:ea typeface="华文楷体" panose="02010600040101010101" pitchFamily="2" charset="-122"/>
              </a:rPr>
              <a:t>base.query</a:t>
            </a:r>
            <a:r>
              <a:rPr lang="en-US" altLang="zh-CN" kern="100" dirty="0">
                <a:latin typeface="Consolas" panose="020B0609020204030204" pitchFamily="49" charset="0"/>
                <a:ea typeface="华文楷体" panose="02010600040101010101" pitchFamily="2" charset="-122"/>
              </a:rPr>
              <a:t>("pleased");</a:t>
            </a:r>
          </a:p>
          <a:p>
            <a:pPr>
              <a:spcBef>
                <a:spcPts val="1000"/>
              </a:spcBef>
              <a:buSzPct val="75000"/>
            </a:pPr>
            <a:r>
              <a:rPr lang="en-US" altLang="zh-CN" kern="100" dirty="0">
                <a:latin typeface="Consolas" panose="020B0609020204030204" pitchFamily="49" charset="0"/>
                <a:ea typeface="华文楷体" panose="02010600040101010101" pitchFamily="2" charset="-122"/>
              </a:rPr>
              <a:t>    </a:t>
            </a:r>
            <a:r>
              <a:rPr lang="en-US" altLang="zh-CN" kern="100" dirty="0" err="1">
                <a:latin typeface="Consolas" panose="020B0609020204030204" pitchFamily="49" charset="0"/>
                <a:ea typeface="华文楷体" panose="02010600040101010101" pitchFamily="2" charset="-122"/>
              </a:rPr>
              <a:t>base.query</a:t>
            </a:r>
            <a:r>
              <a:rPr lang="en-US" altLang="zh-CN" kern="100" dirty="0">
                <a:latin typeface="Consolas" panose="020B0609020204030204" pitchFamily="49" charset="0"/>
                <a:ea typeface="华文楷体" panose="02010600040101010101" pitchFamily="2" charset="-122"/>
              </a:rPr>
              <a:t>("angry");</a:t>
            </a:r>
          </a:p>
          <a:p>
            <a:pPr>
              <a:spcBef>
                <a:spcPts val="1000"/>
              </a:spcBef>
              <a:buSzPct val="75000"/>
            </a:pPr>
            <a:r>
              <a:rPr lang="en-US" altLang="zh-CN" kern="100" dirty="0">
                <a:latin typeface="Consolas" panose="020B0609020204030204" pitchFamily="49" charset="0"/>
                <a:ea typeface="华文楷体" panose="02010600040101010101" pitchFamily="2" charset="-122"/>
              </a:rPr>
              <a:t>}</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例子：同义词查询库</a:t>
            </a:r>
          </a:p>
        </p:txBody>
      </p:sp>
      <p:sp>
        <p:nvSpPr>
          <p:cNvPr id="3" name="内容占位符 2"/>
          <p:cNvSpPr>
            <a:spLocks noGrp="1"/>
          </p:cNvSpPr>
          <p:nvPr>
            <p:ph idx="1"/>
          </p:nvPr>
        </p:nvSpPr>
        <p:spPr>
          <a:xfrm>
            <a:off x="628649" y="1690688"/>
            <a:ext cx="8082213" cy="4665663"/>
          </a:xfrm>
        </p:spPr>
        <p:txBody>
          <a:bodyPr>
            <a:normAutofit/>
          </a:bodyPr>
          <a:lstStyle/>
          <a:p>
            <a:pPr>
              <a:lnSpc>
                <a:spcPct val="100000"/>
              </a:lnSpc>
              <a:buSzPct val="75000"/>
              <a:buFont typeface="Wingdings" panose="05000000000000000000" pitchFamily="2" charset="2"/>
              <a:buChar char="n"/>
            </a:pPr>
            <a:r>
              <a:rPr lang="zh-CN" altLang="en-US" b="1" kern="100" dirty="0">
                <a:solidFill>
                  <a:srgbClr val="003366"/>
                </a:solidFill>
                <a:latin typeface="Consolas" panose="020B0609020204030204" pitchFamily="49" charset="0"/>
                <a:ea typeface="华文楷体" panose="02010600040101010101" pitchFamily="2" charset="-122"/>
                <a:cs typeface="STKaiti" panose="02010600040101010101" charset="-122"/>
              </a:rPr>
              <a:t>场景：针对一个大型同义词库，频繁查询给定词语的所有同义词</a:t>
            </a:r>
            <a:endPar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endParaRPr>
          </a:p>
          <a:p>
            <a:pPr marL="0" indent="0">
              <a:lnSpc>
                <a:spcPct val="100000"/>
              </a:lnSpc>
              <a:buSzPct val="75000"/>
              <a:buNone/>
            </a:pPr>
            <a:endPar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72</a:t>
            </a:fld>
            <a:endParaRPr lang="en-US" altLang="zh-CN" dirty="0"/>
          </a:p>
        </p:txBody>
      </p:sp>
      <p:sp>
        <p:nvSpPr>
          <p:cNvPr id="4" name="Rectangle 3"/>
          <p:cNvSpPr/>
          <p:nvPr/>
        </p:nvSpPr>
        <p:spPr>
          <a:xfrm>
            <a:off x="628648" y="2579906"/>
            <a:ext cx="7886700" cy="4355038"/>
          </a:xfrm>
          <a:prstGeom prst="rect">
            <a:avLst/>
          </a:prstGeom>
        </p:spPr>
        <p:txBody>
          <a:bodyPr wrap="square">
            <a:spAutoFit/>
          </a:bodyPr>
          <a:lstStyle/>
          <a:p>
            <a:pPr>
              <a:buSzPct val="75000"/>
            </a:pPr>
            <a:r>
              <a:rPr lang="en-US" altLang="zh-CN" sz="1700" kern="100" dirty="0">
                <a:solidFill>
                  <a:srgbClr val="C00000"/>
                </a:solidFill>
                <a:latin typeface="Consolas" panose="020B0609020204030204" pitchFamily="49" charset="0"/>
                <a:ea typeface="华文楷体" panose="02010600040101010101" pitchFamily="2" charset="-122"/>
                <a:cs typeface="STKaiti" panose="02010600040101010101" charset="-122"/>
              </a:rPr>
              <a:t>class</a:t>
            </a:r>
            <a:r>
              <a:rPr lang="en-US" altLang="zh-CN" sz="1700" kern="100" dirty="0">
                <a:latin typeface="Consolas" panose="020B0609020204030204" pitchFamily="49" charset="0"/>
                <a:ea typeface="华文楷体" panose="02010600040101010101" pitchFamily="2" charset="-122"/>
                <a:cs typeface="STKaiti" panose="02010600040101010101" charset="-122"/>
              </a:rPr>
              <a:t> </a:t>
            </a:r>
            <a:r>
              <a:rPr lang="en-US" altLang="zh-CN" sz="1700" kern="100" dirty="0" err="1">
                <a:latin typeface="Consolas" panose="020B0609020204030204" pitchFamily="49" charset="0"/>
                <a:ea typeface="华文楷体" panose="02010600040101010101" pitchFamily="2" charset="-122"/>
                <a:cs typeface="STKaiti" panose="02010600040101010101" charset="-122"/>
              </a:rPr>
              <a:t>SynonymBase</a:t>
            </a:r>
            <a:r>
              <a:rPr lang="en-US" altLang="zh-CN" sz="1700" kern="100" dirty="0">
                <a:latin typeface="Consolas" panose="020B0609020204030204" pitchFamily="49" charset="0"/>
                <a:ea typeface="华文楷体" panose="02010600040101010101" pitchFamily="2" charset="-122"/>
                <a:cs typeface="STKaiti" panose="02010600040101010101" charset="-122"/>
              </a:rPr>
              <a:t> {</a:t>
            </a:r>
          </a:p>
          <a:p>
            <a:pPr>
              <a:buSzPct val="75000"/>
            </a:pPr>
            <a:r>
              <a:rPr lang="en-US" altLang="zh-CN" sz="1700" kern="100" dirty="0">
                <a:latin typeface="Consolas" panose="020B0609020204030204" pitchFamily="49" charset="0"/>
                <a:ea typeface="华文楷体" panose="02010600040101010101" pitchFamily="2" charset="-122"/>
                <a:cs typeface="STKaiti" panose="02010600040101010101" charset="-122"/>
              </a:rPr>
              <a:t>private:</a:t>
            </a:r>
          </a:p>
          <a:p>
            <a:pPr>
              <a:buSzPct val="75000"/>
            </a:pPr>
            <a:r>
              <a:rPr lang="en-US" altLang="zh-CN" sz="1700" kern="100" dirty="0">
                <a:latin typeface="Consolas" panose="020B0609020204030204" pitchFamily="49" charset="0"/>
                <a:ea typeface="华文楷体" panose="02010600040101010101" pitchFamily="2" charset="-122"/>
                <a:cs typeface="STKaiti" panose="02010600040101010101" charset="-122"/>
              </a:rPr>
              <a:t>    map&lt;string, vector&lt;string&gt;&gt; synonyms;</a:t>
            </a:r>
          </a:p>
          <a:p>
            <a:pPr>
              <a:buSzPct val="75000"/>
            </a:pPr>
            <a:r>
              <a:rPr lang="en-US" altLang="zh-CN" sz="1700" kern="100" dirty="0">
                <a:latin typeface="Consolas" panose="020B0609020204030204" pitchFamily="49" charset="0"/>
                <a:ea typeface="华文楷体" panose="02010600040101010101" pitchFamily="2" charset="-122"/>
                <a:cs typeface="STKaiti" panose="02010600040101010101" charset="-122"/>
              </a:rPr>
              <a:t>public:</a:t>
            </a:r>
          </a:p>
          <a:p>
            <a:pPr>
              <a:buSzPct val="75000"/>
            </a:pPr>
            <a:r>
              <a:rPr lang="en-US" altLang="zh-CN" sz="1700" kern="100" dirty="0">
                <a:latin typeface="Consolas" panose="020B0609020204030204" pitchFamily="49" charset="0"/>
                <a:ea typeface="华文楷体" panose="02010600040101010101" pitchFamily="2" charset="-122"/>
                <a:cs typeface="STKaiti" panose="02010600040101010101" charset="-122"/>
              </a:rPr>
              <a:t>    </a:t>
            </a:r>
            <a:r>
              <a:rPr lang="en-US" altLang="zh-CN" sz="1700" kern="100" dirty="0">
                <a:solidFill>
                  <a:srgbClr val="C00000"/>
                </a:solidFill>
                <a:latin typeface="Consolas" panose="020B0609020204030204" pitchFamily="49" charset="0"/>
                <a:ea typeface="华文楷体" panose="02010600040101010101" pitchFamily="2" charset="-122"/>
                <a:cs typeface="STKaiti" panose="02010600040101010101" charset="-122"/>
              </a:rPr>
              <a:t>void</a:t>
            </a:r>
            <a:r>
              <a:rPr lang="en-US" altLang="zh-CN" sz="1700" kern="100" dirty="0">
                <a:latin typeface="Consolas" panose="020B0609020204030204" pitchFamily="49" charset="0"/>
                <a:ea typeface="华文楷体" panose="02010600040101010101" pitchFamily="2" charset="-122"/>
                <a:cs typeface="STKaiti" panose="02010600040101010101" charset="-122"/>
              </a:rPr>
              <a:t> add(</a:t>
            </a:r>
            <a:r>
              <a:rPr lang="en-US" altLang="zh-CN" sz="1700" kern="100" dirty="0">
                <a:solidFill>
                  <a:srgbClr val="C00000"/>
                </a:solidFill>
                <a:latin typeface="Consolas" panose="020B0609020204030204" pitchFamily="49" charset="0"/>
                <a:ea typeface="华文楷体" panose="02010600040101010101" pitchFamily="2" charset="-122"/>
                <a:cs typeface="STKaiti" panose="02010600040101010101" charset="-122"/>
              </a:rPr>
              <a:t>string</a:t>
            </a:r>
            <a:r>
              <a:rPr lang="en-US" altLang="zh-CN" sz="1700" kern="100" dirty="0">
                <a:latin typeface="Consolas" panose="020B0609020204030204" pitchFamily="49" charset="0"/>
                <a:ea typeface="华文楷体" panose="02010600040101010101" pitchFamily="2" charset="-122"/>
                <a:cs typeface="STKaiti" panose="02010600040101010101" charset="-122"/>
              </a:rPr>
              <a:t> word, </a:t>
            </a:r>
            <a:r>
              <a:rPr lang="en-US" altLang="zh-CN" sz="1700" kern="100" dirty="0">
                <a:solidFill>
                  <a:srgbClr val="C00000"/>
                </a:solidFill>
                <a:latin typeface="Consolas" panose="020B0609020204030204" pitchFamily="49" charset="0"/>
                <a:ea typeface="华文楷体" panose="02010600040101010101" pitchFamily="2" charset="-122"/>
                <a:cs typeface="STKaiti" panose="02010600040101010101" charset="-122"/>
              </a:rPr>
              <a:t>string</a:t>
            </a:r>
            <a:r>
              <a:rPr lang="en-US" altLang="zh-CN" sz="1700" kern="100" dirty="0">
                <a:latin typeface="Consolas" panose="020B0609020204030204" pitchFamily="49" charset="0"/>
                <a:ea typeface="华文楷体" panose="02010600040101010101" pitchFamily="2" charset="-122"/>
                <a:cs typeface="STKaiti" panose="02010600040101010101" charset="-122"/>
              </a:rPr>
              <a:t> synonym){</a:t>
            </a:r>
          </a:p>
          <a:p>
            <a:pPr>
              <a:buSzPct val="75000"/>
            </a:pPr>
            <a:r>
              <a:rPr lang="en-US" altLang="zh-CN" sz="1700" kern="100" dirty="0">
                <a:latin typeface="Consolas" panose="020B0609020204030204" pitchFamily="49" charset="0"/>
                <a:ea typeface="华文楷体" panose="02010600040101010101" pitchFamily="2" charset="-122"/>
                <a:cs typeface="STKaiti" panose="02010600040101010101" charset="-122"/>
              </a:rPr>
              <a:t>        synonyms[word].</a:t>
            </a:r>
            <a:r>
              <a:rPr lang="en-US" altLang="zh-CN" sz="1700" kern="100" dirty="0" err="1">
                <a:latin typeface="Consolas" panose="020B0609020204030204" pitchFamily="49" charset="0"/>
                <a:ea typeface="华文楷体" panose="02010600040101010101" pitchFamily="2" charset="-122"/>
                <a:cs typeface="STKaiti" panose="02010600040101010101" charset="-122"/>
              </a:rPr>
              <a:t>push_back</a:t>
            </a:r>
            <a:r>
              <a:rPr lang="en-US" altLang="zh-CN" sz="1700" kern="100" dirty="0">
                <a:latin typeface="Consolas" panose="020B0609020204030204" pitchFamily="49" charset="0"/>
                <a:ea typeface="华文楷体" panose="02010600040101010101" pitchFamily="2" charset="-122"/>
                <a:cs typeface="STKaiti" panose="02010600040101010101" charset="-122"/>
              </a:rPr>
              <a:t>(synonym);</a:t>
            </a:r>
          </a:p>
          <a:p>
            <a:pPr>
              <a:buSzPct val="75000"/>
            </a:pPr>
            <a:r>
              <a:rPr lang="en-US" altLang="zh-CN" sz="1700" kern="100" dirty="0">
                <a:latin typeface="Consolas" panose="020B0609020204030204" pitchFamily="49" charset="0"/>
                <a:ea typeface="华文楷体" panose="02010600040101010101" pitchFamily="2" charset="-122"/>
                <a:cs typeface="STKaiti" panose="02010600040101010101" charset="-122"/>
              </a:rPr>
              <a:t>    }</a:t>
            </a:r>
          </a:p>
          <a:p>
            <a:pPr>
              <a:buSzPct val="75000"/>
            </a:pPr>
            <a:r>
              <a:rPr lang="en-US" altLang="zh-CN" sz="1700" kern="100" dirty="0">
                <a:latin typeface="Consolas" panose="020B0609020204030204" pitchFamily="49" charset="0"/>
                <a:ea typeface="华文楷体" panose="02010600040101010101" pitchFamily="2" charset="-122"/>
                <a:cs typeface="STKaiti" panose="02010600040101010101" charset="-122"/>
              </a:rPr>
              <a:t>    </a:t>
            </a:r>
            <a:r>
              <a:rPr lang="en-US" altLang="zh-CN" sz="1700" kern="100" dirty="0">
                <a:solidFill>
                  <a:srgbClr val="C00000"/>
                </a:solidFill>
                <a:latin typeface="Consolas" panose="020B0609020204030204" pitchFamily="49" charset="0"/>
                <a:ea typeface="华文楷体" panose="02010600040101010101" pitchFamily="2" charset="-122"/>
                <a:cs typeface="STKaiti" panose="02010600040101010101" charset="-122"/>
              </a:rPr>
              <a:t>void</a:t>
            </a:r>
            <a:r>
              <a:rPr lang="en-US" altLang="zh-CN" sz="1700" kern="100" dirty="0">
                <a:latin typeface="Consolas" panose="020B0609020204030204" pitchFamily="49" charset="0"/>
                <a:ea typeface="华文楷体" panose="02010600040101010101" pitchFamily="2" charset="-122"/>
                <a:cs typeface="STKaiti" panose="02010600040101010101" charset="-122"/>
              </a:rPr>
              <a:t> query(</a:t>
            </a:r>
            <a:r>
              <a:rPr lang="en-US" altLang="zh-CN" sz="1700" kern="100" dirty="0">
                <a:solidFill>
                  <a:srgbClr val="C00000"/>
                </a:solidFill>
                <a:latin typeface="Consolas" panose="020B0609020204030204" pitchFamily="49" charset="0"/>
                <a:ea typeface="华文楷体" panose="02010600040101010101" pitchFamily="2" charset="-122"/>
                <a:cs typeface="STKaiti" panose="02010600040101010101" charset="-122"/>
              </a:rPr>
              <a:t>string</a:t>
            </a:r>
            <a:r>
              <a:rPr lang="en-US" altLang="zh-CN" sz="1700" kern="100" dirty="0">
                <a:latin typeface="Consolas" panose="020B0609020204030204" pitchFamily="49" charset="0"/>
                <a:ea typeface="华文楷体" panose="02010600040101010101" pitchFamily="2" charset="-122"/>
                <a:cs typeface="STKaiti" panose="02010600040101010101" charset="-122"/>
              </a:rPr>
              <a:t> word){</a:t>
            </a:r>
          </a:p>
          <a:p>
            <a:pPr>
              <a:buSzPct val="75000"/>
            </a:pPr>
            <a:r>
              <a:rPr lang="en-US" altLang="zh-CN" sz="1700" kern="100" dirty="0">
                <a:latin typeface="Consolas" panose="020B0609020204030204" pitchFamily="49" charset="0"/>
                <a:ea typeface="华文楷体" panose="02010600040101010101" pitchFamily="2" charset="-122"/>
                <a:cs typeface="STKaiti" panose="02010600040101010101" charset="-122"/>
              </a:rPr>
              <a:t>        if(</a:t>
            </a:r>
            <a:r>
              <a:rPr lang="en-US" altLang="zh-CN" sz="1700" kern="100" dirty="0" err="1">
                <a:latin typeface="Consolas" panose="020B0609020204030204" pitchFamily="49" charset="0"/>
                <a:ea typeface="华文楷体" panose="02010600040101010101" pitchFamily="2" charset="-122"/>
                <a:cs typeface="STKaiti" panose="02010600040101010101" charset="-122"/>
              </a:rPr>
              <a:t>synonyms.find</a:t>
            </a:r>
            <a:r>
              <a:rPr lang="en-US" altLang="zh-CN" sz="1700" kern="100" dirty="0">
                <a:latin typeface="Consolas" panose="020B0609020204030204" pitchFamily="49" charset="0"/>
                <a:ea typeface="华文楷体" panose="02010600040101010101" pitchFamily="2" charset="-122"/>
                <a:cs typeface="STKaiti" panose="02010600040101010101" charset="-122"/>
              </a:rPr>
              <a:t>(word) == </a:t>
            </a:r>
            <a:r>
              <a:rPr lang="en-US" altLang="zh-CN" sz="1700" kern="100" dirty="0" err="1">
                <a:latin typeface="Consolas" panose="020B0609020204030204" pitchFamily="49" charset="0"/>
                <a:ea typeface="华文楷体" panose="02010600040101010101" pitchFamily="2" charset="-122"/>
                <a:cs typeface="STKaiti" panose="02010600040101010101" charset="-122"/>
              </a:rPr>
              <a:t>synonyms.end</a:t>
            </a:r>
            <a:r>
              <a:rPr lang="en-US" altLang="zh-CN" sz="1700" kern="100" dirty="0">
                <a:latin typeface="Consolas" panose="020B0609020204030204" pitchFamily="49" charset="0"/>
                <a:ea typeface="华文楷体" panose="02010600040101010101" pitchFamily="2" charset="-122"/>
                <a:cs typeface="STKaiti" panose="02010600040101010101" charset="-122"/>
              </a:rPr>
              <a:t>()){ </a:t>
            </a:r>
            <a:r>
              <a:rPr lang="en-US" altLang="zh-CN" sz="1700" kern="100" dirty="0">
                <a:solidFill>
                  <a:srgbClr val="008000"/>
                </a:solidFill>
                <a:latin typeface="Consolas" panose="020B0609020204030204" pitchFamily="49" charset="0"/>
                <a:ea typeface="华文楷体" panose="02010600040101010101" pitchFamily="2" charset="-122"/>
                <a:cs typeface="STKaiti" panose="02010600040101010101" charset="-122"/>
              </a:rPr>
              <a:t>//</a:t>
            </a:r>
            <a:r>
              <a:rPr lang="zh-CN" altLang="en-US" sz="1700" kern="100" dirty="0">
                <a:solidFill>
                  <a:srgbClr val="008000"/>
                </a:solidFill>
                <a:latin typeface="Consolas" panose="020B0609020204030204" pitchFamily="49" charset="0"/>
                <a:ea typeface="华文楷体" panose="02010600040101010101" pitchFamily="2" charset="-122"/>
                <a:cs typeface="STKaiti" panose="02010600040101010101" charset="-122"/>
              </a:rPr>
              <a:t>没有找到</a:t>
            </a:r>
            <a:endParaRPr lang="en-US" altLang="zh-CN" sz="1700" kern="100" dirty="0">
              <a:solidFill>
                <a:srgbClr val="008000"/>
              </a:solidFill>
              <a:latin typeface="Consolas" panose="020B0609020204030204" pitchFamily="49" charset="0"/>
              <a:ea typeface="华文楷体" panose="02010600040101010101" pitchFamily="2" charset="-122"/>
              <a:cs typeface="STKaiti" panose="02010600040101010101" charset="-122"/>
            </a:endParaRPr>
          </a:p>
          <a:p>
            <a:pPr>
              <a:buSzPct val="75000"/>
            </a:pPr>
            <a:r>
              <a:rPr lang="en-US" altLang="zh-CN" sz="1700" kern="100" dirty="0">
                <a:latin typeface="Consolas" panose="020B0609020204030204" pitchFamily="49" charset="0"/>
                <a:ea typeface="华文楷体" panose="02010600040101010101" pitchFamily="2" charset="-122"/>
                <a:cs typeface="STKaiti" panose="02010600040101010101" charset="-122"/>
              </a:rPr>
              <a:t>            </a:t>
            </a:r>
            <a:r>
              <a:rPr lang="en-US" altLang="zh-CN" sz="1700" kern="100" dirty="0" err="1">
                <a:latin typeface="Consolas" panose="020B0609020204030204" pitchFamily="49" charset="0"/>
                <a:ea typeface="华文楷体" panose="02010600040101010101" pitchFamily="2" charset="-122"/>
                <a:cs typeface="STKaiti" panose="02010600040101010101" charset="-122"/>
              </a:rPr>
              <a:t>cout</a:t>
            </a:r>
            <a:r>
              <a:rPr lang="en-US" altLang="zh-CN" sz="1700" kern="100" dirty="0">
                <a:latin typeface="Consolas" panose="020B0609020204030204" pitchFamily="49" charset="0"/>
                <a:ea typeface="华文楷体" panose="02010600040101010101" pitchFamily="2" charset="-122"/>
                <a:cs typeface="STKaiti" panose="02010600040101010101" charset="-122"/>
              </a:rPr>
              <a:t> &lt;&lt; </a:t>
            </a:r>
            <a:r>
              <a:rPr lang="en-US" altLang="zh-CN" kern="100" dirty="0">
                <a:latin typeface="Consolas" panose="020B0609020204030204" pitchFamily="49" charset="0"/>
                <a:ea typeface="华文楷体" panose="02010600040101010101" pitchFamily="2" charset="-122"/>
              </a:rPr>
              <a:t>"</a:t>
            </a:r>
            <a:r>
              <a:rPr lang="en-US" altLang="zh-CN" sz="1700" kern="100" dirty="0">
                <a:latin typeface="Consolas" panose="020B0609020204030204" pitchFamily="49" charset="0"/>
                <a:ea typeface="华文楷体" panose="02010600040101010101" pitchFamily="2" charset="-122"/>
                <a:cs typeface="STKaiti" panose="02010600040101010101" charset="-122"/>
              </a:rPr>
              <a:t>no synonyms found</a:t>
            </a:r>
            <a:r>
              <a:rPr lang="en-US" altLang="zh-CN" kern="100" dirty="0">
                <a:latin typeface="Consolas" panose="020B0609020204030204" pitchFamily="49" charset="0"/>
                <a:ea typeface="华文楷体" panose="02010600040101010101" pitchFamily="2" charset="-122"/>
              </a:rPr>
              <a:t>"</a:t>
            </a:r>
            <a:r>
              <a:rPr lang="en-US" altLang="zh-CN" sz="1700" kern="100" dirty="0">
                <a:latin typeface="Consolas" panose="020B0609020204030204" pitchFamily="49" charset="0"/>
                <a:ea typeface="华文楷体" panose="02010600040101010101" pitchFamily="2" charset="-122"/>
                <a:cs typeface="STKaiti" panose="02010600040101010101" charset="-122"/>
              </a:rPr>
              <a:t> &lt;&lt; </a:t>
            </a:r>
            <a:r>
              <a:rPr lang="en-US" altLang="zh-CN" sz="1700" kern="100" dirty="0" err="1">
                <a:latin typeface="Consolas" panose="020B0609020204030204" pitchFamily="49" charset="0"/>
                <a:ea typeface="华文楷体" panose="02010600040101010101" pitchFamily="2" charset="-122"/>
                <a:cs typeface="STKaiti" panose="02010600040101010101" charset="-122"/>
              </a:rPr>
              <a:t>endl</a:t>
            </a:r>
            <a:r>
              <a:rPr lang="en-US" altLang="zh-CN" sz="1700" kern="100" dirty="0">
                <a:latin typeface="Consolas" panose="020B0609020204030204" pitchFamily="49" charset="0"/>
                <a:ea typeface="华文楷体" panose="02010600040101010101" pitchFamily="2" charset="-122"/>
                <a:cs typeface="STKaiti" panose="02010600040101010101" charset="-122"/>
              </a:rPr>
              <a:t>;</a:t>
            </a:r>
          </a:p>
          <a:p>
            <a:pPr>
              <a:buSzPct val="75000"/>
            </a:pPr>
            <a:r>
              <a:rPr lang="en-US" altLang="zh-CN" sz="1700" kern="100" dirty="0">
                <a:latin typeface="Consolas" panose="020B0609020204030204" pitchFamily="49" charset="0"/>
                <a:ea typeface="华文楷体" panose="02010600040101010101" pitchFamily="2" charset="-122"/>
                <a:cs typeface="STKaiti" panose="02010600040101010101" charset="-122"/>
              </a:rPr>
              <a:t>        }</a:t>
            </a:r>
          </a:p>
          <a:p>
            <a:pPr>
              <a:buSzPct val="75000"/>
            </a:pPr>
            <a:r>
              <a:rPr lang="en-US" altLang="zh-CN" sz="1700" kern="100" dirty="0">
                <a:latin typeface="Consolas" panose="020B0609020204030204" pitchFamily="49" charset="0"/>
                <a:ea typeface="华文楷体" panose="02010600040101010101" pitchFamily="2" charset="-122"/>
                <a:cs typeface="STKaiti" panose="02010600040101010101" charset="-122"/>
              </a:rPr>
              <a:t>        else{</a:t>
            </a:r>
          </a:p>
          <a:p>
            <a:pPr>
              <a:buSzPct val="75000"/>
            </a:pPr>
            <a:r>
              <a:rPr lang="en-US" altLang="zh-CN" sz="1700" kern="100" dirty="0">
                <a:latin typeface="Consolas" panose="020B0609020204030204" pitchFamily="49" charset="0"/>
                <a:ea typeface="华文楷体" panose="02010600040101010101" pitchFamily="2" charset="-122"/>
                <a:cs typeface="STKaiti" panose="02010600040101010101" charset="-122"/>
              </a:rPr>
              <a:t>            for(auto &amp; x: synonyms[word]) </a:t>
            </a:r>
            <a:r>
              <a:rPr lang="en-US" altLang="zh-CN" sz="1700" kern="100" dirty="0" err="1">
                <a:latin typeface="Consolas" panose="020B0609020204030204" pitchFamily="49" charset="0"/>
                <a:ea typeface="华文楷体" panose="02010600040101010101" pitchFamily="2" charset="-122"/>
                <a:cs typeface="STKaiti" panose="02010600040101010101" charset="-122"/>
              </a:rPr>
              <a:t>cout</a:t>
            </a:r>
            <a:r>
              <a:rPr lang="en-US" altLang="zh-CN" sz="1700" kern="100" dirty="0">
                <a:latin typeface="Consolas" panose="020B0609020204030204" pitchFamily="49" charset="0"/>
                <a:ea typeface="华文楷体" panose="02010600040101010101" pitchFamily="2" charset="-122"/>
                <a:cs typeface="STKaiti" panose="02010600040101010101" charset="-122"/>
              </a:rPr>
              <a:t> &lt;&lt; x &lt;&lt; </a:t>
            </a:r>
            <a:r>
              <a:rPr lang="en-US" altLang="zh-CN" sz="1700" kern="100" dirty="0" err="1">
                <a:latin typeface="Consolas" panose="020B0609020204030204" pitchFamily="49" charset="0"/>
                <a:ea typeface="华文楷体" panose="02010600040101010101" pitchFamily="2" charset="-122"/>
                <a:cs typeface="STKaiti" panose="02010600040101010101" charset="-122"/>
              </a:rPr>
              <a:t>endl</a:t>
            </a:r>
            <a:r>
              <a:rPr lang="en-US" altLang="zh-CN" sz="1700" kern="100" dirty="0">
                <a:latin typeface="Consolas" panose="020B0609020204030204" pitchFamily="49" charset="0"/>
                <a:ea typeface="华文楷体" panose="02010600040101010101" pitchFamily="2" charset="-122"/>
                <a:cs typeface="STKaiti" panose="02010600040101010101" charset="-122"/>
              </a:rPr>
              <a:t>;</a:t>
            </a:r>
          </a:p>
          <a:p>
            <a:pPr>
              <a:buSzPct val="75000"/>
            </a:pPr>
            <a:r>
              <a:rPr lang="en-US" altLang="zh-CN" sz="1700" kern="100" dirty="0">
                <a:latin typeface="Consolas" panose="020B0609020204030204" pitchFamily="49" charset="0"/>
                <a:ea typeface="华文楷体" panose="02010600040101010101" pitchFamily="2" charset="-122"/>
                <a:cs typeface="STKaiti" panose="02010600040101010101" charset="-122"/>
              </a:rPr>
              <a:t>        }</a:t>
            </a:r>
          </a:p>
          <a:p>
            <a:pPr>
              <a:buSzPct val="75000"/>
            </a:pPr>
            <a:r>
              <a:rPr lang="en-US" altLang="zh-CN" sz="1700" kern="100" dirty="0">
                <a:latin typeface="Consolas" panose="020B0609020204030204" pitchFamily="49" charset="0"/>
                <a:ea typeface="华文楷体" panose="02010600040101010101" pitchFamily="2" charset="-122"/>
                <a:cs typeface="STKaiti" panose="02010600040101010101" charset="-122"/>
              </a:rPr>
              <a:t>    }</a:t>
            </a:r>
          </a:p>
          <a:p>
            <a:pPr>
              <a:buSzPct val="75000"/>
            </a:pPr>
            <a:r>
              <a:rPr lang="en-US" altLang="zh-CN" sz="1700" kern="100" dirty="0">
                <a:latin typeface="Consolas" panose="020B0609020204030204" pitchFamily="49" charset="0"/>
                <a:ea typeface="华文楷体" panose="02010600040101010101" pitchFamily="2" charset="-122"/>
                <a:cs typeface="STKaiti" panose="02010600040101010101" charset="-122"/>
              </a:rPr>
              <a:t>};</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例子：同义词查询库</a:t>
            </a:r>
          </a:p>
        </p:txBody>
      </p:sp>
      <p:sp>
        <p:nvSpPr>
          <p:cNvPr id="3" name="内容占位符 2"/>
          <p:cNvSpPr>
            <a:spLocks noGrp="1"/>
          </p:cNvSpPr>
          <p:nvPr>
            <p:ph idx="1"/>
          </p:nvPr>
        </p:nvSpPr>
        <p:spPr>
          <a:xfrm>
            <a:off x="628649" y="1690688"/>
            <a:ext cx="8082213" cy="4665663"/>
          </a:xfrm>
        </p:spPr>
        <p:txBody>
          <a:bodyPr>
            <a:normAutofit/>
          </a:bodyPr>
          <a:lstStyle/>
          <a:p>
            <a:pPr>
              <a:lnSpc>
                <a:spcPct val="100000"/>
              </a:lnSpc>
              <a:buSzPct val="75000"/>
              <a:buFont typeface="Wingdings" panose="05000000000000000000" pitchFamily="2" charset="2"/>
              <a:buChar char="n"/>
            </a:pPr>
            <a:r>
              <a:rPr lang="zh-CN" altLang="en-US" b="1" kern="100" dirty="0">
                <a:solidFill>
                  <a:srgbClr val="003366"/>
                </a:solidFill>
                <a:latin typeface="Consolas" panose="020B0609020204030204" pitchFamily="49" charset="0"/>
                <a:ea typeface="华文楷体" panose="02010600040101010101" pitchFamily="2" charset="-122"/>
                <a:cs typeface="STKaiti" panose="02010600040101010101" charset="-122"/>
              </a:rPr>
              <a:t>场景：针对一个大型同义词库，频繁查询给定词语的所有同义词</a:t>
            </a:r>
            <a:endPar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C00000"/>
                </a:solidFill>
                <a:latin typeface="Consolas" panose="020B0609020204030204" pitchFamily="49" charset="0"/>
                <a:ea typeface="华文楷体" panose="02010600040101010101" pitchFamily="2" charset="-122"/>
                <a:cs typeface="STKaiti" panose="02010600040101010101" charset="-122"/>
              </a:rPr>
              <a:t>增加需求：判定给定的两个词是否是同义词</a:t>
            </a:r>
            <a:endParaRPr lang="en-US" altLang="zh-CN" b="1" kern="100" dirty="0">
              <a:solidFill>
                <a:srgbClr val="C00000"/>
              </a:solidFill>
              <a:latin typeface="Consolas" panose="020B0609020204030204" pitchFamily="49" charset="0"/>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Consolas" panose="020B0609020204030204" pitchFamily="49" charset="0"/>
                <a:ea typeface="华文楷体" panose="02010600040101010101" pitchFamily="2" charset="-122"/>
                <a:cs typeface="STKaiti" panose="02010600040101010101" charset="-122"/>
              </a:rPr>
              <a:t>分析</a:t>
            </a:r>
            <a:endPar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endParaRPr>
          </a:p>
          <a:p>
            <a:pPr lvl="1">
              <a:lnSpc>
                <a:spcPct val="100000"/>
              </a:lnSpc>
              <a:buSzPct val="75000"/>
            </a:pPr>
            <a:r>
              <a:rPr lang="zh-CN" altLang="en-US" b="1" kern="100" dirty="0">
                <a:solidFill>
                  <a:srgbClr val="003366"/>
                </a:solidFill>
                <a:latin typeface="Consolas" panose="020B0609020204030204" pitchFamily="49" charset="0"/>
                <a:ea typeface="华文楷体" panose="02010600040101010101" pitchFamily="2" charset="-122"/>
                <a:cs typeface="STKaiti" panose="02010600040101010101" charset="-122"/>
              </a:rPr>
              <a:t>功能需求：构建词语与其同义词的映射关系</a:t>
            </a:r>
            <a:endPar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endParaRPr>
          </a:p>
          <a:p>
            <a:pPr lvl="1">
              <a:lnSpc>
                <a:spcPct val="100000"/>
              </a:lnSpc>
              <a:buSzPct val="75000"/>
            </a:pPr>
            <a:r>
              <a:rPr lang="zh-CN" altLang="en-US" b="1" kern="100" dirty="0">
                <a:solidFill>
                  <a:srgbClr val="003366"/>
                </a:solidFill>
                <a:latin typeface="Consolas" panose="020B0609020204030204" pitchFamily="49" charset="0"/>
                <a:ea typeface="华文楷体" panose="02010600040101010101" pitchFamily="2" charset="-122"/>
                <a:cs typeface="STKaiti" panose="02010600040101010101" charset="-122"/>
              </a:rPr>
              <a:t>效率：词语的查找速度很关键，考虑使用</a:t>
            </a:r>
            <a:r>
              <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rPr>
              <a:t>map</a:t>
            </a:r>
            <a:endPar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sym typeface="Wingdings" panose="05000000000000000000" pitchFamily="2" charset="2"/>
            </a:endParaRPr>
          </a:p>
          <a:p>
            <a:pPr lvl="2">
              <a:lnSpc>
                <a:spcPct val="100000"/>
              </a:lnSpc>
              <a:buSzPct val="75000"/>
            </a:pPr>
            <a:r>
              <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rPr>
              <a:t>key</a:t>
            </a:r>
            <a:r>
              <a:rPr lang="zh-CN" altLang="en-US" b="1" kern="100" dirty="0">
                <a:solidFill>
                  <a:srgbClr val="003366"/>
                </a:solidFill>
                <a:latin typeface="Consolas" panose="020B0609020204030204" pitchFamily="49" charset="0"/>
                <a:ea typeface="华文楷体" panose="02010600040101010101" pitchFamily="2" charset="-122"/>
                <a:cs typeface="STKaiti" panose="02010600040101010101" charset="-122"/>
              </a:rPr>
              <a:t>是词语，使用字符串类型</a:t>
            </a:r>
            <a:endPar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endParaRPr>
          </a:p>
          <a:p>
            <a:pPr lvl="2">
              <a:lnSpc>
                <a:spcPct val="100000"/>
              </a:lnSpc>
              <a:buSzPct val="75000"/>
            </a:pPr>
            <a:r>
              <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rPr>
              <a:t>value</a:t>
            </a:r>
            <a:r>
              <a:rPr lang="zh-CN" altLang="en-US" b="1" kern="100" dirty="0">
                <a:solidFill>
                  <a:srgbClr val="003366"/>
                </a:solidFill>
                <a:latin typeface="Consolas" panose="020B0609020204030204" pitchFamily="49" charset="0"/>
                <a:ea typeface="华文楷体" panose="02010600040101010101" pitchFamily="2" charset="-122"/>
                <a:cs typeface="STKaiti" panose="02010600040101010101" charset="-122"/>
              </a:rPr>
              <a:t>是相应的同义词容器。</a:t>
            </a:r>
            <a:r>
              <a:rPr lang="zh-CN" altLang="en-US" b="1" kern="100" dirty="0">
                <a:solidFill>
                  <a:srgbClr val="C00000"/>
                </a:solidFill>
                <a:latin typeface="Consolas" panose="020B0609020204030204" pitchFamily="49" charset="0"/>
                <a:ea typeface="华文楷体" panose="02010600040101010101" pitchFamily="2" charset="-122"/>
                <a:cs typeface="STKaiti" panose="02010600040101010101" charset="-122"/>
              </a:rPr>
              <a:t>对于新增需求，需要查询一个词是否在另一个词的同义词容器里；如果一个词的同义词较多，可以使用</a:t>
            </a:r>
            <a:r>
              <a:rPr lang="en-US" altLang="zh-CN" b="1" kern="100" dirty="0">
                <a:solidFill>
                  <a:srgbClr val="C00000"/>
                </a:solidFill>
                <a:latin typeface="Consolas" panose="020B0609020204030204" pitchFamily="49" charset="0"/>
                <a:ea typeface="华文楷体" panose="02010600040101010101" pitchFamily="2" charset="-122"/>
                <a:cs typeface="STKaiti" panose="02010600040101010101" charset="-122"/>
              </a:rPr>
              <a:t>set&lt;string&gt;</a:t>
            </a:r>
            <a:r>
              <a:rPr lang="zh-CN" altLang="en-US" b="1" kern="100" dirty="0">
                <a:solidFill>
                  <a:srgbClr val="C00000"/>
                </a:solidFill>
                <a:latin typeface="Consolas" panose="020B0609020204030204" pitchFamily="49" charset="0"/>
                <a:ea typeface="华文楷体" panose="02010600040101010101" pitchFamily="2" charset="-122"/>
                <a:cs typeface="STKaiti" panose="02010600040101010101" charset="-122"/>
              </a:rPr>
              <a:t>作为同义词容器</a:t>
            </a:r>
            <a:endParaRPr lang="en-US" altLang="zh-CN" b="1" kern="100" dirty="0">
              <a:solidFill>
                <a:srgbClr val="C00000"/>
              </a:solidFill>
              <a:latin typeface="Consolas" panose="020B0609020204030204" pitchFamily="49" charset="0"/>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73</a:t>
            </a:fld>
            <a:endParaRPr lang="en-US" altLang="zh-CN"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例子：同义词查询库</a:t>
            </a:r>
          </a:p>
        </p:txBody>
      </p:sp>
      <p:sp>
        <p:nvSpPr>
          <p:cNvPr id="3" name="内容占位符 2"/>
          <p:cNvSpPr>
            <a:spLocks noGrp="1"/>
          </p:cNvSpPr>
          <p:nvPr>
            <p:ph idx="1"/>
          </p:nvPr>
        </p:nvSpPr>
        <p:spPr>
          <a:xfrm>
            <a:off x="628649" y="1690688"/>
            <a:ext cx="8082213" cy="4665663"/>
          </a:xfrm>
        </p:spPr>
        <p:txBody>
          <a:bodyPr>
            <a:normAutofit/>
          </a:bodyPr>
          <a:lstStyle/>
          <a:p>
            <a:pPr>
              <a:lnSpc>
                <a:spcPct val="100000"/>
              </a:lnSpc>
              <a:buSzPct val="75000"/>
              <a:buFont typeface="Wingdings" panose="05000000000000000000" pitchFamily="2" charset="2"/>
              <a:buChar char="n"/>
            </a:pPr>
            <a:r>
              <a:rPr lang="zh-CN" altLang="en-US" sz="2400" b="1" kern="100" dirty="0">
                <a:solidFill>
                  <a:srgbClr val="003366"/>
                </a:solidFill>
                <a:latin typeface="Consolas" panose="020B0609020204030204" pitchFamily="49" charset="0"/>
                <a:ea typeface="华文楷体" panose="02010600040101010101" pitchFamily="2" charset="-122"/>
                <a:cs typeface="STKaiti" panose="02010600040101010101" charset="-122"/>
              </a:rPr>
              <a:t>场景：针对一个大型同义词库，频繁查询给定词语的所有同义词，</a:t>
            </a:r>
            <a:r>
              <a:rPr lang="zh-CN" altLang="en-US" sz="2400" b="1" kern="100" dirty="0">
                <a:solidFill>
                  <a:srgbClr val="C00000"/>
                </a:solidFill>
                <a:latin typeface="Consolas" panose="020B0609020204030204" pitchFamily="49" charset="0"/>
                <a:ea typeface="华文楷体" panose="02010600040101010101" pitchFamily="2" charset="-122"/>
                <a:cs typeface="STKaiti" panose="02010600040101010101" charset="-122"/>
              </a:rPr>
              <a:t>或者判定给定的两个词是否是同义词</a:t>
            </a:r>
            <a:endParaRPr lang="en-US" altLang="zh-CN" sz="2400" b="1" kern="100" dirty="0">
              <a:solidFill>
                <a:srgbClr val="C00000"/>
              </a:solidFill>
              <a:latin typeface="Consolas" panose="020B0609020204030204" pitchFamily="49" charset="0"/>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74</a:t>
            </a:fld>
            <a:endParaRPr lang="en-US" altLang="zh-CN" dirty="0"/>
          </a:p>
        </p:txBody>
      </p:sp>
      <p:sp>
        <p:nvSpPr>
          <p:cNvPr id="6" name="Rectangle 5"/>
          <p:cNvSpPr/>
          <p:nvPr/>
        </p:nvSpPr>
        <p:spPr>
          <a:xfrm>
            <a:off x="628647" y="2590567"/>
            <a:ext cx="8082213" cy="4252446"/>
          </a:xfrm>
          <a:prstGeom prst="rect">
            <a:avLst/>
          </a:prstGeom>
        </p:spPr>
        <p:txBody>
          <a:bodyPr wrap="square">
            <a:spAutoFit/>
          </a:bodyPr>
          <a:lstStyle/>
          <a:p>
            <a:pPr>
              <a:spcBef>
                <a:spcPts val="1000"/>
              </a:spcBef>
              <a:buSzPct val="75000"/>
            </a:pPr>
            <a:r>
              <a:rPr lang="en-US" altLang="zh-CN" sz="1700" kern="100" dirty="0">
                <a:latin typeface="Consolas" panose="020B0609020204030204" pitchFamily="49" charset="0"/>
                <a:ea typeface="华文楷体" panose="02010600040101010101" pitchFamily="2" charset="-122"/>
              </a:rPr>
              <a:t>// </a:t>
            </a:r>
            <a:r>
              <a:rPr lang="zh-CN" altLang="en-US" sz="1700" kern="100" dirty="0">
                <a:latin typeface="Consolas" panose="020B0609020204030204" pitchFamily="49" charset="0"/>
                <a:ea typeface="华文楷体" panose="02010600040101010101" pitchFamily="2" charset="-122"/>
              </a:rPr>
              <a:t>测试函数，</a:t>
            </a:r>
            <a:r>
              <a:rPr lang="en-US" altLang="zh-CN" sz="1700" kern="100" dirty="0" err="1">
                <a:latin typeface="Consolas" panose="020B0609020204030204" pitchFamily="49" charset="0"/>
                <a:ea typeface="华文楷体" panose="02010600040101010101" pitchFamily="2" charset="-122"/>
              </a:rPr>
              <a:t>SynonymBase</a:t>
            </a:r>
            <a:r>
              <a:rPr lang="zh-CN" altLang="en-US" sz="1700" kern="100" dirty="0">
                <a:latin typeface="Consolas" panose="020B0609020204030204" pitchFamily="49" charset="0"/>
                <a:ea typeface="华文楷体" panose="02010600040101010101" pitchFamily="2" charset="-122"/>
              </a:rPr>
              <a:t>是待实现的同义词查询库类</a:t>
            </a:r>
            <a:endParaRPr lang="en-US" altLang="zh-CN" sz="1700" kern="100" dirty="0">
              <a:latin typeface="Consolas" panose="020B0609020204030204" pitchFamily="49" charset="0"/>
              <a:ea typeface="华文楷体" panose="02010600040101010101" pitchFamily="2" charset="-122"/>
            </a:endParaRPr>
          </a:p>
          <a:p>
            <a:pPr>
              <a:spcBef>
                <a:spcPts val="1000"/>
              </a:spcBef>
              <a:buSzPct val="75000"/>
            </a:pPr>
            <a:r>
              <a:rPr lang="en-US" altLang="zh-CN" sz="1700" kern="100" dirty="0">
                <a:latin typeface="Consolas" panose="020B0609020204030204" pitchFamily="49" charset="0"/>
                <a:ea typeface="华文楷体" panose="02010600040101010101" pitchFamily="2" charset="-122"/>
              </a:rPr>
              <a:t>void test(</a:t>
            </a:r>
            <a:r>
              <a:rPr lang="en-US" altLang="zh-CN" sz="1700" kern="100" dirty="0" err="1">
                <a:latin typeface="Consolas" panose="020B0609020204030204" pitchFamily="49" charset="0"/>
                <a:ea typeface="华文楷体" panose="02010600040101010101" pitchFamily="2" charset="-122"/>
              </a:rPr>
              <a:t>SynonymBase</a:t>
            </a:r>
            <a:r>
              <a:rPr lang="en-US" altLang="zh-CN" sz="1700" kern="100" dirty="0">
                <a:latin typeface="Consolas" panose="020B0609020204030204" pitchFamily="49" charset="0"/>
                <a:ea typeface="华文楷体" panose="02010600040101010101" pitchFamily="2" charset="-122"/>
              </a:rPr>
              <a:t>&amp; base){</a:t>
            </a:r>
          </a:p>
          <a:p>
            <a:pPr>
              <a:spcBef>
                <a:spcPts val="1000"/>
              </a:spcBef>
              <a:buSzPct val="75000"/>
            </a:pPr>
            <a:r>
              <a:rPr lang="en-US" altLang="zh-CN" sz="1700" kern="100" dirty="0">
                <a:latin typeface="Consolas" panose="020B0609020204030204" pitchFamily="49" charset="0"/>
                <a:ea typeface="华文楷体" panose="02010600040101010101" pitchFamily="2" charset="-122"/>
              </a:rPr>
              <a:t>    </a:t>
            </a:r>
            <a:r>
              <a:rPr lang="en-US" altLang="zh-CN" sz="1700" kern="100" dirty="0" err="1">
                <a:latin typeface="Consolas" panose="020B0609020204030204" pitchFamily="49" charset="0"/>
                <a:ea typeface="华文楷体" panose="02010600040101010101" pitchFamily="2" charset="-122"/>
              </a:rPr>
              <a:t>base.add</a:t>
            </a:r>
            <a:r>
              <a:rPr lang="en-US" altLang="zh-CN" sz="1700" kern="100" dirty="0">
                <a:latin typeface="Consolas" panose="020B0609020204030204" pitchFamily="49" charset="0"/>
                <a:ea typeface="华文楷体" panose="02010600040101010101" pitchFamily="2" charset="-122"/>
              </a:rPr>
              <a:t>("happy", "pleased"); </a:t>
            </a:r>
            <a:r>
              <a:rPr lang="en-US" altLang="zh-CN" sz="1600" kern="100" dirty="0">
                <a:solidFill>
                  <a:srgbClr val="008000"/>
                </a:solidFill>
                <a:latin typeface="Consolas" panose="020B0609020204030204" pitchFamily="49" charset="0"/>
                <a:ea typeface="华文楷体" panose="02010600040101010101" pitchFamily="2" charset="-122"/>
              </a:rPr>
              <a:t>//</a:t>
            </a:r>
            <a:r>
              <a:rPr lang="zh-CN" altLang="en-US" sz="1600" kern="100" dirty="0">
                <a:solidFill>
                  <a:srgbClr val="008000"/>
                </a:solidFill>
                <a:latin typeface="Consolas" panose="020B0609020204030204" pitchFamily="49" charset="0"/>
                <a:ea typeface="华文楷体" panose="02010600040101010101" pitchFamily="2" charset="-122"/>
              </a:rPr>
              <a:t>加入</a:t>
            </a:r>
            <a:r>
              <a:rPr lang="en-US" altLang="zh-CN" sz="1600" kern="100" dirty="0">
                <a:solidFill>
                  <a:srgbClr val="008000"/>
                </a:solidFill>
                <a:latin typeface="Consolas" panose="020B0609020204030204" pitchFamily="49" charset="0"/>
                <a:ea typeface="华文楷体" panose="02010600040101010101" pitchFamily="2" charset="-122"/>
              </a:rPr>
              <a:t>happy</a:t>
            </a:r>
            <a:r>
              <a:rPr lang="zh-CN" altLang="en-US" sz="1600" kern="100" dirty="0">
                <a:solidFill>
                  <a:srgbClr val="008000"/>
                </a:solidFill>
                <a:latin typeface="Consolas" panose="020B0609020204030204" pitchFamily="49" charset="0"/>
                <a:ea typeface="华文楷体" panose="02010600040101010101" pitchFamily="2" charset="-122"/>
              </a:rPr>
              <a:t>同义词</a:t>
            </a:r>
            <a:r>
              <a:rPr lang="en-US" altLang="zh-CN" sz="1600" kern="100" dirty="0">
                <a:solidFill>
                  <a:srgbClr val="008000"/>
                </a:solidFill>
                <a:latin typeface="Consolas" panose="020B0609020204030204" pitchFamily="49" charset="0"/>
                <a:ea typeface="华文楷体" panose="02010600040101010101" pitchFamily="2" charset="-122"/>
              </a:rPr>
              <a:t>pleased</a:t>
            </a:r>
            <a:endParaRPr lang="en-US" altLang="zh-CN" sz="1700" kern="100" dirty="0">
              <a:latin typeface="Consolas" panose="020B0609020204030204" pitchFamily="49" charset="0"/>
              <a:ea typeface="华文楷体" panose="02010600040101010101" pitchFamily="2" charset="-122"/>
            </a:endParaRPr>
          </a:p>
          <a:p>
            <a:pPr>
              <a:spcBef>
                <a:spcPts val="1000"/>
              </a:spcBef>
              <a:buSzPct val="75000"/>
            </a:pPr>
            <a:r>
              <a:rPr lang="en-US" altLang="zh-CN" sz="1700" kern="100" dirty="0">
                <a:latin typeface="Consolas" panose="020B0609020204030204" pitchFamily="49" charset="0"/>
                <a:ea typeface="华文楷体" panose="02010600040101010101" pitchFamily="2" charset="-122"/>
              </a:rPr>
              <a:t>    </a:t>
            </a:r>
            <a:r>
              <a:rPr lang="en-US" altLang="zh-CN" sz="1700" kern="100" dirty="0" err="1">
                <a:latin typeface="Consolas" panose="020B0609020204030204" pitchFamily="49" charset="0"/>
                <a:ea typeface="华文楷体" panose="02010600040101010101" pitchFamily="2" charset="-122"/>
              </a:rPr>
              <a:t>base.add</a:t>
            </a:r>
            <a:r>
              <a:rPr lang="en-US" altLang="zh-CN" sz="1700" kern="100" dirty="0">
                <a:latin typeface="Consolas" panose="020B0609020204030204" pitchFamily="49" charset="0"/>
                <a:ea typeface="华文楷体" panose="02010600040101010101" pitchFamily="2" charset="-122"/>
              </a:rPr>
              <a:t>("happy", "satisfied");</a:t>
            </a:r>
          </a:p>
          <a:p>
            <a:pPr>
              <a:spcBef>
                <a:spcPts val="1000"/>
              </a:spcBef>
              <a:buSzPct val="75000"/>
            </a:pPr>
            <a:r>
              <a:rPr lang="en-US" altLang="zh-CN" sz="1700" kern="100" dirty="0">
                <a:latin typeface="Consolas" panose="020B0609020204030204" pitchFamily="49" charset="0"/>
                <a:ea typeface="华文楷体" panose="02010600040101010101" pitchFamily="2" charset="-122"/>
              </a:rPr>
              <a:t>    </a:t>
            </a:r>
            <a:r>
              <a:rPr lang="en-US" altLang="zh-CN" sz="1700" kern="100" dirty="0" err="1">
                <a:latin typeface="Consolas" panose="020B0609020204030204" pitchFamily="49" charset="0"/>
                <a:ea typeface="华文楷体" panose="02010600040101010101" pitchFamily="2" charset="-122"/>
              </a:rPr>
              <a:t>base.add</a:t>
            </a:r>
            <a:r>
              <a:rPr lang="en-US" altLang="zh-CN" sz="1700" kern="100" dirty="0">
                <a:latin typeface="Consolas" panose="020B0609020204030204" pitchFamily="49" charset="0"/>
                <a:ea typeface="华文楷体" panose="02010600040101010101" pitchFamily="2" charset="-122"/>
              </a:rPr>
              <a:t>("pleased", "happy");</a:t>
            </a:r>
          </a:p>
          <a:p>
            <a:pPr>
              <a:spcBef>
                <a:spcPts val="1000"/>
              </a:spcBef>
              <a:buSzPct val="75000"/>
            </a:pPr>
            <a:r>
              <a:rPr lang="en-US" altLang="zh-CN" sz="1700" kern="100" dirty="0">
                <a:latin typeface="Consolas" panose="020B0609020204030204" pitchFamily="49" charset="0"/>
                <a:ea typeface="华文楷体" panose="02010600040101010101" pitchFamily="2" charset="-122"/>
              </a:rPr>
              <a:t>    </a:t>
            </a:r>
            <a:r>
              <a:rPr lang="en-US" altLang="zh-CN" sz="1700" kern="100" dirty="0" err="1">
                <a:latin typeface="Consolas" panose="020B0609020204030204" pitchFamily="49" charset="0"/>
                <a:ea typeface="华文楷体" panose="02010600040101010101" pitchFamily="2" charset="-122"/>
              </a:rPr>
              <a:t>base.add</a:t>
            </a:r>
            <a:r>
              <a:rPr lang="en-US" altLang="zh-CN" sz="1700" kern="100" dirty="0">
                <a:latin typeface="Consolas" panose="020B0609020204030204" pitchFamily="49" charset="0"/>
                <a:ea typeface="华文楷体" panose="02010600040101010101" pitchFamily="2" charset="-122"/>
              </a:rPr>
              <a:t>("angry", "irritated");</a:t>
            </a:r>
          </a:p>
          <a:p>
            <a:pPr>
              <a:spcBef>
                <a:spcPts val="1000"/>
              </a:spcBef>
              <a:buSzPct val="75000"/>
            </a:pPr>
            <a:r>
              <a:rPr lang="en-US" altLang="zh-CN" sz="1700" kern="100" dirty="0">
                <a:latin typeface="Consolas" panose="020B0609020204030204" pitchFamily="49" charset="0"/>
                <a:ea typeface="华文楷体" panose="02010600040101010101" pitchFamily="2" charset="-122"/>
              </a:rPr>
              <a:t>    </a:t>
            </a:r>
            <a:r>
              <a:rPr lang="en-US" altLang="zh-CN" sz="1700" kern="100" dirty="0" err="1">
                <a:latin typeface="Consolas" panose="020B0609020204030204" pitchFamily="49" charset="0"/>
                <a:ea typeface="华文楷体" panose="02010600040101010101" pitchFamily="2" charset="-122"/>
              </a:rPr>
              <a:t>base.query</a:t>
            </a:r>
            <a:r>
              <a:rPr lang="en-US" altLang="zh-CN" sz="1700" kern="100" dirty="0">
                <a:latin typeface="Consolas" panose="020B0609020204030204" pitchFamily="49" charset="0"/>
                <a:ea typeface="华文楷体" panose="02010600040101010101" pitchFamily="2" charset="-122"/>
              </a:rPr>
              <a:t>("happy"); </a:t>
            </a:r>
            <a:r>
              <a:rPr lang="en-US" altLang="zh-CN" sz="1600" kern="100" dirty="0">
                <a:solidFill>
                  <a:srgbClr val="008000"/>
                </a:solidFill>
                <a:latin typeface="Consolas" panose="020B0609020204030204" pitchFamily="49" charset="0"/>
                <a:ea typeface="华文楷体" panose="02010600040101010101" pitchFamily="2" charset="-122"/>
              </a:rPr>
              <a:t>//</a:t>
            </a:r>
            <a:r>
              <a:rPr lang="zh-CN" altLang="en-US" sz="1600" kern="100" dirty="0">
                <a:solidFill>
                  <a:srgbClr val="008000"/>
                </a:solidFill>
                <a:latin typeface="Consolas" panose="020B0609020204030204" pitchFamily="49" charset="0"/>
                <a:ea typeface="华文楷体" panose="02010600040101010101" pitchFamily="2" charset="-122"/>
              </a:rPr>
              <a:t>查询输出所有</a:t>
            </a:r>
            <a:r>
              <a:rPr lang="en-US" altLang="zh-CN" sz="1600" kern="100" dirty="0">
                <a:solidFill>
                  <a:srgbClr val="008000"/>
                </a:solidFill>
                <a:latin typeface="Consolas" panose="020B0609020204030204" pitchFamily="49" charset="0"/>
                <a:ea typeface="华文楷体" panose="02010600040101010101" pitchFamily="2" charset="-122"/>
              </a:rPr>
              <a:t>happy</a:t>
            </a:r>
            <a:r>
              <a:rPr lang="zh-CN" altLang="en-US" sz="1600" kern="100" dirty="0">
                <a:solidFill>
                  <a:srgbClr val="008000"/>
                </a:solidFill>
                <a:latin typeface="Consolas" panose="020B0609020204030204" pitchFamily="49" charset="0"/>
                <a:ea typeface="华文楷体" panose="02010600040101010101" pitchFamily="2" charset="-122"/>
              </a:rPr>
              <a:t>的同义词</a:t>
            </a:r>
            <a:endParaRPr lang="en-US" altLang="zh-CN" sz="1700" kern="100" dirty="0">
              <a:latin typeface="Consolas" panose="020B0609020204030204" pitchFamily="49" charset="0"/>
              <a:ea typeface="华文楷体" panose="02010600040101010101" pitchFamily="2" charset="-122"/>
            </a:endParaRPr>
          </a:p>
          <a:p>
            <a:pPr>
              <a:spcBef>
                <a:spcPts val="1000"/>
              </a:spcBef>
              <a:buSzPct val="75000"/>
            </a:pPr>
            <a:r>
              <a:rPr lang="en-US" altLang="zh-CN" sz="1700" kern="100" dirty="0">
                <a:latin typeface="Consolas" panose="020B0609020204030204" pitchFamily="49" charset="0"/>
                <a:ea typeface="华文楷体" panose="02010600040101010101" pitchFamily="2" charset="-122"/>
              </a:rPr>
              <a:t>    </a:t>
            </a:r>
            <a:r>
              <a:rPr lang="en-US" altLang="zh-CN" sz="1700" kern="100" dirty="0" err="1">
                <a:latin typeface="Consolas" panose="020B0609020204030204" pitchFamily="49" charset="0"/>
                <a:ea typeface="华文楷体" panose="02010600040101010101" pitchFamily="2" charset="-122"/>
              </a:rPr>
              <a:t>base.query</a:t>
            </a:r>
            <a:r>
              <a:rPr lang="en-US" altLang="zh-CN" sz="1700" kern="100" dirty="0">
                <a:latin typeface="Consolas" panose="020B0609020204030204" pitchFamily="49" charset="0"/>
                <a:ea typeface="华文楷体" panose="02010600040101010101" pitchFamily="2" charset="-122"/>
              </a:rPr>
              <a:t>("angry");</a:t>
            </a:r>
          </a:p>
          <a:p>
            <a:pPr>
              <a:spcBef>
                <a:spcPts val="1000"/>
              </a:spcBef>
              <a:buSzPct val="75000"/>
            </a:pPr>
            <a:r>
              <a:rPr lang="en-US" altLang="zh-CN" sz="1700" kern="100" dirty="0">
                <a:latin typeface="Consolas" panose="020B0609020204030204" pitchFamily="49" charset="0"/>
                <a:ea typeface="华文楷体" panose="02010600040101010101" pitchFamily="2" charset="-122"/>
              </a:rPr>
              <a:t>    </a:t>
            </a:r>
            <a:r>
              <a:rPr lang="en-US" altLang="zh-CN" sz="1700" kern="100" dirty="0" err="1">
                <a:latin typeface="Consolas" panose="020B0609020204030204" pitchFamily="49" charset="0"/>
                <a:ea typeface="华文楷体" panose="02010600040101010101" pitchFamily="2" charset="-122"/>
              </a:rPr>
              <a:t>cout</a:t>
            </a:r>
            <a:r>
              <a:rPr lang="en-US" altLang="zh-CN" sz="1700" kern="100" dirty="0">
                <a:latin typeface="Consolas" panose="020B0609020204030204" pitchFamily="49" charset="0"/>
                <a:ea typeface="华文楷体" panose="02010600040101010101" pitchFamily="2" charset="-122"/>
              </a:rPr>
              <a:t> &lt;&lt; </a:t>
            </a:r>
            <a:r>
              <a:rPr lang="en-US" altLang="zh-CN" sz="1700" kern="100" dirty="0" err="1">
                <a:latin typeface="Consolas" panose="020B0609020204030204" pitchFamily="49" charset="0"/>
                <a:ea typeface="华文楷体" panose="02010600040101010101" pitchFamily="2" charset="-122"/>
              </a:rPr>
              <a:t>base.</a:t>
            </a:r>
            <a:r>
              <a:rPr lang="en-US" altLang="zh-CN" sz="1700" kern="100" dirty="0" err="1">
                <a:solidFill>
                  <a:srgbClr val="FF0000"/>
                </a:solidFill>
                <a:latin typeface="Consolas" panose="020B0609020204030204" pitchFamily="49" charset="0"/>
                <a:ea typeface="华文楷体" panose="02010600040101010101" pitchFamily="2" charset="-122"/>
              </a:rPr>
              <a:t>isSynonyms</a:t>
            </a:r>
            <a:r>
              <a:rPr lang="en-US" altLang="zh-CN" sz="1700" kern="100" dirty="0">
                <a:latin typeface="Consolas" panose="020B0609020204030204" pitchFamily="49" charset="0"/>
                <a:ea typeface="华文楷体" panose="02010600040101010101" pitchFamily="2" charset="-122"/>
              </a:rPr>
              <a:t>("happy", "pleased") &lt;&lt; </a:t>
            </a:r>
            <a:r>
              <a:rPr lang="en-US" altLang="zh-CN" sz="1700" kern="100" dirty="0" err="1">
                <a:latin typeface="Consolas" panose="020B0609020204030204" pitchFamily="49" charset="0"/>
                <a:ea typeface="华文楷体" panose="02010600040101010101" pitchFamily="2" charset="-122"/>
              </a:rPr>
              <a:t>endl</a:t>
            </a:r>
            <a:r>
              <a:rPr lang="en-US" altLang="zh-CN" sz="1700" kern="100" dirty="0">
                <a:latin typeface="Consolas" panose="020B0609020204030204" pitchFamily="49" charset="0"/>
                <a:ea typeface="华文楷体" panose="02010600040101010101" pitchFamily="2" charset="-122"/>
              </a:rPr>
              <a:t>;</a:t>
            </a:r>
          </a:p>
          <a:p>
            <a:pPr>
              <a:spcBef>
                <a:spcPts val="1000"/>
              </a:spcBef>
              <a:buSzPct val="75000"/>
            </a:pPr>
            <a:r>
              <a:rPr lang="en-US" altLang="zh-CN" sz="1700" kern="100" dirty="0">
                <a:latin typeface="Consolas" panose="020B0609020204030204" pitchFamily="49" charset="0"/>
                <a:ea typeface="华文楷体" panose="02010600040101010101" pitchFamily="2" charset="-122"/>
              </a:rPr>
              <a:t>    </a:t>
            </a:r>
            <a:r>
              <a:rPr lang="en-US" altLang="zh-CN" sz="1700" kern="100" dirty="0" err="1">
                <a:latin typeface="Consolas" panose="020B0609020204030204" pitchFamily="49" charset="0"/>
                <a:ea typeface="华文楷体" panose="02010600040101010101" pitchFamily="2" charset="-122"/>
              </a:rPr>
              <a:t>cout</a:t>
            </a:r>
            <a:r>
              <a:rPr lang="en-US" altLang="zh-CN" sz="1700" kern="100" dirty="0">
                <a:latin typeface="Consolas" panose="020B0609020204030204" pitchFamily="49" charset="0"/>
                <a:ea typeface="华文楷体" panose="02010600040101010101" pitchFamily="2" charset="-122"/>
              </a:rPr>
              <a:t> &lt;&lt; </a:t>
            </a:r>
            <a:r>
              <a:rPr lang="en-US" altLang="zh-CN" sz="1700" kern="100" dirty="0" err="1">
                <a:latin typeface="Consolas" panose="020B0609020204030204" pitchFamily="49" charset="0"/>
                <a:ea typeface="华文楷体" panose="02010600040101010101" pitchFamily="2" charset="-122"/>
              </a:rPr>
              <a:t>base.</a:t>
            </a:r>
            <a:r>
              <a:rPr lang="en-US" altLang="zh-CN" sz="1700" kern="100" dirty="0" err="1">
                <a:solidFill>
                  <a:srgbClr val="FF0000"/>
                </a:solidFill>
                <a:latin typeface="Consolas" panose="020B0609020204030204" pitchFamily="49" charset="0"/>
                <a:ea typeface="华文楷体" panose="02010600040101010101" pitchFamily="2" charset="-122"/>
              </a:rPr>
              <a:t>isSynonyms</a:t>
            </a:r>
            <a:r>
              <a:rPr lang="en-US" altLang="zh-CN" sz="1700" kern="100" dirty="0">
                <a:latin typeface="Consolas" panose="020B0609020204030204" pitchFamily="49" charset="0"/>
                <a:ea typeface="华文楷体" panose="02010600040101010101" pitchFamily="2" charset="-122"/>
              </a:rPr>
              <a:t>("happy", "angry") &lt;&lt; </a:t>
            </a:r>
            <a:r>
              <a:rPr lang="en-US" altLang="zh-CN" sz="1700" kern="100" dirty="0" err="1">
                <a:latin typeface="Consolas" panose="020B0609020204030204" pitchFamily="49" charset="0"/>
                <a:ea typeface="华文楷体" panose="02010600040101010101" pitchFamily="2" charset="-122"/>
              </a:rPr>
              <a:t>endl</a:t>
            </a:r>
            <a:r>
              <a:rPr lang="en-US" altLang="zh-CN" sz="1700" kern="100" dirty="0">
                <a:latin typeface="Consolas" panose="020B0609020204030204" pitchFamily="49" charset="0"/>
                <a:ea typeface="华文楷体" panose="02010600040101010101" pitchFamily="2" charset="-122"/>
              </a:rPr>
              <a:t>;</a:t>
            </a:r>
          </a:p>
          <a:p>
            <a:pPr>
              <a:spcBef>
                <a:spcPts val="1000"/>
              </a:spcBef>
              <a:buSzPct val="75000"/>
            </a:pPr>
            <a:r>
              <a:rPr lang="en-US" altLang="zh-CN" sz="1700" kern="100" dirty="0">
                <a:latin typeface="Consolas" panose="020B0609020204030204" pitchFamily="49" charset="0"/>
                <a:ea typeface="华文楷体" panose="02010600040101010101" pitchFamily="2" charset="-122"/>
              </a:rPr>
              <a:t>}</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例子：同义词查询库</a:t>
            </a:r>
          </a:p>
        </p:txBody>
      </p:sp>
      <p:sp>
        <p:nvSpPr>
          <p:cNvPr id="3" name="内容占位符 2"/>
          <p:cNvSpPr>
            <a:spLocks noGrp="1"/>
          </p:cNvSpPr>
          <p:nvPr>
            <p:ph idx="1"/>
          </p:nvPr>
        </p:nvSpPr>
        <p:spPr>
          <a:xfrm>
            <a:off x="628649" y="1690688"/>
            <a:ext cx="8082213" cy="4665663"/>
          </a:xfrm>
        </p:spPr>
        <p:txBody>
          <a:bodyPr>
            <a:normAutofit/>
          </a:bodyPr>
          <a:lstStyle/>
          <a:p>
            <a:pPr>
              <a:lnSpc>
                <a:spcPct val="100000"/>
              </a:lnSpc>
              <a:buSzPct val="75000"/>
              <a:buFont typeface="Wingdings" panose="05000000000000000000" pitchFamily="2" charset="2"/>
              <a:buChar char="n"/>
            </a:pPr>
            <a:r>
              <a:rPr lang="zh-CN" altLang="en-US" sz="2400" b="1" kern="100" dirty="0">
                <a:solidFill>
                  <a:srgbClr val="003366"/>
                </a:solidFill>
                <a:latin typeface="Consolas" panose="020B0609020204030204" pitchFamily="49" charset="0"/>
                <a:ea typeface="华文楷体" panose="02010600040101010101" pitchFamily="2" charset="-122"/>
                <a:cs typeface="STKaiti" panose="02010600040101010101" charset="-122"/>
              </a:rPr>
              <a:t>场景：针对一个大型同义词库，频繁查询给定词语的所有同义词，</a:t>
            </a:r>
            <a:r>
              <a:rPr lang="zh-CN" altLang="en-US" sz="2400" b="1" kern="100" dirty="0">
                <a:solidFill>
                  <a:srgbClr val="C00000"/>
                </a:solidFill>
                <a:latin typeface="Consolas" panose="020B0609020204030204" pitchFamily="49" charset="0"/>
                <a:ea typeface="华文楷体" panose="02010600040101010101" pitchFamily="2" charset="-122"/>
                <a:cs typeface="STKaiti" panose="02010600040101010101" charset="-122"/>
              </a:rPr>
              <a:t>或者判定给定的两个词是否是同义词</a:t>
            </a:r>
            <a:endParaRPr lang="en-US" altLang="zh-CN" sz="2400" b="1" kern="100" dirty="0">
              <a:solidFill>
                <a:srgbClr val="C00000"/>
              </a:solidFill>
              <a:latin typeface="Consolas" panose="020B0609020204030204" pitchFamily="49" charset="0"/>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75</a:t>
            </a:fld>
            <a:endParaRPr lang="en-US" altLang="zh-CN" dirty="0"/>
          </a:p>
        </p:txBody>
      </p:sp>
      <p:sp>
        <p:nvSpPr>
          <p:cNvPr id="6" name="Rectangle 5"/>
          <p:cNvSpPr/>
          <p:nvPr/>
        </p:nvSpPr>
        <p:spPr>
          <a:xfrm>
            <a:off x="628647" y="2499126"/>
            <a:ext cx="8082213" cy="4278094"/>
          </a:xfrm>
          <a:prstGeom prst="rect">
            <a:avLst/>
          </a:prstGeom>
        </p:spPr>
        <p:txBody>
          <a:bodyPr wrap="square">
            <a:spAutoFit/>
          </a:bodyPr>
          <a:lstStyle/>
          <a:p>
            <a:pPr>
              <a:buSzPct val="75000"/>
            </a:pPr>
            <a:r>
              <a:rPr lang="en-US" altLang="zh-CN" sz="1700" kern="100" dirty="0">
                <a:solidFill>
                  <a:srgbClr val="C00000"/>
                </a:solidFill>
                <a:latin typeface="Consolas" panose="020B0609020204030204" pitchFamily="49" charset="0"/>
                <a:ea typeface="华文楷体" panose="02010600040101010101" pitchFamily="2" charset="-122"/>
                <a:cs typeface="STKaiti" panose="02010600040101010101" charset="-122"/>
              </a:rPr>
              <a:t>class</a:t>
            </a:r>
            <a:r>
              <a:rPr lang="en-US" altLang="zh-CN" sz="1700" kern="100" dirty="0">
                <a:latin typeface="Consolas" panose="020B0609020204030204" pitchFamily="49" charset="0"/>
                <a:ea typeface="华文楷体" panose="02010600040101010101" pitchFamily="2" charset="-122"/>
                <a:cs typeface="STKaiti" panose="02010600040101010101" charset="-122"/>
              </a:rPr>
              <a:t> </a:t>
            </a:r>
            <a:r>
              <a:rPr lang="en-US" altLang="zh-CN" sz="1700" kern="100" dirty="0" err="1">
                <a:latin typeface="Consolas" panose="020B0609020204030204" pitchFamily="49" charset="0"/>
                <a:ea typeface="华文楷体" panose="02010600040101010101" pitchFamily="2" charset="-122"/>
                <a:cs typeface="STKaiti" panose="02010600040101010101" charset="-122"/>
              </a:rPr>
              <a:t>SynonymBase</a:t>
            </a:r>
            <a:r>
              <a:rPr lang="en-US" altLang="zh-CN" sz="1700" kern="100" dirty="0">
                <a:latin typeface="Consolas" panose="020B0609020204030204" pitchFamily="49" charset="0"/>
                <a:ea typeface="华文楷体" panose="02010600040101010101" pitchFamily="2" charset="-122"/>
                <a:cs typeface="STKaiti" panose="02010600040101010101" charset="-122"/>
              </a:rPr>
              <a:t> {</a:t>
            </a:r>
          </a:p>
          <a:p>
            <a:pPr>
              <a:buSzPct val="75000"/>
            </a:pPr>
            <a:r>
              <a:rPr lang="en-US" altLang="zh-CN" sz="1700" kern="100" dirty="0">
                <a:solidFill>
                  <a:srgbClr val="C00000"/>
                </a:solidFill>
                <a:latin typeface="Consolas" panose="020B0609020204030204" pitchFamily="49" charset="0"/>
                <a:ea typeface="华文楷体" panose="02010600040101010101" pitchFamily="2" charset="-122"/>
                <a:cs typeface="STKaiti" panose="02010600040101010101" charset="-122"/>
              </a:rPr>
              <a:t>private</a:t>
            </a:r>
            <a:r>
              <a:rPr lang="en-US" altLang="zh-CN" sz="1700" kern="100" dirty="0">
                <a:latin typeface="Consolas" panose="020B0609020204030204" pitchFamily="49" charset="0"/>
                <a:ea typeface="华文楷体" panose="02010600040101010101" pitchFamily="2" charset="-122"/>
                <a:cs typeface="STKaiti" panose="02010600040101010101" charset="-122"/>
              </a:rPr>
              <a:t>:</a:t>
            </a:r>
          </a:p>
          <a:p>
            <a:pPr>
              <a:buSzPct val="75000"/>
            </a:pPr>
            <a:r>
              <a:rPr lang="en-US" altLang="zh-CN" sz="1700" kern="100" dirty="0">
                <a:latin typeface="Consolas" panose="020B0609020204030204" pitchFamily="49" charset="0"/>
                <a:ea typeface="华文楷体" panose="02010600040101010101" pitchFamily="2" charset="-122"/>
                <a:cs typeface="STKaiti" panose="02010600040101010101" charset="-122"/>
              </a:rPr>
              <a:t>    map&lt;string, set&lt;string&gt;&gt; synonyms;</a:t>
            </a:r>
          </a:p>
          <a:p>
            <a:pPr>
              <a:buSzPct val="75000"/>
            </a:pPr>
            <a:r>
              <a:rPr lang="en-US" altLang="zh-CN" sz="1700" kern="100" dirty="0">
                <a:solidFill>
                  <a:srgbClr val="C00000"/>
                </a:solidFill>
                <a:latin typeface="Consolas" panose="020B0609020204030204" pitchFamily="49" charset="0"/>
                <a:ea typeface="华文楷体" panose="02010600040101010101" pitchFamily="2" charset="-122"/>
                <a:cs typeface="STKaiti" panose="02010600040101010101" charset="-122"/>
              </a:rPr>
              <a:t>public</a:t>
            </a:r>
            <a:r>
              <a:rPr lang="en-US" altLang="zh-CN" sz="1700" kern="100" dirty="0">
                <a:latin typeface="Consolas" panose="020B0609020204030204" pitchFamily="49" charset="0"/>
                <a:ea typeface="华文楷体" panose="02010600040101010101" pitchFamily="2" charset="-122"/>
                <a:cs typeface="STKaiti" panose="02010600040101010101" charset="-122"/>
              </a:rPr>
              <a:t>:</a:t>
            </a:r>
          </a:p>
          <a:p>
            <a:pPr>
              <a:buSzPct val="75000"/>
            </a:pPr>
            <a:r>
              <a:rPr lang="zh-CN" altLang="en-US" sz="1700" kern="100" dirty="0">
                <a:latin typeface="Consolas" panose="020B0609020204030204" pitchFamily="49" charset="0"/>
                <a:ea typeface="华文楷体" panose="02010600040101010101" pitchFamily="2" charset="-122"/>
                <a:cs typeface="STKaiti" panose="02010600040101010101" charset="-122"/>
              </a:rPr>
              <a:t>    </a:t>
            </a:r>
            <a:r>
              <a:rPr lang="en-US" altLang="zh-CN" sz="1700" kern="100" dirty="0">
                <a:solidFill>
                  <a:srgbClr val="008000"/>
                </a:solidFill>
                <a:latin typeface="Consolas" panose="020B0609020204030204" pitchFamily="49" charset="0"/>
                <a:ea typeface="华文楷体" panose="02010600040101010101" pitchFamily="2" charset="-122"/>
                <a:cs typeface="STKaiti" panose="02010600040101010101" charset="-122"/>
              </a:rPr>
              <a:t>/</a:t>
            </a:r>
            <a:r>
              <a:rPr lang="zh-CN" altLang="en-US" sz="1700" kern="100" dirty="0">
                <a:solidFill>
                  <a:srgbClr val="008000"/>
                </a:solidFill>
                <a:latin typeface="Consolas" panose="020B0609020204030204" pitchFamily="49" charset="0"/>
                <a:ea typeface="华文楷体" panose="02010600040101010101" pitchFamily="2" charset="-122"/>
                <a:cs typeface="STKaiti" panose="02010600040101010101" charset="-122"/>
              </a:rPr>
              <a:t>*省略 </a:t>
            </a:r>
            <a:r>
              <a:rPr lang="en-US" altLang="zh-CN" sz="1700" kern="100" dirty="0">
                <a:solidFill>
                  <a:srgbClr val="008000"/>
                </a:solidFill>
                <a:latin typeface="Consolas" panose="020B0609020204030204" pitchFamily="49" charset="0"/>
                <a:ea typeface="华文楷体" panose="02010600040101010101" pitchFamily="2" charset="-122"/>
                <a:cs typeface="STKaiti" panose="02010600040101010101" charset="-122"/>
              </a:rPr>
              <a:t>add</a:t>
            </a:r>
            <a:r>
              <a:rPr lang="zh-CN" altLang="en-US" sz="1700" kern="100" dirty="0">
                <a:solidFill>
                  <a:srgbClr val="008000"/>
                </a:solidFill>
                <a:latin typeface="Consolas" panose="020B0609020204030204" pitchFamily="49" charset="0"/>
                <a:ea typeface="华文楷体" panose="02010600040101010101" pitchFamily="2" charset="-122"/>
                <a:cs typeface="STKaiti" panose="02010600040101010101" charset="-122"/>
              </a:rPr>
              <a:t> 和 </a:t>
            </a:r>
            <a:r>
              <a:rPr lang="en-US" altLang="zh-CN" sz="1700" kern="100" dirty="0">
                <a:solidFill>
                  <a:srgbClr val="008000"/>
                </a:solidFill>
                <a:latin typeface="Consolas" panose="020B0609020204030204" pitchFamily="49" charset="0"/>
                <a:ea typeface="华文楷体" panose="02010600040101010101" pitchFamily="2" charset="-122"/>
                <a:cs typeface="STKaiti" panose="02010600040101010101" charset="-122"/>
              </a:rPr>
              <a:t>query</a:t>
            </a:r>
            <a:r>
              <a:rPr lang="zh-CN" altLang="en-US" sz="1700" kern="100" dirty="0">
                <a:solidFill>
                  <a:srgbClr val="008000"/>
                </a:solidFill>
                <a:latin typeface="Consolas" panose="020B0609020204030204" pitchFamily="49" charset="0"/>
                <a:ea typeface="华文楷体" panose="02010600040101010101" pitchFamily="2" charset="-122"/>
                <a:cs typeface="STKaiti" panose="02010600040101010101" charset="-122"/>
              </a:rPr>
              <a:t> 函数*</a:t>
            </a:r>
            <a:r>
              <a:rPr lang="en-US" altLang="zh-CN" sz="1700" kern="100" dirty="0">
                <a:solidFill>
                  <a:srgbClr val="008000"/>
                </a:solidFill>
                <a:latin typeface="Consolas" panose="020B0609020204030204" pitchFamily="49" charset="0"/>
                <a:ea typeface="华文楷体" panose="02010600040101010101" pitchFamily="2" charset="-122"/>
                <a:cs typeface="STKaiti" panose="02010600040101010101" charset="-122"/>
              </a:rPr>
              <a:t>/</a:t>
            </a:r>
          </a:p>
          <a:p>
            <a:pPr>
              <a:buSzPct val="75000"/>
            </a:pPr>
            <a:r>
              <a:rPr lang="en-US" altLang="zh-CN" sz="1700" kern="100" dirty="0">
                <a:latin typeface="Consolas" panose="020B0609020204030204" pitchFamily="49" charset="0"/>
                <a:ea typeface="华文楷体" panose="02010600040101010101" pitchFamily="2" charset="-122"/>
                <a:cs typeface="STKaiti" panose="02010600040101010101" charset="-122"/>
              </a:rPr>
              <a:t>    </a:t>
            </a:r>
            <a:r>
              <a:rPr lang="en-US" altLang="zh-CN" sz="1700" kern="100" dirty="0">
                <a:solidFill>
                  <a:srgbClr val="C00000"/>
                </a:solidFill>
                <a:latin typeface="Consolas" panose="020B0609020204030204" pitchFamily="49" charset="0"/>
                <a:ea typeface="华文楷体" panose="02010600040101010101" pitchFamily="2" charset="-122"/>
                <a:cs typeface="STKaiti" panose="02010600040101010101" charset="-122"/>
              </a:rPr>
              <a:t>bool</a:t>
            </a:r>
            <a:r>
              <a:rPr lang="en-US" altLang="zh-CN" sz="1700" kern="100" dirty="0">
                <a:latin typeface="Consolas" panose="020B0609020204030204" pitchFamily="49" charset="0"/>
                <a:ea typeface="华文楷体" panose="02010600040101010101" pitchFamily="2" charset="-122"/>
                <a:cs typeface="STKaiti" panose="02010600040101010101" charset="-122"/>
              </a:rPr>
              <a:t> _</a:t>
            </a:r>
            <a:r>
              <a:rPr lang="en-US" altLang="zh-CN" sz="1700" kern="100" dirty="0" err="1">
                <a:latin typeface="Consolas" panose="020B0609020204030204" pitchFamily="49" charset="0"/>
                <a:ea typeface="华文楷体" panose="02010600040101010101" pitchFamily="2" charset="-122"/>
                <a:cs typeface="STKaiti" panose="02010600040101010101" charset="-122"/>
              </a:rPr>
              <a:t>has_synonym</a:t>
            </a:r>
            <a:r>
              <a:rPr lang="en-US" altLang="zh-CN" sz="1700" kern="100" dirty="0">
                <a:latin typeface="Consolas" panose="020B0609020204030204" pitchFamily="49" charset="0"/>
                <a:ea typeface="华文楷体" panose="02010600040101010101" pitchFamily="2" charset="-122"/>
                <a:cs typeface="STKaiti" panose="02010600040101010101" charset="-122"/>
              </a:rPr>
              <a:t>(</a:t>
            </a:r>
            <a:r>
              <a:rPr lang="en-US" altLang="zh-CN" sz="1700" kern="100" dirty="0">
                <a:solidFill>
                  <a:srgbClr val="C00000"/>
                </a:solidFill>
                <a:latin typeface="Consolas" panose="020B0609020204030204" pitchFamily="49" charset="0"/>
                <a:ea typeface="华文楷体" panose="02010600040101010101" pitchFamily="2" charset="-122"/>
                <a:cs typeface="STKaiti" panose="02010600040101010101" charset="-122"/>
              </a:rPr>
              <a:t>string</a:t>
            </a:r>
            <a:r>
              <a:rPr lang="en-US" altLang="zh-CN" sz="1700" kern="100" dirty="0">
                <a:latin typeface="Consolas" panose="020B0609020204030204" pitchFamily="49" charset="0"/>
                <a:ea typeface="华文楷体" panose="02010600040101010101" pitchFamily="2" charset="-122"/>
                <a:cs typeface="STKaiti" panose="02010600040101010101" charset="-122"/>
              </a:rPr>
              <a:t> word1, </a:t>
            </a:r>
            <a:r>
              <a:rPr lang="en-US" altLang="zh-CN" sz="1700" kern="100" dirty="0">
                <a:solidFill>
                  <a:srgbClr val="C00000"/>
                </a:solidFill>
                <a:latin typeface="Consolas" panose="020B0609020204030204" pitchFamily="49" charset="0"/>
                <a:ea typeface="华文楷体" panose="02010600040101010101" pitchFamily="2" charset="-122"/>
                <a:cs typeface="STKaiti" panose="02010600040101010101" charset="-122"/>
              </a:rPr>
              <a:t>string</a:t>
            </a:r>
            <a:r>
              <a:rPr lang="en-US" altLang="zh-CN" sz="1700" kern="100" dirty="0">
                <a:latin typeface="Consolas" panose="020B0609020204030204" pitchFamily="49" charset="0"/>
                <a:ea typeface="华文楷体" panose="02010600040101010101" pitchFamily="2" charset="-122"/>
                <a:cs typeface="STKaiti" panose="02010600040101010101" charset="-122"/>
              </a:rPr>
              <a:t> word2){</a:t>
            </a:r>
          </a:p>
          <a:p>
            <a:pPr>
              <a:buSzPct val="75000"/>
            </a:pPr>
            <a:r>
              <a:rPr lang="en-US" altLang="zh-CN" sz="1700" kern="100" dirty="0">
                <a:latin typeface="Consolas" panose="020B0609020204030204" pitchFamily="49" charset="0"/>
                <a:ea typeface="华文楷体" panose="02010600040101010101" pitchFamily="2" charset="-122"/>
                <a:cs typeface="STKaiti" panose="02010600040101010101" charset="-122"/>
              </a:rPr>
              <a:t>        return </a:t>
            </a:r>
            <a:r>
              <a:rPr lang="en-US" altLang="zh-CN" sz="1700" kern="100" dirty="0" err="1">
                <a:latin typeface="Consolas" panose="020B0609020204030204" pitchFamily="49" charset="0"/>
                <a:ea typeface="华文楷体" panose="02010600040101010101" pitchFamily="2" charset="-122"/>
                <a:cs typeface="STKaiti" panose="02010600040101010101" charset="-122"/>
              </a:rPr>
              <a:t>synonyms.find</a:t>
            </a:r>
            <a:r>
              <a:rPr lang="en-US" altLang="zh-CN" sz="1700" kern="100" dirty="0">
                <a:latin typeface="Consolas" panose="020B0609020204030204" pitchFamily="49" charset="0"/>
                <a:ea typeface="华文楷体" panose="02010600040101010101" pitchFamily="2" charset="-122"/>
                <a:cs typeface="STKaiti" panose="02010600040101010101" charset="-122"/>
              </a:rPr>
              <a:t>(word1) != </a:t>
            </a:r>
            <a:r>
              <a:rPr lang="en-US" altLang="zh-CN" sz="1700" kern="100" dirty="0" err="1">
                <a:latin typeface="Consolas" panose="020B0609020204030204" pitchFamily="49" charset="0"/>
                <a:ea typeface="华文楷体" panose="02010600040101010101" pitchFamily="2" charset="-122"/>
                <a:cs typeface="STKaiti" panose="02010600040101010101" charset="-122"/>
              </a:rPr>
              <a:t>synonyms.end</a:t>
            </a:r>
            <a:r>
              <a:rPr lang="en-US" altLang="zh-CN" sz="1700" kern="100" dirty="0">
                <a:latin typeface="Consolas" panose="020B0609020204030204" pitchFamily="49" charset="0"/>
                <a:ea typeface="华文楷体" panose="02010600040101010101" pitchFamily="2" charset="-122"/>
                <a:cs typeface="STKaiti" panose="02010600040101010101" charset="-122"/>
              </a:rPr>
              <a:t>() &amp;&amp; synonyms[word1].find(word2) != synonyms[word1].end();</a:t>
            </a:r>
          </a:p>
          <a:p>
            <a:pPr>
              <a:buSzPct val="75000"/>
            </a:pPr>
            <a:r>
              <a:rPr lang="en-US" altLang="zh-CN" sz="1700" kern="100" dirty="0">
                <a:latin typeface="Consolas" panose="020B0609020204030204" pitchFamily="49" charset="0"/>
                <a:ea typeface="华文楷体" panose="02010600040101010101" pitchFamily="2" charset="-122"/>
                <a:cs typeface="STKaiti" panose="02010600040101010101" charset="-122"/>
              </a:rPr>
              <a:t>    }</a:t>
            </a:r>
          </a:p>
          <a:p>
            <a:pPr>
              <a:buSzPct val="75000"/>
            </a:pPr>
            <a:r>
              <a:rPr lang="en-US" altLang="zh-CN" sz="1700" kern="100" dirty="0">
                <a:latin typeface="Consolas" panose="020B0609020204030204" pitchFamily="49" charset="0"/>
                <a:ea typeface="华文楷体" panose="02010600040101010101" pitchFamily="2" charset="-122"/>
                <a:cs typeface="STKaiti" panose="02010600040101010101" charset="-122"/>
              </a:rPr>
              <a:t>    </a:t>
            </a:r>
            <a:r>
              <a:rPr lang="en-US" altLang="zh-CN" sz="1700" kern="100" dirty="0">
                <a:solidFill>
                  <a:srgbClr val="C00000"/>
                </a:solidFill>
                <a:latin typeface="Consolas" panose="020B0609020204030204" pitchFamily="49" charset="0"/>
                <a:ea typeface="华文楷体" panose="02010600040101010101" pitchFamily="2" charset="-122"/>
                <a:cs typeface="STKaiti" panose="02010600040101010101" charset="-122"/>
              </a:rPr>
              <a:t>bool</a:t>
            </a:r>
            <a:r>
              <a:rPr lang="en-US" altLang="zh-CN" sz="1700" kern="100" dirty="0">
                <a:latin typeface="Consolas" panose="020B0609020204030204" pitchFamily="49" charset="0"/>
                <a:ea typeface="华文楷体" panose="02010600040101010101" pitchFamily="2" charset="-122"/>
                <a:cs typeface="STKaiti" panose="02010600040101010101" charset="-122"/>
              </a:rPr>
              <a:t> </a:t>
            </a:r>
            <a:r>
              <a:rPr lang="en-US" altLang="zh-CN" sz="1700" kern="100" dirty="0" err="1">
                <a:latin typeface="Consolas" panose="020B0609020204030204" pitchFamily="49" charset="0"/>
                <a:ea typeface="华文楷体" panose="02010600040101010101" pitchFamily="2" charset="-122"/>
                <a:cs typeface="STKaiti" panose="02010600040101010101" charset="-122"/>
              </a:rPr>
              <a:t>isSynonyms</a:t>
            </a:r>
            <a:r>
              <a:rPr lang="en-US" altLang="zh-CN" sz="1700" kern="100" dirty="0">
                <a:latin typeface="Consolas" panose="020B0609020204030204" pitchFamily="49" charset="0"/>
                <a:ea typeface="华文楷体" panose="02010600040101010101" pitchFamily="2" charset="-122"/>
                <a:cs typeface="STKaiti" panose="02010600040101010101" charset="-122"/>
              </a:rPr>
              <a:t>(</a:t>
            </a:r>
            <a:r>
              <a:rPr lang="en-US" altLang="zh-CN" sz="1700" kern="100" dirty="0">
                <a:solidFill>
                  <a:srgbClr val="C00000"/>
                </a:solidFill>
                <a:latin typeface="Consolas" panose="020B0609020204030204" pitchFamily="49" charset="0"/>
                <a:ea typeface="华文楷体" panose="02010600040101010101" pitchFamily="2" charset="-122"/>
                <a:cs typeface="STKaiti" panose="02010600040101010101" charset="-122"/>
              </a:rPr>
              <a:t>string</a:t>
            </a:r>
            <a:r>
              <a:rPr lang="en-US" altLang="zh-CN" sz="1700" kern="100" dirty="0">
                <a:latin typeface="Consolas" panose="020B0609020204030204" pitchFamily="49" charset="0"/>
                <a:ea typeface="华文楷体" panose="02010600040101010101" pitchFamily="2" charset="-122"/>
                <a:cs typeface="STKaiti" panose="02010600040101010101" charset="-122"/>
              </a:rPr>
              <a:t> word1, </a:t>
            </a:r>
            <a:r>
              <a:rPr lang="en-US" altLang="zh-CN" sz="1700" kern="100" dirty="0">
                <a:solidFill>
                  <a:srgbClr val="C00000"/>
                </a:solidFill>
                <a:latin typeface="Consolas" panose="020B0609020204030204" pitchFamily="49" charset="0"/>
                <a:ea typeface="华文楷体" panose="02010600040101010101" pitchFamily="2" charset="-122"/>
                <a:cs typeface="STKaiti" panose="02010600040101010101" charset="-122"/>
              </a:rPr>
              <a:t>string</a:t>
            </a:r>
            <a:r>
              <a:rPr lang="en-US" altLang="zh-CN" sz="1700" kern="100" dirty="0">
                <a:latin typeface="Consolas" panose="020B0609020204030204" pitchFamily="49" charset="0"/>
                <a:ea typeface="华文楷体" panose="02010600040101010101" pitchFamily="2" charset="-122"/>
                <a:cs typeface="STKaiti" panose="02010600040101010101" charset="-122"/>
              </a:rPr>
              <a:t> word2){</a:t>
            </a:r>
          </a:p>
          <a:p>
            <a:pPr>
              <a:buSzPct val="75000"/>
            </a:pPr>
            <a:r>
              <a:rPr lang="en-US" altLang="zh-CN" sz="1700" kern="100" dirty="0">
                <a:latin typeface="Consolas" panose="020B0609020204030204" pitchFamily="49" charset="0"/>
                <a:ea typeface="华文楷体" panose="02010600040101010101" pitchFamily="2" charset="-122"/>
                <a:cs typeface="STKaiti" panose="02010600040101010101" charset="-122"/>
              </a:rPr>
              <a:t>        if(word1 == word2) return true;</a:t>
            </a:r>
          </a:p>
          <a:p>
            <a:pPr>
              <a:buSzPct val="75000"/>
            </a:pPr>
            <a:r>
              <a:rPr lang="en-US" altLang="zh-CN" sz="1700" kern="100" dirty="0">
                <a:latin typeface="Consolas" panose="020B0609020204030204" pitchFamily="49" charset="0"/>
                <a:ea typeface="华文楷体" panose="02010600040101010101" pitchFamily="2" charset="-122"/>
                <a:cs typeface="STKaiti" panose="02010600040101010101" charset="-122"/>
              </a:rPr>
              <a:t>        else if(_</a:t>
            </a:r>
            <a:r>
              <a:rPr lang="en-US" altLang="zh-CN" sz="1700" kern="100" dirty="0" err="1">
                <a:latin typeface="Consolas" panose="020B0609020204030204" pitchFamily="49" charset="0"/>
                <a:ea typeface="华文楷体" panose="02010600040101010101" pitchFamily="2" charset="-122"/>
                <a:cs typeface="STKaiti" panose="02010600040101010101" charset="-122"/>
              </a:rPr>
              <a:t>has_synonym</a:t>
            </a:r>
            <a:r>
              <a:rPr lang="en-US" altLang="zh-CN" sz="1700" kern="100" dirty="0">
                <a:latin typeface="Consolas" panose="020B0609020204030204" pitchFamily="49" charset="0"/>
                <a:ea typeface="华文楷体" panose="02010600040101010101" pitchFamily="2" charset="-122"/>
                <a:cs typeface="STKaiti" panose="02010600040101010101" charset="-122"/>
              </a:rPr>
              <a:t>(word1, word2) || _</a:t>
            </a:r>
            <a:r>
              <a:rPr lang="en-US" altLang="zh-CN" sz="1700" kern="100" dirty="0" err="1">
                <a:latin typeface="Consolas" panose="020B0609020204030204" pitchFamily="49" charset="0"/>
                <a:ea typeface="华文楷体" panose="02010600040101010101" pitchFamily="2" charset="-122"/>
                <a:cs typeface="STKaiti" panose="02010600040101010101" charset="-122"/>
              </a:rPr>
              <a:t>has_synonym</a:t>
            </a:r>
            <a:r>
              <a:rPr lang="en-US" altLang="zh-CN" sz="1700" kern="100" dirty="0">
                <a:latin typeface="Consolas" panose="020B0609020204030204" pitchFamily="49" charset="0"/>
                <a:ea typeface="华文楷体" panose="02010600040101010101" pitchFamily="2" charset="-122"/>
                <a:cs typeface="STKaiti" panose="02010600040101010101" charset="-122"/>
              </a:rPr>
              <a:t>(word2, word1)) return true;</a:t>
            </a:r>
          </a:p>
          <a:p>
            <a:pPr>
              <a:buSzPct val="75000"/>
            </a:pPr>
            <a:r>
              <a:rPr lang="en-US" altLang="zh-CN" sz="1700" kern="100" dirty="0">
                <a:latin typeface="Consolas" panose="020B0609020204030204" pitchFamily="49" charset="0"/>
                <a:ea typeface="华文楷体" panose="02010600040101010101" pitchFamily="2" charset="-122"/>
                <a:cs typeface="STKaiti" panose="02010600040101010101" charset="-122"/>
              </a:rPr>
              <a:t>        else return false;</a:t>
            </a:r>
          </a:p>
          <a:p>
            <a:pPr>
              <a:buSzPct val="75000"/>
            </a:pPr>
            <a:r>
              <a:rPr lang="en-US" altLang="zh-CN" sz="1700" kern="100" dirty="0">
                <a:latin typeface="Consolas" panose="020B0609020204030204" pitchFamily="49" charset="0"/>
                <a:ea typeface="华文楷体" panose="02010600040101010101" pitchFamily="2" charset="-122"/>
                <a:cs typeface="STKaiti" panose="02010600040101010101" charset="-122"/>
              </a:rPr>
              <a:t>    }</a:t>
            </a:r>
          </a:p>
          <a:p>
            <a:pPr>
              <a:buSzPct val="75000"/>
            </a:pPr>
            <a:r>
              <a:rPr lang="en-US" altLang="zh-CN" sz="1700" kern="100" dirty="0">
                <a:latin typeface="Consolas" panose="020B0609020204030204" pitchFamily="49" charset="0"/>
                <a:ea typeface="华文楷体" panose="02010600040101010101" pitchFamily="2" charset="-122"/>
                <a:cs typeface="STKaiti" panose="02010600040101010101" charset="-122"/>
              </a:rPr>
              <a:t>};</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598725" y="1879155"/>
            <a:ext cx="8062912" cy="29523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defRPr/>
            </a:pPr>
            <a:r>
              <a:rPr lang="zh-CN" altLang="en-US" sz="5400" b="1" dirty="0">
                <a:solidFill>
                  <a:srgbClr val="0066CC"/>
                </a:solidFill>
                <a:latin typeface="微软雅黑" panose="020B0503020204020204" pitchFamily="34" charset="-122"/>
                <a:ea typeface="微软雅黑" panose="020B0503020204020204" pitchFamily="34" charset="-122"/>
              </a:rPr>
              <a:t>函数模板与类模板特化</a:t>
            </a:r>
            <a:endParaRPr lang="en-US" altLang="zh-CN" sz="5400" b="1" dirty="0">
              <a:solidFill>
                <a:srgbClr val="0066CC"/>
              </a:solidFill>
              <a:latin typeface="微软雅黑" panose="020B0503020204020204" pitchFamily="34" charset="-122"/>
              <a:ea typeface="微软雅黑" panose="020B0503020204020204" pitchFamily="34" charset="-122"/>
            </a:endParaRPr>
          </a:p>
          <a:p>
            <a:pPr algn="ctr">
              <a:lnSpc>
                <a:spcPct val="150000"/>
              </a:lnSpc>
              <a:defRPr/>
            </a:pPr>
            <a:r>
              <a:rPr lang="zh-CN" altLang="en-US" sz="5400" b="1" dirty="0">
                <a:solidFill>
                  <a:srgbClr val="0066CC"/>
                </a:solidFill>
                <a:latin typeface="微软雅黑" panose="020B0503020204020204" pitchFamily="34" charset="-122"/>
                <a:ea typeface="微软雅黑" panose="020B0503020204020204" pitchFamily="34" charset="-122"/>
              </a:rPr>
              <a:t>（自学）</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函数模板特化</a:t>
            </a:r>
          </a:p>
        </p:txBody>
      </p:sp>
      <p:sp>
        <p:nvSpPr>
          <p:cNvPr id="3" name="内容占位符 2"/>
          <p:cNvSpPr>
            <a:spLocks noGrp="1"/>
          </p:cNvSpPr>
          <p:nvPr>
            <p:ph idx="1"/>
          </p:nvPr>
        </p:nvSpPr>
        <p:spPr>
          <a:xfrm>
            <a:off x="548097" y="1552236"/>
            <a:ext cx="8047806" cy="4804115"/>
          </a:xfrm>
        </p:spPr>
        <p:txBody>
          <a:bodyPr>
            <a:noAutofit/>
          </a:bodyPr>
          <a:lstStyle/>
          <a:p>
            <a:pPr>
              <a:lnSpc>
                <a:spcPct val="100000"/>
              </a:lnSpc>
              <a:buSzPct val="75000"/>
              <a:buFont typeface="Wingdings" panose="05000000000000000000" pitchFamily="2" charset="2"/>
              <a:buChar char="n"/>
            </a:pPr>
            <a:r>
              <a:rPr lang="zh-CN" altLang="zh-CN" sz="26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有时，有些类型并不</a:t>
            </a:r>
            <a:r>
              <a:rPr lang="zh-CN" altLang="en-US" sz="26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合适</a:t>
            </a:r>
            <a:r>
              <a:rPr lang="zh-CN" altLang="zh-CN" sz="26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，则需要对模板</a:t>
            </a:r>
            <a:r>
              <a:rPr lang="zh-CN" altLang="en-US" sz="26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在某种情况下的具体类型</a:t>
            </a:r>
            <a:r>
              <a:rPr lang="zh-CN" altLang="zh-CN" sz="26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进</a:t>
            </a:r>
            <a:r>
              <a:rPr lang="zh-CN" altLang="en-US" sz="26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行</a:t>
            </a:r>
            <a:r>
              <a:rPr lang="zh-CN" altLang="zh-CN" sz="26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特殊处理，这称为</a:t>
            </a:r>
            <a:r>
              <a:rPr lang="en-US" altLang="zh-CN" sz="26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r>
              <a:rPr lang="zh-CN" altLang="zh-CN" sz="26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模板特化</a:t>
            </a:r>
            <a:r>
              <a:rPr lang="en-US" altLang="zh-CN" sz="26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r>
              <a:rPr lang="zh-CN" altLang="en-US" sz="26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endParaRPr lang="en-US" altLang="zh-CN" sz="2600"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sz="26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对于如下模板进行特化的两种方法：</a:t>
            </a:r>
            <a:endParaRPr lang="en-US" altLang="zh-CN" sz="2600"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kumimoji="1" lang="zh-CN" altLang="en-US" sz="2400" dirty="0">
                <a:latin typeface="Consolas" panose="020B0609020204030204" pitchFamily="49" charset="0"/>
                <a:ea typeface="华文楷体" panose="02010600040101010101" pitchFamily="2" charset="-122"/>
              </a:rPr>
              <a:t>  </a:t>
            </a:r>
            <a:r>
              <a:rPr kumimoji="1" lang="en-US" altLang="zh-CN" sz="2400" dirty="0">
                <a:latin typeface="Consolas" panose="020B0609020204030204" pitchFamily="49" charset="0"/>
                <a:ea typeface="华文楷体" panose="02010600040101010101" pitchFamily="2" charset="-122"/>
              </a:rPr>
              <a:t>template</a:t>
            </a:r>
            <a:r>
              <a:rPr kumimoji="1" lang="zh-CN" altLang="en-US" sz="2400" dirty="0">
                <a:latin typeface="Consolas" panose="020B0609020204030204" pitchFamily="49" charset="0"/>
                <a:ea typeface="华文楷体" panose="02010600040101010101" pitchFamily="2" charset="-122"/>
              </a:rPr>
              <a:t> </a:t>
            </a:r>
            <a:r>
              <a:rPr kumimoji="1" lang="en-US" altLang="zh-CN" sz="2400" dirty="0">
                <a:latin typeface="Consolas" panose="020B0609020204030204" pitchFamily="49" charset="0"/>
                <a:ea typeface="华文楷体" panose="02010600040101010101" pitchFamily="2" charset="-122"/>
              </a:rPr>
              <a:t>&lt;</a:t>
            </a:r>
            <a:r>
              <a:rPr kumimoji="1" lang="en-US" altLang="zh-CN" sz="2400" dirty="0" err="1">
                <a:latin typeface="Consolas" panose="020B0609020204030204" pitchFamily="49" charset="0"/>
                <a:ea typeface="华文楷体" panose="02010600040101010101" pitchFamily="2" charset="-122"/>
              </a:rPr>
              <a:t>typename</a:t>
            </a:r>
            <a:r>
              <a:rPr kumimoji="1" lang="zh-CN" altLang="en-US" sz="2400" dirty="0">
                <a:latin typeface="Consolas" panose="020B0609020204030204" pitchFamily="49" charset="0"/>
                <a:ea typeface="华文楷体" panose="02010600040101010101" pitchFamily="2" charset="-122"/>
              </a:rPr>
              <a:t> </a:t>
            </a:r>
            <a:r>
              <a:rPr kumimoji="1" lang="en-US" altLang="zh-CN" sz="2400" dirty="0">
                <a:latin typeface="Consolas" panose="020B0609020204030204" pitchFamily="49" charset="0"/>
                <a:ea typeface="华文楷体" panose="02010600040101010101" pitchFamily="2" charset="-122"/>
              </a:rPr>
              <a:t>T&gt;</a:t>
            </a:r>
            <a:r>
              <a:rPr kumimoji="1" lang="zh-CN" altLang="en-US" sz="2400" dirty="0">
                <a:latin typeface="Consolas" panose="020B0609020204030204" pitchFamily="49" charset="0"/>
                <a:ea typeface="华文楷体" panose="02010600040101010101" pitchFamily="2" charset="-122"/>
              </a:rPr>
              <a:t> </a:t>
            </a:r>
            <a:r>
              <a:rPr kumimoji="1" lang="en-US" altLang="zh-CN" sz="2400" dirty="0">
                <a:latin typeface="Consolas" panose="020B0609020204030204" pitchFamily="49" charset="0"/>
                <a:ea typeface="华文楷体" panose="02010600040101010101" pitchFamily="2" charset="-122"/>
              </a:rPr>
              <a:t>T</a:t>
            </a:r>
            <a:r>
              <a:rPr kumimoji="1" lang="zh-CN" altLang="en-US" sz="2400" dirty="0">
                <a:latin typeface="Consolas" panose="020B0609020204030204" pitchFamily="49" charset="0"/>
                <a:ea typeface="华文楷体" panose="02010600040101010101" pitchFamily="2" charset="-122"/>
              </a:rPr>
              <a:t> </a:t>
            </a:r>
            <a:r>
              <a:rPr kumimoji="1" lang="en-US" altLang="zh-CN" sz="2400" dirty="0">
                <a:latin typeface="Consolas" panose="020B0609020204030204" pitchFamily="49" charset="0"/>
                <a:ea typeface="华文楷体" panose="02010600040101010101" pitchFamily="2" charset="-122"/>
              </a:rPr>
              <a:t>sum(T</a:t>
            </a:r>
            <a:r>
              <a:rPr kumimoji="1" lang="zh-CN" altLang="en-US" sz="2400" dirty="0">
                <a:latin typeface="Consolas" panose="020B0609020204030204" pitchFamily="49" charset="0"/>
                <a:ea typeface="华文楷体" panose="02010600040101010101" pitchFamily="2" charset="-122"/>
              </a:rPr>
              <a:t> </a:t>
            </a:r>
            <a:r>
              <a:rPr kumimoji="1" lang="en-US" altLang="zh-CN" sz="2400" dirty="0">
                <a:latin typeface="Consolas" panose="020B0609020204030204" pitchFamily="49" charset="0"/>
                <a:ea typeface="华文楷体" panose="02010600040101010101" pitchFamily="2" charset="-122"/>
              </a:rPr>
              <a:t>a,</a:t>
            </a:r>
            <a:r>
              <a:rPr kumimoji="1" lang="zh-CN" altLang="en-US" sz="2400" dirty="0">
                <a:latin typeface="Consolas" panose="020B0609020204030204" pitchFamily="49" charset="0"/>
                <a:ea typeface="华文楷体" panose="02010600040101010101" pitchFamily="2" charset="-122"/>
              </a:rPr>
              <a:t> </a:t>
            </a:r>
            <a:r>
              <a:rPr kumimoji="1" lang="en-US" altLang="zh-CN" sz="2400" dirty="0">
                <a:latin typeface="Consolas" panose="020B0609020204030204" pitchFamily="49" charset="0"/>
                <a:ea typeface="华文楷体" panose="02010600040101010101" pitchFamily="2" charset="-122"/>
              </a:rPr>
              <a:t>T</a:t>
            </a:r>
            <a:r>
              <a:rPr kumimoji="1" lang="zh-CN" altLang="en-US" sz="2400" dirty="0">
                <a:latin typeface="Consolas" panose="020B0609020204030204" pitchFamily="49" charset="0"/>
                <a:ea typeface="华文楷体" panose="02010600040101010101" pitchFamily="2" charset="-122"/>
              </a:rPr>
              <a:t> </a:t>
            </a:r>
            <a:r>
              <a:rPr kumimoji="1" lang="en-US" altLang="zh-CN" sz="2400" dirty="0">
                <a:latin typeface="Consolas" panose="020B0609020204030204" pitchFamily="49" charset="0"/>
                <a:ea typeface="华文楷体" panose="02010600040101010101" pitchFamily="2" charset="-122"/>
              </a:rPr>
              <a:t>b)</a:t>
            </a:r>
            <a:endParaRPr lang="en-US" altLang="zh-CN"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lvl="1">
              <a:lnSpc>
                <a:spcPct val="100000"/>
              </a:lnSpc>
              <a:buSzPct val="75000"/>
              <a:buFont typeface="Wingdings" panose="05000000000000000000" pitchFamily="2" charset="2"/>
              <a:buChar char="n"/>
            </a:pPr>
            <a:r>
              <a:rPr lang="zh-CN" altLang="zh-CN" sz="2200" b="1" kern="100" dirty="0">
                <a:solidFill>
                  <a:srgbClr val="003366"/>
                </a:solidFill>
                <a:latin typeface="华文楷体" panose="02010600040101010101" pitchFamily="2" charset="-122"/>
                <a:ea typeface="华文楷体" panose="02010600040101010101" pitchFamily="2" charset="-122"/>
              </a:rPr>
              <a:t>在函数名后用</a:t>
            </a:r>
            <a:r>
              <a:rPr lang="en-US" altLang="zh-CN" sz="2200" b="1" kern="100" dirty="0">
                <a:solidFill>
                  <a:srgbClr val="003366"/>
                </a:solidFill>
                <a:latin typeface="华文楷体" panose="02010600040101010101" pitchFamily="2" charset="-122"/>
                <a:ea typeface="华文楷体" panose="02010600040101010101" pitchFamily="2" charset="-122"/>
              </a:rPr>
              <a:t>&lt;&gt;</a:t>
            </a:r>
            <a:r>
              <a:rPr lang="zh-CN" altLang="zh-CN" sz="2200" b="1" kern="100" dirty="0">
                <a:solidFill>
                  <a:srgbClr val="003366"/>
                </a:solidFill>
                <a:latin typeface="华文楷体" panose="02010600040101010101" pitchFamily="2" charset="-122"/>
                <a:ea typeface="华文楷体" panose="02010600040101010101" pitchFamily="2" charset="-122"/>
              </a:rPr>
              <a:t>括号括起具体类型</a:t>
            </a:r>
            <a:endParaRPr lang="en-US" altLang="zh-CN" sz="2200" b="1" kern="100" dirty="0">
              <a:solidFill>
                <a:srgbClr val="003366"/>
              </a:solidFill>
              <a:latin typeface="华文楷体" panose="02010600040101010101" pitchFamily="2" charset="-122"/>
              <a:ea typeface="华文楷体" panose="02010600040101010101" pitchFamily="2" charset="-122"/>
            </a:endParaRPr>
          </a:p>
          <a:p>
            <a:pPr marL="0" indent="0">
              <a:lnSpc>
                <a:spcPct val="100000"/>
              </a:lnSpc>
              <a:buSzPct val="75000"/>
              <a:buNone/>
            </a:pPr>
            <a:r>
              <a:rPr lang="zh-CN" altLang="en-US" sz="2200" kern="100" dirty="0">
                <a:latin typeface="Consolas" panose="020B0609020204030204" pitchFamily="49" charset="0"/>
                <a:ea typeface="华文楷体" panose="02010600040101010101" pitchFamily="2" charset="-122"/>
                <a:cs typeface="STKaiti" panose="02010600040101010101" charset="-122"/>
              </a:rPr>
              <a:t>    </a:t>
            </a:r>
            <a:r>
              <a:rPr lang="en-US" altLang="zh-CN" sz="2200" kern="100" dirty="0">
                <a:latin typeface="Consolas" panose="020B0609020204030204" pitchFamily="49" charset="0"/>
                <a:ea typeface="华文楷体" panose="02010600040101010101" pitchFamily="2" charset="-122"/>
                <a:cs typeface="STKaiti" panose="02010600040101010101" charset="-122"/>
              </a:rPr>
              <a:t>template</a:t>
            </a:r>
            <a:r>
              <a:rPr lang="en-US" altLang="zh-CN" sz="2200" kern="100" dirty="0">
                <a:solidFill>
                  <a:srgbClr val="FF0000"/>
                </a:solidFill>
                <a:latin typeface="Consolas" panose="020B0609020204030204" pitchFamily="49" charset="0"/>
                <a:ea typeface="华文楷体" panose="02010600040101010101" pitchFamily="2" charset="-122"/>
                <a:cs typeface="STKaiti" panose="02010600040101010101" charset="-122"/>
              </a:rPr>
              <a:t>&lt;&gt;</a:t>
            </a:r>
            <a:r>
              <a:rPr lang="zh-CN" altLang="en-US" sz="2200" kern="100" dirty="0">
                <a:latin typeface="Consolas" panose="020B0609020204030204" pitchFamily="49" charset="0"/>
                <a:ea typeface="华文楷体" panose="02010600040101010101" pitchFamily="2" charset="-122"/>
                <a:cs typeface="STKaiti" panose="02010600040101010101" charset="-122"/>
              </a:rPr>
              <a:t> </a:t>
            </a:r>
            <a:r>
              <a:rPr lang="en-US" altLang="zh-CN" sz="2200" kern="100" dirty="0">
                <a:latin typeface="Consolas" panose="020B0609020204030204" pitchFamily="49" charset="0"/>
                <a:ea typeface="华文楷体" panose="02010600040101010101" pitchFamily="2" charset="-122"/>
                <a:cs typeface="STKaiti" panose="02010600040101010101" charset="-122"/>
              </a:rPr>
              <a:t>char* sum</a:t>
            </a:r>
            <a:r>
              <a:rPr lang="en-US" altLang="zh-CN" sz="2200" kern="100" dirty="0">
                <a:solidFill>
                  <a:srgbClr val="FF0000"/>
                </a:solidFill>
                <a:latin typeface="Consolas" panose="020B0609020204030204" pitchFamily="49" charset="0"/>
                <a:ea typeface="华文楷体" panose="02010600040101010101" pitchFamily="2" charset="-122"/>
                <a:cs typeface="STKaiti" panose="02010600040101010101" charset="-122"/>
              </a:rPr>
              <a:t>&lt;char*&gt;</a:t>
            </a:r>
            <a:r>
              <a:rPr lang="en-US" altLang="zh-CN" sz="2200" kern="100" dirty="0">
                <a:latin typeface="Consolas" panose="020B0609020204030204" pitchFamily="49" charset="0"/>
                <a:ea typeface="华文楷体" panose="02010600040101010101" pitchFamily="2" charset="-122"/>
                <a:cs typeface="STKaiti" panose="02010600040101010101" charset="-122"/>
              </a:rPr>
              <a:t>(char* a, char* b)</a:t>
            </a:r>
            <a:endParaRPr lang="en-US" altLang="zh-CN" sz="2200" kern="100" dirty="0">
              <a:latin typeface="华文楷体" panose="02010600040101010101" pitchFamily="2" charset="-122"/>
              <a:ea typeface="华文楷体" panose="02010600040101010101" pitchFamily="2" charset="-122"/>
              <a:cs typeface="STKaiti" panose="02010600040101010101" charset="-122"/>
            </a:endParaRPr>
          </a:p>
          <a:p>
            <a:pPr lvl="1">
              <a:lnSpc>
                <a:spcPct val="100000"/>
              </a:lnSpc>
              <a:buSzPct val="75000"/>
              <a:buFont typeface="Wingdings" panose="05000000000000000000" pitchFamily="2" charset="2"/>
              <a:buChar char="n"/>
            </a:pPr>
            <a:r>
              <a:rPr lang="zh-CN" altLang="zh-CN" sz="2200" b="1" kern="100" dirty="0">
                <a:solidFill>
                  <a:srgbClr val="003366"/>
                </a:solidFill>
                <a:latin typeface="华文楷体" panose="02010600040101010101" pitchFamily="2" charset="-122"/>
                <a:ea typeface="华文楷体" panose="02010600040101010101" pitchFamily="2" charset="-122"/>
              </a:rPr>
              <a:t>由编译器推导出具体类型，函数名为普通形式</a:t>
            </a:r>
            <a:endParaRPr lang="en-US" altLang="zh-CN" sz="2200" b="1" kern="100" dirty="0">
              <a:solidFill>
                <a:srgbClr val="003366"/>
              </a:solidFill>
              <a:latin typeface="华文楷体" panose="02010600040101010101" pitchFamily="2" charset="-122"/>
              <a:ea typeface="华文楷体" panose="02010600040101010101" pitchFamily="2" charset="-122"/>
            </a:endParaRPr>
          </a:p>
          <a:p>
            <a:pPr marL="457200" lvl="1" indent="0">
              <a:buNone/>
            </a:pPr>
            <a:r>
              <a:rPr lang="zh-CN" altLang="en-US" sz="2200" kern="100" dirty="0">
                <a:latin typeface="Consolas" panose="020B0609020204030204" pitchFamily="49" charset="0"/>
                <a:ea typeface="华文楷体" panose="02010600040101010101" pitchFamily="2" charset="-122"/>
                <a:cs typeface="STKaiti" panose="02010600040101010101" charset="-122"/>
              </a:rPr>
              <a:t> </a:t>
            </a:r>
            <a:r>
              <a:rPr lang="en-US" altLang="zh-CN" sz="2200" kern="100" dirty="0">
                <a:latin typeface="Consolas" panose="020B0609020204030204" pitchFamily="49" charset="0"/>
                <a:ea typeface="华文楷体" panose="02010600040101010101" pitchFamily="2" charset="-122"/>
                <a:cs typeface="STKaiti" panose="02010600040101010101" charset="-122"/>
              </a:rPr>
              <a:t>template&lt;&gt; char* sum(char* a, char* b)</a:t>
            </a:r>
            <a:endParaRPr lang="zh-CN" altLang="zh-CN" sz="2200" kern="100" dirty="0">
              <a:latin typeface="Consolas" panose="020B0609020204030204" pitchFamily="49" charset="0"/>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endParaRPr lang="en-US" altLang="zh-CN" sz="2600"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endParaRPr lang="en-US" altLang="zh-CN" sz="2600"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77</a:t>
            </a:fld>
            <a:endParaRPr lang="en-US" altLang="zh-CN"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微软雅黑" panose="020B0503020204020204" pitchFamily="34" charset="-122"/>
                <a:ea typeface="微软雅黑" panose="020B0503020204020204" pitchFamily="34" charset="-122"/>
              </a:rPr>
              <a:t>函数模板特化</a:t>
            </a:r>
          </a:p>
        </p:txBody>
      </p:sp>
      <p:sp>
        <p:nvSpPr>
          <p:cNvPr id="4" name="文本框 3"/>
          <p:cNvSpPr txBox="1"/>
          <p:nvPr/>
        </p:nvSpPr>
        <p:spPr>
          <a:xfrm>
            <a:off x="305920" y="1585829"/>
            <a:ext cx="5637680" cy="4801314"/>
          </a:xfrm>
          <a:prstGeom prst="rect">
            <a:avLst/>
          </a:prstGeom>
          <a:noFill/>
        </p:spPr>
        <p:txBody>
          <a:bodyPr wrap="square" rtlCol="0">
            <a:spAutoFit/>
          </a:bodyPr>
          <a:lstStyle/>
          <a:p>
            <a:r>
              <a:rPr lang="en-US" altLang="zh-CN" dirty="0">
                <a:solidFill>
                  <a:srgbClr val="6E200D"/>
                </a:solidFill>
                <a:latin typeface="Consolas" panose="020B0609020204030204" pitchFamily="49" charset="0"/>
                <a:ea typeface="Consolas" panose="020B0609020204030204" pitchFamily="49" charset="0"/>
                <a:cs typeface="Consolas" panose="020B0609020204030204" pitchFamily="49" charset="0"/>
              </a:rPr>
              <a:t>#include </a:t>
            </a:r>
            <a:r>
              <a:rPr lang="en-US" altLang="zh-CN" dirty="0">
                <a:solidFill>
                  <a:srgbClr val="BA0011"/>
                </a:solidFill>
                <a:latin typeface="Consolas" panose="020B0609020204030204" pitchFamily="49" charset="0"/>
                <a:ea typeface="Consolas" panose="020B0609020204030204" pitchFamily="49" charset="0"/>
                <a:cs typeface="Consolas" panose="020B0609020204030204" pitchFamily="49" charset="0"/>
              </a:rPr>
              <a:t>&lt;iostream&gt;</a:t>
            </a:r>
            <a:endParaRPr lang="en-US" altLang="zh-CN" dirty="0">
              <a:solidFill>
                <a:srgbClr val="6E200D"/>
              </a:solidFill>
              <a:latin typeface="Consolas" panose="020B0609020204030204" pitchFamily="49" charset="0"/>
              <a:ea typeface="Consolas" panose="020B0609020204030204" pitchFamily="49" charset="0"/>
              <a:cs typeface="Consolas" panose="020B0609020204030204" pitchFamily="49" charset="0"/>
            </a:endParaRPr>
          </a:p>
          <a:p>
            <a:r>
              <a:rPr lang="en-US" altLang="zh-CN" dirty="0">
                <a:solidFill>
                  <a:srgbClr val="B40062"/>
                </a:solidFill>
                <a:latin typeface="Consolas" panose="020B0609020204030204" pitchFamily="49" charset="0"/>
                <a:ea typeface="Consolas" panose="020B0609020204030204" pitchFamily="49" charset="0"/>
                <a:cs typeface="Consolas" panose="020B0609020204030204" pitchFamily="49" charset="0"/>
              </a:rPr>
              <a:t>using</a:t>
            </a:r>
            <a:r>
              <a:rPr lang="en-US" altLang="zh-CN" dirty="0">
                <a:solidFill>
                  <a:srgbClr val="000000"/>
                </a:solidFill>
                <a:latin typeface="Consolas" panose="020B0609020204030204" pitchFamily="49" charset="0"/>
                <a:ea typeface="Consolas" panose="020B0609020204030204" pitchFamily="49" charset="0"/>
                <a:cs typeface="Consolas" panose="020B0609020204030204" pitchFamily="49" charset="0"/>
              </a:rPr>
              <a:t> </a:t>
            </a:r>
            <a:r>
              <a:rPr lang="en-US" altLang="zh-CN" dirty="0">
                <a:solidFill>
                  <a:srgbClr val="B40062"/>
                </a:solidFill>
                <a:latin typeface="Consolas" panose="020B0609020204030204" pitchFamily="49" charset="0"/>
                <a:ea typeface="Consolas" panose="020B0609020204030204" pitchFamily="49" charset="0"/>
                <a:cs typeface="Consolas" panose="020B0609020204030204" pitchFamily="49" charset="0"/>
              </a:rPr>
              <a:t>namespace</a:t>
            </a:r>
            <a:r>
              <a:rPr lang="en-US" altLang="zh-CN" dirty="0">
                <a:solidFill>
                  <a:srgbClr val="000000"/>
                </a:solidFill>
                <a:latin typeface="Consolas" panose="020B0609020204030204" pitchFamily="49" charset="0"/>
                <a:ea typeface="Consolas" panose="020B0609020204030204" pitchFamily="49" charset="0"/>
                <a:cs typeface="Consolas" panose="020B0609020204030204" pitchFamily="49" charset="0"/>
              </a:rPr>
              <a:t> </a:t>
            </a:r>
            <a:r>
              <a:rPr lang="en-US" altLang="zh-CN" dirty="0" err="1">
                <a:solidFill>
                  <a:srgbClr val="000000"/>
                </a:solidFill>
                <a:latin typeface="Consolas" panose="020B0609020204030204" pitchFamily="49" charset="0"/>
                <a:ea typeface="Consolas" panose="020B0609020204030204" pitchFamily="49" charset="0"/>
                <a:cs typeface="Consolas" panose="020B0609020204030204" pitchFamily="49" charset="0"/>
              </a:rPr>
              <a:t>std</a:t>
            </a:r>
            <a:r>
              <a:rPr lang="en-US" altLang="zh-CN" dirty="0">
                <a:solidFill>
                  <a:srgbClr val="000000"/>
                </a:solidFill>
                <a:latin typeface="Consolas" panose="020B0609020204030204" pitchFamily="49" charset="0"/>
                <a:ea typeface="Consolas" panose="020B0609020204030204" pitchFamily="49" charset="0"/>
                <a:cs typeface="Consolas" panose="020B0609020204030204" pitchFamily="49" charset="0"/>
              </a:rPr>
              <a:t>;</a:t>
            </a:r>
            <a:endParaRPr lang="en-US" altLang="zh-CN" dirty="0">
              <a:solidFill>
                <a:srgbClr val="C00000"/>
              </a:solidFill>
              <a:latin typeface="Consolas" panose="020B0609020204030204" pitchFamily="49" charset="0"/>
            </a:endParaRPr>
          </a:p>
          <a:p>
            <a:endParaRPr lang="en-US" altLang="zh-CN" dirty="0">
              <a:solidFill>
                <a:srgbClr val="C00000"/>
              </a:solidFill>
              <a:latin typeface="Consolas" panose="020B0609020204030204" pitchFamily="49" charset="0"/>
            </a:endParaRPr>
          </a:p>
          <a:p>
            <a:r>
              <a:rPr lang="en-US" altLang="zh-CN" dirty="0">
                <a:solidFill>
                  <a:srgbClr val="C00000"/>
                </a:solidFill>
                <a:latin typeface="Consolas" panose="020B0609020204030204" pitchFamily="49" charset="0"/>
              </a:rPr>
              <a:t>template</a:t>
            </a:r>
            <a:r>
              <a:rPr lang="en-US" altLang="zh-CN" dirty="0">
                <a:latin typeface="Consolas" panose="020B0609020204030204" pitchFamily="49" charset="0"/>
              </a:rPr>
              <a:t>&lt;</a:t>
            </a:r>
            <a:r>
              <a:rPr lang="en-US" altLang="zh-CN" dirty="0">
                <a:solidFill>
                  <a:srgbClr val="C00000"/>
                </a:solidFill>
                <a:latin typeface="Consolas" panose="020B0609020204030204" pitchFamily="49" charset="0"/>
              </a:rPr>
              <a:t>class</a:t>
            </a:r>
            <a:r>
              <a:rPr lang="en-US" altLang="zh-CN" dirty="0">
                <a:latin typeface="Consolas" panose="020B0609020204030204" pitchFamily="49" charset="0"/>
              </a:rPr>
              <a:t> T&gt;</a:t>
            </a:r>
          </a:p>
          <a:p>
            <a:r>
              <a:rPr lang="fr-FR" altLang="zh-CN" dirty="0">
                <a:latin typeface="Consolas" panose="020B0609020204030204" pitchFamily="49" charset="0"/>
              </a:rPr>
              <a:t>T div2(</a:t>
            </a:r>
            <a:r>
              <a:rPr lang="fr-FR" altLang="zh-CN" dirty="0">
                <a:solidFill>
                  <a:srgbClr val="C00000"/>
                </a:solidFill>
                <a:latin typeface="Consolas" panose="020B0609020204030204" pitchFamily="49" charset="0"/>
              </a:rPr>
              <a:t>const</a:t>
            </a:r>
            <a:r>
              <a:rPr lang="fr-FR" altLang="zh-CN" dirty="0">
                <a:latin typeface="Consolas" panose="020B0609020204030204" pitchFamily="49" charset="0"/>
              </a:rPr>
              <a:t> T&amp; val)</a:t>
            </a:r>
          </a:p>
          <a:p>
            <a:r>
              <a:rPr lang="en-US" altLang="zh-CN" dirty="0">
                <a:latin typeface="Consolas" panose="020B0609020204030204" pitchFamily="49" charset="0"/>
              </a:rPr>
              <a:t>{</a:t>
            </a:r>
          </a:p>
          <a:p>
            <a:r>
              <a:rPr lang="en-US" altLang="zh-CN" dirty="0">
                <a:latin typeface="Consolas" panose="020B0609020204030204" pitchFamily="49" charset="0"/>
              </a:rPr>
              <a:t>    </a:t>
            </a:r>
            <a:r>
              <a:rPr lang="en-US" altLang="zh-CN" dirty="0" err="1">
                <a:latin typeface="Consolas" panose="020B0609020204030204" pitchFamily="49" charset="0"/>
              </a:rPr>
              <a:t>cout</a:t>
            </a:r>
            <a:r>
              <a:rPr lang="en-US" altLang="zh-CN" dirty="0">
                <a:latin typeface="Consolas" panose="020B0609020204030204" pitchFamily="49" charset="0"/>
              </a:rPr>
              <a:t> &lt;&lt; "using template" &lt;&lt; </a:t>
            </a:r>
            <a:r>
              <a:rPr lang="en-US" altLang="zh-CN" dirty="0" err="1">
                <a:latin typeface="Consolas" panose="020B0609020204030204" pitchFamily="49" charset="0"/>
              </a:rPr>
              <a:t>endl</a:t>
            </a:r>
            <a:r>
              <a:rPr lang="en-US" altLang="zh-CN" dirty="0">
                <a:latin typeface="Consolas" panose="020B0609020204030204" pitchFamily="49" charset="0"/>
              </a:rPr>
              <a:t>;</a:t>
            </a:r>
          </a:p>
          <a:p>
            <a:r>
              <a:rPr lang="en-US" altLang="zh-CN" dirty="0">
                <a:latin typeface="Consolas" panose="020B0609020204030204" pitchFamily="49" charset="0"/>
              </a:rPr>
              <a:t>    </a:t>
            </a:r>
            <a:r>
              <a:rPr lang="en-US" altLang="zh-CN" dirty="0">
                <a:solidFill>
                  <a:srgbClr val="C00000"/>
                </a:solidFill>
                <a:latin typeface="Consolas" panose="020B0609020204030204" pitchFamily="49" charset="0"/>
              </a:rPr>
              <a:t>return</a:t>
            </a:r>
            <a:r>
              <a:rPr lang="en-US" altLang="zh-CN" dirty="0">
                <a:latin typeface="Consolas" panose="020B0609020204030204" pitchFamily="49" charset="0"/>
              </a:rPr>
              <a:t> </a:t>
            </a:r>
            <a:r>
              <a:rPr lang="en-US" altLang="zh-CN" dirty="0" err="1">
                <a:latin typeface="Consolas" panose="020B0609020204030204" pitchFamily="49" charset="0"/>
              </a:rPr>
              <a:t>val</a:t>
            </a:r>
            <a:r>
              <a:rPr lang="en-US" altLang="zh-CN" dirty="0">
                <a:latin typeface="Consolas" panose="020B0609020204030204" pitchFamily="49" charset="0"/>
              </a:rPr>
              <a:t> / 2;</a:t>
            </a:r>
          </a:p>
          <a:p>
            <a:r>
              <a:rPr lang="en-US" altLang="zh-CN" dirty="0">
                <a:latin typeface="Consolas" panose="020B0609020204030204" pitchFamily="49" charset="0"/>
              </a:rPr>
              <a:t>}</a:t>
            </a:r>
          </a:p>
          <a:p>
            <a:endParaRPr lang="zh-CN" altLang="en-US" dirty="0">
              <a:latin typeface="Consolas" panose="020B0609020204030204" pitchFamily="49" charset="0"/>
            </a:endParaRPr>
          </a:p>
          <a:p>
            <a:r>
              <a:rPr lang="en-US" altLang="zh-CN" dirty="0">
                <a:solidFill>
                  <a:srgbClr val="C00000"/>
                </a:solidFill>
                <a:latin typeface="Consolas" panose="020B0609020204030204" pitchFamily="49" charset="0"/>
              </a:rPr>
              <a:t>template</a:t>
            </a:r>
            <a:r>
              <a:rPr lang="en-US" altLang="zh-CN" dirty="0">
                <a:latin typeface="Consolas" panose="020B0609020204030204" pitchFamily="49" charset="0"/>
              </a:rPr>
              <a:t>&lt;&gt;</a:t>
            </a:r>
          </a:p>
          <a:p>
            <a:r>
              <a:rPr lang="en-US" altLang="zh-CN" dirty="0">
                <a:solidFill>
                  <a:srgbClr val="C00000"/>
                </a:solidFill>
                <a:latin typeface="Consolas" panose="020B0609020204030204" pitchFamily="49" charset="0"/>
              </a:rPr>
              <a:t>int</a:t>
            </a:r>
            <a:r>
              <a:rPr lang="en-US" altLang="zh-CN" dirty="0">
                <a:latin typeface="Consolas" panose="020B0609020204030204" pitchFamily="49" charset="0"/>
              </a:rPr>
              <a:t> div2(</a:t>
            </a:r>
            <a:r>
              <a:rPr lang="en-US" altLang="zh-CN" dirty="0">
                <a:solidFill>
                  <a:srgbClr val="C00000"/>
                </a:solidFill>
                <a:latin typeface="Consolas" panose="020B0609020204030204" pitchFamily="49" charset="0"/>
              </a:rPr>
              <a:t>const</a:t>
            </a:r>
            <a:r>
              <a:rPr lang="en-US" altLang="zh-CN" dirty="0">
                <a:latin typeface="Consolas" panose="020B0609020204030204" pitchFamily="49" charset="0"/>
              </a:rPr>
              <a:t> </a:t>
            </a:r>
            <a:r>
              <a:rPr lang="en-US" altLang="zh-CN" dirty="0">
                <a:solidFill>
                  <a:srgbClr val="C00000"/>
                </a:solidFill>
                <a:latin typeface="Consolas" panose="020B0609020204030204" pitchFamily="49" charset="0"/>
              </a:rPr>
              <a:t>int</a:t>
            </a:r>
            <a:r>
              <a:rPr lang="en-US" altLang="zh-CN" dirty="0">
                <a:latin typeface="Consolas" panose="020B0609020204030204" pitchFamily="49" charset="0"/>
              </a:rPr>
              <a:t>&amp; </a:t>
            </a:r>
            <a:r>
              <a:rPr lang="en-US" altLang="zh-CN" dirty="0" err="1">
                <a:latin typeface="Consolas" panose="020B0609020204030204" pitchFamily="49" charset="0"/>
              </a:rPr>
              <a:t>val</a:t>
            </a:r>
            <a:r>
              <a:rPr lang="en-US" altLang="zh-CN" dirty="0">
                <a:latin typeface="Consolas" panose="020B0609020204030204" pitchFamily="49" charset="0"/>
              </a:rPr>
              <a:t>)</a:t>
            </a:r>
            <a:r>
              <a:rPr lang="en-US" altLang="zh-CN" dirty="0">
                <a:solidFill>
                  <a:schemeClr val="accent6">
                    <a:lumMod val="75000"/>
                  </a:schemeClr>
                </a:solidFill>
                <a:latin typeface="Consolas" panose="020B0609020204030204" pitchFamily="49" charset="0"/>
              </a:rPr>
              <a:t> //</a:t>
            </a:r>
            <a:r>
              <a:rPr lang="zh-CN" altLang="en-US" dirty="0">
                <a:solidFill>
                  <a:schemeClr val="accent6">
                    <a:lumMod val="75000"/>
                  </a:schemeClr>
                </a:solidFill>
                <a:latin typeface="Consolas" panose="020B0609020204030204" pitchFamily="49" charset="0"/>
              </a:rPr>
              <a:t>函数模板特化</a:t>
            </a:r>
            <a:endParaRPr lang="en-US" altLang="zh-CN" dirty="0">
              <a:latin typeface="Consolas" panose="020B0609020204030204" pitchFamily="49" charset="0"/>
            </a:endParaRPr>
          </a:p>
          <a:p>
            <a:r>
              <a:rPr lang="en-US" altLang="zh-CN" dirty="0">
                <a:latin typeface="Consolas" panose="020B0609020204030204" pitchFamily="49" charset="0"/>
              </a:rPr>
              <a:t>{</a:t>
            </a:r>
          </a:p>
          <a:p>
            <a:r>
              <a:rPr lang="en-US" altLang="zh-CN" dirty="0">
                <a:latin typeface="Consolas" panose="020B0609020204030204" pitchFamily="49" charset="0"/>
              </a:rPr>
              <a:t>    </a:t>
            </a:r>
            <a:r>
              <a:rPr lang="en-US" altLang="zh-CN" dirty="0" err="1">
                <a:latin typeface="Consolas" panose="020B0609020204030204" pitchFamily="49" charset="0"/>
              </a:rPr>
              <a:t>cout</a:t>
            </a:r>
            <a:r>
              <a:rPr lang="en-US" altLang="zh-CN" dirty="0">
                <a:latin typeface="Consolas" panose="020B0609020204030204" pitchFamily="49" charset="0"/>
              </a:rPr>
              <a:t> &lt;&lt; "better solution!" &lt;&lt; </a:t>
            </a:r>
            <a:r>
              <a:rPr lang="en-US" altLang="zh-CN" dirty="0" err="1">
                <a:latin typeface="Consolas" panose="020B0609020204030204" pitchFamily="49" charset="0"/>
              </a:rPr>
              <a:t>endl</a:t>
            </a:r>
            <a:r>
              <a:rPr lang="en-US" altLang="zh-CN" dirty="0">
                <a:latin typeface="Consolas" panose="020B0609020204030204" pitchFamily="49" charset="0"/>
              </a:rPr>
              <a:t>;</a:t>
            </a:r>
          </a:p>
          <a:p>
            <a:r>
              <a:rPr lang="en-US" altLang="zh-CN" dirty="0">
                <a:latin typeface="Consolas" panose="020B0609020204030204" pitchFamily="49" charset="0"/>
              </a:rPr>
              <a:t>    </a:t>
            </a:r>
            <a:r>
              <a:rPr lang="en-US" altLang="zh-CN" dirty="0">
                <a:solidFill>
                  <a:srgbClr val="C00000"/>
                </a:solidFill>
                <a:latin typeface="Consolas" panose="020B0609020204030204" pitchFamily="49" charset="0"/>
              </a:rPr>
              <a:t>return</a:t>
            </a:r>
            <a:r>
              <a:rPr lang="en-US" altLang="zh-CN" dirty="0">
                <a:latin typeface="Consolas" panose="020B0609020204030204" pitchFamily="49" charset="0"/>
              </a:rPr>
              <a:t> </a:t>
            </a:r>
            <a:r>
              <a:rPr lang="en-US" altLang="zh-CN" dirty="0" err="1">
                <a:latin typeface="Consolas" panose="020B0609020204030204" pitchFamily="49" charset="0"/>
              </a:rPr>
              <a:t>val</a:t>
            </a:r>
            <a:r>
              <a:rPr lang="en-US" altLang="zh-CN" dirty="0">
                <a:latin typeface="Consolas" panose="020B0609020204030204" pitchFamily="49" charset="0"/>
              </a:rPr>
              <a:t> &gt;&gt; 1; </a:t>
            </a:r>
            <a:r>
              <a:rPr lang="en-US" altLang="zh-CN" dirty="0">
                <a:solidFill>
                  <a:schemeClr val="accent6">
                    <a:lumMod val="75000"/>
                  </a:schemeClr>
                </a:solidFill>
                <a:latin typeface="Consolas" panose="020B0609020204030204" pitchFamily="49" charset="0"/>
              </a:rPr>
              <a:t>//</a:t>
            </a:r>
            <a:r>
              <a:rPr lang="zh-CN" altLang="en-US" dirty="0">
                <a:solidFill>
                  <a:schemeClr val="accent6">
                    <a:lumMod val="75000"/>
                  </a:schemeClr>
                </a:solidFill>
                <a:latin typeface="Consolas" panose="020B0609020204030204" pitchFamily="49" charset="0"/>
              </a:rPr>
              <a:t>右移取代除以</a:t>
            </a:r>
            <a:r>
              <a:rPr lang="en-US" altLang="zh-CN" dirty="0">
                <a:solidFill>
                  <a:schemeClr val="accent6">
                    <a:lumMod val="75000"/>
                  </a:schemeClr>
                </a:solidFill>
                <a:latin typeface="Consolas" panose="020B0609020204030204" pitchFamily="49" charset="0"/>
              </a:rPr>
              <a:t>2</a:t>
            </a:r>
          </a:p>
          <a:p>
            <a:r>
              <a:rPr lang="en-US" altLang="zh-CN" dirty="0">
                <a:latin typeface="Consolas" panose="020B0609020204030204" pitchFamily="49" charset="0"/>
              </a:rPr>
              <a:t>}</a:t>
            </a:r>
          </a:p>
          <a:p>
            <a:endParaRPr lang="zh-CN" altLang="en-US" dirty="0">
              <a:latin typeface="Consolas" panose="020B0609020204030204" pitchFamily="49" charset="0"/>
            </a:endParaRPr>
          </a:p>
        </p:txBody>
      </p:sp>
      <p:sp>
        <p:nvSpPr>
          <p:cNvPr id="5" name="文本框 4"/>
          <p:cNvSpPr txBox="1"/>
          <p:nvPr/>
        </p:nvSpPr>
        <p:spPr>
          <a:xfrm>
            <a:off x="5429438" y="1776758"/>
            <a:ext cx="3730508" cy="1477328"/>
          </a:xfrm>
          <a:prstGeom prst="rect">
            <a:avLst/>
          </a:prstGeom>
          <a:noFill/>
        </p:spPr>
        <p:txBody>
          <a:bodyPr wrap="none" rtlCol="0">
            <a:spAutoFit/>
          </a:bodyPr>
          <a:lstStyle/>
          <a:p>
            <a:r>
              <a:rPr lang="en-US" altLang="zh-CN" dirty="0" err="1">
                <a:solidFill>
                  <a:srgbClr val="C00000"/>
                </a:solidFill>
                <a:latin typeface="Consolas" panose="020B0609020204030204" pitchFamily="49" charset="0"/>
              </a:rPr>
              <a:t>int</a:t>
            </a:r>
            <a:r>
              <a:rPr lang="en-US" altLang="zh-CN" dirty="0">
                <a:latin typeface="Consolas" panose="020B0609020204030204" pitchFamily="49" charset="0"/>
              </a:rPr>
              <a:t> main() {</a:t>
            </a:r>
          </a:p>
          <a:p>
            <a:r>
              <a:rPr lang="en-US" altLang="zh-CN" dirty="0">
                <a:latin typeface="Consolas" panose="020B0609020204030204" pitchFamily="49" charset="0"/>
              </a:rPr>
              <a:t>    </a:t>
            </a:r>
            <a:r>
              <a:rPr lang="en-US" altLang="zh-CN" dirty="0" err="1">
                <a:latin typeface="Consolas" panose="020B0609020204030204" pitchFamily="49" charset="0"/>
              </a:rPr>
              <a:t>cout</a:t>
            </a:r>
            <a:r>
              <a:rPr lang="en-US" altLang="zh-CN" dirty="0">
                <a:latin typeface="Consolas" panose="020B0609020204030204" pitchFamily="49" charset="0"/>
              </a:rPr>
              <a:t>&lt;&lt;div2(1.5) &lt;&lt; </a:t>
            </a:r>
            <a:r>
              <a:rPr lang="en-US" altLang="zh-CN" dirty="0" err="1">
                <a:latin typeface="Consolas" panose="020B0609020204030204" pitchFamily="49" charset="0"/>
              </a:rPr>
              <a:t>endl</a:t>
            </a:r>
            <a:r>
              <a:rPr lang="en-US" altLang="zh-CN" dirty="0">
                <a:latin typeface="Consolas" panose="020B0609020204030204" pitchFamily="49" charset="0"/>
              </a:rPr>
              <a:t>;</a:t>
            </a:r>
          </a:p>
          <a:p>
            <a:r>
              <a:rPr lang="en-US" altLang="zh-CN" dirty="0">
                <a:latin typeface="Consolas" panose="020B0609020204030204" pitchFamily="49" charset="0"/>
              </a:rPr>
              <a:t>    </a:t>
            </a:r>
            <a:r>
              <a:rPr lang="en-US" altLang="zh-CN" dirty="0" err="1">
                <a:latin typeface="Consolas" panose="020B0609020204030204" pitchFamily="49" charset="0"/>
              </a:rPr>
              <a:t>cout</a:t>
            </a:r>
            <a:r>
              <a:rPr lang="en-US" altLang="zh-CN" dirty="0">
                <a:latin typeface="Consolas" panose="020B0609020204030204" pitchFamily="49" charset="0"/>
              </a:rPr>
              <a:t>&lt;&lt;div2(2) &lt;&lt; </a:t>
            </a:r>
            <a:r>
              <a:rPr lang="en-US" altLang="zh-CN" dirty="0" err="1">
                <a:latin typeface="Consolas" panose="020B0609020204030204" pitchFamily="49" charset="0"/>
              </a:rPr>
              <a:t>endl</a:t>
            </a:r>
            <a:r>
              <a:rPr lang="en-US" altLang="zh-CN" dirty="0">
                <a:latin typeface="Consolas" panose="020B0609020204030204" pitchFamily="49" charset="0"/>
              </a:rPr>
              <a:t>;</a:t>
            </a:r>
          </a:p>
          <a:p>
            <a:r>
              <a:rPr lang="en-US" altLang="zh-CN" dirty="0">
                <a:latin typeface="Consolas" panose="020B0609020204030204" pitchFamily="49" charset="0"/>
              </a:rPr>
              <a:t>    return 0;</a:t>
            </a:r>
          </a:p>
          <a:p>
            <a:r>
              <a:rPr lang="en-US" altLang="zh-CN" dirty="0">
                <a:latin typeface="Consolas" panose="020B0609020204030204" pitchFamily="49" charset="0"/>
              </a:rPr>
              <a:t>}</a:t>
            </a:r>
            <a:endParaRPr lang="zh-CN" altLang="en-US" dirty="0">
              <a:latin typeface="Consolas" panose="020B0609020204030204" pitchFamily="49" charset="0"/>
            </a:endParaRPr>
          </a:p>
        </p:txBody>
      </p:sp>
      <p:sp>
        <p:nvSpPr>
          <p:cNvPr id="6" name="矩形 5"/>
          <p:cNvSpPr/>
          <p:nvPr/>
        </p:nvSpPr>
        <p:spPr>
          <a:xfrm>
            <a:off x="6205014" y="4670244"/>
            <a:ext cx="3168352" cy="1200329"/>
          </a:xfrm>
          <a:prstGeom prst="rect">
            <a:avLst/>
          </a:prstGeom>
        </p:spPr>
        <p:txBody>
          <a:bodyPr wrap="square">
            <a:spAutoFit/>
          </a:bodyPr>
          <a:lstStyle/>
          <a:p>
            <a:r>
              <a:rPr lang="en-US" altLang="zh-CN" b="1" dirty="0">
                <a:solidFill>
                  <a:srgbClr val="00B050"/>
                </a:solidFill>
                <a:latin typeface="AndaleMono" panose="020B0509000000000004" charset="0"/>
              </a:rPr>
              <a:t>using template</a:t>
            </a:r>
          </a:p>
          <a:p>
            <a:r>
              <a:rPr lang="en-US" altLang="zh-CN" b="1" dirty="0">
                <a:solidFill>
                  <a:srgbClr val="00B050"/>
                </a:solidFill>
                <a:latin typeface="AndaleMono" panose="020B0509000000000004" charset="0"/>
              </a:rPr>
              <a:t>0.75</a:t>
            </a:r>
          </a:p>
          <a:p>
            <a:r>
              <a:rPr lang="en-US" altLang="zh-CN" b="1" dirty="0">
                <a:solidFill>
                  <a:srgbClr val="00B050"/>
                </a:solidFill>
                <a:latin typeface="AndaleMono" panose="020B0509000000000004" charset="0"/>
              </a:rPr>
              <a:t>better solution!</a:t>
            </a:r>
          </a:p>
          <a:p>
            <a:r>
              <a:rPr lang="en-US" altLang="zh-CN" b="1" dirty="0">
                <a:solidFill>
                  <a:srgbClr val="00B050"/>
                </a:solidFill>
                <a:latin typeface="AndaleMono" panose="020B0509000000000004" charset="0"/>
              </a:rPr>
              <a:t>1</a:t>
            </a:r>
          </a:p>
        </p:txBody>
      </p:sp>
      <p:sp>
        <p:nvSpPr>
          <p:cNvPr id="7" name="文本框 6"/>
          <p:cNvSpPr txBox="1"/>
          <p:nvPr/>
        </p:nvSpPr>
        <p:spPr>
          <a:xfrm>
            <a:off x="6274690" y="4208579"/>
            <a:ext cx="1833922" cy="461665"/>
          </a:xfrm>
          <a:prstGeom prst="rect">
            <a:avLst/>
          </a:prstGeom>
          <a:solidFill>
            <a:srgbClr val="FFFF00"/>
          </a:solidFill>
        </p:spPr>
        <p:txBody>
          <a:bodyPr wrap="square" rtlCol="0">
            <a:spAutoFit/>
          </a:bodyPr>
          <a:lstStyle/>
          <a:p>
            <a:r>
              <a:rPr kumimoji="1" lang="zh-CN" altLang="en-US" sz="2400" b="1" dirty="0"/>
              <a:t>运行结果</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函数模板特化</a:t>
            </a:r>
          </a:p>
        </p:txBody>
      </p:sp>
      <p:sp>
        <p:nvSpPr>
          <p:cNvPr id="3" name="内容占位符 2"/>
          <p:cNvSpPr>
            <a:spLocks noGrp="1"/>
          </p:cNvSpPr>
          <p:nvPr>
            <p:ph idx="1"/>
          </p:nvPr>
        </p:nvSpPr>
        <p:spPr>
          <a:xfrm>
            <a:off x="548097" y="1552236"/>
            <a:ext cx="8047806" cy="4804115"/>
          </a:xfrm>
        </p:spPr>
        <p:txBody>
          <a:bodyPr>
            <a:noAutofit/>
          </a:bodyPr>
          <a:lstStyle/>
          <a:p>
            <a:pPr>
              <a:lnSpc>
                <a:spcPct val="100000"/>
              </a:lnSpc>
              <a:buSzPct val="75000"/>
              <a:buFont typeface="Wingdings" panose="05000000000000000000" pitchFamily="2" charset="2"/>
              <a:buChar char="n"/>
            </a:pPr>
            <a:r>
              <a:rPr lang="zh-CN" altLang="en-US" sz="26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注意：对于</a:t>
            </a:r>
            <a:r>
              <a:rPr lang="zh-CN" altLang="zh-CN" sz="2600"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函数模板</a:t>
            </a:r>
            <a:r>
              <a:rPr lang="zh-CN" altLang="zh-CN" sz="26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，如果有多个模板参数 ，则特化时必须提供所有参数的特例类型，</a:t>
            </a:r>
            <a:r>
              <a:rPr lang="zh-CN" altLang="zh-CN" sz="2600"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不能部分特化</a:t>
            </a:r>
            <a:r>
              <a:rPr lang="zh-CN" altLang="en-US" sz="26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endParaRPr lang="en-US" altLang="zh-CN" sz="2600"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sz="26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但可以用重载来替代部分特化。</a:t>
            </a:r>
            <a:endParaRPr lang="en-US" altLang="zh-CN" sz="2600"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endParaRPr lang="en-US" altLang="zh-CN" sz="2600"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endParaRPr lang="en-US" altLang="zh-CN" sz="2600"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79</a:t>
            </a:fld>
            <a:endParaRPr lang="en-US" altLang="zh-CN"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微软雅黑" panose="020B0503020204020204" pitchFamily="34" charset="-122"/>
                <a:ea typeface="微软雅黑" panose="020B0503020204020204" pitchFamily="34" charset="-122"/>
              </a:rPr>
              <a:t>函数模板特化</a:t>
            </a:r>
          </a:p>
        </p:txBody>
      </p:sp>
      <p:sp>
        <p:nvSpPr>
          <p:cNvPr id="4" name="文本框 3"/>
          <p:cNvSpPr txBox="1"/>
          <p:nvPr/>
        </p:nvSpPr>
        <p:spPr>
          <a:xfrm>
            <a:off x="202623" y="1565998"/>
            <a:ext cx="8016587" cy="4801314"/>
          </a:xfrm>
          <a:prstGeom prst="rect">
            <a:avLst/>
          </a:prstGeom>
          <a:noFill/>
        </p:spPr>
        <p:txBody>
          <a:bodyPr wrap="square" rtlCol="0">
            <a:spAutoFit/>
          </a:bodyPr>
          <a:lstStyle/>
          <a:p>
            <a:r>
              <a:rPr lang="en-US" altLang="zh-CN" dirty="0">
                <a:solidFill>
                  <a:srgbClr val="6E200D"/>
                </a:solidFill>
                <a:latin typeface="Consolas" panose="020B0609020204030204" pitchFamily="49" charset="0"/>
                <a:ea typeface="Consolas" panose="020B0609020204030204" pitchFamily="49" charset="0"/>
                <a:cs typeface="Consolas" panose="020B0609020204030204" pitchFamily="49" charset="0"/>
              </a:rPr>
              <a:t>#include </a:t>
            </a:r>
            <a:r>
              <a:rPr lang="en-US" altLang="zh-CN" dirty="0">
                <a:solidFill>
                  <a:srgbClr val="BA0011"/>
                </a:solidFill>
                <a:latin typeface="Consolas" panose="020B0609020204030204" pitchFamily="49" charset="0"/>
                <a:ea typeface="Consolas" panose="020B0609020204030204" pitchFamily="49" charset="0"/>
                <a:cs typeface="Consolas" panose="020B0609020204030204" pitchFamily="49" charset="0"/>
              </a:rPr>
              <a:t>&lt;iostream&gt;</a:t>
            </a:r>
            <a:endParaRPr lang="en-US" altLang="zh-CN" dirty="0">
              <a:solidFill>
                <a:srgbClr val="C00000"/>
              </a:solidFill>
              <a:latin typeface="Consolas" panose="020B0609020204030204" pitchFamily="49" charset="0"/>
            </a:endParaRPr>
          </a:p>
          <a:p>
            <a:r>
              <a:rPr lang="en-US" altLang="zh-CN" dirty="0">
                <a:solidFill>
                  <a:srgbClr val="B40062"/>
                </a:solidFill>
                <a:latin typeface="Consolas" panose="020B0609020204030204" pitchFamily="49" charset="0"/>
                <a:ea typeface="Consolas" panose="020B0609020204030204" pitchFamily="49" charset="0"/>
                <a:cs typeface="Consolas" panose="020B0609020204030204" pitchFamily="49" charset="0"/>
              </a:rPr>
              <a:t>using</a:t>
            </a:r>
            <a:r>
              <a:rPr lang="en-US" altLang="zh-CN" dirty="0">
                <a:solidFill>
                  <a:srgbClr val="000000"/>
                </a:solidFill>
                <a:latin typeface="Consolas" panose="020B0609020204030204" pitchFamily="49" charset="0"/>
                <a:ea typeface="Consolas" panose="020B0609020204030204" pitchFamily="49" charset="0"/>
                <a:cs typeface="Consolas" panose="020B0609020204030204" pitchFamily="49" charset="0"/>
              </a:rPr>
              <a:t> </a:t>
            </a:r>
            <a:r>
              <a:rPr lang="en-US" altLang="zh-CN" dirty="0">
                <a:solidFill>
                  <a:srgbClr val="B40062"/>
                </a:solidFill>
                <a:latin typeface="Consolas" panose="020B0609020204030204" pitchFamily="49" charset="0"/>
                <a:ea typeface="Consolas" panose="020B0609020204030204" pitchFamily="49" charset="0"/>
                <a:cs typeface="Consolas" panose="020B0609020204030204" pitchFamily="49" charset="0"/>
              </a:rPr>
              <a:t>namespace</a:t>
            </a:r>
            <a:r>
              <a:rPr lang="en-US" altLang="zh-CN" dirty="0">
                <a:solidFill>
                  <a:srgbClr val="000000"/>
                </a:solidFill>
                <a:latin typeface="Consolas" panose="020B0609020204030204" pitchFamily="49" charset="0"/>
                <a:ea typeface="Consolas" panose="020B0609020204030204" pitchFamily="49" charset="0"/>
                <a:cs typeface="Consolas" panose="020B0609020204030204" pitchFamily="49" charset="0"/>
              </a:rPr>
              <a:t> </a:t>
            </a:r>
            <a:r>
              <a:rPr lang="en-US" altLang="zh-CN" dirty="0" err="1">
                <a:solidFill>
                  <a:srgbClr val="000000"/>
                </a:solidFill>
                <a:latin typeface="Consolas" panose="020B0609020204030204" pitchFamily="49" charset="0"/>
                <a:ea typeface="Consolas" panose="020B0609020204030204" pitchFamily="49" charset="0"/>
                <a:cs typeface="Consolas" panose="020B0609020204030204" pitchFamily="49" charset="0"/>
              </a:rPr>
              <a:t>std</a:t>
            </a:r>
            <a:r>
              <a:rPr lang="en-US" altLang="zh-CN" dirty="0">
                <a:solidFill>
                  <a:srgbClr val="000000"/>
                </a:solidFill>
                <a:latin typeface="Consolas" panose="020B0609020204030204" pitchFamily="49" charset="0"/>
                <a:ea typeface="Consolas" panose="020B0609020204030204" pitchFamily="49" charset="0"/>
                <a:cs typeface="Consolas" panose="020B0609020204030204" pitchFamily="49" charset="0"/>
              </a:rPr>
              <a:t>;</a:t>
            </a:r>
            <a:endParaRPr lang="en-US" altLang="zh-CN" dirty="0">
              <a:solidFill>
                <a:srgbClr val="C00000"/>
              </a:solidFill>
              <a:latin typeface="Consolas" panose="020B0609020204030204" pitchFamily="49" charset="0"/>
            </a:endParaRPr>
          </a:p>
          <a:p>
            <a:endParaRPr lang="en-US" altLang="zh-CN" dirty="0">
              <a:solidFill>
                <a:srgbClr val="C00000"/>
              </a:solidFill>
              <a:latin typeface="Consolas" panose="020B0609020204030204" pitchFamily="49" charset="0"/>
            </a:endParaRPr>
          </a:p>
          <a:p>
            <a:r>
              <a:rPr lang="en-US" altLang="zh-CN" dirty="0">
                <a:solidFill>
                  <a:srgbClr val="C00000"/>
                </a:solidFill>
                <a:latin typeface="Consolas" panose="020B0609020204030204" pitchFamily="49" charset="0"/>
              </a:rPr>
              <a:t>template</a:t>
            </a:r>
            <a:r>
              <a:rPr lang="en-US" altLang="zh-CN" dirty="0">
                <a:latin typeface="Consolas" panose="020B0609020204030204" pitchFamily="49" charset="0"/>
              </a:rPr>
              <a:t>&lt;</a:t>
            </a:r>
            <a:r>
              <a:rPr lang="en-US" altLang="zh-CN" dirty="0">
                <a:solidFill>
                  <a:srgbClr val="C00000"/>
                </a:solidFill>
                <a:latin typeface="Consolas" panose="020B0609020204030204" pitchFamily="49" charset="0"/>
              </a:rPr>
              <a:t>class</a:t>
            </a:r>
            <a:r>
              <a:rPr lang="en-US" altLang="zh-CN" dirty="0">
                <a:latin typeface="Consolas" panose="020B0609020204030204" pitchFamily="49" charset="0"/>
              </a:rPr>
              <a:t> T, </a:t>
            </a:r>
            <a:r>
              <a:rPr lang="en-US" altLang="zh-CN" dirty="0">
                <a:solidFill>
                  <a:srgbClr val="C00000"/>
                </a:solidFill>
                <a:latin typeface="Consolas" panose="020B0609020204030204" pitchFamily="49" charset="0"/>
              </a:rPr>
              <a:t>class</a:t>
            </a:r>
            <a:r>
              <a:rPr lang="en-US" altLang="zh-CN" dirty="0">
                <a:latin typeface="Consolas" panose="020B0609020204030204" pitchFamily="49" charset="0"/>
              </a:rPr>
              <a:t> A&gt;</a:t>
            </a:r>
          </a:p>
          <a:p>
            <a:r>
              <a:rPr lang="fr-FR" altLang="zh-CN" dirty="0">
                <a:latin typeface="Consolas" panose="020B0609020204030204" pitchFamily="49" charset="0"/>
              </a:rPr>
              <a:t>T sum(</a:t>
            </a:r>
            <a:r>
              <a:rPr lang="fr-FR" altLang="zh-CN" dirty="0">
                <a:solidFill>
                  <a:srgbClr val="C00000"/>
                </a:solidFill>
                <a:latin typeface="Consolas" panose="020B0609020204030204" pitchFamily="49" charset="0"/>
              </a:rPr>
              <a:t>const</a:t>
            </a:r>
            <a:r>
              <a:rPr lang="fr-FR" altLang="zh-CN" dirty="0">
                <a:latin typeface="Consolas" panose="020B0609020204030204" pitchFamily="49" charset="0"/>
              </a:rPr>
              <a:t> A&amp; val1,</a:t>
            </a:r>
            <a:r>
              <a:rPr lang="fr-FR" altLang="zh-CN" dirty="0">
                <a:solidFill>
                  <a:srgbClr val="C00000"/>
                </a:solidFill>
                <a:latin typeface="Consolas" panose="020B0609020204030204" pitchFamily="49" charset="0"/>
              </a:rPr>
              <a:t> const</a:t>
            </a:r>
            <a:r>
              <a:rPr lang="fr-FR" altLang="zh-CN" dirty="0">
                <a:latin typeface="Consolas" panose="020B0609020204030204" pitchFamily="49" charset="0"/>
              </a:rPr>
              <a:t> A&amp; val2)</a:t>
            </a:r>
          </a:p>
          <a:p>
            <a:r>
              <a:rPr lang="en-US" altLang="zh-CN" dirty="0">
                <a:latin typeface="Consolas" panose="020B0609020204030204" pitchFamily="49" charset="0"/>
              </a:rPr>
              <a:t>{</a:t>
            </a:r>
          </a:p>
          <a:p>
            <a:r>
              <a:rPr lang="en-US" altLang="zh-CN" dirty="0">
                <a:latin typeface="Consolas" panose="020B0609020204030204" pitchFamily="49" charset="0"/>
              </a:rPr>
              <a:t>    </a:t>
            </a:r>
            <a:r>
              <a:rPr lang="en-US" altLang="zh-CN" dirty="0" err="1">
                <a:latin typeface="Consolas" panose="020B0609020204030204" pitchFamily="49" charset="0"/>
              </a:rPr>
              <a:t>cout</a:t>
            </a:r>
            <a:r>
              <a:rPr lang="en-US" altLang="zh-CN" dirty="0">
                <a:latin typeface="Consolas" panose="020B0609020204030204" pitchFamily="49" charset="0"/>
              </a:rPr>
              <a:t> &lt;&lt; "using template" &lt;&lt; </a:t>
            </a:r>
            <a:r>
              <a:rPr lang="en-US" altLang="zh-CN" dirty="0" err="1">
                <a:latin typeface="Consolas" panose="020B0609020204030204" pitchFamily="49" charset="0"/>
              </a:rPr>
              <a:t>endl</a:t>
            </a:r>
            <a:r>
              <a:rPr lang="en-US" altLang="zh-CN" dirty="0">
                <a:latin typeface="Consolas" panose="020B0609020204030204" pitchFamily="49" charset="0"/>
              </a:rPr>
              <a:t>;</a:t>
            </a:r>
          </a:p>
          <a:p>
            <a:r>
              <a:rPr lang="en-US" altLang="zh-CN" dirty="0">
                <a:latin typeface="Consolas" panose="020B0609020204030204" pitchFamily="49" charset="0"/>
              </a:rPr>
              <a:t>    </a:t>
            </a:r>
            <a:r>
              <a:rPr lang="en-US" altLang="zh-CN" dirty="0">
                <a:solidFill>
                  <a:srgbClr val="C00000"/>
                </a:solidFill>
                <a:latin typeface="Consolas" panose="020B0609020204030204" pitchFamily="49" charset="0"/>
              </a:rPr>
              <a:t>return</a:t>
            </a:r>
            <a:r>
              <a:rPr lang="en-US" altLang="zh-CN" dirty="0">
                <a:latin typeface="Consolas" panose="020B0609020204030204" pitchFamily="49" charset="0"/>
              </a:rPr>
              <a:t> T(val1 + val2);</a:t>
            </a:r>
          </a:p>
          <a:p>
            <a:r>
              <a:rPr lang="en-US" altLang="zh-CN" dirty="0">
                <a:latin typeface="Consolas" panose="020B0609020204030204" pitchFamily="49" charset="0"/>
              </a:rPr>
              <a:t>}</a:t>
            </a:r>
          </a:p>
          <a:p>
            <a:endParaRPr lang="zh-CN" altLang="en-US" dirty="0">
              <a:latin typeface="Consolas" panose="020B0609020204030204" pitchFamily="49" charset="0"/>
            </a:endParaRPr>
          </a:p>
          <a:p>
            <a:r>
              <a:rPr lang="en-US" altLang="zh-CN" dirty="0">
                <a:solidFill>
                  <a:srgbClr val="C00000"/>
                </a:solidFill>
                <a:latin typeface="Consolas" panose="020B0609020204030204" pitchFamily="49" charset="0"/>
              </a:rPr>
              <a:t>template</a:t>
            </a:r>
            <a:r>
              <a:rPr lang="en-US" altLang="zh-CN" dirty="0">
                <a:latin typeface="Consolas" panose="020B0609020204030204" pitchFamily="49" charset="0"/>
              </a:rPr>
              <a:t>&lt;</a:t>
            </a:r>
            <a:r>
              <a:rPr lang="en-US" altLang="zh-CN" dirty="0">
                <a:solidFill>
                  <a:srgbClr val="C00000"/>
                </a:solidFill>
                <a:latin typeface="Consolas" panose="020B0609020204030204" pitchFamily="49" charset="0"/>
              </a:rPr>
              <a:t>class</a:t>
            </a:r>
            <a:r>
              <a:rPr lang="en-US" altLang="zh-CN" dirty="0">
                <a:latin typeface="Consolas" panose="020B0609020204030204" pitchFamily="49" charset="0"/>
              </a:rPr>
              <a:t> A&gt;</a:t>
            </a:r>
          </a:p>
          <a:p>
            <a:r>
              <a:rPr lang="en-US" altLang="zh-CN" dirty="0" err="1">
                <a:solidFill>
                  <a:srgbClr val="C00000"/>
                </a:solidFill>
                <a:latin typeface="Consolas" panose="020B0609020204030204" pitchFamily="49" charset="0"/>
              </a:rPr>
              <a:t>int</a:t>
            </a:r>
            <a:r>
              <a:rPr lang="en-US" altLang="zh-CN" dirty="0">
                <a:latin typeface="Consolas" panose="020B0609020204030204" pitchFamily="49" charset="0"/>
              </a:rPr>
              <a:t> </a:t>
            </a:r>
            <a:r>
              <a:rPr lang="fr-FR" altLang="zh-CN" dirty="0">
                <a:latin typeface="Consolas" panose="020B0609020204030204" pitchFamily="49" charset="0"/>
              </a:rPr>
              <a:t>sum(</a:t>
            </a:r>
            <a:r>
              <a:rPr lang="fr-FR" altLang="zh-CN" dirty="0">
                <a:solidFill>
                  <a:srgbClr val="C00000"/>
                </a:solidFill>
                <a:latin typeface="Consolas" panose="020B0609020204030204" pitchFamily="49" charset="0"/>
              </a:rPr>
              <a:t>const</a:t>
            </a:r>
            <a:r>
              <a:rPr lang="fr-FR" altLang="zh-CN" dirty="0">
                <a:latin typeface="Consolas" panose="020B0609020204030204" pitchFamily="49" charset="0"/>
              </a:rPr>
              <a:t> A&amp; val1,</a:t>
            </a:r>
            <a:r>
              <a:rPr lang="fr-FR" altLang="zh-CN" dirty="0">
                <a:solidFill>
                  <a:srgbClr val="C00000"/>
                </a:solidFill>
                <a:latin typeface="Consolas" panose="020B0609020204030204" pitchFamily="49" charset="0"/>
              </a:rPr>
              <a:t> const</a:t>
            </a:r>
            <a:r>
              <a:rPr lang="fr-FR" altLang="zh-CN" dirty="0">
                <a:latin typeface="Consolas" panose="020B0609020204030204" pitchFamily="49" charset="0"/>
              </a:rPr>
              <a:t> A&amp; val2)</a:t>
            </a:r>
          </a:p>
          <a:p>
            <a:r>
              <a:rPr lang="en-US" altLang="zh-CN" dirty="0">
                <a:latin typeface="Consolas" panose="020B0609020204030204" pitchFamily="49" charset="0"/>
              </a:rPr>
              <a:t>{   </a:t>
            </a:r>
            <a:r>
              <a:rPr lang="en-US" altLang="zh-CN" dirty="0">
                <a:solidFill>
                  <a:schemeClr val="accent6">
                    <a:lumMod val="75000"/>
                  </a:schemeClr>
                </a:solidFill>
                <a:latin typeface="Consolas" panose="020B0609020204030204" pitchFamily="49" charset="0"/>
              </a:rPr>
              <a:t>//</a:t>
            </a:r>
            <a:r>
              <a:rPr lang="zh-CN" altLang="en-US" dirty="0">
                <a:solidFill>
                  <a:schemeClr val="accent6">
                    <a:lumMod val="75000"/>
                  </a:schemeClr>
                </a:solidFill>
                <a:latin typeface="Consolas" panose="020B0609020204030204" pitchFamily="49" charset="0"/>
              </a:rPr>
              <a:t>不是部分特化，而是重载函数</a:t>
            </a:r>
            <a:endParaRPr lang="en-US" altLang="zh-CN" dirty="0">
              <a:latin typeface="Consolas" panose="020B0609020204030204" pitchFamily="49" charset="0"/>
            </a:endParaRPr>
          </a:p>
          <a:p>
            <a:r>
              <a:rPr lang="en-US" altLang="zh-CN" dirty="0">
                <a:latin typeface="Consolas" panose="020B0609020204030204" pitchFamily="49" charset="0"/>
              </a:rPr>
              <a:t>    </a:t>
            </a:r>
            <a:r>
              <a:rPr lang="en-US" altLang="zh-CN" dirty="0" err="1">
                <a:latin typeface="Consolas" panose="020B0609020204030204" pitchFamily="49" charset="0"/>
              </a:rPr>
              <a:t>cout</a:t>
            </a:r>
            <a:r>
              <a:rPr lang="en-US" altLang="zh-CN" dirty="0">
                <a:latin typeface="Consolas" panose="020B0609020204030204" pitchFamily="49" charset="0"/>
              </a:rPr>
              <a:t> &lt;&lt; "overload" &lt;&lt; </a:t>
            </a:r>
            <a:r>
              <a:rPr lang="en-US" altLang="zh-CN" dirty="0" err="1">
                <a:latin typeface="Consolas" panose="020B0609020204030204" pitchFamily="49" charset="0"/>
              </a:rPr>
              <a:t>endl</a:t>
            </a:r>
            <a:r>
              <a:rPr lang="en-US" altLang="zh-CN" dirty="0">
                <a:latin typeface="Consolas" panose="020B0609020204030204" pitchFamily="49" charset="0"/>
              </a:rPr>
              <a:t>;</a:t>
            </a:r>
          </a:p>
          <a:p>
            <a:r>
              <a:rPr lang="en-US" altLang="zh-CN" dirty="0">
                <a:latin typeface="Consolas" panose="020B0609020204030204" pitchFamily="49" charset="0"/>
              </a:rPr>
              <a:t>    </a:t>
            </a:r>
            <a:r>
              <a:rPr lang="en-US" altLang="zh-CN" dirty="0">
                <a:solidFill>
                  <a:srgbClr val="C00000"/>
                </a:solidFill>
                <a:latin typeface="Consolas" panose="020B0609020204030204" pitchFamily="49" charset="0"/>
              </a:rPr>
              <a:t>return</a:t>
            </a:r>
            <a:r>
              <a:rPr lang="en-US" altLang="zh-CN" dirty="0">
                <a:latin typeface="Consolas" panose="020B0609020204030204" pitchFamily="49" charset="0"/>
              </a:rPr>
              <a:t> </a:t>
            </a:r>
            <a:r>
              <a:rPr lang="en-US" altLang="zh-CN" dirty="0" err="1">
                <a:latin typeface="Consolas" panose="020B0609020204030204" pitchFamily="49" charset="0"/>
              </a:rPr>
              <a:t>int</a:t>
            </a:r>
            <a:r>
              <a:rPr lang="en-US" altLang="zh-CN" dirty="0">
                <a:latin typeface="Consolas" panose="020B0609020204030204" pitchFamily="49" charset="0"/>
              </a:rPr>
              <a:t>(val1 + val2);</a:t>
            </a:r>
          </a:p>
          <a:p>
            <a:r>
              <a:rPr lang="en-US" altLang="zh-CN" dirty="0">
                <a:latin typeface="Consolas" panose="020B0609020204030204" pitchFamily="49" charset="0"/>
              </a:rPr>
              <a:t>}</a:t>
            </a:r>
          </a:p>
          <a:p>
            <a:endParaRPr lang="en-US" altLang="zh-CN" dirty="0">
              <a:latin typeface="Consolas" panose="020B0609020204030204" pitchFamily="49" charset="0"/>
            </a:endParaRPr>
          </a:p>
        </p:txBody>
      </p:sp>
      <p:sp>
        <p:nvSpPr>
          <p:cNvPr id="6" name="文本框 5"/>
          <p:cNvSpPr txBox="1"/>
          <p:nvPr/>
        </p:nvSpPr>
        <p:spPr>
          <a:xfrm>
            <a:off x="5139435" y="1690689"/>
            <a:ext cx="4110421" cy="2585323"/>
          </a:xfrm>
          <a:prstGeom prst="rect">
            <a:avLst/>
          </a:prstGeom>
          <a:noFill/>
        </p:spPr>
        <p:txBody>
          <a:bodyPr wrap="none" rtlCol="0">
            <a:spAutoFit/>
          </a:bodyPr>
          <a:lstStyle/>
          <a:p>
            <a:r>
              <a:rPr lang="en-US" altLang="zh-CN" dirty="0" err="1">
                <a:solidFill>
                  <a:srgbClr val="C00000"/>
                </a:solidFill>
                <a:latin typeface="Consolas" panose="020B0609020204030204" pitchFamily="49" charset="0"/>
              </a:rPr>
              <a:t>int</a:t>
            </a:r>
            <a:r>
              <a:rPr lang="en-US" altLang="zh-CN" dirty="0">
                <a:solidFill>
                  <a:srgbClr val="C00000"/>
                </a:solidFill>
                <a:latin typeface="Consolas" panose="020B0609020204030204" pitchFamily="49" charset="0"/>
              </a:rPr>
              <a:t> </a:t>
            </a:r>
            <a:r>
              <a:rPr lang="en-US" altLang="zh-CN" dirty="0">
                <a:latin typeface="Consolas" panose="020B0609020204030204" pitchFamily="49" charset="0"/>
              </a:rPr>
              <a:t>main()</a:t>
            </a:r>
          </a:p>
          <a:p>
            <a:r>
              <a:rPr lang="en-US" altLang="zh-CN" dirty="0">
                <a:latin typeface="Consolas" panose="020B0609020204030204" pitchFamily="49" charset="0"/>
              </a:rPr>
              <a:t>{</a:t>
            </a:r>
          </a:p>
          <a:p>
            <a:r>
              <a:rPr lang="en-US" altLang="zh-CN" dirty="0">
                <a:latin typeface="Consolas" panose="020B0609020204030204" pitchFamily="49" charset="0"/>
              </a:rPr>
              <a:t>    float y = sum&lt;float, float&gt;</a:t>
            </a:r>
          </a:p>
          <a:p>
            <a:r>
              <a:rPr lang="en-US" altLang="zh-CN" dirty="0">
                <a:latin typeface="Consolas" panose="020B0609020204030204" pitchFamily="49" charset="0"/>
              </a:rPr>
              <a:t>                (1.4, 2.4);</a:t>
            </a:r>
          </a:p>
          <a:p>
            <a:r>
              <a:rPr lang="en-US" altLang="zh-CN" dirty="0">
                <a:latin typeface="Consolas" panose="020B0609020204030204" pitchFamily="49" charset="0"/>
              </a:rPr>
              <a:t>    </a:t>
            </a:r>
            <a:r>
              <a:rPr lang="en-US" altLang="zh-CN" dirty="0" err="1">
                <a:latin typeface="Consolas" panose="020B0609020204030204" pitchFamily="49" charset="0"/>
              </a:rPr>
              <a:t>cout</a:t>
            </a:r>
            <a:r>
              <a:rPr lang="en-US" altLang="zh-CN" dirty="0">
                <a:latin typeface="Consolas" panose="020B0609020204030204" pitchFamily="49" charset="0"/>
              </a:rPr>
              <a:t> &lt;&lt; y &lt;&lt; </a:t>
            </a:r>
            <a:r>
              <a:rPr lang="en-US" altLang="zh-CN" dirty="0" err="1">
                <a:latin typeface="Consolas" panose="020B0609020204030204" pitchFamily="49" charset="0"/>
              </a:rPr>
              <a:t>endl</a:t>
            </a:r>
            <a:r>
              <a:rPr lang="en-US" altLang="zh-CN" dirty="0">
                <a:latin typeface="Consolas" panose="020B0609020204030204" pitchFamily="49" charset="0"/>
              </a:rPr>
              <a:t>;</a:t>
            </a:r>
          </a:p>
          <a:p>
            <a:r>
              <a:rPr lang="en-US" altLang="zh-CN" dirty="0">
                <a:latin typeface="Consolas" panose="020B0609020204030204" pitchFamily="49" charset="0"/>
              </a:rPr>
              <a:t>    </a:t>
            </a:r>
            <a:r>
              <a:rPr lang="en-US" altLang="zh-CN" dirty="0" err="1">
                <a:solidFill>
                  <a:srgbClr val="C00000"/>
                </a:solidFill>
                <a:latin typeface="Consolas" panose="020B0609020204030204" pitchFamily="49" charset="0"/>
              </a:rPr>
              <a:t>int</a:t>
            </a:r>
            <a:r>
              <a:rPr lang="en-US" altLang="zh-CN" dirty="0">
                <a:latin typeface="Consolas" panose="020B0609020204030204" pitchFamily="49" charset="0"/>
              </a:rPr>
              <a:t> x = sum(1, 2);</a:t>
            </a:r>
          </a:p>
          <a:p>
            <a:r>
              <a:rPr lang="en-US" altLang="zh-CN" dirty="0">
                <a:latin typeface="Consolas" panose="020B0609020204030204" pitchFamily="49" charset="0"/>
              </a:rPr>
              <a:t>    </a:t>
            </a:r>
            <a:r>
              <a:rPr lang="en-US" altLang="zh-CN" dirty="0" err="1">
                <a:latin typeface="Consolas" panose="020B0609020204030204" pitchFamily="49" charset="0"/>
              </a:rPr>
              <a:t>cout</a:t>
            </a:r>
            <a:r>
              <a:rPr lang="en-US" altLang="zh-CN" dirty="0">
                <a:latin typeface="Consolas" panose="020B0609020204030204" pitchFamily="49" charset="0"/>
              </a:rPr>
              <a:t> &lt;&lt; x &lt;&lt; </a:t>
            </a:r>
            <a:r>
              <a:rPr lang="en-US" altLang="zh-CN" dirty="0" err="1">
                <a:latin typeface="Consolas" panose="020B0609020204030204" pitchFamily="49" charset="0"/>
              </a:rPr>
              <a:t>endl</a:t>
            </a:r>
            <a:r>
              <a:rPr lang="en-US" altLang="zh-CN" dirty="0">
                <a:latin typeface="Consolas" panose="020B0609020204030204" pitchFamily="49" charset="0"/>
              </a:rPr>
              <a:t>;</a:t>
            </a:r>
          </a:p>
          <a:p>
            <a:r>
              <a:rPr lang="en-US" altLang="zh-CN" dirty="0">
                <a:latin typeface="Consolas" panose="020B0609020204030204" pitchFamily="49" charset="0"/>
              </a:rPr>
              <a:t>    return 0;</a:t>
            </a:r>
          </a:p>
          <a:p>
            <a:r>
              <a:rPr lang="en-US" altLang="zh-CN" dirty="0">
                <a:latin typeface="Consolas" panose="020B0609020204030204" pitchFamily="49" charset="0"/>
              </a:rPr>
              <a:t>}</a:t>
            </a:r>
            <a:endParaRPr lang="en-US" altLang="zh-CN" dirty="0"/>
          </a:p>
        </p:txBody>
      </p:sp>
      <p:sp>
        <p:nvSpPr>
          <p:cNvPr id="5" name="矩形 4"/>
          <p:cNvSpPr/>
          <p:nvPr/>
        </p:nvSpPr>
        <p:spPr>
          <a:xfrm>
            <a:off x="6205014" y="4670244"/>
            <a:ext cx="3168352" cy="1200329"/>
          </a:xfrm>
          <a:prstGeom prst="rect">
            <a:avLst/>
          </a:prstGeom>
        </p:spPr>
        <p:txBody>
          <a:bodyPr wrap="square">
            <a:spAutoFit/>
          </a:bodyPr>
          <a:lstStyle/>
          <a:p>
            <a:r>
              <a:rPr lang="en-US" altLang="zh-CN" b="1" dirty="0">
                <a:solidFill>
                  <a:srgbClr val="00B050"/>
                </a:solidFill>
                <a:latin typeface="AndaleMono" panose="020B0509000000000004" charset="0"/>
              </a:rPr>
              <a:t>using template</a:t>
            </a:r>
          </a:p>
          <a:p>
            <a:r>
              <a:rPr lang="en-US" altLang="zh-CN" b="1" dirty="0">
                <a:solidFill>
                  <a:srgbClr val="00B050"/>
                </a:solidFill>
                <a:latin typeface="AndaleMono" panose="020B0509000000000004" charset="0"/>
              </a:rPr>
              <a:t>3.8</a:t>
            </a:r>
          </a:p>
          <a:p>
            <a:r>
              <a:rPr lang="en-US" altLang="zh-CN" b="1" dirty="0">
                <a:solidFill>
                  <a:srgbClr val="00B050"/>
                </a:solidFill>
                <a:latin typeface="AndaleMono" panose="020B0509000000000004" charset="0"/>
              </a:rPr>
              <a:t>overload</a:t>
            </a:r>
          </a:p>
          <a:p>
            <a:r>
              <a:rPr lang="en-US" altLang="zh-CN" b="1" dirty="0">
                <a:solidFill>
                  <a:srgbClr val="00B050"/>
                </a:solidFill>
                <a:latin typeface="AndaleMono" panose="020B0509000000000004" charset="0"/>
              </a:rPr>
              <a:t>3</a:t>
            </a:r>
          </a:p>
        </p:txBody>
      </p:sp>
      <p:sp>
        <p:nvSpPr>
          <p:cNvPr id="7" name="文本框 6"/>
          <p:cNvSpPr txBox="1"/>
          <p:nvPr/>
        </p:nvSpPr>
        <p:spPr>
          <a:xfrm>
            <a:off x="6274690" y="4208579"/>
            <a:ext cx="1833922" cy="461665"/>
          </a:xfrm>
          <a:prstGeom prst="rect">
            <a:avLst/>
          </a:prstGeom>
          <a:solidFill>
            <a:srgbClr val="FFFF00"/>
          </a:solidFill>
        </p:spPr>
        <p:txBody>
          <a:bodyPr wrap="square" rtlCol="0">
            <a:spAutoFit/>
          </a:bodyPr>
          <a:lstStyle/>
          <a:p>
            <a:r>
              <a:rPr kumimoji="1" lang="zh-CN" altLang="en-US" sz="2400" b="1" dirty="0"/>
              <a:t>运行结果</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微软雅黑" panose="020B0503020204020204" pitchFamily="34" charset="-122"/>
                <a:ea typeface="微软雅黑" panose="020B0503020204020204" pitchFamily="34" charset="-122"/>
              </a:rPr>
              <a:t>函数模板特化</a:t>
            </a:r>
            <a:endParaRPr lang="zh-CN" altLang="en-US" dirty="0"/>
          </a:p>
        </p:txBody>
      </p:sp>
      <p:sp>
        <p:nvSpPr>
          <p:cNvPr id="3" name="内容占位符 2"/>
          <p:cNvSpPr>
            <a:spLocks noGrp="1"/>
          </p:cNvSpPr>
          <p:nvPr>
            <p:ph idx="1"/>
          </p:nvPr>
        </p:nvSpPr>
        <p:spPr>
          <a:xfrm>
            <a:off x="303530" y="1602603"/>
            <a:ext cx="8769350" cy="3058607"/>
          </a:xfrm>
        </p:spPr>
        <p:txBody>
          <a:bodyPr>
            <a:normAutofit/>
          </a:bodyPr>
          <a:lstStyle/>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函数模板重载解析顺序：</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类型匹配的普通函数</a:t>
            </a:r>
            <a:r>
              <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sym typeface="Wingdings" panose="05000000000000000000" pitchFamily="2" charset="2"/>
              </a:rPr>
              <a:t></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基础函数模板</a:t>
            </a:r>
            <a:r>
              <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sym typeface="Wingdings" panose="05000000000000000000" pitchFamily="2" charset="2"/>
              </a:rPr>
              <a:t></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全特化函数模板</a:t>
            </a:r>
            <a:endParaRPr lang="en-US" altLang="zh-CN" b="1" kern="100" dirty="0">
              <a:latin typeface="华文楷体" panose="02010600040101010101" pitchFamily="2" charset="-122"/>
              <a:ea typeface="华文楷体" panose="02010600040101010101" pitchFamily="2" charset="-122"/>
              <a:cs typeface="STKaiti" panose="02010600040101010101" charset="-122"/>
            </a:endParaRPr>
          </a:p>
          <a:p>
            <a:pPr lvl="1">
              <a:lnSpc>
                <a:spcPct val="100000"/>
              </a:lnSpc>
              <a:buSzPct val="75000"/>
            </a:pPr>
            <a:r>
              <a:rPr lang="zh-CN" altLang="en-US" b="1" kern="100" dirty="0">
                <a:latin typeface="华文楷体" panose="02010600040101010101" pitchFamily="2" charset="-122"/>
                <a:ea typeface="华文楷体" panose="02010600040101010101" pitchFamily="2" charset="-122"/>
                <a:cs typeface="STKaiti" panose="02010600040101010101" charset="-122"/>
              </a:rPr>
              <a:t>如果有普通函数且类型匹配，则直接选中，重载解析结束</a:t>
            </a:r>
            <a:endParaRPr lang="en-US" altLang="zh-CN" b="1" kern="100" dirty="0">
              <a:latin typeface="华文楷体" panose="02010600040101010101" pitchFamily="2" charset="-122"/>
              <a:ea typeface="华文楷体" panose="02010600040101010101" pitchFamily="2" charset="-122"/>
              <a:cs typeface="STKaiti" panose="02010600040101010101" charset="-122"/>
            </a:endParaRPr>
          </a:p>
          <a:p>
            <a:pPr lvl="1">
              <a:lnSpc>
                <a:spcPct val="100000"/>
              </a:lnSpc>
              <a:buSzPct val="75000"/>
            </a:pPr>
            <a:r>
              <a:rPr lang="zh-CN" altLang="en-US" b="1" kern="100" dirty="0">
                <a:latin typeface="华文楷体" panose="02010600040101010101" pitchFamily="2" charset="-122"/>
                <a:ea typeface="华文楷体" panose="02010600040101010101" pitchFamily="2" charset="-122"/>
                <a:cs typeface="STKaiti" panose="02010600040101010101" charset="-122"/>
              </a:rPr>
              <a:t>如果没有类型匹配的普通函数，则选择</a:t>
            </a: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最合适</a:t>
            </a:r>
            <a:r>
              <a:rPr lang="zh-CN" altLang="en-US" b="1" kern="100" dirty="0">
                <a:latin typeface="华文楷体" panose="02010600040101010101" pitchFamily="2" charset="-122"/>
                <a:ea typeface="华文楷体" panose="02010600040101010101" pitchFamily="2" charset="-122"/>
                <a:cs typeface="STKaiti" panose="02010600040101010101" charset="-122"/>
              </a:rPr>
              <a:t>的基础模板</a:t>
            </a:r>
            <a:endParaRPr lang="en-US" altLang="zh-CN" b="1" kern="100" dirty="0">
              <a:latin typeface="华文楷体" panose="02010600040101010101" pitchFamily="2" charset="-122"/>
              <a:ea typeface="华文楷体" panose="02010600040101010101" pitchFamily="2" charset="-122"/>
              <a:cs typeface="STKaiti" panose="02010600040101010101" charset="-122"/>
            </a:endParaRPr>
          </a:p>
          <a:p>
            <a:pPr lvl="1">
              <a:lnSpc>
                <a:spcPct val="100000"/>
              </a:lnSpc>
              <a:buSzPct val="75000"/>
            </a:pPr>
            <a:r>
              <a:rPr lang="zh-CN" altLang="en-US" b="1" kern="100" dirty="0">
                <a:latin typeface="华文楷体" panose="02010600040101010101" pitchFamily="2" charset="-122"/>
                <a:ea typeface="华文楷体" panose="02010600040101010101" pitchFamily="2" charset="-122"/>
                <a:cs typeface="STKaiti" panose="02010600040101010101" charset="-122"/>
              </a:rPr>
              <a:t>如果选中的基础模板</a:t>
            </a: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有全特化版本</a:t>
            </a:r>
            <a:r>
              <a:rPr lang="zh-CN" altLang="en-US" b="1" kern="100" dirty="0">
                <a:latin typeface="华文楷体" panose="02010600040101010101" pitchFamily="2" charset="-122"/>
                <a:ea typeface="华文楷体" panose="02010600040101010101" pitchFamily="2" charset="-122"/>
                <a:cs typeface="STKaiti" panose="02010600040101010101" charset="-122"/>
              </a:rPr>
              <a:t>且</a:t>
            </a: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类型匹配</a:t>
            </a:r>
            <a:r>
              <a:rPr lang="zh-CN" altLang="en-US" b="1" kern="100" dirty="0">
                <a:latin typeface="华文楷体" panose="02010600040101010101" pitchFamily="2" charset="-122"/>
                <a:ea typeface="华文楷体" panose="02010600040101010101" pitchFamily="2" charset="-122"/>
                <a:cs typeface="STKaiti" panose="02010600040101010101" charset="-122"/>
              </a:rPr>
              <a:t>，则选择全特化版本，否则使用基础模板</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0" indent="0">
              <a:lnSpc>
                <a:spcPct val="100000"/>
              </a:lnSpc>
              <a:buSzPct val="75000"/>
              <a:buNone/>
            </a:pP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函数模板特化</a:t>
            </a:r>
          </a:p>
        </p:txBody>
      </p:sp>
      <p:sp>
        <p:nvSpPr>
          <p:cNvPr id="3" name="内容占位符 2"/>
          <p:cNvSpPr>
            <a:spLocks noGrp="1"/>
          </p:cNvSpPr>
          <p:nvPr>
            <p:ph idx="1"/>
          </p:nvPr>
        </p:nvSpPr>
        <p:spPr>
          <a:xfrm>
            <a:off x="628650" y="5158410"/>
            <a:ext cx="8047806" cy="3074307"/>
          </a:xfrm>
        </p:spPr>
        <p:txBody>
          <a:bodyPr>
            <a:noAutofit/>
          </a:bodyPr>
          <a:lstStyle/>
          <a:p>
            <a:pPr>
              <a:lnSpc>
                <a:spcPct val="100000"/>
              </a:lnSpc>
              <a:buSzPct val="75000"/>
              <a:buFont typeface="Wingdings" panose="05000000000000000000" pitchFamily="2" charset="2"/>
              <a:buChar char="n"/>
            </a:pPr>
            <a:r>
              <a:rPr lang="zh-CN" altLang="en-US"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主函数调用的是哪一个版本？</a:t>
            </a:r>
            <a:r>
              <a:rPr lang="en-US" altLang="zh-CN" sz="2400" b="1" dirty="0">
                <a:solidFill>
                  <a:srgbClr val="00B050"/>
                </a:solidFill>
                <a:latin typeface="AndaleMono" panose="020B0509000000000004" charset="0"/>
              </a:rPr>
              <a:t>func3</a:t>
            </a:r>
            <a:endParaRPr lang="en-US" altLang="zh-CN"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优先匹配特化版本，前提是被特化的对应</a:t>
            </a:r>
            <a:r>
              <a:rPr lang="zh-CN" altLang="en-US" sz="2400"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基础函数模板</a:t>
            </a:r>
            <a:r>
              <a:rPr lang="zh-CN" altLang="en-US"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被匹配到。</a:t>
            </a:r>
            <a:endParaRPr lang="en-US" altLang="zh-CN"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endParaRPr lang="en-US" altLang="zh-CN" sz="2400"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endParaRPr lang="en-US" altLang="zh-CN" sz="2600"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endParaRPr lang="en-US" altLang="zh-CN" sz="2600"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82</a:t>
            </a:fld>
            <a:endParaRPr lang="en-US" altLang="zh-CN" dirty="0"/>
          </a:p>
        </p:txBody>
      </p:sp>
      <p:sp>
        <p:nvSpPr>
          <p:cNvPr id="6" name="内容占位符 2"/>
          <p:cNvSpPr txBox="1"/>
          <p:nvPr/>
        </p:nvSpPr>
        <p:spPr>
          <a:xfrm>
            <a:off x="628650" y="1482499"/>
            <a:ext cx="7886700" cy="3514803"/>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en-US" altLang="zh-CN" sz="1800" dirty="0">
                <a:solidFill>
                  <a:srgbClr val="6E200D"/>
                </a:solidFill>
                <a:latin typeface="Consolas" panose="020B0609020204030204" pitchFamily="49" charset="0"/>
                <a:ea typeface="Consolas" panose="020B0609020204030204" pitchFamily="49" charset="0"/>
                <a:cs typeface="Consolas" panose="020B0609020204030204" pitchFamily="49" charset="0"/>
              </a:rPr>
              <a:t>#include </a:t>
            </a:r>
            <a:r>
              <a:rPr lang="en-US" altLang="zh-CN" sz="1800" dirty="0">
                <a:solidFill>
                  <a:srgbClr val="BA0011"/>
                </a:solidFill>
                <a:latin typeface="Consolas" panose="020B0609020204030204" pitchFamily="49" charset="0"/>
                <a:ea typeface="Consolas" panose="020B0609020204030204" pitchFamily="49" charset="0"/>
                <a:cs typeface="Consolas" panose="020B0609020204030204" pitchFamily="49" charset="0"/>
              </a:rPr>
              <a:t>&lt;iostream&gt;</a:t>
            </a:r>
          </a:p>
          <a:p>
            <a:pPr marL="0" indent="0">
              <a:buNone/>
            </a:pPr>
            <a:r>
              <a:rPr lang="en-US" altLang="zh-CN" sz="1800" dirty="0">
                <a:solidFill>
                  <a:srgbClr val="B40062"/>
                </a:solidFill>
                <a:latin typeface="Consolas" panose="020B0609020204030204" pitchFamily="49" charset="0"/>
                <a:ea typeface="Consolas" panose="020B0609020204030204" pitchFamily="49" charset="0"/>
                <a:cs typeface="Consolas" panose="020B0609020204030204" pitchFamily="49" charset="0"/>
              </a:rPr>
              <a:t>using</a:t>
            </a:r>
            <a:r>
              <a:rPr lang="en-US" altLang="zh-CN" sz="1800" dirty="0">
                <a:solidFill>
                  <a:srgbClr val="000000"/>
                </a:solidFill>
                <a:latin typeface="Consolas" panose="020B0609020204030204" pitchFamily="49" charset="0"/>
                <a:ea typeface="Consolas" panose="020B0609020204030204" pitchFamily="49" charset="0"/>
                <a:cs typeface="Consolas" panose="020B0609020204030204" pitchFamily="49" charset="0"/>
              </a:rPr>
              <a:t> </a:t>
            </a:r>
            <a:r>
              <a:rPr lang="en-US" altLang="zh-CN" sz="1800" dirty="0">
                <a:solidFill>
                  <a:srgbClr val="B40062"/>
                </a:solidFill>
                <a:latin typeface="Consolas" panose="020B0609020204030204" pitchFamily="49" charset="0"/>
                <a:ea typeface="Consolas" panose="020B0609020204030204" pitchFamily="49" charset="0"/>
                <a:cs typeface="Consolas" panose="020B0609020204030204" pitchFamily="49" charset="0"/>
              </a:rPr>
              <a:t>namespace</a:t>
            </a:r>
            <a:r>
              <a:rPr lang="en-US" altLang="zh-CN" sz="1800" dirty="0">
                <a:solidFill>
                  <a:srgbClr val="000000"/>
                </a:solidFill>
                <a:latin typeface="Consolas" panose="020B0609020204030204" pitchFamily="49" charset="0"/>
                <a:ea typeface="Consolas" panose="020B0609020204030204" pitchFamily="49" charset="0"/>
                <a:cs typeface="Consolas" panose="020B0609020204030204" pitchFamily="49" charset="0"/>
              </a:rPr>
              <a:t> </a:t>
            </a:r>
            <a:r>
              <a:rPr lang="en-US" altLang="zh-CN" sz="1800" dirty="0" err="1">
                <a:solidFill>
                  <a:srgbClr val="000000"/>
                </a:solidFill>
                <a:latin typeface="Consolas" panose="020B0609020204030204" pitchFamily="49" charset="0"/>
                <a:ea typeface="Consolas" panose="020B0609020204030204" pitchFamily="49" charset="0"/>
                <a:cs typeface="Consolas" panose="020B0609020204030204" pitchFamily="49" charset="0"/>
              </a:rPr>
              <a:t>std</a:t>
            </a:r>
            <a:r>
              <a:rPr lang="en-US" altLang="zh-CN" sz="1800" dirty="0">
                <a:solidFill>
                  <a:srgbClr val="000000"/>
                </a:solidFill>
                <a:latin typeface="Consolas" panose="020B0609020204030204" pitchFamily="49" charset="0"/>
                <a:ea typeface="Consolas" panose="020B0609020204030204" pitchFamily="49" charset="0"/>
                <a:cs typeface="Consolas" panose="020B0609020204030204" pitchFamily="49" charset="0"/>
              </a:rPr>
              <a:t>;</a:t>
            </a:r>
            <a:endParaRPr lang="en-US" altLang="zh-CN" sz="1800" dirty="0">
              <a:solidFill>
                <a:srgbClr val="C00000"/>
              </a:solidFill>
              <a:latin typeface="Consolas" panose="020B0609020204030204" pitchFamily="49" charset="0"/>
            </a:endParaRPr>
          </a:p>
          <a:p>
            <a:pPr marL="0" indent="0">
              <a:buFont typeface="Arial" panose="020B0604020202090204" pitchFamily="34" charset="0"/>
              <a:buNone/>
            </a:pPr>
            <a:r>
              <a:rPr lang="en-US" altLang="zh-CN" sz="1800" dirty="0">
                <a:solidFill>
                  <a:srgbClr val="C00000"/>
                </a:solidFill>
                <a:latin typeface="Consolas" panose="020B0609020204030204" pitchFamily="49" charset="0"/>
              </a:rPr>
              <a:t>template</a:t>
            </a:r>
            <a:r>
              <a:rPr lang="en-US" altLang="zh-CN" sz="1800" dirty="0">
                <a:latin typeface="Consolas" panose="020B0609020204030204" pitchFamily="49" charset="0"/>
                <a:cs typeface="Consolas" panose="020B0609020204030204" pitchFamily="49" charset="0"/>
              </a:rPr>
              <a:t>&lt;</a:t>
            </a:r>
            <a:r>
              <a:rPr lang="en-US" altLang="zh-CN" sz="1800" dirty="0">
                <a:solidFill>
                  <a:srgbClr val="C00000"/>
                </a:solidFill>
                <a:latin typeface="Consolas" panose="020B0609020204030204" pitchFamily="49" charset="0"/>
              </a:rPr>
              <a:t>class</a:t>
            </a:r>
            <a:r>
              <a:rPr lang="en-US" altLang="zh-CN" sz="1800" dirty="0">
                <a:latin typeface="Consolas" panose="020B0609020204030204" pitchFamily="49" charset="0"/>
                <a:cs typeface="Consolas" panose="020B0609020204030204" pitchFamily="49" charset="0"/>
              </a:rPr>
              <a:t> T&gt; </a:t>
            </a:r>
            <a:r>
              <a:rPr lang="en-US" altLang="zh-CN" sz="1800" dirty="0">
                <a:solidFill>
                  <a:srgbClr val="C00000"/>
                </a:solidFill>
                <a:latin typeface="Consolas" panose="020B0609020204030204" pitchFamily="49" charset="0"/>
              </a:rPr>
              <a:t>void</a:t>
            </a:r>
            <a:r>
              <a:rPr lang="en-US" altLang="zh-CN" sz="1800" dirty="0">
                <a:latin typeface="Consolas" panose="020B0609020204030204" pitchFamily="49" charset="0"/>
                <a:cs typeface="Consolas" panose="020B0609020204030204" pitchFamily="49" charset="0"/>
              </a:rPr>
              <a:t> f(T) { </a:t>
            </a:r>
          </a:p>
          <a:p>
            <a:pPr marL="0" indent="0">
              <a:buFont typeface="Arial" panose="020B0604020202090204" pitchFamily="34" charset="0"/>
              <a:buNone/>
            </a:pPr>
            <a:r>
              <a:rPr lang="zh-CN" altLang="en-US" sz="1800" b="1" dirty="0">
                <a:solidFill>
                  <a:srgbClr val="00B050"/>
                </a:solidFill>
                <a:latin typeface="AndaleMono" panose="020B0509000000000004" charset="0"/>
              </a:rPr>
              <a:t>  </a:t>
            </a:r>
            <a:r>
              <a:rPr lang="en-US" altLang="zh-CN" sz="1800" b="1" dirty="0">
                <a:solidFill>
                  <a:srgbClr val="00B050"/>
                </a:solidFill>
                <a:latin typeface="AndaleMono" panose="020B0509000000000004" charset="0"/>
              </a:rPr>
              <a:t>//func1</a:t>
            </a:r>
            <a:r>
              <a:rPr lang="zh-CN" altLang="en-US" sz="1800" b="1" dirty="0">
                <a:solidFill>
                  <a:srgbClr val="00B050"/>
                </a:solidFill>
                <a:latin typeface="AndaleMono" panose="020B0509000000000004" charset="0"/>
              </a:rPr>
              <a:t>为基础模板</a:t>
            </a:r>
            <a:endParaRPr lang="en-US" altLang="zh-CN" sz="1800" b="1" dirty="0">
              <a:solidFill>
                <a:srgbClr val="00B050"/>
              </a:solidFill>
              <a:latin typeface="AndaleMono" panose="020B0509000000000004" charset="0"/>
            </a:endParaRPr>
          </a:p>
          <a:p>
            <a:pPr marL="0" indent="0">
              <a:buFont typeface="Arial" panose="020B0604020202090204" pitchFamily="34" charset="0"/>
              <a:buNone/>
            </a:pPr>
            <a:r>
              <a:rPr lang="en-US" altLang="zh-CN" sz="1800" dirty="0">
                <a:latin typeface="Consolas" panose="020B0609020204030204" pitchFamily="49" charset="0"/>
                <a:cs typeface="Consolas" panose="020B0609020204030204" pitchFamily="49" charset="0"/>
              </a:rPr>
              <a:t>  </a:t>
            </a:r>
            <a:r>
              <a:rPr lang="en-US" altLang="zh-CN" sz="1800" dirty="0" err="1">
                <a:latin typeface="Consolas" panose="020B0609020204030204" pitchFamily="49" charset="0"/>
                <a:cs typeface="Consolas" panose="020B0609020204030204" pitchFamily="49" charset="0"/>
              </a:rPr>
              <a:t>cout</a:t>
            </a:r>
            <a:r>
              <a:rPr lang="en-US" altLang="zh-CN" sz="1800" dirty="0">
                <a:latin typeface="Consolas" panose="020B0609020204030204" pitchFamily="49" charset="0"/>
                <a:cs typeface="Consolas" panose="020B0609020204030204" pitchFamily="49" charset="0"/>
              </a:rPr>
              <a:t>&lt;&lt; </a:t>
            </a:r>
            <a:r>
              <a:rPr lang="en-US" altLang="zh-CN" sz="1800" dirty="0">
                <a:solidFill>
                  <a:schemeClr val="accent6">
                    <a:lumMod val="75000"/>
                  </a:schemeClr>
                </a:solidFill>
                <a:latin typeface="Consolas" panose="020B0609020204030204" pitchFamily="49" charset="0"/>
                <a:cs typeface="Consolas" panose="020B0609020204030204" pitchFamily="49" charset="0"/>
              </a:rPr>
              <a:t>“full template” </a:t>
            </a:r>
            <a:r>
              <a:rPr lang="en-US" altLang="zh-CN" sz="1800" dirty="0">
                <a:latin typeface="Consolas" panose="020B0609020204030204" pitchFamily="49" charset="0"/>
                <a:cs typeface="Consolas" panose="020B0609020204030204" pitchFamily="49" charset="0"/>
              </a:rPr>
              <a:t>&lt;&lt;</a:t>
            </a:r>
            <a:r>
              <a:rPr lang="en-US" altLang="zh-CN" sz="1800" dirty="0" err="1">
                <a:latin typeface="Consolas" panose="020B0609020204030204" pitchFamily="49" charset="0"/>
                <a:cs typeface="Consolas" panose="020B0609020204030204" pitchFamily="49" charset="0"/>
              </a:rPr>
              <a:t>endl</a:t>
            </a:r>
            <a:r>
              <a:rPr lang="en-US" altLang="zh-CN" sz="1800" dirty="0">
                <a:latin typeface="Consolas" panose="020B0609020204030204" pitchFamily="49" charset="0"/>
                <a:cs typeface="Consolas" panose="020B0609020204030204" pitchFamily="49" charset="0"/>
              </a:rPr>
              <a:t>;}; </a:t>
            </a:r>
          </a:p>
          <a:p>
            <a:pPr marL="0" indent="0">
              <a:buNone/>
            </a:pPr>
            <a:r>
              <a:rPr lang="en-US" altLang="zh-CN" sz="1800" dirty="0">
                <a:solidFill>
                  <a:srgbClr val="C00000"/>
                </a:solidFill>
                <a:latin typeface="Consolas" panose="020B0609020204030204" pitchFamily="49" charset="0"/>
              </a:rPr>
              <a:t>template</a:t>
            </a:r>
            <a:r>
              <a:rPr lang="en-US" altLang="zh-CN" sz="1800" dirty="0">
                <a:latin typeface="Consolas" panose="020B0609020204030204" pitchFamily="49" charset="0"/>
                <a:cs typeface="Consolas" panose="020B0609020204030204" pitchFamily="49" charset="0"/>
              </a:rPr>
              <a:t>&lt;</a:t>
            </a:r>
            <a:r>
              <a:rPr lang="en-US" altLang="zh-CN" sz="1800" dirty="0">
                <a:solidFill>
                  <a:srgbClr val="C00000"/>
                </a:solidFill>
                <a:latin typeface="Consolas" panose="020B0609020204030204" pitchFamily="49" charset="0"/>
              </a:rPr>
              <a:t>class</a:t>
            </a:r>
            <a:r>
              <a:rPr lang="en-US" altLang="zh-CN" sz="1800" dirty="0">
                <a:latin typeface="Consolas" panose="020B0609020204030204" pitchFamily="49" charset="0"/>
                <a:cs typeface="Consolas" panose="020B0609020204030204" pitchFamily="49" charset="0"/>
              </a:rPr>
              <a:t> T&gt; </a:t>
            </a:r>
            <a:r>
              <a:rPr lang="en-US" altLang="zh-CN" sz="1800" dirty="0">
                <a:solidFill>
                  <a:srgbClr val="C00000"/>
                </a:solidFill>
                <a:latin typeface="Consolas" panose="020B0609020204030204" pitchFamily="49" charset="0"/>
              </a:rPr>
              <a:t>void</a:t>
            </a:r>
            <a:r>
              <a:rPr lang="en-US" altLang="zh-CN" sz="1800" dirty="0">
                <a:latin typeface="Consolas" panose="020B0609020204030204" pitchFamily="49" charset="0"/>
                <a:cs typeface="Consolas" panose="020B0609020204030204" pitchFamily="49" charset="0"/>
              </a:rPr>
              <a:t> f(T*) {</a:t>
            </a:r>
          </a:p>
          <a:p>
            <a:pPr marL="0" indent="0">
              <a:buNone/>
            </a:pPr>
            <a:r>
              <a:rPr lang="en-US" altLang="zh-CN" sz="1800" b="1" dirty="0">
                <a:solidFill>
                  <a:srgbClr val="00B050"/>
                </a:solidFill>
                <a:latin typeface="AndaleMono" panose="020B0509000000000004" charset="0"/>
              </a:rPr>
              <a:t>  //func2</a:t>
            </a:r>
            <a:r>
              <a:rPr lang="zh-CN" altLang="en-US" sz="1800" b="1" dirty="0">
                <a:solidFill>
                  <a:srgbClr val="00B050"/>
                </a:solidFill>
                <a:latin typeface="AndaleMono" panose="020B0509000000000004" charset="0"/>
              </a:rPr>
              <a:t>为</a:t>
            </a:r>
            <a:r>
              <a:rPr lang="en-US" altLang="zh-CN" sz="1800" b="1" dirty="0">
                <a:solidFill>
                  <a:srgbClr val="00B050"/>
                </a:solidFill>
                <a:latin typeface="AndaleMono" panose="020B0509000000000004" charset="0"/>
              </a:rPr>
              <a:t>func1</a:t>
            </a:r>
            <a:r>
              <a:rPr lang="zh-CN" altLang="en-US" sz="1800" b="1" dirty="0">
                <a:solidFill>
                  <a:srgbClr val="00B050"/>
                </a:solidFill>
                <a:latin typeface="AndaleMono" panose="020B0509000000000004" charset="0"/>
              </a:rPr>
              <a:t>的重载，仍是基础模板</a:t>
            </a:r>
            <a:endParaRPr lang="en-US" altLang="zh-CN" sz="1800" b="1" dirty="0">
              <a:solidFill>
                <a:srgbClr val="00B050"/>
              </a:solidFill>
              <a:latin typeface="AndaleMono" panose="020B0509000000000004" charset="0"/>
            </a:endParaRPr>
          </a:p>
          <a:p>
            <a:pPr marL="0" indent="0">
              <a:buNone/>
            </a:pPr>
            <a:r>
              <a:rPr lang="en-US" altLang="zh-CN" sz="1800" dirty="0">
                <a:latin typeface="Consolas" panose="020B0609020204030204" pitchFamily="49" charset="0"/>
                <a:cs typeface="Consolas" panose="020B0609020204030204" pitchFamily="49" charset="0"/>
              </a:rPr>
              <a:t>  </a:t>
            </a:r>
            <a:r>
              <a:rPr lang="en-US" altLang="zh-CN" sz="1800" dirty="0" err="1">
                <a:latin typeface="Consolas" panose="020B0609020204030204" pitchFamily="49" charset="0"/>
                <a:cs typeface="Consolas" panose="020B0609020204030204" pitchFamily="49" charset="0"/>
              </a:rPr>
              <a:t>cout</a:t>
            </a:r>
            <a:r>
              <a:rPr lang="en-US" altLang="zh-CN" sz="1800" dirty="0">
                <a:latin typeface="Consolas" panose="020B0609020204030204" pitchFamily="49" charset="0"/>
                <a:cs typeface="Consolas" panose="020B0609020204030204" pitchFamily="49" charset="0"/>
              </a:rPr>
              <a:t>&lt;&lt; </a:t>
            </a:r>
            <a:r>
              <a:rPr lang="en-US" altLang="zh-CN" sz="1800" dirty="0">
                <a:solidFill>
                  <a:schemeClr val="accent6">
                    <a:lumMod val="75000"/>
                  </a:schemeClr>
                </a:solidFill>
                <a:latin typeface="Consolas" panose="020B0609020204030204" pitchFamily="49" charset="0"/>
                <a:cs typeface="Consolas" panose="020B0609020204030204" pitchFamily="49" charset="0"/>
              </a:rPr>
              <a:t>“full template -&gt; overload template”</a:t>
            </a:r>
            <a:r>
              <a:rPr lang="en-US" altLang="zh-CN" sz="1800" dirty="0">
                <a:latin typeface="Consolas" panose="020B0609020204030204" pitchFamily="49" charset="0"/>
                <a:cs typeface="Consolas" panose="020B0609020204030204" pitchFamily="49" charset="0"/>
              </a:rPr>
              <a:t> &lt;&lt;</a:t>
            </a:r>
            <a:r>
              <a:rPr lang="en-US" altLang="zh-CN" sz="1800" dirty="0" err="1">
                <a:latin typeface="Consolas" panose="020B0609020204030204" pitchFamily="49" charset="0"/>
                <a:cs typeface="Consolas" panose="020B0609020204030204" pitchFamily="49" charset="0"/>
              </a:rPr>
              <a:t>endl</a:t>
            </a:r>
            <a:r>
              <a:rPr lang="en-US" altLang="zh-CN" sz="1800" dirty="0">
                <a:latin typeface="Consolas" panose="020B0609020204030204" pitchFamily="49" charset="0"/>
                <a:cs typeface="Consolas" panose="020B0609020204030204" pitchFamily="49" charset="0"/>
              </a:rPr>
              <a:t>;};</a:t>
            </a:r>
            <a:endParaRPr lang="en-US" altLang="zh-CN" sz="1800" dirty="0">
              <a:solidFill>
                <a:srgbClr val="C00000"/>
              </a:solidFill>
              <a:latin typeface="Consolas" panose="020B0609020204030204" pitchFamily="49" charset="0"/>
            </a:endParaRPr>
          </a:p>
          <a:p>
            <a:pPr marL="0" indent="0">
              <a:buNone/>
            </a:pPr>
            <a:r>
              <a:rPr lang="en-US" altLang="zh-CN" sz="1800" dirty="0">
                <a:solidFill>
                  <a:srgbClr val="C00000"/>
                </a:solidFill>
                <a:latin typeface="Consolas" panose="020B0609020204030204" pitchFamily="49" charset="0"/>
              </a:rPr>
              <a:t>template</a:t>
            </a:r>
            <a:r>
              <a:rPr lang="en-US" altLang="zh-CN" sz="1800" dirty="0">
                <a:latin typeface="Consolas" panose="020B0609020204030204" pitchFamily="49" charset="0"/>
                <a:cs typeface="Consolas" panose="020B0609020204030204" pitchFamily="49" charset="0"/>
              </a:rPr>
              <a:t>&lt;&gt; </a:t>
            </a:r>
            <a:r>
              <a:rPr lang="en-US" altLang="zh-CN" sz="1800" dirty="0">
                <a:solidFill>
                  <a:srgbClr val="C00000"/>
                </a:solidFill>
                <a:latin typeface="Consolas" panose="020B0609020204030204" pitchFamily="49" charset="0"/>
              </a:rPr>
              <a:t>void</a:t>
            </a:r>
            <a:r>
              <a:rPr lang="en-US" altLang="zh-CN" sz="1800" dirty="0">
                <a:latin typeface="Consolas" panose="020B0609020204030204" pitchFamily="49" charset="0"/>
                <a:cs typeface="Consolas" panose="020B0609020204030204" pitchFamily="49" charset="0"/>
              </a:rPr>
              <a:t> f(</a:t>
            </a:r>
            <a:r>
              <a:rPr lang="en-US" altLang="zh-CN" sz="1800" dirty="0">
                <a:solidFill>
                  <a:srgbClr val="C00000"/>
                </a:solidFill>
                <a:latin typeface="Consolas" panose="020B0609020204030204" pitchFamily="49" charset="0"/>
              </a:rPr>
              <a:t>char</a:t>
            </a:r>
            <a:r>
              <a:rPr lang="en-US" altLang="zh-CN" sz="1800" dirty="0">
                <a:latin typeface="Consolas" panose="020B0609020204030204" pitchFamily="49" charset="0"/>
                <a:cs typeface="Consolas" panose="020B0609020204030204" pitchFamily="49" charset="0"/>
              </a:rPr>
              <a:t>*) {</a:t>
            </a:r>
          </a:p>
          <a:p>
            <a:pPr marL="0" indent="0">
              <a:buNone/>
            </a:pPr>
            <a:r>
              <a:rPr lang="en-US" altLang="zh-CN" sz="1800" b="1" dirty="0">
                <a:solidFill>
                  <a:srgbClr val="00B050"/>
                </a:solidFill>
                <a:latin typeface="AndaleMono" panose="020B0509000000000004" charset="0"/>
              </a:rPr>
              <a:t>  //func3</a:t>
            </a:r>
            <a:r>
              <a:rPr lang="zh-CN" altLang="en-US" sz="1800" b="1" dirty="0">
                <a:solidFill>
                  <a:srgbClr val="00B050"/>
                </a:solidFill>
                <a:latin typeface="AndaleMono" panose="020B0509000000000004" charset="0"/>
              </a:rPr>
              <a:t>为</a:t>
            </a:r>
            <a:r>
              <a:rPr lang="en-US" altLang="zh-CN" sz="1800" b="1" dirty="0">
                <a:solidFill>
                  <a:srgbClr val="00B050"/>
                </a:solidFill>
                <a:latin typeface="AndaleMono" panose="020B0509000000000004" charset="0"/>
              </a:rPr>
              <a:t>func2</a:t>
            </a:r>
            <a:r>
              <a:rPr lang="zh-CN" altLang="en-US" sz="1800" b="1" dirty="0">
                <a:solidFill>
                  <a:srgbClr val="00B050"/>
                </a:solidFill>
                <a:latin typeface="AndaleMono" panose="020B0509000000000004" charset="0"/>
              </a:rPr>
              <a:t>的特化版本</a:t>
            </a:r>
            <a:r>
              <a:rPr lang="en-US" altLang="zh-CN" sz="1800" b="1" dirty="0">
                <a:solidFill>
                  <a:srgbClr val="00B050"/>
                </a:solidFill>
                <a:latin typeface="AndaleMono" panose="020B0509000000000004" charset="0"/>
              </a:rPr>
              <a:t>(T</a:t>
            </a:r>
            <a:r>
              <a:rPr lang="zh-CN" altLang="en-US" sz="1800" b="1" dirty="0">
                <a:solidFill>
                  <a:srgbClr val="00B050"/>
                </a:solidFill>
                <a:latin typeface="AndaleMono" panose="020B0509000000000004" charset="0"/>
              </a:rPr>
              <a:t>特化为</a:t>
            </a:r>
            <a:r>
              <a:rPr lang="en-US" altLang="zh-CN" sz="1800" b="1" dirty="0">
                <a:solidFill>
                  <a:srgbClr val="00B050"/>
                </a:solidFill>
                <a:latin typeface="AndaleMono" panose="020B0509000000000004" charset="0"/>
              </a:rPr>
              <a:t>char)</a:t>
            </a:r>
          </a:p>
          <a:p>
            <a:pPr marL="0" indent="0">
              <a:buNone/>
            </a:pPr>
            <a:r>
              <a:rPr lang="en-US" altLang="zh-CN" sz="1800" dirty="0">
                <a:latin typeface="Consolas" panose="020B0609020204030204" pitchFamily="49" charset="0"/>
                <a:cs typeface="Consolas" panose="020B0609020204030204" pitchFamily="49" charset="0"/>
              </a:rPr>
              <a:t>  </a:t>
            </a:r>
            <a:r>
              <a:rPr lang="en-US" altLang="zh-CN" sz="1800" dirty="0" err="1">
                <a:latin typeface="Consolas" panose="020B0609020204030204" pitchFamily="49" charset="0"/>
                <a:cs typeface="Consolas" panose="020B0609020204030204" pitchFamily="49" charset="0"/>
              </a:rPr>
              <a:t>cout</a:t>
            </a:r>
            <a:r>
              <a:rPr lang="en-US" altLang="zh-CN" sz="1800" dirty="0">
                <a:latin typeface="Consolas" panose="020B0609020204030204" pitchFamily="49" charset="0"/>
                <a:cs typeface="Consolas" panose="020B0609020204030204" pitchFamily="49" charset="0"/>
              </a:rPr>
              <a:t>&lt;&lt; </a:t>
            </a:r>
            <a:r>
              <a:rPr lang="en-US" altLang="zh-CN" sz="1800" dirty="0">
                <a:solidFill>
                  <a:schemeClr val="accent6">
                    <a:lumMod val="75000"/>
                  </a:schemeClr>
                </a:solidFill>
                <a:latin typeface="Consolas" panose="020B0609020204030204" pitchFamily="49" charset="0"/>
                <a:cs typeface="Consolas" panose="020B0609020204030204" pitchFamily="49" charset="0"/>
              </a:rPr>
              <a:t>“overload template -&gt; specialized”</a:t>
            </a:r>
            <a:r>
              <a:rPr lang="en-US" altLang="zh-CN" sz="1800" dirty="0">
                <a:latin typeface="Consolas" panose="020B0609020204030204" pitchFamily="49" charset="0"/>
                <a:cs typeface="Consolas" panose="020B0609020204030204" pitchFamily="49" charset="0"/>
              </a:rPr>
              <a:t> &lt;&lt;</a:t>
            </a:r>
            <a:r>
              <a:rPr lang="en-US" altLang="zh-CN" sz="1800" dirty="0" err="1">
                <a:latin typeface="Consolas" panose="020B0609020204030204" pitchFamily="49" charset="0"/>
                <a:cs typeface="Consolas" panose="020B0609020204030204" pitchFamily="49" charset="0"/>
              </a:rPr>
              <a:t>endl</a:t>
            </a:r>
            <a:r>
              <a:rPr lang="en-US" altLang="zh-CN" sz="1800" dirty="0">
                <a:latin typeface="Consolas" panose="020B0609020204030204" pitchFamily="49" charset="0"/>
                <a:cs typeface="Consolas" panose="020B0609020204030204" pitchFamily="49" charset="0"/>
              </a:rPr>
              <a:t>;}; </a:t>
            </a:r>
          </a:p>
        </p:txBody>
      </p:sp>
      <p:sp>
        <p:nvSpPr>
          <p:cNvPr id="4" name="矩形 3"/>
          <p:cNvSpPr/>
          <p:nvPr/>
        </p:nvSpPr>
        <p:spPr>
          <a:xfrm>
            <a:off x="6028660" y="1482499"/>
            <a:ext cx="4572000" cy="1477328"/>
          </a:xfrm>
          <a:prstGeom prst="rect">
            <a:avLst/>
          </a:prstGeom>
        </p:spPr>
        <p:txBody>
          <a:bodyPr>
            <a:spAutoFit/>
          </a:bodyPr>
          <a:lstStyle/>
          <a:p>
            <a:r>
              <a:rPr lang="en-US" altLang="zh-CN" dirty="0" err="1">
                <a:solidFill>
                  <a:srgbClr val="C00000"/>
                </a:solidFill>
                <a:latin typeface="Consolas" panose="020B0609020204030204" pitchFamily="49" charset="0"/>
              </a:rPr>
              <a:t>int</a:t>
            </a:r>
            <a:r>
              <a:rPr lang="en-US" altLang="zh-CN" dirty="0">
                <a:latin typeface="Consolas" panose="020B0609020204030204" pitchFamily="49" charset="0"/>
                <a:cs typeface="Consolas" panose="020B0609020204030204" pitchFamily="49" charset="0"/>
              </a:rPr>
              <a:t> main() { </a:t>
            </a:r>
          </a:p>
          <a:p>
            <a:r>
              <a:rPr lang="en-US" altLang="zh-CN" dirty="0">
                <a:latin typeface="Consolas" panose="020B0609020204030204" pitchFamily="49" charset="0"/>
                <a:cs typeface="Consolas" panose="020B0609020204030204" pitchFamily="49" charset="0"/>
              </a:rPr>
              <a:t>    </a:t>
            </a:r>
            <a:r>
              <a:rPr lang="en-US" altLang="zh-CN" dirty="0">
                <a:solidFill>
                  <a:srgbClr val="C00000"/>
                </a:solidFill>
                <a:latin typeface="Consolas" panose="020B0609020204030204" pitchFamily="49" charset="0"/>
              </a:rPr>
              <a:t>char</a:t>
            </a:r>
            <a:r>
              <a:rPr lang="en-US" altLang="zh-CN" dirty="0">
                <a:latin typeface="Consolas" panose="020B0609020204030204" pitchFamily="49" charset="0"/>
                <a:cs typeface="Consolas" panose="020B0609020204030204" pitchFamily="49" charset="0"/>
              </a:rPr>
              <a:t> *p; </a:t>
            </a:r>
          </a:p>
          <a:p>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f(p); </a:t>
            </a:r>
          </a:p>
          <a:p>
            <a:r>
              <a:rPr lang="en-US" altLang="zh-CN" dirty="0">
                <a:latin typeface="Consolas" panose="020B0609020204030204" pitchFamily="49" charset="0"/>
                <a:cs typeface="Consolas" panose="020B0609020204030204" pitchFamily="49" charset="0"/>
              </a:rPr>
              <a:t>    </a:t>
            </a:r>
            <a:r>
              <a:rPr lang="en-US" altLang="zh-CN" dirty="0">
                <a:solidFill>
                  <a:srgbClr val="C00000"/>
                </a:solidFill>
                <a:latin typeface="Consolas" panose="020B0609020204030204" pitchFamily="49" charset="0"/>
              </a:rPr>
              <a:t>return</a:t>
            </a:r>
            <a:r>
              <a:rPr lang="en-US" altLang="zh-CN" dirty="0">
                <a:latin typeface="Consolas" panose="020B0609020204030204" pitchFamily="49" charset="0"/>
                <a:cs typeface="Consolas" panose="020B0609020204030204" pitchFamily="49" charset="0"/>
              </a:rPr>
              <a:t> 0;</a:t>
            </a:r>
          </a:p>
          <a:p>
            <a:r>
              <a:rPr lang="en-US" altLang="zh-CN" dirty="0">
                <a:latin typeface="Consolas" panose="020B0609020204030204" pitchFamily="49" charset="0"/>
                <a:cs typeface="Consolas" panose="020B0609020204030204" pitchFamily="49" charset="0"/>
              </a:rPr>
              <a:t>}</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函数模板特化</a:t>
            </a:r>
          </a:p>
        </p:txBody>
      </p:sp>
      <p:sp>
        <p:nvSpPr>
          <p:cNvPr id="3" name="内容占位符 2"/>
          <p:cNvSpPr>
            <a:spLocks noGrp="1"/>
          </p:cNvSpPr>
          <p:nvPr>
            <p:ph idx="1"/>
          </p:nvPr>
        </p:nvSpPr>
        <p:spPr>
          <a:xfrm>
            <a:off x="628650" y="5001759"/>
            <a:ext cx="8047806" cy="3074307"/>
          </a:xfrm>
        </p:spPr>
        <p:txBody>
          <a:bodyPr>
            <a:noAutofit/>
          </a:bodyPr>
          <a:lstStyle/>
          <a:p>
            <a:pPr>
              <a:lnSpc>
                <a:spcPct val="100000"/>
              </a:lnSpc>
              <a:buSzPct val="75000"/>
              <a:buFont typeface="Wingdings" panose="05000000000000000000" pitchFamily="2" charset="2"/>
              <a:buChar char="n"/>
            </a:pPr>
            <a:r>
              <a:rPr lang="zh-CN" altLang="en-US" sz="22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主函数调用的是哪一个版本？</a:t>
            </a:r>
            <a:r>
              <a:rPr lang="en-US" altLang="zh-CN" sz="2200" b="1" dirty="0">
                <a:solidFill>
                  <a:srgbClr val="00B050"/>
                </a:solidFill>
                <a:latin typeface="AndaleMono" panose="020B0509000000000004" charset="0"/>
              </a:rPr>
              <a:t>func2</a:t>
            </a:r>
            <a:endParaRPr lang="en-US" altLang="zh-CN" sz="2200"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sz="22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先从基础模板</a:t>
            </a:r>
            <a:r>
              <a:rPr lang="en-US" altLang="zh-CN" sz="2200" b="1" dirty="0">
                <a:solidFill>
                  <a:srgbClr val="00B050"/>
                </a:solidFill>
                <a:latin typeface="AndaleMono" panose="020B0509000000000004" charset="0"/>
              </a:rPr>
              <a:t>func1</a:t>
            </a:r>
            <a:r>
              <a:rPr lang="zh-CN" altLang="en-US" sz="2200" b="1" kern="100" dirty="0">
                <a:solidFill>
                  <a:srgbClr val="003366"/>
                </a:solidFill>
                <a:latin typeface="华文楷体" panose="02010600040101010101" pitchFamily="2" charset="-122"/>
                <a:ea typeface="华文楷体" panose="02010600040101010101" pitchFamily="2" charset="-122"/>
              </a:rPr>
              <a:t>和</a:t>
            </a:r>
            <a:r>
              <a:rPr lang="en-US" altLang="zh-CN" sz="2200" b="1" dirty="0">
                <a:solidFill>
                  <a:srgbClr val="00B050"/>
                </a:solidFill>
                <a:latin typeface="AndaleMono" panose="020B0509000000000004" charset="0"/>
              </a:rPr>
              <a:t>func2</a:t>
            </a:r>
            <a:r>
              <a:rPr lang="zh-CN" altLang="en-US" sz="2200" b="1" kern="100" dirty="0">
                <a:solidFill>
                  <a:srgbClr val="003366"/>
                </a:solidFill>
                <a:latin typeface="华文楷体" panose="02010600040101010101" pitchFamily="2" charset="-122"/>
                <a:ea typeface="华文楷体" panose="02010600040101010101" pitchFamily="2" charset="-122"/>
              </a:rPr>
              <a:t>中选择更匹配的模板实例，</a:t>
            </a:r>
            <a:r>
              <a:rPr lang="en-US" altLang="zh-CN" sz="2200" b="1" dirty="0">
                <a:solidFill>
                  <a:srgbClr val="00B050"/>
                </a:solidFill>
                <a:latin typeface="AndaleMono" panose="020B0509000000000004" charset="0"/>
              </a:rPr>
              <a:t> func2</a:t>
            </a:r>
            <a:r>
              <a:rPr lang="zh-CN" altLang="en-US" sz="22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参数类型更匹配，因此优先选中。</a:t>
            </a:r>
            <a:endParaRPr lang="en-US" altLang="zh-CN" sz="2200"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sz="2200" b="1" kern="100" dirty="0">
                <a:solidFill>
                  <a:srgbClr val="003366"/>
                </a:solidFill>
                <a:latin typeface="华文楷体" panose="02010600040101010101" pitchFamily="2" charset="-122"/>
                <a:ea typeface="华文楷体" panose="02010600040101010101" pitchFamily="2" charset="-122"/>
              </a:rPr>
              <a:t>函数模板</a:t>
            </a:r>
            <a:r>
              <a:rPr lang="en-US" altLang="zh-CN" sz="2200" b="1" dirty="0">
                <a:solidFill>
                  <a:srgbClr val="00B050"/>
                </a:solidFill>
                <a:latin typeface="AndaleMono" panose="020B0509000000000004" charset="0"/>
              </a:rPr>
              <a:t>func2</a:t>
            </a:r>
            <a:r>
              <a:rPr lang="zh-CN" altLang="en-US" sz="22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无特化版本，因此直接调用模板</a:t>
            </a:r>
            <a:r>
              <a:rPr lang="en-US" altLang="zh-CN" sz="2200" b="1" dirty="0">
                <a:solidFill>
                  <a:srgbClr val="00B050"/>
                </a:solidFill>
                <a:latin typeface="AndaleMono" panose="020B0509000000000004" charset="0"/>
              </a:rPr>
              <a:t>func2</a:t>
            </a:r>
            <a:r>
              <a:rPr lang="zh-CN" altLang="en-US" sz="2200"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a:t>
            </a:r>
            <a:endParaRPr lang="en-US" altLang="zh-CN" sz="2200" b="1" kern="100" dirty="0">
              <a:solidFill>
                <a:srgbClr val="003366"/>
              </a:solidFill>
              <a:latin typeface="华文楷体" panose="02010600040101010101" pitchFamily="2" charset="-122"/>
              <a:ea typeface="华文楷体" panose="02010600040101010101" pitchFamily="2"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83</a:t>
            </a:fld>
            <a:endParaRPr lang="en-US" altLang="zh-CN" dirty="0"/>
          </a:p>
        </p:txBody>
      </p:sp>
      <p:sp>
        <p:nvSpPr>
          <p:cNvPr id="6" name="内容占位符 2"/>
          <p:cNvSpPr txBox="1"/>
          <p:nvPr/>
        </p:nvSpPr>
        <p:spPr>
          <a:xfrm>
            <a:off x="628650" y="1482499"/>
            <a:ext cx="7886700" cy="3514803"/>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en-US" altLang="zh-CN" sz="1800" dirty="0">
                <a:solidFill>
                  <a:srgbClr val="6E200D"/>
                </a:solidFill>
                <a:latin typeface="Consolas" panose="020B0609020204030204" pitchFamily="49" charset="0"/>
                <a:ea typeface="Consolas" panose="020B0609020204030204" pitchFamily="49" charset="0"/>
                <a:cs typeface="Consolas" panose="020B0609020204030204" pitchFamily="49" charset="0"/>
              </a:rPr>
              <a:t>#include </a:t>
            </a:r>
            <a:r>
              <a:rPr lang="en-US" altLang="zh-CN" sz="1800" dirty="0">
                <a:solidFill>
                  <a:srgbClr val="BA0011"/>
                </a:solidFill>
                <a:latin typeface="Consolas" panose="020B0609020204030204" pitchFamily="49" charset="0"/>
                <a:ea typeface="Consolas" panose="020B0609020204030204" pitchFamily="49" charset="0"/>
                <a:cs typeface="Consolas" panose="020B0609020204030204" pitchFamily="49" charset="0"/>
              </a:rPr>
              <a:t>&lt;iostream&gt;</a:t>
            </a:r>
          </a:p>
          <a:p>
            <a:pPr marL="0" indent="0">
              <a:buNone/>
            </a:pPr>
            <a:r>
              <a:rPr lang="en-US" altLang="zh-CN" sz="1800" dirty="0">
                <a:solidFill>
                  <a:srgbClr val="B40062"/>
                </a:solidFill>
                <a:latin typeface="Consolas" panose="020B0609020204030204" pitchFamily="49" charset="0"/>
                <a:ea typeface="Consolas" panose="020B0609020204030204" pitchFamily="49" charset="0"/>
                <a:cs typeface="Consolas" panose="020B0609020204030204" pitchFamily="49" charset="0"/>
              </a:rPr>
              <a:t>using</a:t>
            </a:r>
            <a:r>
              <a:rPr lang="en-US" altLang="zh-CN" sz="1800" dirty="0">
                <a:solidFill>
                  <a:srgbClr val="000000"/>
                </a:solidFill>
                <a:latin typeface="Consolas" panose="020B0609020204030204" pitchFamily="49" charset="0"/>
                <a:ea typeface="Consolas" panose="020B0609020204030204" pitchFamily="49" charset="0"/>
                <a:cs typeface="Consolas" panose="020B0609020204030204" pitchFamily="49" charset="0"/>
              </a:rPr>
              <a:t> </a:t>
            </a:r>
            <a:r>
              <a:rPr lang="en-US" altLang="zh-CN" sz="1800" dirty="0">
                <a:solidFill>
                  <a:srgbClr val="B40062"/>
                </a:solidFill>
                <a:latin typeface="Consolas" panose="020B0609020204030204" pitchFamily="49" charset="0"/>
                <a:ea typeface="Consolas" panose="020B0609020204030204" pitchFamily="49" charset="0"/>
                <a:cs typeface="Consolas" panose="020B0609020204030204" pitchFamily="49" charset="0"/>
              </a:rPr>
              <a:t>namespace</a:t>
            </a:r>
            <a:r>
              <a:rPr lang="en-US" altLang="zh-CN" sz="1800" dirty="0">
                <a:solidFill>
                  <a:srgbClr val="000000"/>
                </a:solidFill>
                <a:latin typeface="Consolas" panose="020B0609020204030204" pitchFamily="49" charset="0"/>
                <a:ea typeface="Consolas" panose="020B0609020204030204" pitchFamily="49" charset="0"/>
                <a:cs typeface="Consolas" panose="020B0609020204030204" pitchFamily="49" charset="0"/>
              </a:rPr>
              <a:t> </a:t>
            </a:r>
            <a:r>
              <a:rPr lang="en-US" altLang="zh-CN" sz="1800" dirty="0" err="1">
                <a:solidFill>
                  <a:srgbClr val="000000"/>
                </a:solidFill>
                <a:latin typeface="Consolas" panose="020B0609020204030204" pitchFamily="49" charset="0"/>
                <a:ea typeface="Consolas" panose="020B0609020204030204" pitchFamily="49" charset="0"/>
                <a:cs typeface="Consolas" panose="020B0609020204030204" pitchFamily="49" charset="0"/>
              </a:rPr>
              <a:t>std</a:t>
            </a:r>
            <a:r>
              <a:rPr lang="en-US" altLang="zh-CN" sz="1800" dirty="0">
                <a:solidFill>
                  <a:srgbClr val="000000"/>
                </a:solidFill>
                <a:latin typeface="Consolas" panose="020B0609020204030204" pitchFamily="49" charset="0"/>
                <a:ea typeface="Consolas" panose="020B0609020204030204" pitchFamily="49" charset="0"/>
                <a:cs typeface="Consolas" panose="020B0609020204030204" pitchFamily="49" charset="0"/>
              </a:rPr>
              <a:t>;</a:t>
            </a:r>
            <a:endParaRPr lang="en-US" altLang="zh-CN" sz="1800" dirty="0">
              <a:solidFill>
                <a:srgbClr val="C00000"/>
              </a:solidFill>
              <a:latin typeface="Consolas" panose="020B0609020204030204" pitchFamily="49" charset="0"/>
            </a:endParaRPr>
          </a:p>
          <a:p>
            <a:pPr marL="0" indent="0">
              <a:buFont typeface="Arial" panose="020B0604020202090204" pitchFamily="34" charset="0"/>
              <a:buNone/>
            </a:pPr>
            <a:r>
              <a:rPr lang="en-US" altLang="zh-CN" sz="1800" dirty="0">
                <a:solidFill>
                  <a:srgbClr val="C00000"/>
                </a:solidFill>
                <a:latin typeface="Consolas" panose="020B0609020204030204" pitchFamily="49" charset="0"/>
              </a:rPr>
              <a:t>template</a:t>
            </a:r>
            <a:r>
              <a:rPr lang="en-US" altLang="zh-CN" sz="1800" dirty="0">
                <a:latin typeface="Consolas" panose="020B0609020204030204" pitchFamily="49" charset="0"/>
                <a:cs typeface="Consolas" panose="020B0609020204030204" pitchFamily="49" charset="0"/>
              </a:rPr>
              <a:t>&lt;</a:t>
            </a:r>
            <a:r>
              <a:rPr lang="en-US" altLang="zh-CN" sz="1800" dirty="0">
                <a:solidFill>
                  <a:srgbClr val="C00000"/>
                </a:solidFill>
                <a:latin typeface="Consolas" panose="020B0609020204030204" pitchFamily="49" charset="0"/>
              </a:rPr>
              <a:t>class</a:t>
            </a:r>
            <a:r>
              <a:rPr lang="en-US" altLang="zh-CN" sz="1800" dirty="0">
                <a:latin typeface="Consolas" panose="020B0609020204030204" pitchFamily="49" charset="0"/>
                <a:cs typeface="Consolas" panose="020B0609020204030204" pitchFamily="49" charset="0"/>
              </a:rPr>
              <a:t> T&gt; </a:t>
            </a:r>
            <a:r>
              <a:rPr lang="en-US" altLang="zh-CN" sz="1800" dirty="0">
                <a:solidFill>
                  <a:srgbClr val="C00000"/>
                </a:solidFill>
                <a:latin typeface="Consolas" panose="020B0609020204030204" pitchFamily="49" charset="0"/>
              </a:rPr>
              <a:t>void</a:t>
            </a:r>
            <a:r>
              <a:rPr lang="en-US" altLang="zh-CN" sz="1800" dirty="0">
                <a:latin typeface="Consolas" panose="020B0609020204030204" pitchFamily="49" charset="0"/>
                <a:cs typeface="Consolas" panose="020B0609020204030204" pitchFamily="49" charset="0"/>
              </a:rPr>
              <a:t> f(T) { </a:t>
            </a:r>
          </a:p>
          <a:p>
            <a:pPr marL="0" indent="0">
              <a:buFont typeface="Arial" panose="020B0604020202090204" pitchFamily="34" charset="0"/>
              <a:buNone/>
            </a:pPr>
            <a:r>
              <a:rPr lang="en-US" altLang="zh-CN" sz="1800" b="1" dirty="0">
                <a:solidFill>
                  <a:srgbClr val="00B050"/>
                </a:solidFill>
                <a:latin typeface="AndaleMono" panose="020B0509000000000004" charset="0"/>
              </a:rPr>
              <a:t>  //func1</a:t>
            </a:r>
            <a:r>
              <a:rPr lang="zh-CN" altLang="en-US" sz="1800" b="1" dirty="0">
                <a:solidFill>
                  <a:srgbClr val="00B050"/>
                </a:solidFill>
                <a:latin typeface="AndaleMono" panose="020B0509000000000004" charset="0"/>
              </a:rPr>
              <a:t>为基础模板</a:t>
            </a:r>
            <a:endParaRPr lang="en-US" altLang="zh-CN" sz="1800" b="1" dirty="0">
              <a:solidFill>
                <a:srgbClr val="00B050"/>
              </a:solidFill>
              <a:latin typeface="AndaleMono" panose="020B0509000000000004" charset="0"/>
            </a:endParaRPr>
          </a:p>
          <a:p>
            <a:pPr marL="0" indent="0">
              <a:buFont typeface="Arial" panose="020B0604020202090204" pitchFamily="34" charset="0"/>
              <a:buNone/>
            </a:pPr>
            <a:r>
              <a:rPr lang="en-US" altLang="zh-CN" sz="1800" dirty="0">
                <a:latin typeface="Consolas" panose="020B0609020204030204" pitchFamily="49" charset="0"/>
                <a:cs typeface="Consolas" panose="020B0609020204030204" pitchFamily="49" charset="0"/>
              </a:rPr>
              <a:t>  </a:t>
            </a:r>
            <a:r>
              <a:rPr lang="en-US" altLang="zh-CN" sz="1800" dirty="0" err="1">
                <a:latin typeface="Consolas" panose="020B0609020204030204" pitchFamily="49" charset="0"/>
                <a:cs typeface="Consolas" panose="020B0609020204030204" pitchFamily="49" charset="0"/>
              </a:rPr>
              <a:t>cout</a:t>
            </a:r>
            <a:r>
              <a:rPr lang="en-US" altLang="zh-CN" sz="1800" dirty="0">
                <a:latin typeface="Consolas" panose="020B0609020204030204" pitchFamily="49" charset="0"/>
                <a:cs typeface="Consolas" panose="020B0609020204030204" pitchFamily="49" charset="0"/>
              </a:rPr>
              <a:t>&lt;&lt; </a:t>
            </a:r>
            <a:r>
              <a:rPr lang="en-US" altLang="zh-CN" sz="1800" dirty="0">
                <a:solidFill>
                  <a:schemeClr val="accent6">
                    <a:lumMod val="75000"/>
                  </a:schemeClr>
                </a:solidFill>
                <a:latin typeface="Consolas" panose="020B0609020204030204" pitchFamily="49" charset="0"/>
                <a:cs typeface="Consolas" panose="020B0609020204030204" pitchFamily="49" charset="0"/>
              </a:rPr>
              <a:t>“full template” </a:t>
            </a:r>
            <a:r>
              <a:rPr lang="en-US" altLang="zh-CN" sz="1800" dirty="0">
                <a:latin typeface="Consolas" panose="020B0609020204030204" pitchFamily="49" charset="0"/>
                <a:cs typeface="Consolas" panose="020B0609020204030204" pitchFamily="49" charset="0"/>
              </a:rPr>
              <a:t>&lt;&lt;</a:t>
            </a:r>
            <a:r>
              <a:rPr lang="en-US" altLang="zh-CN" sz="1800" dirty="0" err="1">
                <a:latin typeface="Consolas" panose="020B0609020204030204" pitchFamily="49" charset="0"/>
                <a:cs typeface="Consolas" panose="020B0609020204030204" pitchFamily="49" charset="0"/>
              </a:rPr>
              <a:t>endl</a:t>
            </a:r>
            <a:r>
              <a:rPr lang="en-US" altLang="zh-CN" sz="1800" dirty="0">
                <a:latin typeface="Consolas" panose="020B0609020204030204" pitchFamily="49" charset="0"/>
                <a:cs typeface="Consolas" panose="020B0609020204030204" pitchFamily="49" charset="0"/>
              </a:rPr>
              <a:t>;}; </a:t>
            </a:r>
          </a:p>
          <a:p>
            <a:pPr marL="0" indent="0">
              <a:buNone/>
            </a:pPr>
            <a:r>
              <a:rPr lang="en-US" altLang="zh-CN" sz="1800" dirty="0">
                <a:solidFill>
                  <a:srgbClr val="C00000"/>
                </a:solidFill>
                <a:latin typeface="Consolas" panose="020B0609020204030204" pitchFamily="49" charset="0"/>
              </a:rPr>
              <a:t>template</a:t>
            </a:r>
            <a:r>
              <a:rPr lang="en-US" altLang="zh-CN" sz="1800" dirty="0">
                <a:latin typeface="Consolas" panose="020B0609020204030204" pitchFamily="49" charset="0"/>
                <a:cs typeface="Consolas" panose="020B0609020204030204" pitchFamily="49" charset="0"/>
              </a:rPr>
              <a:t>&lt;&gt; </a:t>
            </a:r>
            <a:r>
              <a:rPr lang="en-US" altLang="zh-CN" sz="1800" dirty="0">
                <a:solidFill>
                  <a:srgbClr val="C00000"/>
                </a:solidFill>
                <a:latin typeface="Consolas" panose="020B0609020204030204" pitchFamily="49" charset="0"/>
              </a:rPr>
              <a:t>void</a:t>
            </a:r>
            <a:r>
              <a:rPr lang="en-US" altLang="zh-CN" sz="1800" dirty="0">
                <a:latin typeface="Consolas" panose="020B0609020204030204" pitchFamily="49" charset="0"/>
                <a:cs typeface="Consolas" panose="020B0609020204030204" pitchFamily="49" charset="0"/>
              </a:rPr>
              <a:t> f(</a:t>
            </a:r>
            <a:r>
              <a:rPr lang="en-US" altLang="zh-CN" sz="1800" dirty="0">
                <a:solidFill>
                  <a:srgbClr val="C00000"/>
                </a:solidFill>
                <a:latin typeface="Consolas" panose="020B0609020204030204" pitchFamily="49" charset="0"/>
              </a:rPr>
              <a:t>char</a:t>
            </a:r>
            <a:r>
              <a:rPr lang="en-US" altLang="zh-CN" sz="1800" dirty="0">
                <a:latin typeface="Consolas" panose="020B0609020204030204" pitchFamily="49" charset="0"/>
                <a:cs typeface="Consolas" panose="020B0609020204030204" pitchFamily="49" charset="0"/>
              </a:rPr>
              <a:t>*) {</a:t>
            </a:r>
          </a:p>
          <a:p>
            <a:pPr marL="0" indent="0">
              <a:buNone/>
            </a:pPr>
            <a:r>
              <a:rPr lang="en-US" altLang="zh-CN" sz="1800" b="1" dirty="0">
                <a:solidFill>
                  <a:srgbClr val="00B050"/>
                </a:solidFill>
                <a:latin typeface="AndaleMono" panose="020B0509000000000004" charset="0"/>
              </a:rPr>
              <a:t>  //func3</a:t>
            </a:r>
            <a:r>
              <a:rPr lang="zh-CN" altLang="en-US" sz="1800" b="1" dirty="0">
                <a:solidFill>
                  <a:srgbClr val="00B050"/>
                </a:solidFill>
                <a:latin typeface="AndaleMono" panose="020B0509000000000004" charset="0"/>
              </a:rPr>
              <a:t>为</a:t>
            </a:r>
            <a:r>
              <a:rPr lang="en-US" altLang="zh-CN" sz="1800" b="1" dirty="0">
                <a:solidFill>
                  <a:srgbClr val="00B050"/>
                </a:solidFill>
                <a:latin typeface="AndaleMono" panose="020B0509000000000004" charset="0"/>
              </a:rPr>
              <a:t>func1</a:t>
            </a:r>
            <a:r>
              <a:rPr lang="zh-CN" altLang="en-US" sz="1800" b="1" dirty="0">
                <a:solidFill>
                  <a:srgbClr val="00B050"/>
                </a:solidFill>
                <a:latin typeface="AndaleMono" panose="020B0509000000000004" charset="0"/>
              </a:rPr>
              <a:t>的特化版本</a:t>
            </a:r>
            <a:r>
              <a:rPr lang="en-US" altLang="zh-CN" sz="1800" b="1" dirty="0">
                <a:solidFill>
                  <a:srgbClr val="00B050"/>
                </a:solidFill>
                <a:latin typeface="AndaleMono" panose="020B0509000000000004" charset="0"/>
              </a:rPr>
              <a:t>(T</a:t>
            </a:r>
            <a:r>
              <a:rPr lang="zh-CN" altLang="en-US" sz="1800" b="1" dirty="0">
                <a:solidFill>
                  <a:srgbClr val="00B050"/>
                </a:solidFill>
                <a:latin typeface="AndaleMono" panose="020B0509000000000004" charset="0"/>
              </a:rPr>
              <a:t>特化为</a:t>
            </a:r>
            <a:r>
              <a:rPr lang="en-US" altLang="zh-CN" sz="1800" b="1" dirty="0">
                <a:solidFill>
                  <a:srgbClr val="00B050"/>
                </a:solidFill>
                <a:latin typeface="AndaleMono" panose="020B0509000000000004" charset="0"/>
              </a:rPr>
              <a:t>char*)</a:t>
            </a:r>
          </a:p>
          <a:p>
            <a:pPr marL="0" indent="0">
              <a:buNone/>
            </a:pPr>
            <a:r>
              <a:rPr lang="en-US" altLang="zh-CN" sz="1800" dirty="0">
                <a:latin typeface="Consolas" panose="020B0609020204030204" pitchFamily="49" charset="0"/>
                <a:cs typeface="Consolas" panose="020B0609020204030204" pitchFamily="49" charset="0"/>
              </a:rPr>
              <a:t>  </a:t>
            </a:r>
            <a:r>
              <a:rPr lang="en-US" altLang="zh-CN" sz="1800" dirty="0" err="1">
                <a:latin typeface="Consolas" panose="020B0609020204030204" pitchFamily="49" charset="0"/>
                <a:cs typeface="Consolas" panose="020B0609020204030204" pitchFamily="49" charset="0"/>
              </a:rPr>
              <a:t>cout</a:t>
            </a:r>
            <a:r>
              <a:rPr lang="en-US" altLang="zh-CN" sz="1800" dirty="0">
                <a:latin typeface="Consolas" panose="020B0609020204030204" pitchFamily="49" charset="0"/>
                <a:cs typeface="Consolas" panose="020B0609020204030204" pitchFamily="49" charset="0"/>
              </a:rPr>
              <a:t>&lt;&lt; </a:t>
            </a:r>
            <a:r>
              <a:rPr lang="en-US" altLang="zh-CN" sz="1800" dirty="0">
                <a:solidFill>
                  <a:schemeClr val="accent6">
                    <a:lumMod val="75000"/>
                  </a:schemeClr>
                </a:solidFill>
                <a:latin typeface="Consolas" panose="020B0609020204030204" pitchFamily="49" charset="0"/>
                <a:cs typeface="Consolas" panose="020B0609020204030204" pitchFamily="49" charset="0"/>
              </a:rPr>
              <a:t>“full template -&gt; specialized”</a:t>
            </a:r>
            <a:r>
              <a:rPr lang="en-US" altLang="zh-CN" sz="1800" dirty="0">
                <a:latin typeface="Consolas" panose="020B0609020204030204" pitchFamily="49" charset="0"/>
                <a:cs typeface="Consolas" panose="020B0609020204030204" pitchFamily="49" charset="0"/>
              </a:rPr>
              <a:t> &lt;&lt;</a:t>
            </a:r>
            <a:r>
              <a:rPr lang="en-US" altLang="zh-CN" sz="1800" dirty="0" err="1">
                <a:latin typeface="Consolas" panose="020B0609020204030204" pitchFamily="49" charset="0"/>
                <a:cs typeface="Consolas" panose="020B0609020204030204" pitchFamily="49" charset="0"/>
              </a:rPr>
              <a:t>endl</a:t>
            </a:r>
            <a:r>
              <a:rPr lang="en-US" altLang="zh-CN" sz="1800" dirty="0">
                <a:latin typeface="Consolas" panose="020B0609020204030204" pitchFamily="49" charset="0"/>
                <a:cs typeface="Consolas" panose="020B0609020204030204" pitchFamily="49" charset="0"/>
              </a:rPr>
              <a:t>;};</a:t>
            </a:r>
            <a:endParaRPr lang="en-US" altLang="zh-CN" sz="1800" dirty="0">
              <a:solidFill>
                <a:srgbClr val="C00000"/>
              </a:solidFill>
              <a:latin typeface="Consolas" panose="020B0609020204030204" pitchFamily="49" charset="0"/>
            </a:endParaRPr>
          </a:p>
          <a:p>
            <a:pPr marL="0" indent="0">
              <a:buNone/>
            </a:pPr>
            <a:r>
              <a:rPr lang="en-US" altLang="zh-CN" sz="1800" dirty="0">
                <a:solidFill>
                  <a:srgbClr val="C00000"/>
                </a:solidFill>
                <a:latin typeface="Consolas" panose="020B0609020204030204" pitchFamily="49" charset="0"/>
              </a:rPr>
              <a:t>template</a:t>
            </a:r>
            <a:r>
              <a:rPr lang="en-US" altLang="zh-CN" sz="1800" dirty="0">
                <a:latin typeface="Consolas" panose="020B0609020204030204" pitchFamily="49" charset="0"/>
                <a:cs typeface="Consolas" panose="020B0609020204030204" pitchFamily="49" charset="0"/>
              </a:rPr>
              <a:t>&lt;</a:t>
            </a:r>
            <a:r>
              <a:rPr lang="en-US" altLang="zh-CN" sz="1800" dirty="0">
                <a:solidFill>
                  <a:srgbClr val="C00000"/>
                </a:solidFill>
                <a:latin typeface="Consolas" panose="020B0609020204030204" pitchFamily="49" charset="0"/>
              </a:rPr>
              <a:t>class</a:t>
            </a:r>
            <a:r>
              <a:rPr lang="en-US" altLang="zh-CN" sz="1800" dirty="0">
                <a:latin typeface="Consolas" panose="020B0609020204030204" pitchFamily="49" charset="0"/>
                <a:cs typeface="Consolas" panose="020B0609020204030204" pitchFamily="49" charset="0"/>
              </a:rPr>
              <a:t> T&gt; </a:t>
            </a:r>
            <a:r>
              <a:rPr lang="en-US" altLang="zh-CN" sz="1800" dirty="0">
                <a:solidFill>
                  <a:srgbClr val="C00000"/>
                </a:solidFill>
                <a:latin typeface="Consolas" panose="020B0609020204030204" pitchFamily="49" charset="0"/>
              </a:rPr>
              <a:t>void</a:t>
            </a:r>
            <a:r>
              <a:rPr lang="en-US" altLang="zh-CN" sz="1800" dirty="0">
                <a:latin typeface="Consolas" panose="020B0609020204030204" pitchFamily="49" charset="0"/>
                <a:cs typeface="Consolas" panose="020B0609020204030204" pitchFamily="49" charset="0"/>
              </a:rPr>
              <a:t> f(T*) {</a:t>
            </a:r>
          </a:p>
          <a:p>
            <a:pPr marL="0" indent="0">
              <a:buNone/>
            </a:pPr>
            <a:r>
              <a:rPr lang="en-US" altLang="zh-CN" sz="1800" b="1" dirty="0">
                <a:solidFill>
                  <a:srgbClr val="00B050"/>
                </a:solidFill>
                <a:latin typeface="AndaleMono" panose="020B0509000000000004" charset="0"/>
              </a:rPr>
              <a:t>  //func2</a:t>
            </a:r>
            <a:r>
              <a:rPr lang="zh-CN" altLang="en-US" sz="1800" b="1" dirty="0">
                <a:solidFill>
                  <a:srgbClr val="00B050"/>
                </a:solidFill>
                <a:latin typeface="AndaleMono" panose="020B0509000000000004" charset="0"/>
              </a:rPr>
              <a:t>为</a:t>
            </a:r>
            <a:r>
              <a:rPr lang="en-US" altLang="zh-CN" sz="1800" b="1" dirty="0">
                <a:solidFill>
                  <a:srgbClr val="00B050"/>
                </a:solidFill>
                <a:latin typeface="AndaleMono" panose="020B0509000000000004" charset="0"/>
              </a:rPr>
              <a:t>func1</a:t>
            </a:r>
            <a:r>
              <a:rPr lang="zh-CN" altLang="en-US" sz="1800" b="1" dirty="0">
                <a:solidFill>
                  <a:srgbClr val="00B050"/>
                </a:solidFill>
                <a:latin typeface="AndaleMono" panose="020B0509000000000004" charset="0"/>
              </a:rPr>
              <a:t>的重载</a:t>
            </a:r>
            <a:r>
              <a:rPr lang="en-US" altLang="zh-CN" sz="1800" b="1" dirty="0">
                <a:solidFill>
                  <a:srgbClr val="00B050"/>
                </a:solidFill>
                <a:latin typeface="AndaleMono" panose="020B0509000000000004" charset="0"/>
              </a:rPr>
              <a:t>,</a:t>
            </a:r>
            <a:r>
              <a:rPr lang="zh-CN" altLang="en-US" sz="1800" b="1" dirty="0">
                <a:solidFill>
                  <a:srgbClr val="00B050"/>
                </a:solidFill>
                <a:latin typeface="AndaleMono" panose="020B0509000000000004" charset="0"/>
              </a:rPr>
              <a:t>仍是基础模板</a:t>
            </a:r>
            <a:endParaRPr lang="en-US" altLang="zh-CN" sz="1800" b="1" dirty="0">
              <a:solidFill>
                <a:srgbClr val="00B050"/>
              </a:solidFill>
              <a:latin typeface="AndaleMono" panose="020B0509000000000004" charset="0"/>
            </a:endParaRPr>
          </a:p>
          <a:p>
            <a:pPr marL="0" indent="0">
              <a:buNone/>
            </a:pPr>
            <a:r>
              <a:rPr lang="en-US" altLang="zh-CN" sz="1800" dirty="0">
                <a:latin typeface="Consolas" panose="020B0609020204030204" pitchFamily="49" charset="0"/>
                <a:cs typeface="Consolas" panose="020B0609020204030204" pitchFamily="49" charset="0"/>
              </a:rPr>
              <a:t>  </a:t>
            </a:r>
            <a:r>
              <a:rPr lang="en-US" altLang="zh-CN" sz="1800" dirty="0" err="1">
                <a:latin typeface="Consolas" panose="020B0609020204030204" pitchFamily="49" charset="0"/>
                <a:cs typeface="Consolas" panose="020B0609020204030204" pitchFamily="49" charset="0"/>
              </a:rPr>
              <a:t>cout</a:t>
            </a:r>
            <a:r>
              <a:rPr lang="en-US" altLang="zh-CN" sz="1800" dirty="0">
                <a:latin typeface="Consolas" panose="020B0609020204030204" pitchFamily="49" charset="0"/>
                <a:cs typeface="Consolas" panose="020B0609020204030204" pitchFamily="49" charset="0"/>
              </a:rPr>
              <a:t>&lt;&lt; </a:t>
            </a:r>
            <a:r>
              <a:rPr lang="en-US" altLang="zh-CN" sz="1800" dirty="0">
                <a:solidFill>
                  <a:schemeClr val="accent6">
                    <a:lumMod val="75000"/>
                  </a:schemeClr>
                </a:solidFill>
                <a:latin typeface="Consolas" panose="020B0609020204030204" pitchFamily="49" charset="0"/>
                <a:cs typeface="Consolas" panose="020B0609020204030204" pitchFamily="49" charset="0"/>
              </a:rPr>
              <a:t>“full template -&gt; overload template”</a:t>
            </a:r>
            <a:r>
              <a:rPr lang="en-US" altLang="zh-CN" sz="1800" dirty="0">
                <a:latin typeface="Consolas" panose="020B0609020204030204" pitchFamily="49" charset="0"/>
                <a:cs typeface="Consolas" panose="020B0609020204030204" pitchFamily="49" charset="0"/>
              </a:rPr>
              <a:t> &lt;&lt;</a:t>
            </a:r>
            <a:r>
              <a:rPr lang="en-US" altLang="zh-CN" sz="1800" dirty="0" err="1">
                <a:latin typeface="Consolas" panose="020B0609020204030204" pitchFamily="49" charset="0"/>
                <a:cs typeface="Consolas" panose="020B0609020204030204" pitchFamily="49" charset="0"/>
              </a:rPr>
              <a:t>endl</a:t>
            </a:r>
            <a:r>
              <a:rPr lang="en-US" altLang="zh-CN" sz="1800" dirty="0">
                <a:latin typeface="Consolas" panose="020B0609020204030204" pitchFamily="49" charset="0"/>
                <a:cs typeface="Consolas" panose="020B0609020204030204" pitchFamily="49" charset="0"/>
              </a:rPr>
              <a:t>;};</a:t>
            </a:r>
            <a:endParaRPr lang="en-US" altLang="zh-CN" sz="1800" dirty="0">
              <a:solidFill>
                <a:srgbClr val="C00000"/>
              </a:solidFill>
              <a:latin typeface="Consolas" panose="020B0609020204030204" pitchFamily="49" charset="0"/>
            </a:endParaRPr>
          </a:p>
          <a:p>
            <a:pPr marL="0" indent="0">
              <a:buNone/>
            </a:pPr>
            <a:endParaRPr lang="en-US" altLang="zh-CN" sz="1800" dirty="0">
              <a:latin typeface="Consolas" panose="020B0609020204030204" pitchFamily="49" charset="0"/>
              <a:cs typeface="Consolas" panose="020B0609020204030204" pitchFamily="49" charset="0"/>
            </a:endParaRPr>
          </a:p>
        </p:txBody>
      </p:sp>
      <p:sp>
        <p:nvSpPr>
          <p:cNvPr id="4" name="矩形 3"/>
          <p:cNvSpPr/>
          <p:nvPr/>
        </p:nvSpPr>
        <p:spPr>
          <a:xfrm>
            <a:off x="6028660" y="1482499"/>
            <a:ext cx="4572000" cy="1477328"/>
          </a:xfrm>
          <a:prstGeom prst="rect">
            <a:avLst/>
          </a:prstGeom>
        </p:spPr>
        <p:txBody>
          <a:bodyPr>
            <a:spAutoFit/>
          </a:bodyPr>
          <a:lstStyle/>
          <a:p>
            <a:r>
              <a:rPr lang="en-US" altLang="zh-CN" dirty="0" err="1">
                <a:solidFill>
                  <a:srgbClr val="C00000"/>
                </a:solidFill>
                <a:latin typeface="Consolas" panose="020B0609020204030204" pitchFamily="49" charset="0"/>
              </a:rPr>
              <a:t>int</a:t>
            </a:r>
            <a:r>
              <a:rPr lang="en-US" altLang="zh-CN" dirty="0">
                <a:latin typeface="Consolas" panose="020B0609020204030204" pitchFamily="49" charset="0"/>
                <a:cs typeface="Consolas" panose="020B0609020204030204" pitchFamily="49" charset="0"/>
              </a:rPr>
              <a:t> main() { </a:t>
            </a:r>
          </a:p>
          <a:p>
            <a:r>
              <a:rPr lang="en-US" altLang="zh-CN" dirty="0">
                <a:latin typeface="Consolas" panose="020B0609020204030204" pitchFamily="49" charset="0"/>
                <a:cs typeface="Consolas" panose="020B0609020204030204" pitchFamily="49" charset="0"/>
              </a:rPr>
              <a:t>    </a:t>
            </a:r>
            <a:r>
              <a:rPr lang="en-US" altLang="zh-CN" dirty="0">
                <a:solidFill>
                  <a:srgbClr val="C00000"/>
                </a:solidFill>
                <a:latin typeface="Consolas" panose="020B0609020204030204" pitchFamily="49" charset="0"/>
              </a:rPr>
              <a:t>char</a:t>
            </a:r>
            <a:r>
              <a:rPr lang="en-US" altLang="zh-CN" dirty="0">
                <a:latin typeface="Consolas" panose="020B0609020204030204" pitchFamily="49" charset="0"/>
                <a:cs typeface="Consolas" panose="020B0609020204030204" pitchFamily="49" charset="0"/>
              </a:rPr>
              <a:t> *p; </a:t>
            </a:r>
          </a:p>
          <a:p>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f(p); </a:t>
            </a:r>
          </a:p>
          <a:p>
            <a:r>
              <a:rPr lang="en-US" altLang="zh-CN" dirty="0">
                <a:latin typeface="Consolas" panose="020B0609020204030204" pitchFamily="49" charset="0"/>
                <a:cs typeface="Consolas" panose="020B0609020204030204" pitchFamily="49" charset="0"/>
              </a:rPr>
              <a:t>    </a:t>
            </a:r>
            <a:r>
              <a:rPr lang="en-US" altLang="zh-CN" dirty="0">
                <a:solidFill>
                  <a:srgbClr val="C00000"/>
                </a:solidFill>
                <a:latin typeface="Consolas" panose="020B0609020204030204" pitchFamily="49" charset="0"/>
              </a:rPr>
              <a:t>return</a:t>
            </a:r>
            <a:r>
              <a:rPr lang="en-US" altLang="zh-CN" dirty="0">
                <a:latin typeface="Consolas" panose="020B0609020204030204" pitchFamily="49" charset="0"/>
                <a:cs typeface="Consolas" panose="020B0609020204030204" pitchFamily="49" charset="0"/>
              </a:rPr>
              <a:t> 0;</a:t>
            </a:r>
          </a:p>
          <a:p>
            <a:r>
              <a:rPr lang="en-US" altLang="zh-CN" dirty="0">
                <a:latin typeface="Consolas" panose="020B0609020204030204" pitchFamily="49" charset="0"/>
                <a:cs typeface="Consolas" panose="020B0609020204030204" pitchFamily="49" charset="0"/>
              </a:rPr>
              <a:t>}</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类模板特化</a:t>
            </a:r>
          </a:p>
        </p:txBody>
      </p:sp>
      <p:sp>
        <p:nvSpPr>
          <p:cNvPr id="3" name="内容占位符 2"/>
          <p:cNvSpPr>
            <a:spLocks noGrp="1"/>
          </p:cNvSpPr>
          <p:nvPr>
            <p:ph idx="1"/>
          </p:nvPr>
        </p:nvSpPr>
        <p:spPr>
          <a:xfrm>
            <a:off x="628650" y="1690689"/>
            <a:ext cx="8047806" cy="4009356"/>
          </a:xfrm>
        </p:spPr>
        <p:txBody>
          <a:bodyPr>
            <a:normAutofit/>
          </a:bodyPr>
          <a:lstStyle/>
          <a:p>
            <a:pPr>
              <a:lnSpc>
                <a:spcPct val="100000"/>
              </a:lnSpc>
              <a:buSzPct val="75000"/>
              <a:buFont typeface="Wingdings" panose="05000000000000000000" pitchFamily="2" charset="2"/>
              <a:buChar char="n"/>
            </a:pPr>
            <a:r>
              <a:rPr lang="zh-CN"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对于类模板，</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也可以进行特化</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对于以下模板</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457200" lvl="1" indent="0">
              <a:lnSpc>
                <a:spcPct val="100000"/>
              </a:lnSpc>
              <a:buSzPct val="75000"/>
              <a:buNone/>
            </a:pPr>
            <a:r>
              <a:rPr lang="en-US" altLang="zh-CN" kern="100" dirty="0">
                <a:solidFill>
                  <a:srgbClr val="000000"/>
                </a:solidFill>
                <a:latin typeface="Consolas" panose="020B0609020204030204" pitchFamily="49" charset="0"/>
                <a:ea typeface="华文楷体" panose="02010600040101010101" pitchFamily="2" charset="-122"/>
                <a:cs typeface="华文楷体" panose="02010600040101010101" pitchFamily="2" charset="-122"/>
              </a:rPr>
              <a:t>t</a:t>
            </a:r>
            <a:r>
              <a:rPr lang="en-US" altLang="zh-CN" dirty="0">
                <a:solidFill>
                  <a:srgbClr val="000000"/>
                </a:solidFill>
                <a:latin typeface="Consolas" panose="020B0609020204030204" pitchFamily="49" charset="0"/>
                <a:ea typeface="华文楷体" panose="02010600040101010101" pitchFamily="2" charset="-122"/>
                <a:cs typeface="Consolas" panose="020B0609020204030204" pitchFamily="49" charset="0"/>
              </a:rPr>
              <a:t>emplate&lt;</a:t>
            </a:r>
            <a:r>
              <a:rPr lang="en-US" altLang="zh-CN" dirty="0" err="1">
                <a:solidFill>
                  <a:srgbClr val="000000"/>
                </a:solidFill>
                <a:latin typeface="Consolas" panose="020B0609020204030204" pitchFamily="49" charset="0"/>
                <a:ea typeface="华文楷体" panose="02010600040101010101" pitchFamily="2" charset="-122"/>
                <a:cs typeface="Consolas" panose="020B0609020204030204" pitchFamily="49" charset="0"/>
              </a:rPr>
              <a:t>typename</a:t>
            </a:r>
            <a:r>
              <a:rPr lang="en-US" altLang="zh-CN" dirty="0">
                <a:solidFill>
                  <a:srgbClr val="000000"/>
                </a:solidFill>
                <a:latin typeface="Consolas" panose="020B0609020204030204" pitchFamily="49" charset="0"/>
                <a:ea typeface="华文楷体" panose="02010600040101010101" pitchFamily="2" charset="-122"/>
                <a:cs typeface="Consolas" panose="020B0609020204030204" pitchFamily="49" charset="0"/>
              </a:rPr>
              <a:t> T1, </a:t>
            </a:r>
            <a:r>
              <a:rPr lang="en-US" altLang="zh-CN" dirty="0" err="1">
                <a:solidFill>
                  <a:srgbClr val="000000"/>
                </a:solidFill>
                <a:latin typeface="Consolas" panose="020B0609020204030204" pitchFamily="49" charset="0"/>
                <a:ea typeface="华文楷体" panose="02010600040101010101" pitchFamily="2" charset="-122"/>
                <a:cs typeface="Consolas" panose="020B0609020204030204" pitchFamily="49" charset="0"/>
              </a:rPr>
              <a:t>typename</a:t>
            </a:r>
            <a:r>
              <a:rPr lang="en-US" altLang="zh-CN" dirty="0">
                <a:solidFill>
                  <a:srgbClr val="000000"/>
                </a:solidFill>
                <a:latin typeface="Consolas" panose="020B0609020204030204" pitchFamily="49" charset="0"/>
                <a:ea typeface="华文楷体" panose="02010600040101010101" pitchFamily="2" charset="-122"/>
                <a:cs typeface="Consolas" panose="020B0609020204030204" pitchFamily="49" charset="0"/>
              </a:rPr>
              <a:t> T2&gt; class A</a:t>
            </a:r>
            <a:r>
              <a:rPr lang="en-US" altLang="zh-CN" dirty="0">
                <a:solidFill>
                  <a:srgbClr val="FF0000"/>
                </a:solidFill>
                <a:latin typeface="Consolas" panose="020B0609020204030204" pitchFamily="49" charset="0"/>
                <a:ea typeface="华文楷体" panose="02010600040101010101" pitchFamily="2" charset="-122"/>
                <a:cs typeface="Consolas" panose="020B0609020204030204" pitchFamily="49" charset="0"/>
              </a:rPr>
              <a:t> </a:t>
            </a:r>
            <a:r>
              <a:rPr lang="en-US" altLang="zh-CN" dirty="0">
                <a:solidFill>
                  <a:srgbClr val="000000"/>
                </a:solidFill>
                <a:latin typeface="Consolas" panose="020B0609020204030204" pitchFamily="49" charset="0"/>
                <a:ea typeface="华文楷体" panose="02010600040101010101" pitchFamily="2" charset="-122"/>
                <a:cs typeface="Consolas" panose="020B0609020204030204" pitchFamily="49" charset="0"/>
              </a:rPr>
              <a:t>{ ... }</a:t>
            </a:r>
            <a:r>
              <a:rPr lang="en-US" altLang="zh-CN" kern="100" dirty="0">
                <a:solidFill>
                  <a:srgbClr val="000000"/>
                </a:solidFill>
                <a:latin typeface="Consolas" panose="020B0609020204030204" pitchFamily="49" charset="0"/>
                <a:ea typeface="华文楷体" panose="02010600040101010101" pitchFamily="2" charset="-122"/>
                <a:cs typeface="Consolas" panose="020B0609020204030204" pitchFamily="49" charset="0"/>
              </a:rPr>
              <a:t>; </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与</a:t>
            </a:r>
            <a:r>
              <a:rPr lang="zh-CN" altLang="en-US"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函数模板</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类似，可以进行全部特化：</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457200" lvl="1" indent="0">
              <a:lnSpc>
                <a:spcPct val="100000"/>
              </a:lnSpc>
              <a:buSzPct val="75000"/>
              <a:buNone/>
            </a:pPr>
            <a:r>
              <a:rPr lang="en-US" altLang="zh-CN" kern="100" dirty="0">
                <a:solidFill>
                  <a:srgbClr val="000000"/>
                </a:solidFill>
                <a:latin typeface="Consolas" panose="020B0609020204030204" pitchFamily="49" charset="0"/>
                <a:ea typeface="华文楷体" panose="02010600040101010101" pitchFamily="2" charset="-122"/>
                <a:cs typeface="华文楷体" panose="02010600040101010101" pitchFamily="2" charset="-122"/>
              </a:rPr>
              <a:t>t</a:t>
            </a:r>
            <a:r>
              <a:rPr lang="en-US" altLang="zh-CN" dirty="0">
                <a:solidFill>
                  <a:srgbClr val="000000"/>
                </a:solidFill>
                <a:latin typeface="Consolas" panose="020B0609020204030204" pitchFamily="49" charset="0"/>
                <a:ea typeface="华文楷体" panose="02010600040101010101" pitchFamily="2" charset="-122"/>
                <a:cs typeface="Consolas" panose="020B0609020204030204" pitchFamily="49" charset="0"/>
              </a:rPr>
              <a:t>emplate&lt;&gt; class A&lt;</a:t>
            </a:r>
            <a:r>
              <a:rPr lang="en-US" altLang="zh-CN" dirty="0">
                <a:solidFill>
                  <a:srgbClr val="FF0000"/>
                </a:solidFill>
                <a:latin typeface="Consolas" panose="020B0609020204030204" pitchFamily="49" charset="0"/>
                <a:ea typeface="华文楷体" panose="02010600040101010101" pitchFamily="2" charset="-122"/>
                <a:cs typeface="Consolas" panose="020B0609020204030204" pitchFamily="49" charset="0"/>
              </a:rPr>
              <a:t>int</a:t>
            </a:r>
            <a:r>
              <a:rPr lang="en-US" altLang="zh-CN" dirty="0">
                <a:solidFill>
                  <a:srgbClr val="000000"/>
                </a:solidFill>
                <a:latin typeface="Consolas" panose="020B0609020204030204" pitchFamily="49" charset="0"/>
                <a:ea typeface="华文楷体" panose="02010600040101010101" pitchFamily="2" charset="-122"/>
                <a:cs typeface="Consolas" panose="020B0609020204030204" pitchFamily="49" charset="0"/>
              </a:rPr>
              <a:t>, </a:t>
            </a:r>
            <a:r>
              <a:rPr lang="en-US" altLang="zh-CN" dirty="0">
                <a:solidFill>
                  <a:srgbClr val="FF0000"/>
                </a:solidFill>
                <a:latin typeface="Consolas" panose="020B0609020204030204" pitchFamily="49" charset="0"/>
                <a:ea typeface="华文楷体" panose="02010600040101010101" pitchFamily="2" charset="-122"/>
                <a:cs typeface="Consolas" panose="020B0609020204030204" pitchFamily="49" charset="0"/>
              </a:rPr>
              <a:t>int</a:t>
            </a:r>
            <a:r>
              <a:rPr lang="en-US" altLang="zh-CN" dirty="0">
                <a:solidFill>
                  <a:srgbClr val="000000"/>
                </a:solidFill>
                <a:latin typeface="Consolas" panose="020B0609020204030204" pitchFamily="49" charset="0"/>
                <a:ea typeface="华文楷体" panose="02010600040101010101" pitchFamily="2" charset="-122"/>
                <a:cs typeface="Consolas" panose="020B0609020204030204" pitchFamily="49" charset="0"/>
              </a:rPr>
              <a:t>&gt; { ... }</a:t>
            </a:r>
            <a:r>
              <a:rPr lang="en-US" altLang="zh-CN" kern="100" dirty="0">
                <a:solidFill>
                  <a:srgbClr val="000000"/>
                </a:solidFill>
                <a:latin typeface="Consolas" panose="020B0609020204030204" pitchFamily="49" charset="0"/>
                <a:ea typeface="华文楷体" panose="02010600040101010101" pitchFamily="2" charset="-122"/>
                <a:cs typeface="Consolas" panose="020B0609020204030204" pitchFamily="49" charset="0"/>
              </a:rPr>
              <a:t>; </a:t>
            </a:r>
            <a:endParaRPr lang="en-US" altLang="zh-CN" kern="100" dirty="0">
              <a:solidFill>
                <a:srgbClr val="003366"/>
              </a:solidFill>
              <a:latin typeface="Consolas" panose="020B0609020204030204" pitchFamily="49" charset="0"/>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84</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58620"/>
            <a:ext cx="7886700" cy="1325563"/>
          </a:xfrm>
        </p:spPr>
        <p:txBody>
          <a:bodyPr/>
          <a:lstStyle/>
          <a:p>
            <a:r>
              <a:rPr kumimoji="1" lang="zh-CN" altLang="en-US" b="1" dirty="0">
                <a:latin typeface="微软雅黑" panose="020B0503020204020204" pitchFamily="34" charset="-122"/>
                <a:ea typeface="微软雅黑" panose="020B0503020204020204" pitchFamily="34" charset="-122"/>
              </a:rPr>
              <a:t>类模板特化：全部特化（自学）</a:t>
            </a:r>
          </a:p>
        </p:txBody>
      </p:sp>
      <p:sp>
        <p:nvSpPr>
          <p:cNvPr id="3" name="内容占位符 2"/>
          <p:cNvSpPr>
            <a:spLocks noGrp="1"/>
          </p:cNvSpPr>
          <p:nvPr>
            <p:ph idx="1"/>
          </p:nvPr>
        </p:nvSpPr>
        <p:spPr>
          <a:xfrm>
            <a:off x="450986" y="1081484"/>
            <a:ext cx="9340540" cy="6014802"/>
          </a:xfrm>
        </p:spPr>
        <p:txBody>
          <a:bodyPr>
            <a:normAutofit/>
          </a:bodyPr>
          <a:lstStyle/>
          <a:p>
            <a:pPr>
              <a:lnSpc>
                <a:spcPct val="100000"/>
              </a:lnSpc>
              <a:buSzPct val="75000"/>
              <a:buFont typeface="Wingdings" panose="05000000000000000000" pitchFamily="2" charset="2"/>
              <a:buChar char="n"/>
            </a:pPr>
            <a:r>
              <a:rPr lang="zh-CN" altLang="en-US" sz="2400" b="1" kern="100" dirty="0">
                <a:solidFill>
                  <a:srgbClr val="003366"/>
                </a:solidFill>
                <a:latin typeface="Consolas" panose="020B0609020204030204" pitchFamily="49" charset="0"/>
                <a:ea typeface="华文楷体" panose="02010600040101010101" pitchFamily="2" charset="-122"/>
                <a:cs typeface="STKaiti" panose="02010600040101010101" charset="-122"/>
              </a:rPr>
              <a:t>示例：计算</a:t>
            </a:r>
            <a:r>
              <a:rPr lang="en-US" altLang="zh-CN" sz="2400" b="1" kern="100" dirty="0" err="1">
                <a:solidFill>
                  <a:srgbClr val="003366"/>
                </a:solidFill>
                <a:latin typeface="Consolas" panose="020B0609020204030204" pitchFamily="49" charset="0"/>
                <a:ea typeface="华文楷体" panose="02010600040101010101" pitchFamily="2" charset="-122"/>
                <a:cs typeface="STKaiti" panose="02010600040101010101" charset="-122"/>
              </a:rPr>
              <a:t>a+b</a:t>
            </a:r>
            <a:r>
              <a:rPr lang="zh-CN" altLang="en-US" sz="2400" b="1" kern="100" dirty="0">
                <a:solidFill>
                  <a:srgbClr val="003366"/>
                </a:solidFill>
                <a:latin typeface="Consolas" panose="020B0609020204030204" pitchFamily="49" charset="0"/>
                <a:ea typeface="华文楷体" panose="02010600040101010101" pitchFamily="2" charset="-122"/>
                <a:cs typeface="STKaiti" panose="02010600040101010101" charset="-122"/>
              </a:rPr>
              <a:t>的类模板</a:t>
            </a:r>
            <a:endParaRPr lang="en-US" altLang="zh-CN" sz="2400" b="1" kern="100" dirty="0">
              <a:solidFill>
                <a:srgbClr val="003366"/>
              </a:solidFill>
              <a:latin typeface="Consolas" panose="020B0609020204030204" pitchFamily="49" charset="0"/>
              <a:ea typeface="华文楷体" panose="02010600040101010101" pitchFamily="2" charset="-122"/>
              <a:cs typeface="STKaiti" panose="02010600040101010101" charset="-122"/>
            </a:endParaRPr>
          </a:p>
          <a:p>
            <a:pPr marL="0" indent="0">
              <a:lnSpc>
                <a:spcPct val="80000"/>
              </a:lnSpc>
              <a:buSzPct val="75000"/>
              <a:buNone/>
            </a:pPr>
            <a:r>
              <a:rPr lang="en-US" altLang="zh-CN" sz="1800" kern="100" dirty="0">
                <a:latin typeface="Consolas" panose="020B0609020204030204" pitchFamily="49" charset="0"/>
                <a:ea typeface="华文楷体" panose="02010600040101010101" pitchFamily="2" charset="-122"/>
                <a:cs typeface="STKaiti" panose="02010600040101010101" charset="-122"/>
              </a:rPr>
              <a:t>#include &lt;iostream&gt;</a:t>
            </a:r>
          </a:p>
          <a:p>
            <a:pPr marL="0" indent="0">
              <a:lnSpc>
                <a:spcPct val="80000"/>
              </a:lnSpc>
              <a:buSzPct val="75000"/>
              <a:buNone/>
            </a:pPr>
            <a:r>
              <a:rPr lang="en-US" altLang="zh-CN" sz="1800" kern="100" dirty="0">
                <a:latin typeface="Consolas" panose="020B0609020204030204" pitchFamily="49" charset="0"/>
                <a:ea typeface="华文楷体" panose="02010600040101010101" pitchFamily="2" charset="-122"/>
                <a:cs typeface="STKaiti" panose="02010600040101010101" charset="-122"/>
              </a:rPr>
              <a:t>using namespace std;</a:t>
            </a:r>
          </a:p>
          <a:p>
            <a:pPr marL="0" indent="0">
              <a:lnSpc>
                <a:spcPct val="80000"/>
              </a:lnSpc>
              <a:buSzPct val="75000"/>
              <a:buNone/>
            </a:pPr>
            <a:r>
              <a:rPr lang="en-US" altLang="zh-CN" sz="1800" kern="100" dirty="0">
                <a:solidFill>
                  <a:srgbClr val="FF0000"/>
                </a:solidFill>
                <a:latin typeface="Consolas" panose="020B0609020204030204" pitchFamily="49" charset="0"/>
                <a:ea typeface="华文楷体" panose="02010600040101010101" pitchFamily="2" charset="-122"/>
                <a:cs typeface="STKaiti" panose="02010600040101010101" charset="-122"/>
              </a:rPr>
              <a:t>template&lt;</a:t>
            </a:r>
            <a:r>
              <a:rPr lang="en-US" altLang="zh-CN" sz="1800" kern="100" dirty="0" err="1">
                <a:solidFill>
                  <a:srgbClr val="FF0000"/>
                </a:solidFill>
                <a:latin typeface="Consolas" panose="020B0609020204030204" pitchFamily="49" charset="0"/>
                <a:ea typeface="华文楷体" panose="02010600040101010101" pitchFamily="2" charset="-122"/>
                <a:cs typeface="STKaiti" panose="02010600040101010101" charset="-122"/>
              </a:rPr>
              <a:t>typename</a:t>
            </a:r>
            <a:r>
              <a:rPr lang="en-US" altLang="zh-CN" sz="1800" kern="100" dirty="0">
                <a:solidFill>
                  <a:srgbClr val="FF0000"/>
                </a:solidFill>
                <a:latin typeface="Consolas" panose="020B0609020204030204" pitchFamily="49" charset="0"/>
                <a:ea typeface="华文楷体" panose="02010600040101010101" pitchFamily="2" charset="-122"/>
                <a:cs typeface="STKaiti" panose="02010600040101010101" charset="-122"/>
              </a:rPr>
              <a:t> T1, </a:t>
            </a:r>
            <a:r>
              <a:rPr lang="en-US" altLang="zh-CN" sz="1800" kern="100" dirty="0" err="1">
                <a:solidFill>
                  <a:srgbClr val="FF0000"/>
                </a:solidFill>
                <a:latin typeface="Consolas" panose="020B0609020204030204" pitchFamily="49" charset="0"/>
                <a:ea typeface="华文楷体" panose="02010600040101010101" pitchFamily="2" charset="-122"/>
                <a:cs typeface="STKaiti" panose="02010600040101010101" charset="-122"/>
              </a:rPr>
              <a:t>typename</a:t>
            </a:r>
            <a:r>
              <a:rPr lang="en-US" altLang="zh-CN" sz="1800" kern="100" dirty="0">
                <a:solidFill>
                  <a:srgbClr val="FF0000"/>
                </a:solidFill>
                <a:latin typeface="Consolas" panose="020B0609020204030204" pitchFamily="49" charset="0"/>
                <a:ea typeface="华文楷体" panose="02010600040101010101" pitchFamily="2" charset="-122"/>
                <a:cs typeface="STKaiti" panose="02010600040101010101" charset="-122"/>
              </a:rPr>
              <a:t> T2&gt; class Sum </a:t>
            </a:r>
            <a:r>
              <a:rPr lang="en-US" altLang="zh-CN" sz="1800" kern="100" dirty="0">
                <a:latin typeface="Consolas" panose="020B0609020204030204" pitchFamily="49" charset="0"/>
                <a:ea typeface="华文楷体" panose="02010600040101010101" pitchFamily="2" charset="-122"/>
                <a:cs typeface="STKaiti" panose="02010600040101010101" charset="-122"/>
              </a:rPr>
              <a:t>{ </a:t>
            </a:r>
            <a:r>
              <a:rPr lang="en-US" altLang="zh-CN" sz="1800" kern="100" dirty="0">
                <a:solidFill>
                  <a:srgbClr val="00B050"/>
                </a:solidFill>
                <a:latin typeface="Consolas" panose="020B0609020204030204" pitchFamily="49" charset="0"/>
                <a:ea typeface="华文楷体" panose="02010600040101010101" pitchFamily="2" charset="-122"/>
                <a:cs typeface="STKaiti" panose="02010600040101010101" charset="-122"/>
              </a:rPr>
              <a:t>//</a:t>
            </a:r>
            <a:r>
              <a:rPr lang="zh-CN" altLang="en-US" sz="1800" kern="100" dirty="0">
                <a:solidFill>
                  <a:srgbClr val="00B050"/>
                </a:solidFill>
                <a:latin typeface="Consolas" panose="020B0609020204030204" pitchFamily="49" charset="0"/>
                <a:ea typeface="华文楷体" panose="02010600040101010101" pitchFamily="2" charset="-122"/>
                <a:cs typeface="STKaiti" panose="02010600040101010101" charset="-122"/>
              </a:rPr>
              <a:t>类模板</a:t>
            </a:r>
            <a:endParaRPr lang="en-US" altLang="zh-CN" sz="1800" kern="100" dirty="0">
              <a:solidFill>
                <a:srgbClr val="00B050"/>
              </a:solidFill>
              <a:latin typeface="Consolas" panose="020B0609020204030204" pitchFamily="49" charset="0"/>
              <a:ea typeface="华文楷体" panose="02010600040101010101" pitchFamily="2" charset="-122"/>
              <a:cs typeface="STKaiti" panose="02010600040101010101" charset="-122"/>
            </a:endParaRPr>
          </a:p>
          <a:p>
            <a:pPr marL="0" indent="0">
              <a:lnSpc>
                <a:spcPct val="80000"/>
              </a:lnSpc>
              <a:buSzPct val="75000"/>
              <a:buNone/>
            </a:pPr>
            <a:r>
              <a:rPr lang="en-US" altLang="zh-CN" sz="1800" kern="100" dirty="0">
                <a:latin typeface="Consolas" panose="020B0609020204030204" pitchFamily="49" charset="0"/>
                <a:ea typeface="华文楷体" panose="02010600040101010101" pitchFamily="2" charset="-122"/>
                <a:cs typeface="STKaiti" panose="02010600040101010101" charset="-122"/>
              </a:rPr>
              <a:t>public:</a:t>
            </a:r>
          </a:p>
          <a:p>
            <a:pPr marL="0" indent="0">
              <a:lnSpc>
                <a:spcPct val="80000"/>
              </a:lnSpc>
              <a:buSzPct val="75000"/>
              <a:buNone/>
            </a:pPr>
            <a:r>
              <a:rPr lang="en-US" altLang="zh-CN" sz="1800" kern="100" dirty="0">
                <a:latin typeface="Consolas" panose="020B0609020204030204" pitchFamily="49" charset="0"/>
                <a:ea typeface="华文楷体" panose="02010600040101010101" pitchFamily="2" charset="-122"/>
                <a:cs typeface="STKaiti" panose="02010600040101010101" charset="-122"/>
              </a:rPr>
              <a:t>Sum(T1 a, T2 b) {</a:t>
            </a:r>
            <a:r>
              <a:rPr lang="en-US" altLang="zh-CN" sz="1800" kern="100" dirty="0" err="1">
                <a:latin typeface="Consolas" panose="020B0609020204030204" pitchFamily="49" charset="0"/>
                <a:ea typeface="华文楷体" panose="02010600040101010101" pitchFamily="2" charset="-122"/>
                <a:cs typeface="STKaiti" panose="02010600040101010101" charset="-122"/>
              </a:rPr>
              <a:t>cout</a:t>
            </a:r>
            <a:r>
              <a:rPr lang="en-US" altLang="zh-CN" sz="1800" kern="100" dirty="0">
                <a:latin typeface="Consolas" panose="020B0609020204030204" pitchFamily="49" charset="0"/>
                <a:ea typeface="华文楷体" panose="02010600040101010101" pitchFamily="2" charset="-122"/>
                <a:cs typeface="STKaiti" panose="02010600040101010101" charset="-122"/>
              </a:rPr>
              <a:t> &lt;&lt; "Sum general: " &lt;&lt; </a:t>
            </a:r>
            <a:r>
              <a:rPr lang="en-US" altLang="zh-CN" sz="1800" kern="100" dirty="0" err="1">
                <a:latin typeface="Consolas" panose="020B0609020204030204" pitchFamily="49" charset="0"/>
                <a:ea typeface="华文楷体" panose="02010600040101010101" pitchFamily="2" charset="-122"/>
                <a:cs typeface="STKaiti" panose="02010600040101010101" charset="-122"/>
              </a:rPr>
              <a:t>a+b</a:t>
            </a:r>
            <a:r>
              <a:rPr lang="en-US" altLang="zh-CN" sz="1800" kern="100" dirty="0">
                <a:latin typeface="Consolas" panose="020B0609020204030204" pitchFamily="49" charset="0"/>
                <a:ea typeface="华文楷体" panose="02010600040101010101" pitchFamily="2" charset="-122"/>
                <a:cs typeface="STKaiti" panose="02010600040101010101" charset="-122"/>
              </a:rPr>
              <a:t> &lt;&lt; </a:t>
            </a:r>
            <a:r>
              <a:rPr lang="en-US" altLang="zh-CN" sz="1800" kern="100" dirty="0" err="1">
                <a:latin typeface="Consolas" panose="020B0609020204030204" pitchFamily="49" charset="0"/>
                <a:ea typeface="华文楷体" panose="02010600040101010101" pitchFamily="2" charset="-122"/>
                <a:cs typeface="STKaiti" panose="02010600040101010101" charset="-122"/>
              </a:rPr>
              <a:t>endl</a:t>
            </a:r>
            <a:r>
              <a:rPr lang="en-US" altLang="zh-CN" sz="1800" kern="100" dirty="0">
                <a:latin typeface="Consolas" panose="020B0609020204030204" pitchFamily="49" charset="0"/>
                <a:ea typeface="华文楷体" panose="02010600040101010101" pitchFamily="2" charset="-122"/>
                <a:cs typeface="STKaiti" panose="02010600040101010101" charset="-122"/>
              </a:rPr>
              <a:t>;}</a:t>
            </a:r>
          </a:p>
          <a:p>
            <a:pPr marL="0" indent="0">
              <a:lnSpc>
                <a:spcPct val="80000"/>
              </a:lnSpc>
              <a:buSzPct val="75000"/>
              <a:buNone/>
            </a:pPr>
            <a:r>
              <a:rPr lang="en-US" altLang="zh-CN" sz="1800" kern="100" dirty="0">
                <a:latin typeface="Consolas" panose="020B0609020204030204" pitchFamily="49" charset="0"/>
                <a:ea typeface="华文楷体" panose="02010600040101010101" pitchFamily="2" charset="-122"/>
                <a:cs typeface="STKaiti" panose="02010600040101010101" charset="-122"/>
              </a:rPr>
              <a:t>}; </a:t>
            </a:r>
          </a:p>
          <a:p>
            <a:pPr marL="0" indent="0">
              <a:lnSpc>
                <a:spcPct val="80000"/>
              </a:lnSpc>
              <a:buSzPct val="75000"/>
              <a:buNone/>
            </a:pPr>
            <a:r>
              <a:rPr lang="en-US" altLang="zh-CN" sz="1800" kern="100" dirty="0">
                <a:solidFill>
                  <a:srgbClr val="FF0000"/>
                </a:solidFill>
                <a:latin typeface="Consolas" panose="020B0609020204030204" pitchFamily="49" charset="0"/>
                <a:ea typeface="华文楷体" panose="02010600040101010101" pitchFamily="2" charset="-122"/>
                <a:cs typeface="STKaiti" panose="02010600040101010101" charset="-122"/>
              </a:rPr>
              <a:t>template&lt;&gt; class Sum&lt;int, int&gt; </a:t>
            </a:r>
            <a:r>
              <a:rPr lang="en-US" altLang="zh-CN" sz="1800" kern="100" dirty="0">
                <a:latin typeface="Consolas" panose="020B0609020204030204" pitchFamily="49" charset="0"/>
                <a:ea typeface="华文楷体" panose="02010600040101010101" pitchFamily="2" charset="-122"/>
                <a:cs typeface="STKaiti" panose="02010600040101010101" charset="-122"/>
              </a:rPr>
              <a:t>{ </a:t>
            </a:r>
            <a:r>
              <a:rPr lang="en-US" altLang="zh-CN" sz="1800" kern="100" dirty="0">
                <a:solidFill>
                  <a:srgbClr val="00B050"/>
                </a:solidFill>
                <a:latin typeface="Consolas" panose="020B0609020204030204" pitchFamily="49" charset="0"/>
                <a:ea typeface="华文楷体" panose="02010600040101010101" pitchFamily="2" charset="-122"/>
                <a:cs typeface="STKaiti" panose="02010600040101010101" charset="-122"/>
              </a:rPr>
              <a:t>//</a:t>
            </a:r>
            <a:r>
              <a:rPr lang="zh-CN" altLang="en-US" sz="1800" kern="100" dirty="0">
                <a:solidFill>
                  <a:srgbClr val="00B050"/>
                </a:solidFill>
                <a:latin typeface="Consolas" panose="020B0609020204030204" pitchFamily="49" charset="0"/>
                <a:ea typeface="华文楷体" panose="02010600040101010101" pitchFamily="2" charset="-122"/>
                <a:cs typeface="STKaiti" panose="02010600040101010101" charset="-122"/>
              </a:rPr>
              <a:t>类模板全部特化</a:t>
            </a:r>
            <a:endParaRPr lang="en-US" altLang="zh-CN" sz="1800" kern="100" dirty="0">
              <a:latin typeface="Consolas" panose="020B0609020204030204" pitchFamily="49" charset="0"/>
              <a:ea typeface="华文楷体" panose="02010600040101010101" pitchFamily="2" charset="-122"/>
              <a:cs typeface="STKaiti" panose="02010600040101010101" charset="-122"/>
            </a:endParaRPr>
          </a:p>
          <a:p>
            <a:pPr marL="0" indent="0">
              <a:lnSpc>
                <a:spcPct val="80000"/>
              </a:lnSpc>
              <a:buSzPct val="75000"/>
              <a:buNone/>
            </a:pPr>
            <a:r>
              <a:rPr lang="en-US" altLang="zh-CN" sz="1800" kern="100" dirty="0">
                <a:latin typeface="Consolas" panose="020B0609020204030204" pitchFamily="49" charset="0"/>
                <a:ea typeface="华文楷体" panose="02010600040101010101" pitchFamily="2" charset="-122"/>
                <a:cs typeface="STKaiti" panose="02010600040101010101" charset="-122"/>
              </a:rPr>
              <a:t>public: </a:t>
            </a:r>
          </a:p>
          <a:p>
            <a:pPr marL="0" indent="0">
              <a:lnSpc>
                <a:spcPct val="80000"/>
              </a:lnSpc>
              <a:buSzPct val="75000"/>
              <a:buNone/>
            </a:pPr>
            <a:r>
              <a:rPr lang="en-US" altLang="zh-CN" sz="1800" kern="100" dirty="0">
                <a:latin typeface="Consolas" panose="020B0609020204030204" pitchFamily="49" charset="0"/>
                <a:ea typeface="华文楷体" panose="02010600040101010101" pitchFamily="2" charset="-122"/>
                <a:cs typeface="STKaiti" panose="02010600040101010101" charset="-122"/>
              </a:rPr>
              <a:t>Sum(int a, int b) {</a:t>
            </a:r>
            <a:r>
              <a:rPr lang="en-US" altLang="zh-CN" sz="1800" kern="100" dirty="0" err="1">
                <a:latin typeface="Consolas" panose="020B0609020204030204" pitchFamily="49" charset="0"/>
                <a:ea typeface="华文楷体" panose="02010600040101010101" pitchFamily="2" charset="-122"/>
                <a:cs typeface="STKaiti" panose="02010600040101010101" charset="-122"/>
              </a:rPr>
              <a:t>cout</a:t>
            </a:r>
            <a:r>
              <a:rPr lang="en-US" altLang="zh-CN" sz="1800" kern="100" dirty="0">
                <a:latin typeface="Consolas" panose="020B0609020204030204" pitchFamily="49" charset="0"/>
                <a:ea typeface="华文楷体" panose="02010600040101010101" pitchFamily="2" charset="-122"/>
                <a:cs typeface="STKaiti" panose="02010600040101010101" charset="-122"/>
              </a:rPr>
              <a:t> &lt;&lt; "Sum specific: " &lt;&lt; </a:t>
            </a:r>
            <a:r>
              <a:rPr lang="en-US" altLang="zh-CN" sz="1800" kern="100" dirty="0" err="1">
                <a:latin typeface="Consolas" panose="020B0609020204030204" pitchFamily="49" charset="0"/>
                <a:ea typeface="华文楷体" panose="02010600040101010101" pitchFamily="2" charset="-122"/>
                <a:cs typeface="STKaiti" panose="02010600040101010101" charset="-122"/>
              </a:rPr>
              <a:t>a+b</a:t>
            </a:r>
            <a:r>
              <a:rPr lang="en-US" altLang="zh-CN" sz="1800" kern="100" dirty="0">
                <a:latin typeface="Consolas" panose="020B0609020204030204" pitchFamily="49" charset="0"/>
                <a:ea typeface="华文楷体" panose="02010600040101010101" pitchFamily="2" charset="-122"/>
                <a:cs typeface="STKaiti" panose="02010600040101010101" charset="-122"/>
              </a:rPr>
              <a:t> &lt;&lt; </a:t>
            </a:r>
            <a:r>
              <a:rPr lang="en-US" altLang="zh-CN" sz="1800" kern="100" dirty="0" err="1">
                <a:latin typeface="Consolas" panose="020B0609020204030204" pitchFamily="49" charset="0"/>
                <a:ea typeface="华文楷体" panose="02010600040101010101" pitchFamily="2" charset="-122"/>
                <a:cs typeface="STKaiti" panose="02010600040101010101" charset="-122"/>
              </a:rPr>
              <a:t>endl</a:t>
            </a:r>
            <a:r>
              <a:rPr lang="en-US" altLang="zh-CN" sz="1800" kern="100" dirty="0">
                <a:latin typeface="Consolas" panose="020B0609020204030204" pitchFamily="49" charset="0"/>
                <a:ea typeface="华文楷体" panose="02010600040101010101" pitchFamily="2" charset="-122"/>
                <a:cs typeface="STKaiti" panose="02010600040101010101" charset="-122"/>
              </a:rPr>
              <a:t>;}</a:t>
            </a:r>
          </a:p>
          <a:p>
            <a:pPr marL="0" indent="0">
              <a:lnSpc>
                <a:spcPct val="80000"/>
              </a:lnSpc>
              <a:buSzPct val="75000"/>
              <a:buNone/>
            </a:pPr>
            <a:r>
              <a:rPr lang="en-US" altLang="zh-CN" sz="1800" kern="100" dirty="0">
                <a:latin typeface="Consolas" panose="020B0609020204030204" pitchFamily="49" charset="0"/>
                <a:ea typeface="华文楷体" panose="02010600040101010101" pitchFamily="2" charset="-122"/>
                <a:cs typeface="STKaiti" panose="02010600040101010101" charset="-122"/>
              </a:rPr>
              <a:t>};</a:t>
            </a:r>
          </a:p>
          <a:p>
            <a:pPr marL="0" indent="0">
              <a:lnSpc>
                <a:spcPct val="80000"/>
              </a:lnSpc>
              <a:buSzPct val="75000"/>
              <a:buNone/>
            </a:pPr>
            <a:r>
              <a:rPr lang="en-US" altLang="zh-CN" sz="1800" kern="100" dirty="0">
                <a:latin typeface="Consolas" panose="020B0609020204030204" pitchFamily="49" charset="0"/>
                <a:ea typeface="华文楷体" panose="02010600040101010101" pitchFamily="2" charset="-122"/>
                <a:cs typeface="STKaiti" panose="02010600040101010101" charset="-122"/>
              </a:rPr>
              <a:t>int main(){</a:t>
            </a:r>
          </a:p>
          <a:p>
            <a:pPr marL="0" indent="0">
              <a:lnSpc>
                <a:spcPct val="80000"/>
              </a:lnSpc>
              <a:buSzPct val="75000"/>
              <a:buNone/>
            </a:pPr>
            <a:r>
              <a:rPr lang="en-US" altLang="zh-CN" sz="1800" kern="100" dirty="0">
                <a:latin typeface="Consolas" panose="020B0609020204030204" pitchFamily="49" charset="0"/>
                <a:ea typeface="华文楷体" panose="02010600040101010101" pitchFamily="2" charset="-122"/>
                <a:cs typeface="STKaiti" panose="02010600040101010101" charset="-122"/>
              </a:rPr>
              <a:t>	Sum&lt;int, int&gt; s1(1, 2);</a:t>
            </a:r>
          </a:p>
          <a:p>
            <a:pPr marL="0" indent="0">
              <a:lnSpc>
                <a:spcPct val="80000"/>
              </a:lnSpc>
              <a:buSzPct val="75000"/>
              <a:buNone/>
            </a:pPr>
            <a:r>
              <a:rPr lang="en-US" altLang="zh-CN" sz="1800" kern="100" dirty="0">
                <a:latin typeface="Consolas" panose="020B0609020204030204" pitchFamily="49" charset="0"/>
                <a:ea typeface="华文楷体" panose="02010600040101010101" pitchFamily="2" charset="-122"/>
                <a:cs typeface="STKaiti" panose="02010600040101010101" charset="-122"/>
              </a:rPr>
              <a:t>	Sum&lt;int, double&gt; s2(1, 2.5);</a:t>
            </a:r>
          </a:p>
          <a:p>
            <a:pPr marL="0" indent="0">
              <a:lnSpc>
                <a:spcPct val="80000"/>
              </a:lnSpc>
              <a:buSzPct val="75000"/>
              <a:buNone/>
            </a:pPr>
            <a:r>
              <a:rPr lang="en-US" altLang="zh-CN" sz="1800" kern="100" dirty="0">
                <a:latin typeface="Consolas" panose="020B0609020204030204" pitchFamily="49" charset="0"/>
                <a:ea typeface="华文楷体" panose="02010600040101010101" pitchFamily="2" charset="-122"/>
                <a:cs typeface="STKaiti" panose="02010600040101010101" charset="-122"/>
              </a:rPr>
              <a:t>	return 0;</a:t>
            </a:r>
          </a:p>
          <a:p>
            <a:pPr marL="0" indent="0">
              <a:lnSpc>
                <a:spcPct val="80000"/>
              </a:lnSpc>
              <a:buSzPct val="75000"/>
              <a:buNone/>
            </a:pPr>
            <a:r>
              <a:rPr lang="en-US" altLang="zh-CN" sz="1800" kern="100" dirty="0">
                <a:latin typeface="Consolas" panose="020B0609020204030204" pitchFamily="49" charset="0"/>
                <a:ea typeface="华文楷体" panose="02010600040101010101" pitchFamily="2" charset="-122"/>
                <a:cs typeface="STKaiti" panose="02010600040101010101" charset="-122"/>
              </a:rPr>
              <a:t>}</a:t>
            </a:r>
          </a:p>
          <a:p>
            <a:pPr marL="0" indent="0">
              <a:lnSpc>
                <a:spcPct val="100000"/>
              </a:lnSpc>
              <a:buSzPct val="75000"/>
              <a:buNone/>
            </a:pPr>
            <a:endParaRPr lang="en-US" altLang="zh-CN" kern="100" dirty="0">
              <a:latin typeface="Consolas" panose="020B0609020204030204" pitchFamily="49" charset="0"/>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85</a:t>
            </a:fld>
            <a:endParaRPr lang="en-US" altLang="zh-CN" dirty="0"/>
          </a:p>
        </p:txBody>
      </p:sp>
      <p:sp>
        <p:nvSpPr>
          <p:cNvPr id="6" name="矩形 5"/>
          <p:cNvSpPr/>
          <p:nvPr/>
        </p:nvSpPr>
        <p:spPr>
          <a:xfrm>
            <a:off x="5558242" y="5439679"/>
            <a:ext cx="3168352" cy="646331"/>
          </a:xfrm>
          <a:prstGeom prst="rect">
            <a:avLst/>
          </a:prstGeom>
        </p:spPr>
        <p:txBody>
          <a:bodyPr wrap="square">
            <a:spAutoFit/>
          </a:bodyPr>
          <a:lstStyle/>
          <a:p>
            <a:r>
              <a:rPr lang="en-US" altLang="zh-CN" b="1" dirty="0">
                <a:solidFill>
                  <a:srgbClr val="00B050"/>
                </a:solidFill>
                <a:latin typeface="AndaleMono" panose="020B0509000000000004" charset="0"/>
              </a:rPr>
              <a:t>Sum specific: 3</a:t>
            </a:r>
          </a:p>
          <a:p>
            <a:r>
              <a:rPr lang="en-US" altLang="zh-CN" b="1" dirty="0">
                <a:solidFill>
                  <a:srgbClr val="00B050"/>
                </a:solidFill>
                <a:latin typeface="AndaleMono" panose="020B0509000000000004" charset="0"/>
              </a:rPr>
              <a:t>Sum general: 3.5</a:t>
            </a:r>
          </a:p>
        </p:txBody>
      </p:sp>
      <p:sp>
        <p:nvSpPr>
          <p:cNvPr id="7" name="文本框 6"/>
          <p:cNvSpPr txBox="1"/>
          <p:nvPr/>
        </p:nvSpPr>
        <p:spPr>
          <a:xfrm>
            <a:off x="5627918" y="4978014"/>
            <a:ext cx="1833922" cy="461665"/>
          </a:xfrm>
          <a:prstGeom prst="rect">
            <a:avLst/>
          </a:prstGeom>
          <a:solidFill>
            <a:srgbClr val="FFFF00"/>
          </a:solidFill>
        </p:spPr>
        <p:txBody>
          <a:bodyPr wrap="square" rtlCol="0">
            <a:spAutoFit/>
          </a:bodyPr>
          <a:lstStyle/>
          <a:p>
            <a:r>
              <a:rPr kumimoji="1" lang="zh-CN" altLang="en-US" sz="2400" b="1" dirty="0"/>
              <a:t>运行结果</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latin typeface="微软雅黑" panose="020B0503020204020204" pitchFamily="34" charset="-122"/>
                <a:ea typeface="微软雅黑" panose="020B0503020204020204" pitchFamily="34" charset="-122"/>
              </a:rPr>
              <a:t>类模板特化</a:t>
            </a:r>
          </a:p>
        </p:txBody>
      </p:sp>
      <p:sp>
        <p:nvSpPr>
          <p:cNvPr id="3" name="内容占位符 2"/>
          <p:cNvSpPr>
            <a:spLocks noGrp="1"/>
          </p:cNvSpPr>
          <p:nvPr>
            <p:ph idx="1"/>
          </p:nvPr>
        </p:nvSpPr>
        <p:spPr>
          <a:xfrm>
            <a:off x="628650" y="1690689"/>
            <a:ext cx="8047806" cy="4009356"/>
          </a:xfrm>
        </p:spPr>
        <p:txBody>
          <a:bodyPr>
            <a:normAutofit/>
          </a:bodyPr>
          <a:lstStyle/>
          <a:p>
            <a:pPr>
              <a:lnSpc>
                <a:spcPct val="100000"/>
              </a:lnSpc>
              <a:buSzPct val="75000"/>
              <a:buFont typeface="Wingdings" panose="05000000000000000000" pitchFamily="2" charset="2"/>
              <a:buChar char="n"/>
            </a:pPr>
            <a:r>
              <a:rPr lang="zh-CN"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对于类模板，</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还</a:t>
            </a:r>
            <a:r>
              <a:rPr lang="zh-CN" altLang="zh-CN" b="1" kern="100" dirty="0">
                <a:solidFill>
                  <a:schemeClr val="accent1">
                    <a:lumMod val="50000"/>
                  </a:schemeClr>
                </a:solidFill>
                <a:latin typeface="华文楷体" panose="02010600040101010101" pitchFamily="2" charset="-122"/>
                <a:ea typeface="华文楷体" panose="02010600040101010101" pitchFamily="2" charset="-122"/>
                <a:cs typeface="STKaiti" panose="02010600040101010101" charset="-122"/>
              </a:rPr>
              <a:t>允许</a:t>
            </a:r>
            <a:r>
              <a:rPr lang="zh-CN" altLang="zh-CN" b="1" kern="100" dirty="0">
                <a:solidFill>
                  <a:srgbClr val="FF0000"/>
                </a:solidFill>
                <a:latin typeface="华文楷体" panose="02010600040101010101" pitchFamily="2" charset="-122"/>
                <a:ea typeface="华文楷体" panose="02010600040101010101" pitchFamily="2" charset="-122"/>
                <a:cs typeface="STKaiti" panose="02010600040101010101" charset="-122"/>
              </a:rPr>
              <a:t>部分特化</a:t>
            </a:r>
            <a:r>
              <a:rPr lang="zh-CN"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，即</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只</a:t>
            </a:r>
            <a:r>
              <a:rPr lang="zh-CN"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部分限制模板的通用性，如</a:t>
            </a: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通用模板为：</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457200" lvl="1" indent="0">
              <a:lnSpc>
                <a:spcPct val="100000"/>
              </a:lnSpc>
              <a:buSzPct val="75000"/>
              <a:buNone/>
            </a:pPr>
            <a:r>
              <a:rPr lang="en-US" altLang="zh-CN" kern="100" dirty="0">
                <a:solidFill>
                  <a:srgbClr val="000000"/>
                </a:solidFill>
                <a:latin typeface="Consolas" panose="020B0609020204030204" pitchFamily="49" charset="0"/>
                <a:ea typeface="华文楷体" panose="02010600040101010101" pitchFamily="2" charset="-122"/>
                <a:cs typeface="华文楷体" panose="02010600040101010101" pitchFamily="2" charset="-122"/>
              </a:rPr>
              <a:t>t</a:t>
            </a:r>
            <a:r>
              <a:rPr lang="en-US" altLang="zh-CN" dirty="0">
                <a:solidFill>
                  <a:srgbClr val="000000"/>
                </a:solidFill>
                <a:latin typeface="Consolas" panose="020B0609020204030204" pitchFamily="49" charset="0"/>
                <a:ea typeface="华文楷体" panose="02010600040101010101" pitchFamily="2" charset="-122"/>
                <a:cs typeface="Consolas" panose="020B0609020204030204" pitchFamily="49" charset="0"/>
              </a:rPr>
              <a:t>emplate&lt;</a:t>
            </a:r>
            <a:r>
              <a:rPr lang="en-US" altLang="zh-CN" dirty="0" err="1">
                <a:solidFill>
                  <a:srgbClr val="000000"/>
                </a:solidFill>
                <a:latin typeface="Consolas" panose="020B0609020204030204" pitchFamily="49" charset="0"/>
                <a:ea typeface="华文楷体" panose="02010600040101010101" pitchFamily="2" charset="-122"/>
                <a:cs typeface="Consolas" panose="020B0609020204030204" pitchFamily="49" charset="0"/>
              </a:rPr>
              <a:t>typename</a:t>
            </a:r>
            <a:r>
              <a:rPr lang="en-US" altLang="zh-CN" dirty="0">
                <a:solidFill>
                  <a:srgbClr val="000000"/>
                </a:solidFill>
                <a:latin typeface="Consolas" panose="020B0609020204030204" pitchFamily="49" charset="0"/>
                <a:ea typeface="华文楷体" panose="02010600040101010101" pitchFamily="2" charset="-122"/>
                <a:cs typeface="Consolas" panose="020B0609020204030204" pitchFamily="49" charset="0"/>
              </a:rPr>
              <a:t> T1, </a:t>
            </a:r>
            <a:r>
              <a:rPr lang="en-US" altLang="zh-CN" dirty="0" err="1">
                <a:solidFill>
                  <a:srgbClr val="000000"/>
                </a:solidFill>
                <a:latin typeface="Consolas" panose="020B0609020204030204" pitchFamily="49" charset="0"/>
                <a:ea typeface="华文楷体" panose="02010600040101010101" pitchFamily="2" charset="-122"/>
                <a:cs typeface="Consolas" panose="020B0609020204030204" pitchFamily="49" charset="0"/>
              </a:rPr>
              <a:t>typename</a:t>
            </a:r>
            <a:r>
              <a:rPr lang="en-US" altLang="zh-CN" dirty="0">
                <a:solidFill>
                  <a:srgbClr val="000000"/>
                </a:solidFill>
                <a:latin typeface="Consolas" panose="020B0609020204030204" pitchFamily="49" charset="0"/>
                <a:ea typeface="华文楷体" panose="02010600040101010101" pitchFamily="2" charset="-122"/>
                <a:cs typeface="Consolas" panose="020B0609020204030204" pitchFamily="49" charset="0"/>
              </a:rPr>
              <a:t> T2&gt; class A</a:t>
            </a:r>
            <a:r>
              <a:rPr lang="en-US" altLang="zh-CN" dirty="0">
                <a:solidFill>
                  <a:srgbClr val="FF0000"/>
                </a:solidFill>
                <a:latin typeface="Consolas" panose="020B0609020204030204" pitchFamily="49" charset="0"/>
                <a:ea typeface="华文楷体" panose="02010600040101010101" pitchFamily="2" charset="-122"/>
                <a:cs typeface="Consolas" panose="020B0609020204030204" pitchFamily="49" charset="0"/>
              </a:rPr>
              <a:t> </a:t>
            </a:r>
            <a:r>
              <a:rPr lang="en-US" altLang="zh-CN" dirty="0">
                <a:solidFill>
                  <a:srgbClr val="000000"/>
                </a:solidFill>
                <a:latin typeface="Consolas" panose="020B0609020204030204" pitchFamily="49" charset="0"/>
                <a:ea typeface="华文楷体" panose="02010600040101010101" pitchFamily="2" charset="-122"/>
                <a:cs typeface="Consolas" panose="020B0609020204030204" pitchFamily="49" charset="0"/>
              </a:rPr>
              <a:t>{ ... }</a:t>
            </a:r>
            <a:r>
              <a:rPr lang="en-US" altLang="zh-CN" kern="100" dirty="0">
                <a:solidFill>
                  <a:srgbClr val="000000"/>
                </a:solidFill>
                <a:latin typeface="Consolas" panose="020B0609020204030204" pitchFamily="49" charset="0"/>
                <a:ea typeface="华文楷体" panose="02010600040101010101" pitchFamily="2" charset="-122"/>
                <a:cs typeface="Consolas" panose="020B0609020204030204" pitchFamily="49" charset="0"/>
              </a:rPr>
              <a:t>; </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部分特化：第二个类型指定为</a:t>
            </a:r>
            <a:r>
              <a:rPr lang="en-US" altLang="zh-CN" b="1" kern="100" dirty="0" err="1">
                <a:solidFill>
                  <a:srgbClr val="003366"/>
                </a:solidFill>
                <a:latin typeface="Consolas" panose="020B0609020204030204" pitchFamily="49" charset="0"/>
                <a:ea typeface="华文楷体" panose="02010600040101010101" pitchFamily="2" charset="-122"/>
                <a:cs typeface="STKaiti" panose="02010600040101010101" charset="-122"/>
              </a:rPr>
              <a:t>int</a:t>
            </a:r>
            <a:endParaRPr lang="en-US" altLang="zh-CN" b="1" kern="100" dirty="0">
              <a:solidFill>
                <a:srgbClr val="003366"/>
              </a:solidFill>
              <a:latin typeface="Consolas" panose="020B0609020204030204" pitchFamily="49" charset="0"/>
              <a:ea typeface="华文楷体" panose="02010600040101010101" pitchFamily="2" charset="-122"/>
              <a:cs typeface="STKaiti" panose="02010600040101010101" charset="-122"/>
            </a:endParaRPr>
          </a:p>
          <a:p>
            <a:pPr marL="457200" lvl="1" indent="0">
              <a:lnSpc>
                <a:spcPct val="100000"/>
              </a:lnSpc>
              <a:buSzPct val="75000"/>
              <a:buNone/>
            </a:pPr>
            <a:r>
              <a:rPr lang="en-US" altLang="zh-CN" kern="100" dirty="0">
                <a:solidFill>
                  <a:srgbClr val="000000"/>
                </a:solidFill>
                <a:latin typeface="Consolas" panose="020B0609020204030204" pitchFamily="49" charset="0"/>
                <a:ea typeface="华文楷体" panose="02010600040101010101" pitchFamily="2" charset="-122"/>
                <a:cs typeface="Consolas" panose="020B0609020204030204" pitchFamily="49" charset="0"/>
              </a:rPr>
              <a:t>template&lt;</a:t>
            </a:r>
            <a:r>
              <a:rPr lang="en-US" altLang="zh-CN" kern="100" dirty="0" err="1">
                <a:solidFill>
                  <a:srgbClr val="000000"/>
                </a:solidFill>
                <a:latin typeface="Consolas" panose="020B0609020204030204" pitchFamily="49" charset="0"/>
                <a:ea typeface="华文楷体" panose="02010600040101010101" pitchFamily="2" charset="-122"/>
                <a:cs typeface="Consolas" panose="020B0609020204030204" pitchFamily="49" charset="0"/>
              </a:rPr>
              <a:t>typename</a:t>
            </a:r>
            <a:r>
              <a:rPr lang="en-US" altLang="zh-CN" kern="100" dirty="0">
                <a:solidFill>
                  <a:srgbClr val="000000"/>
                </a:solidFill>
                <a:latin typeface="Consolas" panose="020B0609020204030204" pitchFamily="49" charset="0"/>
                <a:ea typeface="华文楷体" panose="02010600040101010101" pitchFamily="2" charset="-122"/>
                <a:cs typeface="Consolas" panose="020B0609020204030204" pitchFamily="49" charset="0"/>
              </a:rPr>
              <a:t> T1&gt; class A&lt;T1, </a:t>
            </a:r>
            <a:r>
              <a:rPr lang="en-US" altLang="zh-CN" kern="100" dirty="0" err="1">
                <a:solidFill>
                  <a:srgbClr val="FF0000"/>
                </a:solidFill>
                <a:latin typeface="Consolas" panose="020B0609020204030204" pitchFamily="49" charset="0"/>
                <a:ea typeface="华文楷体" panose="02010600040101010101" pitchFamily="2" charset="-122"/>
                <a:cs typeface="Consolas" panose="020B0609020204030204" pitchFamily="49" charset="0"/>
              </a:rPr>
              <a:t>int</a:t>
            </a:r>
            <a:r>
              <a:rPr lang="en-US" altLang="zh-CN" kern="100" dirty="0">
                <a:solidFill>
                  <a:srgbClr val="000000"/>
                </a:solidFill>
                <a:latin typeface="Consolas" panose="020B0609020204030204" pitchFamily="49" charset="0"/>
                <a:ea typeface="华文楷体" panose="02010600040101010101" pitchFamily="2" charset="-122"/>
                <a:cs typeface="Consolas" panose="020B0609020204030204" pitchFamily="49" charset="0"/>
              </a:rPr>
              <a:t>&gt; {...}; </a:t>
            </a:r>
            <a:endParaRPr lang="en-US" altLang="zh-CN" kern="100" dirty="0">
              <a:solidFill>
                <a:srgbClr val="003366"/>
              </a:solidFill>
              <a:latin typeface="Consolas" panose="020B0609020204030204" pitchFamily="49" charset="0"/>
              <a:ea typeface="华文楷体" panose="02010600040101010101" pitchFamily="2" charset="-122"/>
              <a:cs typeface="STKaiti" panose="02010600040101010101" charset="-122"/>
            </a:endParaRPr>
          </a:p>
          <a:p>
            <a:pPr>
              <a:lnSpc>
                <a:spcPct val="100000"/>
              </a:lnSpc>
              <a:buSzPct val="75000"/>
              <a:buFont typeface="Wingdings" panose="05000000000000000000" pitchFamily="2" charset="2"/>
              <a:buChar char="n"/>
            </a:pPr>
            <a:r>
              <a:rPr lang="zh-CN" altLang="en-US" b="1" kern="100" dirty="0">
                <a:solidFill>
                  <a:srgbClr val="003366"/>
                </a:solidFill>
                <a:latin typeface="华文楷体" panose="02010600040101010101" pitchFamily="2" charset="-122"/>
                <a:ea typeface="华文楷体" panose="02010600040101010101" pitchFamily="2" charset="-122"/>
                <a:cs typeface="STKaiti" panose="02010600040101010101" charset="-122"/>
              </a:rPr>
              <a:t>对比全部特化：指定所有类型</a:t>
            </a:r>
            <a:endParaRPr lang="en-US" altLang="zh-CN" b="1" kern="100" dirty="0">
              <a:solidFill>
                <a:srgbClr val="003366"/>
              </a:solidFill>
              <a:latin typeface="华文楷体" panose="02010600040101010101" pitchFamily="2" charset="-122"/>
              <a:ea typeface="华文楷体" panose="02010600040101010101" pitchFamily="2" charset="-122"/>
              <a:cs typeface="STKaiti" panose="02010600040101010101" charset="-122"/>
            </a:endParaRPr>
          </a:p>
          <a:p>
            <a:pPr marL="457200" lvl="1" indent="0">
              <a:lnSpc>
                <a:spcPct val="100000"/>
              </a:lnSpc>
              <a:buSzPct val="75000"/>
              <a:buNone/>
            </a:pPr>
            <a:r>
              <a:rPr lang="en-US" altLang="zh-CN" kern="100" dirty="0">
                <a:solidFill>
                  <a:srgbClr val="000000"/>
                </a:solidFill>
                <a:latin typeface="Consolas" panose="020B0609020204030204" pitchFamily="49" charset="0"/>
                <a:ea typeface="华文楷体" panose="02010600040101010101" pitchFamily="2" charset="-122"/>
                <a:cs typeface="华文楷体" panose="02010600040101010101" pitchFamily="2" charset="-122"/>
              </a:rPr>
              <a:t>t</a:t>
            </a:r>
            <a:r>
              <a:rPr lang="en-US" altLang="zh-CN" dirty="0">
                <a:solidFill>
                  <a:srgbClr val="000000"/>
                </a:solidFill>
                <a:latin typeface="Consolas" panose="020B0609020204030204" pitchFamily="49" charset="0"/>
                <a:ea typeface="华文楷体" panose="02010600040101010101" pitchFamily="2" charset="-122"/>
                <a:cs typeface="Consolas" panose="020B0609020204030204" pitchFamily="49" charset="0"/>
              </a:rPr>
              <a:t>emplate&lt;&gt; class A&lt;</a:t>
            </a:r>
            <a:r>
              <a:rPr lang="en-US" altLang="zh-CN" dirty="0" err="1">
                <a:solidFill>
                  <a:srgbClr val="FF0000"/>
                </a:solidFill>
                <a:latin typeface="Consolas" panose="020B0609020204030204" pitchFamily="49" charset="0"/>
                <a:ea typeface="华文楷体" panose="02010600040101010101" pitchFamily="2" charset="-122"/>
                <a:cs typeface="Consolas" panose="020B0609020204030204" pitchFamily="49" charset="0"/>
              </a:rPr>
              <a:t>int</a:t>
            </a:r>
            <a:r>
              <a:rPr lang="en-US" altLang="zh-CN" dirty="0">
                <a:solidFill>
                  <a:srgbClr val="000000"/>
                </a:solidFill>
                <a:latin typeface="Consolas" panose="020B0609020204030204" pitchFamily="49" charset="0"/>
                <a:ea typeface="华文楷体" panose="02010600040101010101" pitchFamily="2" charset="-122"/>
                <a:cs typeface="Consolas" panose="020B0609020204030204" pitchFamily="49" charset="0"/>
              </a:rPr>
              <a:t>, </a:t>
            </a:r>
            <a:r>
              <a:rPr lang="en-US" altLang="zh-CN" dirty="0" err="1">
                <a:solidFill>
                  <a:srgbClr val="FF0000"/>
                </a:solidFill>
                <a:latin typeface="Consolas" panose="020B0609020204030204" pitchFamily="49" charset="0"/>
                <a:ea typeface="华文楷体" panose="02010600040101010101" pitchFamily="2" charset="-122"/>
                <a:cs typeface="Consolas" panose="020B0609020204030204" pitchFamily="49" charset="0"/>
              </a:rPr>
              <a:t>int</a:t>
            </a:r>
            <a:r>
              <a:rPr lang="en-US" altLang="zh-CN" dirty="0">
                <a:solidFill>
                  <a:srgbClr val="000000"/>
                </a:solidFill>
                <a:latin typeface="Consolas" panose="020B0609020204030204" pitchFamily="49" charset="0"/>
                <a:ea typeface="华文楷体" panose="02010600040101010101" pitchFamily="2" charset="-122"/>
                <a:cs typeface="Consolas" panose="020B0609020204030204" pitchFamily="49" charset="0"/>
              </a:rPr>
              <a:t>&gt; { ... }</a:t>
            </a:r>
            <a:r>
              <a:rPr lang="en-US" altLang="zh-CN" kern="100" dirty="0">
                <a:solidFill>
                  <a:srgbClr val="000000"/>
                </a:solidFill>
                <a:latin typeface="Consolas" panose="020B0609020204030204" pitchFamily="49" charset="0"/>
                <a:ea typeface="华文楷体" panose="02010600040101010101" pitchFamily="2" charset="-122"/>
                <a:cs typeface="Consolas" panose="020B0609020204030204" pitchFamily="49" charset="0"/>
              </a:rPr>
              <a:t>; </a:t>
            </a:r>
            <a:endParaRPr lang="en-US" altLang="zh-CN" kern="100" dirty="0">
              <a:solidFill>
                <a:srgbClr val="003366"/>
              </a:solidFill>
              <a:latin typeface="Consolas" panose="020B0609020204030204" pitchFamily="49" charset="0"/>
              <a:ea typeface="华文楷体" panose="02010600040101010101" pitchFamily="2" charset="-122"/>
              <a:cs typeface="STKaiti" panose="02010600040101010101" charset="-122"/>
            </a:endParaRP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86</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170131"/>
            <a:ext cx="7886700" cy="1325563"/>
          </a:xfrm>
        </p:spPr>
        <p:txBody>
          <a:bodyPr/>
          <a:lstStyle/>
          <a:p>
            <a:r>
              <a:rPr kumimoji="1" lang="zh-CN" altLang="en-US" b="1" dirty="0">
                <a:latin typeface="微软雅黑" panose="020B0503020204020204" pitchFamily="34" charset="-122"/>
                <a:ea typeface="微软雅黑" panose="020B0503020204020204" pitchFamily="34" charset="-122"/>
              </a:rPr>
              <a:t>类模板特化：部分特化</a:t>
            </a:r>
          </a:p>
        </p:txBody>
      </p:sp>
      <p:sp>
        <p:nvSpPr>
          <p:cNvPr id="5" name="幻灯片编号占位符 4"/>
          <p:cNvSpPr>
            <a:spLocks noGrp="1"/>
          </p:cNvSpPr>
          <p:nvPr>
            <p:ph type="sldNum" sz="quarter" idx="12"/>
          </p:nvPr>
        </p:nvSpPr>
        <p:spPr/>
        <p:txBody>
          <a:bodyPr/>
          <a:lstStyle/>
          <a:p>
            <a:pPr>
              <a:defRPr/>
            </a:pPr>
            <a:fld id="{BFD7BE51-03DD-4CCA-8227-D775462981B4}" type="slidenum">
              <a:rPr lang="en-US" altLang="zh-CN" smtClean="0"/>
              <a:t>87</a:t>
            </a:fld>
            <a:endParaRPr lang="en-US" altLang="zh-CN" dirty="0"/>
          </a:p>
        </p:txBody>
      </p:sp>
      <p:sp>
        <p:nvSpPr>
          <p:cNvPr id="7" name="内容占位符 2"/>
          <p:cNvSpPr>
            <a:spLocks noGrp="1"/>
          </p:cNvSpPr>
          <p:nvPr>
            <p:ph idx="1"/>
          </p:nvPr>
        </p:nvSpPr>
        <p:spPr>
          <a:xfrm>
            <a:off x="189700" y="977015"/>
            <a:ext cx="9340540" cy="6014802"/>
          </a:xfrm>
        </p:spPr>
        <p:txBody>
          <a:bodyPr>
            <a:normAutofit/>
          </a:bodyPr>
          <a:lstStyle/>
          <a:p>
            <a:pPr>
              <a:lnSpc>
                <a:spcPct val="100000"/>
              </a:lnSpc>
              <a:buSzPct val="75000"/>
              <a:buFont typeface="Wingdings" panose="05000000000000000000" pitchFamily="2" charset="2"/>
              <a:buChar char="n"/>
            </a:pPr>
            <a:r>
              <a:rPr lang="zh-CN" altLang="en-US" sz="2400" b="1" kern="100" dirty="0">
                <a:solidFill>
                  <a:srgbClr val="003366"/>
                </a:solidFill>
                <a:latin typeface="Consolas" panose="020B0609020204030204" pitchFamily="49" charset="0"/>
                <a:ea typeface="华文楷体" panose="02010600040101010101" pitchFamily="2" charset="-122"/>
                <a:cs typeface="STKaiti" panose="02010600040101010101" charset="-122"/>
              </a:rPr>
              <a:t>示例：计算</a:t>
            </a:r>
            <a:r>
              <a:rPr lang="en-US" altLang="zh-CN" sz="2400" b="1" kern="100" dirty="0" err="1">
                <a:solidFill>
                  <a:srgbClr val="003366"/>
                </a:solidFill>
                <a:latin typeface="Consolas" panose="020B0609020204030204" pitchFamily="49" charset="0"/>
                <a:ea typeface="华文楷体" panose="02010600040101010101" pitchFamily="2" charset="-122"/>
                <a:cs typeface="STKaiti" panose="02010600040101010101" charset="-122"/>
              </a:rPr>
              <a:t>a+b</a:t>
            </a:r>
            <a:r>
              <a:rPr lang="zh-CN" altLang="en-US" sz="2400" b="1" kern="100" dirty="0">
                <a:solidFill>
                  <a:srgbClr val="003366"/>
                </a:solidFill>
                <a:latin typeface="Consolas" panose="020B0609020204030204" pitchFamily="49" charset="0"/>
                <a:ea typeface="华文楷体" panose="02010600040101010101" pitchFamily="2" charset="-122"/>
                <a:cs typeface="STKaiti" panose="02010600040101010101" charset="-122"/>
              </a:rPr>
              <a:t>的类模板</a:t>
            </a:r>
            <a:endParaRPr lang="en-US" altLang="zh-CN" sz="2400" b="1" kern="100" dirty="0">
              <a:solidFill>
                <a:srgbClr val="003366"/>
              </a:solidFill>
              <a:latin typeface="Consolas" panose="020B0609020204030204" pitchFamily="49" charset="0"/>
              <a:ea typeface="华文楷体" panose="02010600040101010101" pitchFamily="2" charset="-122"/>
              <a:cs typeface="STKaiti" panose="02010600040101010101" charset="-122"/>
            </a:endParaRPr>
          </a:p>
          <a:p>
            <a:pPr marL="0" indent="0">
              <a:lnSpc>
                <a:spcPct val="80000"/>
              </a:lnSpc>
              <a:buSzPct val="75000"/>
              <a:buNone/>
            </a:pPr>
            <a:r>
              <a:rPr lang="en-US" altLang="zh-CN" sz="1900" kern="100" dirty="0">
                <a:latin typeface="Consolas" panose="020B0609020204030204" pitchFamily="49" charset="0"/>
                <a:ea typeface="华文楷体" panose="02010600040101010101" pitchFamily="2" charset="-122"/>
                <a:cs typeface="STKaiti" panose="02010600040101010101" charset="-122"/>
              </a:rPr>
              <a:t>#include &lt;iostream&gt;</a:t>
            </a:r>
          </a:p>
          <a:p>
            <a:pPr marL="0" indent="0">
              <a:lnSpc>
                <a:spcPct val="80000"/>
              </a:lnSpc>
              <a:buSzPct val="75000"/>
              <a:buNone/>
            </a:pPr>
            <a:r>
              <a:rPr lang="en-US" altLang="zh-CN" sz="1900" kern="100" dirty="0">
                <a:latin typeface="Consolas" panose="020B0609020204030204" pitchFamily="49" charset="0"/>
                <a:ea typeface="华文楷体" panose="02010600040101010101" pitchFamily="2" charset="-122"/>
                <a:cs typeface="STKaiti" panose="02010600040101010101" charset="-122"/>
              </a:rPr>
              <a:t>using namespace std;</a:t>
            </a:r>
          </a:p>
          <a:p>
            <a:pPr marL="0" indent="0">
              <a:lnSpc>
                <a:spcPct val="80000"/>
              </a:lnSpc>
              <a:buSzPct val="75000"/>
              <a:buNone/>
            </a:pPr>
            <a:r>
              <a:rPr lang="en-US" altLang="zh-CN" sz="1900" kern="100" dirty="0">
                <a:solidFill>
                  <a:srgbClr val="FF0000"/>
                </a:solidFill>
                <a:latin typeface="Consolas" panose="020B0609020204030204" pitchFamily="49" charset="0"/>
                <a:ea typeface="华文楷体" panose="02010600040101010101" pitchFamily="2" charset="-122"/>
                <a:cs typeface="STKaiti" panose="02010600040101010101" charset="-122"/>
              </a:rPr>
              <a:t>template&lt;</a:t>
            </a:r>
            <a:r>
              <a:rPr lang="en-US" altLang="zh-CN" sz="1900" kern="100" dirty="0" err="1">
                <a:solidFill>
                  <a:srgbClr val="FF0000"/>
                </a:solidFill>
                <a:latin typeface="Consolas" panose="020B0609020204030204" pitchFamily="49" charset="0"/>
                <a:ea typeface="华文楷体" panose="02010600040101010101" pitchFamily="2" charset="-122"/>
                <a:cs typeface="STKaiti" panose="02010600040101010101" charset="-122"/>
              </a:rPr>
              <a:t>typename</a:t>
            </a:r>
            <a:r>
              <a:rPr lang="en-US" altLang="zh-CN" sz="1900" kern="100" dirty="0">
                <a:solidFill>
                  <a:srgbClr val="FF0000"/>
                </a:solidFill>
                <a:latin typeface="Consolas" panose="020B0609020204030204" pitchFamily="49" charset="0"/>
                <a:ea typeface="华文楷体" panose="02010600040101010101" pitchFamily="2" charset="-122"/>
                <a:cs typeface="STKaiti" panose="02010600040101010101" charset="-122"/>
              </a:rPr>
              <a:t> T1, </a:t>
            </a:r>
            <a:r>
              <a:rPr lang="en-US" altLang="zh-CN" sz="1900" kern="100" dirty="0" err="1">
                <a:solidFill>
                  <a:srgbClr val="FF0000"/>
                </a:solidFill>
                <a:latin typeface="Consolas" panose="020B0609020204030204" pitchFamily="49" charset="0"/>
                <a:ea typeface="华文楷体" panose="02010600040101010101" pitchFamily="2" charset="-122"/>
                <a:cs typeface="STKaiti" panose="02010600040101010101" charset="-122"/>
              </a:rPr>
              <a:t>typename</a:t>
            </a:r>
            <a:r>
              <a:rPr lang="en-US" altLang="zh-CN" sz="1900" kern="100" dirty="0">
                <a:solidFill>
                  <a:srgbClr val="FF0000"/>
                </a:solidFill>
                <a:latin typeface="Consolas" panose="020B0609020204030204" pitchFamily="49" charset="0"/>
                <a:ea typeface="华文楷体" panose="02010600040101010101" pitchFamily="2" charset="-122"/>
                <a:cs typeface="STKaiti" panose="02010600040101010101" charset="-122"/>
              </a:rPr>
              <a:t> T2&gt; class Sum </a:t>
            </a:r>
            <a:r>
              <a:rPr lang="en-US" altLang="zh-CN" sz="1900" kern="100" dirty="0">
                <a:latin typeface="Consolas" panose="020B0609020204030204" pitchFamily="49" charset="0"/>
                <a:ea typeface="华文楷体" panose="02010600040101010101" pitchFamily="2" charset="-122"/>
                <a:cs typeface="STKaiti" panose="02010600040101010101" charset="-122"/>
              </a:rPr>
              <a:t>{ </a:t>
            </a:r>
            <a:r>
              <a:rPr lang="en-US" altLang="zh-CN" sz="1900" kern="100" dirty="0">
                <a:solidFill>
                  <a:srgbClr val="00B050"/>
                </a:solidFill>
                <a:latin typeface="Consolas" panose="020B0609020204030204" pitchFamily="49" charset="0"/>
                <a:ea typeface="华文楷体" panose="02010600040101010101" pitchFamily="2" charset="-122"/>
                <a:cs typeface="STKaiti" panose="02010600040101010101" charset="-122"/>
              </a:rPr>
              <a:t>//</a:t>
            </a:r>
            <a:r>
              <a:rPr lang="zh-CN" altLang="en-US" sz="1900" kern="100" dirty="0">
                <a:solidFill>
                  <a:srgbClr val="00B050"/>
                </a:solidFill>
                <a:latin typeface="Consolas" panose="020B0609020204030204" pitchFamily="49" charset="0"/>
                <a:ea typeface="华文楷体" panose="02010600040101010101" pitchFamily="2" charset="-122"/>
                <a:cs typeface="STKaiti" panose="02010600040101010101" charset="-122"/>
              </a:rPr>
              <a:t>类模板</a:t>
            </a:r>
            <a:endParaRPr lang="en-US" altLang="zh-CN" sz="1900" kern="100" dirty="0">
              <a:solidFill>
                <a:srgbClr val="00B050"/>
              </a:solidFill>
              <a:latin typeface="Consolas" panose="020B0609020204030204" pitchFamily="49" charset="0"/>
              <a:ea typeface="华文楷体" panose="02010600040101010101" pitchFamily="2" charset="-122"/>
              <a:cs typeface="STKaiti" panose="02010600040101010101" charset="-122"/>
            </a:endParaRPr>
          </a:p>
          <a:p>
            <a:pPr marL="0" indent="0">
              <a:lnSpc>
                <a:spcPct val="80000"/>
              </a:lnSpc>
              <a:buSzPct val="75000"/>
              <a:buNone/>
            </a:pPr>
            <a:r>
              <a:rPr lang="en-US" altLang="zh-CN" sz="1900" kern="100" dirty="0">
                <a:latin typeface="Consolas" panose="020B0609020204030204" pitchFamily="49" charset="0"/>
                <a:ea typeface="华文楷体" panose="02010600040101010101" pitchFamily="2" charset="-122"/>
                <a:cs typeface="STKaiti" panose="02010600040101010101" charset="-122"/>
              </a:rPr>
              <a:t>public:</a:t>
            </a:r>
          </a:p>
          <a:p>
            <a:pPr marL="0" indent="0">
              <a:lnSpc>
                <a:spcPct val="80000"/>
              </a:lnSpc>
              <a:buSzPct val="75000"/>
              <a:buNone/>
            </a:pPr>
            <a:r>
              <a:rPr lang="en-US" altLang="zh-CN" sz="1900" kern="100" dirty="0">
                <a:latin typeface="Consolas" panose="020B0609020204030204" pitchFamily="49" charset="0"/>
                <a:ea typeface="华文楷体" panose="02010600040101010101" pitchFamily="2" charset="-122"/>
                <a:cs typeface="STKaiti" panose="02010600040101010101" charset="-122"/>
              </a:rPr>
              <a:t>Sum(T1 a, T2 b) {</a:t>
            </a:r>
            <a:r>
              <a:rPr lang="en-US" altLang="zh-CN" sz="1900" kern="100" dirty="0" err="1">
                <a:latin typeface="Consolas" panose="020B0609020204030204" pitchFamily="49" charset="0"/>
                <a:ea typeface="华文楷体" panose="02010600040101010101" pitchFamily="2" charset="-122"/>
                <a:cs typeface="STKaiti" panose="02010600040101010101" charset="-122"/>
              </a:rPr>
              <a:t>cout</a:t>
            </a:r>
            <a:r>
              <a:rPr lang="en-US" altLang="zh-CN" sz="1900" kern="100" dirty="0">
                <a:latin typeface="Consolas" panose="020B0609020204030204" pitchFamily="49" charset="0"/>
                <a:ea typeface="华文楷体" panose="02010600040101010101" pitchFamily="2" charset="-122"/>
                <a:cs typeface="STKaiti" panose="02010600040101010101" charset="-122"/>
              </a:rPr>
              <a:t> &lt;&lt; "Sum general: " &lt;&lt; </a:t>
            </a:r>
            <a:r>
              <a:rPr lang="en-US" altLang="zh-CN" sz="1900" kern="100" dirty="0" err="1">
                <a:latin typeface="Consolas" panose="020B0609020204030204" pitchFamily="49" charset="0"/>
                <a:ea typeface="华文楷体" panose="02010600040101010101" pitchFamily="2" charset="-122"/>
                <a:cs typeface="STKaiti" panose="02010600040101010101" charset="-122"/>
              </a:rPr>
              <a:t>a+b</a:t>
            </a:r>
            <a:r>
              <a:rPr lang="en-US" altLang="zh-CN" sz="1900" kern="100" dirty="0">
                <a:latin typeface="Consolas" panose="020B0609020204030204" pitchFamily="49" charset="0"/>
                <a:ea typeface="华文楷体" panose="02010600040101010101" pitchFamily="2" charset="-122"/>
                <a:cs typeface="STKaiti" panose="02010600040101010101" charset="-122"/>
              </a:rPr>
              <a:t> &lt;&lt; </a:t>
            </a:r>
            <a:r>
              <a:rPr lang="en-US" altLang="zh-CN" sz="1900" kern="100" dirty="0" err="1">
                <a:latin typeface="Consolas" panose="020B0609020204030204" pitchFamily="49" charset="0"/>
                <a:ea typeface="华文楷体" panose="02010600040101010101" pitchFamily="2" charset="-122"/>
                <a:cs typeface="STKaiti" panose="02010600040101010101" charset="-122"/>
              </a:rPr>
              <a:t>endl</a:t>
            </a:r>
            <a:r>
              <a:rPr lang="en-US" altLang="zh-CN" sz="1900" kern="100" dirty="0">
                <a:latin typeface="Consolas" panose="020B0609020204030204" pitchFamily="49" charset="0"/>
                <a:ea typeface="华文楷体" panose="02010600040101010101" pitchFamily="2" charset="-122"/>
                <a:cs typeface="STKaiti" panose="02010600040101010101" charset="-122"/>
              </a:rPr>
              <a:t>;}</a:t>
            </a:r>
          </a:p>
          <a:p>
            <a:pPr marL="0" indent="0">
              <a:lnSpc>
                <a:spcPct val="80000"/>
              </a:lnSpc>
              <a:buSzPct val="75000"/>
              <a:buNone/>
            </a:pPr>
            <a:r>
              <a:rPr lang="en-US" altLang="zh-CN" sz="1900" kern="100" dirty="0">
                <a:latin typeface="Consolas" panose="020B0609020204030204" pitchFamily="49" charset="0"/>
                <a:ea typeface="华文楷体" panose="02010600040101010101" pitchFamily="2" charset="-122"/>
                <a:cs typeface="STKaiti" panose="02010600040101010101" charset="-122"/>
              </a:rPr>
              <a:t>}; </a:t>
            </a:r>
          </a:p>
          <a:p>
            <a:pPr marL="0" indent="0">
              <a:lnSpc>
                <a:spcPct val="80000"/>
              </a:lnSpc>
              <a:buSzPct val="75000"/>
              <a:buNone/>
            </a:pPr>
            <a:r>
              <a:rPr lang="en-US" altLang="zh-CN" sz="1900" kern="100" dirty="0">
                <a:solidFill>
                  <a:srgbClr val="FF0000"/>
                </a:solidFill>
                <a:latin typeface="Consolas" panose="020B0609020204030204" pitchFamily="49" charset="0"/>
                <a:ea typeface="华文楷体" panose="02010600040101010101" pitchFamily="2" charset="-122"/>
                <a:cs typeface="STKaiti" panose="02010600040101010101" charset="-122"/>
              </a:rPr>
              <a:t>template&lt; </a:t>
            </a:r>
            <a:r>
              <a:rPr lang="en-US" altLang="zh-CN" sz="1900" kern="100" dirty="0" err="1">
                <a:solidFill>
                  <a:srgbClr val="FF0000"/>
                </a:solidFill>
                <a:latin typeface="Consolas" panose="020B0609020204030204" pitchFamily="49" charset="0"/>
                <a:ea typeface="华文楷体" panose="02010600040101010101" pitchFamily="2" charset="-122"/>
                <a:cs typeface="STKaiti" panose="02010600040101010101" charset="-122"/>
              </a:rPr>
              <a:t>typename</a:t>
            </a:r>
            <a:r>
              <a:rPr lang="en-US" altLang="zh-CN" sz="1900" kern="100" dirty="0">
                <a:solidFill>
                  <a:srgbClr val="FF0000"/>
                </a:solidFill>
                <a:latin typeface="Consolas" panose="020B0609020204030204" pitchFamily="49" charset="0"/>
                <a:ea typeface="华文楷体" panose="02010600040101010101" pitchFamily="2" charset="-122"/>
                <a:cs typeface="STKaiti" panose="02010600040101010101" charset="-122"/>
              </a:rPr>
              <a:t> T1 &gt; class Sum&lt;T1, int&gt; </a:t>
            </a:r>
            <a:r>
              <a:rPr lang="en-US" altLang="zh-CN" sz="1900" kern="100" dirty="0">
                <a:latin typeface="Consolas" panose="020B0609020204030204" pitchFamily="49" charset="0"/>
                <a:ea typeface="华文楷体" panose="02010600040101010101" pitchFamily="2" charset="-122"/>
                <a:cs typeface="STKaiti" panose="02010600040101010101" charset="-122"/>
              </a:rPr>
              <a:t>{ </a:t>
            </a:r>
            <a:r>
              <a:rPr lang="en-US" altLang="zh-CN" sz="1900" kern="100" dirty="0">
                <a:solidFill>
                  <a:srgbClr val="00B050"/>
                </a:solidFill>
                <a:latin typeface="Consolas" panose="020B0609020204030204" pitchFamily="49" charset="0"/>
                <a:ea typeface="华文楷体" panose="02010600040101010101" pitchFamily="2" charset="-122"/>
                <a:cs typeface="STKaiti" panose="02010600040101010101" charset="-122"/>
              </a:rPr>
              <a:t>//</a:t>
            </a:r>
            <a:r>
              <a:rPr lang="zh-CN" altLang="en-US" sz="1900" kern="100" dirty="0">
                <a:solidFill>
                  <a:srgbClr val="00B050"/>
                </a:solidFill>
                <a:latin typeface="Consolas" panose="020B0609020204030204" pitchFamily="49" charset="0"/>
                <a:ea typeface="华文楷体" panose="02010600040101010101" pitchFamily="2" charset="-122"/>
                <a:cs typeface="STKaiti" panose="02010600040101010101" charset="-122"/>
              </a:rPr>
              <a:t>类模板部分特化</a:t>
            </a:r>
            <a:endParaRPr lang="en-US" altLang="zh-CN" sz="1900" kern="100" dirty="0">
              <a:latin typeface="Consolas" panose="020B0609020204030204" pitchFamily="49" charset="0"/>
              <a:ea typeface="华文楷体" panose="02010600040101010101" pitchFamily="2" charset="-122"/>
              <a:cs typeface="STKaiti" panose="02010600040101010101" charset="-122"/>
            </a:endParaRPr>
          </a:p>
          <a:p>
            <a:pPr marL="0" indent="0">
              <a:lnSpc>
                <a:spcPct val="80000"/>
              </a:lnSpc>
              <a:buSzPct val="75000"/>
              <a:buNone/>
            </a:pPr>
            <a:r>
              <a:rPr lang="en-US" altLang="zh-CN" sz="1900" kern="100" dirty="0">
                <a:latin typeface="Consolas" panose="020B0609020204030204" pitchFamily="49" charset="0"/>
                <a:ea typeface="华文楷体" panose="02010600040101010101" pitchFamily="2" charset="-122"/>
                <a:cs typeface="STKaiti" panose="02010600040101010101" charset="-122"/>
              </a:rPr>
              <a:t>public:</a:t>
            </a:r>
          </a:p>
          <a:p>
            <a:pPr marL="0" indent="0">
              <a:lnSpc>
                <a:spcPct val="80000"/>
              </a:lnSpc>
              <a:buSzPct val="75000"/>
              <a:buNone/>
            </a:pPr>
            <a:r>
              <a:rPr lang="en-US" altLang="zh-CN" sz="1900" kern="100" dirty="0">
                <a:latin typeface="Consolas" panose="020B0609020204030204" pitchFamily="49" charset="0"/>
                <a:ea typeface="华文楷体" panose="02010600040101010101" pitchFamily="2" charset="-122"/>
                <a:cs typeface="STKaiti" panose="02010600040101010101" charset="-122"/>
              </a:rPr>
              <a:t>Sum(T1 a, int b) {</a:t>
            </a:r>
            <a:r>
              <a:rPr lang="en-US" altLang="zh-CN" sz="1900" kern="100" dirty="0" err="1">
                <a:latin typeface="Consolas" panose="020B0609020204030204" pitchFamily="49" charset="0"/>
                <a:ea typeface="华文楷体" panose="02010600040101010101" pitchFamily="2" charset="-122"/>
                <a:cs typeface="STKaiti" panose="02010600040101010101" charset="-122"/>
              </a:rPr>
              <a:t>cout</a:t>
            </a:r>
            <a:r>
              <a:rPr lang="en-US" altLang="zh-CN" sz="1900" kern="100" dirty="0">
                <a:latin typeface="Consolas" panose="020B0609020204030204" pitchFamily="49" charset="0"/>
                <a:ea typeface="华文楷体" panose="02010600040101010101" pitchFamily="2" charset="-122"/>
                <a:cs typeface="STKaiti" panose="02010600040101010101" charset="-122"/>
              </a:rPr>
              <a:t> &lt;&lt; "Sum specific: " &lt;&lt; </a:t>
            </a:r>
            <a:r>
              <a:rPr lang="en-US" altLang="zh-CN" sz="1900" kern="100" dirty="0" err="1">
                <a:latin typeface="Consolas" panose="020B0609020204030204" pitchFamily="49" charset="0"/>
                <a:ea typeface="华文楷体" panose="02010600040101010101" pitchFamily="2" charset="-122"/>
                <a:cs typeface="STKaiti" panose="02010600040101010101" charset="-122"/>
              </a:rPr>
              <a:t>a+b</a:t>
            </a:r>
            <a:r>
              <a:rPr lang="en-US" altLang="zh-CN" sz="1900" kern="100" dirty="0">
                <a:latin typeface="Consolas" panose="020B0609020204030204" pitchFamily="49" charset="0"/>
                <a:ea typeface="华文楷体" panose="02010600040101010101" pitchFamily="2" charset="-122"/>
                <a:cs typeface="STKaiti" panose="02010600040101010101" charset="-122"/>
              </a:rPr>
              <a:t> &lt;&lt; </a:t>
            </a:r>
            <a:r>
              <a:rPr lang="en-US" altLang="zh-CN" sz="1900" kern="100" dirty="0" err="1">
                <a:latin typeface="Consolas" panose="020B0609020204030204" pitchFamily="49" charset="0"/>
                <a:ea typeface="华文楷体" panose="02010600040101010101" pitchFamily="2" charset="-122"/>
                <a:cs typeface="STKaiti" panose="02010600040101010101" charset="-122"/>
              </a:rPr>
              <a:t>endl</a:t>
            </a:r>
            <a:r>
              <a:rPr lang="en-US" altLang="zh-CN" sz="1900" kern="100" dirty="0">
                <a:latin typeface="Consolas" panose="020B0609020204030204" pitchFamily="49" charset="0"/>
                <a:ea typeface="华文楷体" panose="02010600040101010101" pitchFamily="2" charset="-122"/>
                <a:cs typeface="STKaiti" panose="02010600040101010101" charset="-122"/>
              </a:rPr>
              <a:t>;}</a:t>
            </a:r>
          </a:p>
          <a:p>
            <a:pPr marL="0" indent="0">
              <a:lnSpc>
                <a:spcPct val="80000"/>
              </a:lnSpc>
              <a:buSzPct val="75000"/>
              <a:buNone/>
            </a:pPr>
            <a:r>
              <a:rPr lang="en-US" altLang="zh-CN" sz="1900" kern="100" dirty="0">
                <a:latin typeface="Consolas" panose="020B0609020204030204" pitchFamily="49" charset="0"/>
                <a:ea typeface="华文楷体" panose="02010600040101010101" pitchFamily="2" charset="-122"/>
                <a:cs typeface="STKaiti" panose="02010600040101010101" charset="-122"/>
              </a:rPr>
              <a:t>};</a:t>
            </a:r>
          </a:p>
          <a:p>
            <a:pPr marL="0" indent="0">
              <a:lnSpc>
                <a:spcPct val="80000"/>
              </a:lnSpc>
              <a:buSzPct val="75000"/>
              <a:buNone/>
            </a:pPr>
            <a:r>
              <a:rPr lang="en-US" altLang="zh-CN" sz="1900" kern="100" dirty="0">
                <a:latin typeface="Consolas" panose="020B0609020204030204" pitchFamily="49" charset="0"/>
                <a:ea typeface="华文楷体" panose="02010600040101010101" pitchFamily="2" charset="-122"/>
                <a:cs typeface="STKaiti" panose="02010600040101010101" charset="-122"/>
              </a:rPr>
              <a:t>int main(){</a:t>
            </a:r>
          </a:p>
          <a:p>
            <a:pPr marL="0" indent="0">
              <a:lnSpc>
                <a:spcPct val="80000"/>
              </a:lnSpc>
              <a:buSzPct val="75000"/>
              <a:buNone/>
            </a:pPr>
            <a:r>
              <a:rPr lang="en-US" altLang="zh-CN" sz="1900" kern="100" dirty="0">
                <a:latin typeface="Consolas" panose="020B0609020204030204" pitchFamily="49" charset="0"/>
                <a:ea typeface="华文楷体" panose="02010600040101010101" pitchFamily="2" charset="-122"/>
                <a:cs typeface="STKaiti" panose="02010600040101010101" charset="-122"/>
              </a:rPr>
              <a:t>	Sum&lt;double, int&gt; s1(1.5, 2);</a:t>
            </a:r>
          </a:p>
          <a:p>
            <a:pPr marL="0" indent="0">
              <a:lnSpc>
                <a:spcPct val="80000"/>
              </a:lnSpc>
              <a:buSzPct val="75000"/>
              <a:buNone/>
            </a:pPr>
            <a:r>
              <a:rPr lang="en-US" altLang="zh-CN" sz="1900" kern="100" dirty="0">
                <a:latin typeface="Consolas" panose="020B0609020204030204" pitchFamily="49" charset="0"/>
                <a:ea typeface="华文楷体" panose="02010600040101010101" pitchFamily="2" charset="-122"/>
                <a:cs typeface="STKaiti" panose="02010600040101010101" charset="-122"/>
              </a:rPr>
              <a:t>	Sum&lt;double, double&gt; s2(1.5, 2.5);</a:t>
            </a:r>
          </a:p>
          <a:p>
            <a:pPr marL="0" indent="0">
              <a:lnSpc>
                <a:spcPct val="80000"/>
              </a:lnSpc>
              <a:buSzPct val="75000"/>
              <a:buNone/>
            </a:pPr>
            <a:r>
              <a:rPr lang="en-US" altLang="zh-CN" sz="1900" kern="100" dirty="0">
                <a:latin typeface="Consolas" panose="020B0609020204030204" pitchFamily="49" charset="0"/>
                <a:ea typeface="华文楷体" panose="02010600040101010101" pitchFamily="2" charset="-122"/>
                <a:cs typeface="STKaiti" panose="02010600040101010101" charset="-122"/>
              </a:rPr>
              <a:t>	return 0;</a:t>
            </a:r>
          </a:p>
          <a:p>
            <a:pPr marL="0" indent="0">
              <a:lnSpc>
                <a:spcPct val="80000"/>
              </a:lnSpc>
              <a:buSzPct val="75000"/>
              <a:buNone/>
            </a:pPr>
            <a:r>
              <a:rPr lang="en-US" altLang="zh-CN" sz="1900" kern="100" dirty="0">
                <a:latin typeface="Consolas" panose="020B0609020204030204" pitchFamily="49" charset="0"/>
                <a:ea typeface="华文楷体" panose="02010600040101010101" pitchFamily="2" charset="-122"/>
                <a:cs typeface="STKaiti" panose="02010600040101010101" charset="-122"/>
              </a:rPr>
              <a:t>}</a:t>
            </a:r>
          </a:p>
          <a:p>
            <a:pPr marL="0" indent="0">
              <a:lnSpc>
                <a:spcPct val="100000"/>
              </a:lnSpc>
              <a:buSzPct val="75000"/>
              <a:buNone/>
            </a:pPr>
            <a:endParaRPr lang="en-US" altLang="zh-CN" kern="100" dirty="0">
              <a:latin typeface="Consolas" panose="020B0609020204030204" pitchFamily="49" charset="0"/>
              <a:ea typeface="华文楷体" panose="02010600040101010101" pitchFamily="2" charset="-122"/>
              <a:cs typeface="STKaiti" panose="02010600040101010101" charset="-122"/>
            </a:endParaRPr>
          </a:p>
        </p:txBody>
      </p:sp>
      <p:sp>
        <p:nvSpPr>
          <p:cNvPr id="8" name="矩形 7"/>
          <p:cNvSpPr/>
          <p:nvPr/>
        </p:nvSpPr>
        <p:spPr>
          <a:xfrm>
            <a:off x="6126955" y="5439679"/>
            <a:ext cx="3168352" cy="646331"/>
          </a:xfrm>
          <a:prstGeom prst="rect">
            <a:avLst/>
          </a:prstGeom>
        </p:spPr>
        <p:txBody>
          <a:bodyPr wrap="square">
            <a:spAutoFit/>
          </a:bodyPr>
          <a:lstStyle/>
          <a:p>
            <a:r>
              <a:rPr lang="en-US" altLang="zh-CN" b="1" dirty="0">
                <a:solidFill>
                  <a:srgbClr val="00B050"/>
                </a:solidFill>
                <a:latin typeface="AndaleMono" panose="020B0509000000000004" charset="0"/>
              </a:rPr>
              <a:t>Sum specific: 3.5</a:t>
            </a:r>
          </a:p>
          <a:p>
            <a:r>
              <a:rPr lang="en-US" altLang="zh-CN" b="1" dirty="0">
                <a:solidFill>
                  <a:srgbClr val="00B050"/>
                </a:solidFill>
                <a:latin typeface="AndaleMono" panose="020B0509000000000004" charset="0"/>
              </a:rPr>
              <a:t>Sum general: 4</a:t>
            </a:r>
          </a:p>
        </p:txBody>
      </p:sp>
      <p:sp>
        <p:nvSpPr>
          <p:cNvPr id="9" name="文本框 8"/>
          <p:cNvSpPr txBox="1"/>
          <p:nvPr/>
        </p:nvSpPr>
        <p:spPr>
          <a:xfrm>
            <a:off x="6196631" y="4978014"/>
            <a:ext cx="1833922" cy="461665"/>
          </a:xfrm>
          <a:prstGeom prst="rect">
            <a:avLst/>
          </a:prstGeom>
          <a:solidFill>
            <a:srgbClr val="FFFF00"/>
          </a:solidFill>
        </p:spPr>
        <p:txBody>
          <a:bodyPr wrap="square" rtlCol="0">
            <a:spAutoFit/>
          </a:bodyPr>
          <a:lstStyle/>
          <a:p>
            <a:r>
              <a:rPr kumimoji="1" lang="zh-CN" altLang="en-US" sz="2400" b="1" dirty="0"/>
              <a:t>运行结果</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微软雅黑" panose="020B0503020204020204" pitchFamily="34" charset="-122"/>
                <a:ea typeface="微软雅黑" panose="020B0503020204020204" pitchFamily="34" charset="-122"/>
              </a:rPr>
              <a:t>模板特化总结</a:t>
            </a:r>
          </a:p>
        </p:txBody>
      </p:sp>
      <p:sp>
        <p:nvSpPr>
          <p:cNvPr id="3" name="内容占位符 2"/>
          <p:cNvSpPr>
            <a:spLocks noGrp="1"/>
          </p:cNvSpPr>
          <p:nvPr>
            <p:ph idx="1"/>
          </p:nvPr>
        </p:nvSpPr>
        <p:spPr/>
        <p:txBody>
          <a:bodyPr>
            <a:normAutofit/>
          </a:bodyPr>
          <a:lstStyle/>
          <a:p>
            <a:r>
              <a:rPr lang="zh-CN" altLang="en-US" b="1" kern="100" dirty="0">
                <a:solidFill>
                  <a:srgbClr val="FF0000"/>
                </a:solidFill>
                <a:latin typeface="华文楷体" panose="02010600040101010101" pitchFamily="2" charset="-122"/>
                <a:ea typeface="华文楷体" panose="02010600040101010101" pitchFamily="2" charset="-122"/>
              </a:rPr>
              <a:t>类模板</a:t>
            </a:r>
            <a:r>
              <a:rPr lang="zh-CN" altLang="en-US" b="1" kern="100" dirty="0">
                <a:solidFill>
                  <a:srgbClr val="003366"/>
                </a:solidFill>
                <a:latin typeface="华文楷体" panose="02010600040101010101" pitchFamily="2" charset="-122"/>
                <a:ea typeface="华文楷体" panose="02010600040101010101" pitchFamily="2" charset="-122"/>
              </a:rPr>
              <a:t>可以</a:t>
            </a:r>
            <a:r>
              <a:rPr lang="zh-CN" altLang="en-US" b="1" kern="100" dirty="0">
                <a:solidFill>
                  <a:srgbClr val="FF0000"/>
                </a:solidFill>
                <a:latin typeface="华文楷体" panose="02010600040101010101" pitchFamily="2" charset="-122"/>
                <a:ea typeface="华文楷体" panose="02010600040101010101" pitchFamily="2" charset="-122"/>
              </a:rPr>
              <a:t>部分特化</a:t>
            </a:r>
            <a:r>
              <a:rPr lang="zh-CN" altLang="en-US" b="1" kern="100" dirty="0">
                <a:solidFill>
                  <a:srgbClr val="003366"/>
                </a:solidFill>
                <a:latin typeface="华文楷体" panose="02010600040101010101" pitchFamily="2" charset="-122"/>
                <a:ea typeface="华文楷体" panose="02010600040101010101" pitchFamily="2" charset="-122"/>
              </a:rPr>
              <a:t>或者</a:t>
            </a:r>
            <a:r>
              <a:rPr lang="zh-CN" altLang="en-US" b="1" kern="100" dirty="0">
                <a:solidFill>
                  <a:srgbClr val="FF0000"/>
                </a:solidFill>
                <a:latin typeface="华文楷体" panose="02010600040101010101" pitchFamily="2" charset="-122"/>
                <a:ea typeface="华文楷体" panose="02010600040101010101" pitchFamily="2" charset="-122"/>
              </a:rPr>
              <a:t>全部特化</a:t>
            </a:r>
            <a:r>
              <a:rPr lang="zh-CN" altLang="en-US" b="1" kern="100" dirty="0">
                <a:solidFill>
                  <a:srgbClr val="003366"/>
                </a:solidFill>
                <a:latin typeface="华文楷体" panose="02010600040101010101" pitchFamily="2" charset="-122"/>
                <a:ea typeface="华文楷体" panose="02010600040101010101" pitchFamily="2" charset="-122"/>
              </a:rPr>
              <a:t>，编译器会根据调用时的类型参数自动选择合适的模板类。</a:t>
            </a:r>
            <a:endParaRPr lang="en-US" altLang="zh-CN" b="1" kern="100" dirty="0">
              <a:solidFill>
                <a:srgbClr val="003366"/>
              </a:solidFill>
              <a:latin typeface="华文楷体" panose="02010600040101010101" pitchFamily="2" charset="-122"/>
              <a:ea typeface="华文楷体" panose="02010600040101010101" pitchFamily="2" charset="-122"/>
            </a:endParaRPr>
          </a:p>
          <a:p>
            <a:r>
              <a:rPr lang="zh-CN" altLang="en-US" b="1" kern="100" dirty="0">
                <a:solidFill>
                  <a:srgbClr val="FF0000"/>
                </a:solidFill>
                <a:latin typeface="华文楷体" panose="02010600040101010101" pitchFamily="2" charset="-122"/>
                <a:ea typeface="华文楷体" panose="02010600040101010101" pitchFamily="2" charset="-122"/>
              </a:rPr>
              <a:t>函数模板</a:t>
            </a:r>
            <a:r>
              <a:rPr lang="zh-CN" altLang="en-US" b="1" kern="100" dirty="0">
                <a:solidFill>
                  <a:srgbClr val="003366"/>
                </a:solidFill>
                <a:latin typeface="华文楷体" panose="02010600040101010101" pitchFamily="2" charset="-122"/>
                <a:ea typeface="华文楷体" panose="02010600040101010101" pitchFamily="2" charset="-122"/>
              </a:rPr>
              <a:t>只能</a:t>
            </a:r>
            <a:r>
              <a:rPr lang="zh-CN" altLang="en-US" b="1" kern="100" dirty="0">
                <a:solidFill>
                  <a:srgbClr val="FF0000"/>
                </a:solidFill>
                <a:latin typeface="华文楷体" panose="02010600040101010101" pitchFamily="2" charset="-122"/>
                <a:ea typeface="华文楷体" panose="02010600040101010101" pitchFamily="2" charset="-122"/>
              </a:rPr>
              <a:t>全部特化</a:t>
            </a:r>
            <a:r>
              <a:rPr lang="zh-CN" altLang="en-US" b="1" kern="100" dirty="0">
                <a:solidFill>
                  <a:srgbClr val="003366"/>
                </a:solidFill>
                <a:latin typeface="华文楷体" panose="02010600040101010101" pitchFamily="2" charset="-122"/>
                <a:ea typeface="华文楷体" panose="02010600040101010101" pitchFamily="2" charset="-122"/>
              </a:rPr>
              <a:t>，但可以通过</a:t>
            </a:r>
            <a:r>
              <a:rPr lang="zh-CN" altLang="en-US" b="1" kern="100" dirty="0">
                <a:solidFill>
                  <a:srgbClr val="FF0000"/>
                </a:solidFill>
                <a:latin typeface="华文楷体" panose="02010600040101010101" pitchFamily="2" charset="-122"/>
                <a:ea typeface="华文楷体" panose="02010600040101010101" pitchFamily="2" charset="-122"/>
              </a:rPr>
              <a:t>重载</a:t>
            </a:r>
            <a:r>
              <a:rPr lang="zh-CN" altLang="en-US" b="1" kern="100" dirty="0">
                <a:solidFill>
                  <a:srgbClr val="003366"/>
                </a:solidFill>
                <a:latin typeface="华文楷体" panose="02010600040101010101" pitchFamily="2" charset="-122"/>
                <a:ea typeface="华文楷体" panose="02010600040101010101" pitchFamily="2" charset="-122"/>
              </a:rPr>
              <a:t>代替部分特化的实现。编译器在编译阶段决定使用特化函数或者标准模板函数。</a:t>
            </a:r>
            <a:endParaRPr lang="en-US" altLang="zh-CN" b="1" kern="100" dirty="0">
              <a:solidFill>
                <a:srgbClr val="003366"/>
              </a:solidFill>
              <a:latin typeface="华文楷体" panose="02010600040101010101" pitchFamily="2" charset="-122"/>
              <a:ea typeface="华文楷体" panose="02010600040101010101" pitchFamily="2" charset="-122"/>
            </a:endParaRPr>
          </a:p>
          <a:p>
            <a:r>
              <a:rPr lang="zh-CN" altLang="en-US" b="1" kern="100" dirty="0">
                <a:solidFill>
                  <a:srgbClr val="003366"/>
                </a:solidFill>
                <a:latin typeface="华文楷体" panose="02010600040101010101" pitchFamily="2" charset="-122"/>
                <a:ea typeface="华文楷体" panose="02010600040101010101" pitchFamily="2" charset="-122"/>
              </a:rPr>
              <a:t>函数模板的全特化版本的匹配优先级</a:t>
            </a:r>
            <a:r>
              <a:rPr lang="zh-CN" altLang="en-US" b="1" kern="100" dirty="0">
                <a:solidFill>
                  <a:srgbClr val="FF0000"/>
                </a:solidFill>
                <a:latin typeface="华文楷体" panose="02010600040101010101" pitchFamily="2" charset="-122"/>
                <a:ea typeface="华文楷体" panose="02010600040101010101" pitchFamily="2" charset="-122"/>
              </a:rPr>
              <a:t>可能低于</a:t>
            </a:r>
            <a:r>
              <a:rPr lang="zh-CN" altLang="en-US" b="1" kern="100" dirty="0">
                <a:solidFill>
                  <a:srgbClr val="003366"/>
                </a:solidFill>
                <a:latin typeface="华文楷体" panose="02010600040101010101" pitchFamily="2" charset="-122"/>
                <a:ea typeface="华文楷体" panose="02010600040101010101" pitchFamily="2" charset="-122"/>
              </a:rPr>
              <a:t>重载的非特化基础函数模板，因此最好不要使用全特化函数模板而直接使用重载函数。</a:t>
            </a:r>
            <a:endParaRPr lang="en-US" altLang="zh-CN" b="1" kern="100" dirty="0">
              <a:solidFill>
                <a:srgbClr val="003366"/>
              </a:solidFill>
              <a:latin typeface="华文楷体" panose="02010600040101010101" pitchFamily="2" charset="-122"/>
              <a:ea typeface="华文楷体" panose="02010600040101010101" pitchFamily="2"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ctrTitle"/>
          </p:nvPr>
        </p:nvSpPr>
        <p:spPr>
          <a:xfrm>
            <a:off x="684213" y="2420938"/>
            <a:ext cx="7772400" cy="1800225"/>
          </a:xfrm>
        </p:spPr>
        <p:txBody>
          <a:bodyPr/>
          <a:lstStyle/>
          <a:p>
            <a:r>
              <a:rPr lang="zh-TW" altLang="en-US" sz="11500" b="1" dirty="0">
                <a:solidFill>
                  <a:srgbClr val="0070C0"/>
                </a:solidFill>
                <a:latin typeface="华文楷体" panose="02010600040101010101" pitchFamily="2" charset="-122"/>
                <a:ea typeface="华文楷体" panose="02010600040101010101" pitchFamily="2" charset="-122"/>
              </a:rPr>
              <a:t>结 束</a:t>
            </a:r>
            <a:endParaRPr lang="en-US" altLang="zh-CN" sz="11500" b="1" dirty="0">
              <a:solidFill>
                <a:srgbClr val="0070C0"/>
              </a:solidFill>
              <a:latin typeface="华文楷体" panose="02010600040101010101" pitchFamily="2" charset="-122"/>
              <a:ea typeface="华文楷体"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HASREMARK" val="True"/>
  <p:tag name="PROBLEMSCORE_HALF" val="0.5"/>
  <p:tag name="PROBLEMREMARK" val="A: Tuple长度在编译时确定&#10;&#10;B: pair两成员类型可以不同"/>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2.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13.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14.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1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8.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HASREMARK" val="True"/>
  <p:tag name="PROBLEMREMARK" val="C: vec.end()为最后一个元素的后一位置的迭代器"/>
  <p:tag name="PROBLEMSCORE_HALF" val="0.5"/>
</p:tagLst>
</file>

<file path=ppt/tags/tag2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39.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40.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41.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4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4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4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4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5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5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55.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HASREMARK" val="True"/>
  <p:tag name="PROBLEMSCORE_HALF" val="0.5"/>
  <p:tag name="PROBLEMREMARK" val="B: list底层实现是双向链表，下标访问复杂度为O(n)&#10;&#10;C: map下标访问时，如果元素不存在，则创建对应元素。"/>
</p:tagLst>
</file>

<file path=ppt/tags/tag5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6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6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6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6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66.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67.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68.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6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7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7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7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7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8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8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8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 name="PROBLEMHASREMARK" val="True"/>
  <p:tag name="PROBLEMREMARK" val="A. list下标访问复杂度为O(n)，&#10;C. vector插入删除复杂度为O(n)&#10;D. vector尾部插入平均复杂度为O(1)，头部为O(n)"/>
</p:tagLst>
</file>

<file path=ppt/tags/tag8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8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9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93.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94.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95.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9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9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9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9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0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0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0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0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 name="PROBLEMHASREMARK" val="True"/>
  <p:tag name="PROBLEMREMARK" val="A vector只能使用size获得长度&#10;&#10;C vector不能使用cin直接输入&#10;整个序列&#10;&#10;D vector不支持+=运算符"/>
</p:tagLst>
</file>

<file path=ppt/tags/tag11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1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1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0.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121.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122.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12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2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2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2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3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3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主题​​">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sz="2800" b="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sz="2800" b="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TotalTime>
  <Words>7843</Words>
  <Application>Microsoft Office PowerPoint</Application>
  <PresentationFormat>全屏显示(4:3)</PresentationFormat>
  <Paragraphs>1029</Paragraphs>
  <Slides>89</Slides>
  <Notes>29</Notes>
  <HiddenSlides>0</HiddenSlides>
  <MMClips>0</MMClips>
  <ScaleCrop>false</ScaleCrop>
  <HeadingPairs>
    <vt:vector size="6" baseType="variant">
      <vt:variant>
        <vt:lpstr>已用的字体</vt:lpstr>
      </vt:variant>
      <vt:variant>
        <vt:i4>13</vt:i4>
      </vt:variant>
      <vt:variant>
        <vt:lpstr>主题</vt:lpstr>
      </vt:variant>
      <vt:variant>
        <vt:i4>3</vt:i4>
      </vt:variant>
      <vt:variant>
        <vt:lpstr>幻灯片标题</vt:lpstr>
      </vt:variant>
      <vt:variant>
        <vt:i4>89</vt:i4>
      </vt:variant>
    </vt:vector>
  </HeadingPairs>
  <TitlesOfParts>
    <vt:vector size="105" baseType="lpstr">
      <vt:lpstr>AndaleMono</vt:lpstr>
      <vt:lpstr>DengXian</vt:lpstr>
      <vt:lpstr>华文楷体</vt:lpstr>
      <vt:lpstr>宋体</vt:lpstr>
      <vt:lpstr>微软雅黑</vt:lpstr>
      <vt:lpstr>微软雅黑</vt:lpstr>
      <vt:lpstr>幼圆</vt:lpstr>
      <vt:lpstr>Arial</vt:lpstr>
      <vt:lpstr>Calibri</vt:lpstr>
      <vt:lpstr>Calibri Light</vt:lpstr>
      <vt:lpstr>Consolas</vt:lpstr>
      <vt:lpstr>Lucida Console</vt:lpstr>
      <vt:lpstr>Wingdings</vt:lpstr>
      <vt:lpstr>Office 主题</vt:lpstr>
      <vt:lpstr>Office Theme</vt:lpstr>
      <vt:lpstr>1_Office 主题</vt:lpstr>
      <vt:lpstr>面向对象程序设计基础 （OOP）</vt:lpstr>
      <vt:lpstr>上期要点回顾</vt:lpstr>
      <vt:lpstr>本讲内容提要</vt:lpstr>
      <vt:lpstr>回顾：类模板</vt:lpstr>
      <vt:lpstr>回顾：类模板</vt:lpstr>
      <vt:lpstr>回顾：函数模板</vt:lpstr>
      <vt:lpstr>PowerPoint 演示文稿</vt:lpstr>
      <vt:lpstr>命名空间（1）</vt:lpstr>
      <vt:lpstr>命名空间（2）</vt:lpstr>
      <vt:lpstr>命名空间（3）</vt:lpstr>
      <vt:lpstr>PowerPoint 演示文稿</vt:lpstr>
      <vt:lpstr>STL简介</vt:lpstr>
      <vt:lpstr>STL简介</vt:lpstr>
      <vt:lpstr>STL简介</vt:lpstr>
      <vt:lpstr>STL简介</vt:lpstr>
      <vt:lpstr>STL容器</vt:lpstr>
      <vt:lpstr>STL容器：pair</vt:lpstr>
      <vt:lpstr>STL容器：pair</vt:lpstr>
      <vt:lpstr>STL容器：pair举例</vt:lpstr>
      <vt:lpstr>STL容器：tuple</vt:lpstr>
      <vt:lpstr>STL容器：tuple</vt:lpstr>
      <vt:lpstr>STL容器：tuple</vt:lpstr>
      <vt:lpstr>STL容器：tuple举例</vt:lpstr>
      <vt:lpstr>PowerPoint 演示文稿</vt:lpstr>
      <vt:lpstr>STL容器：vector</vt:lpstr>
      <vt:lpstr>STL容器：vector</vt:lpstr>
      <vt:lpstr>迭代器</vt:lpstr>
      <vt:lpstr>迭代器：以vector为例</vt:lpstr>
      <vt:lpstr>迭代器：以vector为例</vt:lpstr>
      <vt:lpstr>迭代器：以vector为例</vt:lpstr>
      <vt:lpstr>迭代器：以vector为例</vt:lpstr>
      <vt:lpstr>迭代器：以vector为例</vt:lpstr>
      <vt:lpstr>迭代器：以vector为例</vt:lpstr>
      <vt:lpstr>迭代器：以vector为例</vt:lpstr>
      <vt:lpstr>迭代器：以vector为例</vt:lpstr>
      <vt:lpstr>迭代器：失效</vt:lpstr>
      <vt:lpstr>STL容器：vector原理</vt:lpstr>
      <vt:lpstr>STL容器：vector原理</vt:lpstr>
      <vt:lpstr>迭代器：失效</vt:lpstr>
      <vt:lpstr>STL容器：push_back失效原理</vt:lpstr>
      <vt:lpstr>迭代器：失效</vt:lpstr>
      <vt:lpstr>STL容器：erase失效原理</vt:lpstr>
      <vt:lpstr>迭代器：失效</vt:lpstr>
      <vt:lpstr>PowerPoint 演示文稿</vt:lpstr>
      <vt:lpstr>STL容器</vt:lpstr>
      <vt:lpstr>STL容器：list</vt:lpstr>
      <vt:lpstr>STL容器：list</vt:lpstr>
      <vt:lpstr>STL容器：list</vt:lpstr>
      <vt:lpstr>STL容器：set</vt:lpstr>
      <vt:lpstr>STL容器：set</vt:lpstr>
      <vt:lpstr>STL容器：map</vt:lpstr>
      <vt:lpstr>STL容器：map</vt:lpstr>
      <vt:lpstr>STL容器：map</vt:lpstr>
      <vt:lpstr>STL容器：map举例</vt:lpstr>
      <vt:lpstr>STL容器：关联容器原理</vt:lpstr>
      <vt:lpstr>STL容器：总结</vt:lpstr>
      <vt:lpstr>STL容器：总结</vt:lpstr>
      <vt:lpstr>PowerPoint 演示文稿</vt:lpstr>
      <vt:lpstr>PowerPoint 演示文稿</vt:lpstr>
      <vt:lpstr>string 字符串类</vt:lpstr>
      <vt:lpstr>变长字符串</vt:lpstr>
      <vt:lpstr>string类常用函数</vt:lpstr>
      <vt:lpstr>string类常用函数</vt:lpstr>
      <vt:lpstr>string类常用函数</vt:lpstr>
      <vt:lpstr>string类常用函数</vt:lpstr>
      <vt:lpstr>string类常用函数</vt:lpstr>
      <vt:lpstr>PowerPoint 演示文稿</vt:lpstr>
      <vt:lpstr>课后阅读</vt:lpstr>
      <vt:lpstr>PowerPoint 演示文稿</vt:lpstr>
      <vt:lpstr>例子：同义词查询库</vt:lpstr>
      <vt:lpstr>例子：同义词查询库</vt:lpstr>
      <vt:lpstr>例子：同义词查询库</vt:lpstr>
      <vt:lpstr>例子：同义词查询库</vt:lpstr>
      <vt:lpstr>例子：同义词查询库</vt:lpstr>
      <vt:lpstr>例子：同义词查询库</vt:lpstr>
      <vt:lpstr>PowerPoint 演示文稿</vt:lpstr>
      <vt:lpstr>函数模板特化</vt:lpstr>
      <vt:lpstr>函数模板特化</vt:lpstr>
      <vt:lpstr>函数模板特化</vt:lpstr>
      <vt:lpstr>函数模板特化</vt:lpstr>
      <vt:lpstr>函数模板特化</vt:lpstr>
      <vt:lpstr>函数模板特化</vt:lpstr>
      <vt:lpstr>函数模板特化</vt:lpstr>
      <vt:lpstr>类模板特化</vt:lpstr>
      <vt:lpstr>类模板特化：全部特化（自学）</vt:lpstr>
      <vt:lpstr>类模板特化</vt:lpstr>
      <vt:lpstr>类模板特化：部分特化</vt:lpstr>
      <vt:lpstr>模板特化总结</vt:lpstr>
      <vt:lpstr>结 束</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面向对象程序设计基础 （OOP）</dc:title>
  <dc:creator>Windows 用户</dc:creator>
  <cp:lastModifiedBy>Hua Hansen</cp:lastModifiedBy>
  <cp:revision>833</cp:revision>
  <cp:lastPrinted>2026-04-26T05:41:11Z</cp:lastPrinted>
  <dcterms:created xsi:type="dcterms:W3CDTF">2026-04-26T05:41:11Z</dcterms:created>
  <dcterms:modified xsi:type="dcterms:W3CDTF">2026-04-26T05:49:59Z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1F2AA5C602BF920527A0ED691EB813BE_42</vt:lpwstr>
  </property>
  <property fmtid="{D5CDD505-2E9C-101B-9397-08002B2CF9AE}" pid="3" name="KSOProductBuildVer">
    <vt:lpwstr>2052-12.1.25205.25205</vt:lpwstr>
  </property>
</Properties>
</file>