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08"/>
  </p:notesMasterIdLst>
  <p:sldIdLst>
    <p:sldId id="369" r:id="rId2"/>
    <p:sldId id="371" r:id="rId3"/>
    <p:sldId id="598" r:id="rId4"/>
    <p:sldId id="400" r:id="rId5"/>
    <p:sldId id="535" r:id="rId6"/>
    <p:sldId id="548" r:id="rId7"/>
    <p:sldId id="374" r:id="rId8"/>
    <p:sldId id="378" r:id="rId9"/>
    <p:sldId id="439" r:id="rId10"/>
    <p:sldId id="440" r:id="rId11"/>
    <p:sldId id="441" r:id="rId12"/>
    <p:sldId id="444" r:id="rId13"/>
    <p:sldId id="551" r:id="rId14"/>
    <p:sldId id="552" r:id="rId15"/>
    <p:sldId id="550" r:id="rId16"/>
    <p:sldId id="446" r:id="rId17"/>
    <p:sldId id="544" r:id="rId18"/>
    <p:sldId id="546" r:id="rId19"/>
    <p:sldId id="537" r:id="rId20"/>
    <p:sldId id="553" r:id="rId21"/>
    <p:sldId id="448" r:id="rId22"/>
    <p:sldId id="449" r:id="rId23"/>
    <p:sldId id="450" r:id="rId24"/>
    <p:sldId id="554" r:id="rId25"/>
    <p:sldId id="555" r:id="rId26"/>
    <p:sldId id="515" r:id="rId27"/>
    <p:sldId id="516" r:id="rId28"/>
    <p:sldId id="517" r:id="rId29"/>
    <p:sldId id="557" r:id="rId30"/>
    <p:sldId id="451" r:id="rId31"/>
    <p:sldId id="452" r:id="rId32"/>
    <p:sldId id="556" r:id="rId33"/>
    <p:sldId id="558" r:id="rId34"/>
    <p:sldId id="560" r:id="rId35"/>
    <p:sldId id="561" r:id="rId36"/>
    <p:sldId id="562" r:id="rId37"/>
    <p:sldId id="559" r:id="rId38"/>
    <p:sldId id="563" r:id="rId39"/>
    <p:sldId id="564" r:id="rId40"/>
    <p:sldId id="565" r:id="rId41"/>
    <p:sldId id="519" r:id="rId42"/>
    <p:sldId id="453" r:id="rId43"/>
    <p:sldId id="538" r:id="rId44"/>
    <p:sldId id="457" r:id="rId45"/>
    <p:sldId id="458" r:id="rId46"/>
    <p:sldId id="459" r:id="rId47"/>
    <p:sldId id="572" r:id="rId48"/>
    <p:sldId id="477" r:id="rId49"/>
    <p:sldId id="478" r:id="rId50"/>
    <p:sldId id="462" r:id="rId51"/>
    <p:sldId id="463" r:id="rId52"/>
    <p:sldId id="464" r:id="rId53"/>
    <p:sldId id="573" r:id="rId54"/>
    <p:sldId id="539" r:id="rId55"/>
    <p:sldId id="466" r:id="rId56"/>
    <p:sldId id="467" r:id="rId57"/>
    <p:sldId id="524" r:id="rId58"/>
    <p:sldId id="583" r:id="rId59"/>
    <p:sldId id="584" r:id="rId60"/>
    <p:sldId id="585" r:id="rId61"/>
    <p:sldId id="591" r:id="rId62"/>
    <p:sldId id="593" r:id="rId63"/>
    <p:sldId id="592" r:id="rId64"/>
    <p:sldId id="586" r:id="rId65"/>
    <p:sldId id="587" r:id="rId66"/>
    <p:sldId id="588" r:id="rId67"/>
    <p:sldId id="589" r:id="rId68"/>
    <p:sldId id="590" r:id="rId69"/>
    <p:sldId id="594" r:id="rId70"/>
    <p:sldId id="540" r:id="rId71"/>
    <p:sldId id="476" r:id="rId72"/>
    <p:sldId id="475" r:id="rId73"/>
    <p:sldId id="574" r:id="rId74"/>
    <p:sldId id="575" r:id="rId75"/>
    <p:sldId id="576" r:id="rId76"/>
    <p:sldId id="577" r:id="rId77"/>
    <p:sldId id="578" r:id="rId78"/>
    <p:sldId id="579" r:id="rId79"/>
    <p:sldId id="580" r:id="rId80"/>
    <p:sldId id="581" r:id="rId81"/>
    <p:sldId id="490" r:id="rId82"/>
    <p:sldId id="492" r:id="rId83"/>
    <p:sldId id="491" r:id="rId84"/>
    <p:sldId id="527" r:id="rId85"/>
    <p:sldId id="528" r:id="rId86"/>
    <p:sldId id="529" r:id="rId87"/>
    <p:sldId id="531" r:id="rId88"/>
    <p:sldId id="533" r:id="rId89"/>
    <p:sldId id="534" r:id="rId90"/>
    <p:sldId id="501" r:id="rId91"/>
    <p:sldId id="541" r:id="rId92"/>
    <p:sldId id="503" r:id="rId93"/>
    <p:sldId id="504" r:id="rId94"/>
    <p:sldId id="505" r:id="rId95"/>
    <p:sldId id="506" r:id="rId96"/>
    <p:sldId id="595" r:id="rId97"/>
    <p:sldId id="514" r:id="rId98"/>
    <p:sldId id="508" r:id="rId99"/>
    <p:sldId id="510" r:id="rId100"/>
    <p:sldId id="596" r:id="rId101"/>
    <p:sldId id="512" r:id="rId102"/>
    <p:sldId id="511" r:id="rId103"/>
    <p:sldId id="543" r:id="rId104"/>
    <p:sldId id="597" r:id="rId105"/>
    <p:sldId id="542" r:id="rId106"/>
    <p:sldId id="485" r:id="rId107"/>
  </p:sldIdLst>
  <p:sldSz cx="9144000" cy="5143500" type="screen16x9"/>
  <p:notesSz cx="6858000" cy="9144000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415"/>
    <a:srgbClr val="F09515"/>
    <a:srgbClr val="F5B661"/>
    <a:srgbClr val="CF7CF8"/>
    <a:srgbClr val="B06B0C"/>
    <a:srgbClr val="FDC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主题样式 1 - 个性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个性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3" autoAdjust="0"/>
    <p:restoredTop sz="94455"/>
  </p:normalViewPr>
  <p:slideViewPr>
    <p:cSldViewPr snapToGrid="0" snapToObjects="1">
      <p:cViewPr varScale="1">
        <p:scale>
          <a:sx n="180" d="100"/>
          <a:sy n="180" d="100"/>
        </p:scale>
        <p:origin x="66" y="57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CA49B-73E0-D840-93A7-A3E11BDE34C4}" type="datetimeFigureOut">
              <a:rPr kumimoji="1" lang="zh-CN" altLang="en-US" smtClean="0"/>
              <a:t>2024-07-30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DB0F4-7A48-A741-B2DC-BD21D79CD1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676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3056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DB0F4-7A48-A741-B2DC-BD21D79CD17F}" type="slidenum">
              <a:rPr kumimoji="1" lang="zh-CN" altLang="en-US" smtClean="0"/>
              <a:t>67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2191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文本框 10"/>
          <p:cNvSpPr txBox="1"/>
          <p:nvPr userDrawn="1"/>
        </p:nvSpPr>
        <p:spPr>
          <a:xfrm>
            <a:off x="7918450" y="4978401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013" dirty="0"/>
          </a:p>
        </p:txBody>
      </p:sp>
      <p:sp>
        <p:nvSpPr>
          <p:cNvPr id="13" name="Title 1"/>
          <p:cNvSpPr txBox="1">
            <a:spLocks/>
          </p:cNvSpPr>
          <p:nvPr userDrawn="1"/>
        </p:nvSpPr>
        <p:spPr>
          <a:xfrm>
            <a:off x="6941509" y="2088151"/>
            <a:ext cx="2134756" cy="1029803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lvl1pPr algn="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1" kern="120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  <a:cs typeface="+mj-cs"/>
              </a:defRPr>
            </a:lvl1pPr>
          </a:lstStyle>
          <a:p>
            <a:pPr algn="l"/>
            <a:r>
              <a:rPr lang="en-US" altLang="zh-CN" dirty="0" smtClean="0"/>
              <a:t>Python</a:t>
            </a:r>
            <a:endParaRPr lang="en-US" dirty="0"/>
          </a:p>
        </p:txBody>
      </p:sp>
      <p:sp>
        <p:nvSpPr>
          <p:cNvPr id="15" name="Subtitle 2"/>
          <p:cNvSpPr txBox="1">
            <a:spLocks/>
          </p:cNvSpPr>
          <p:nvPr userDrawn="1"/>
        </p:nvSpPr>
        <p:spPr>
          <a:xfrm>
            <a:off x="6904566" y="3295530"/>
            <a:ext cx="2171699" cy="838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dirty="0" smtClean="0">
                <a:solidFill>
                  <a:srgbClr val="F5B661"/>
                </a:solidFill>
              </a:rPr>
              <a:t>乔　林</a:t>
            </a:r>
            <a:endParaRPr lang="en-US" sz="2400" dirty="0">
              <a:solidFill>
                <a:srgbClr val="F5B661"/>
              </a:solidFill>
            </a:endParaRPr>
          </a:p>
        </p:txBody>
      </p:sp>
      <p:sp>
        <p:nvSpPr>
          <p:cNvPr id="16" name="Subtitle 2"/>
          <p:cNvSpPr txBox="1">
            <a:spLocks/>
          </p:cNvSpPr>
          <p:nvPr userDrawn="1"/>
        </p:nvSpPr>
        <p:spPr>
          <a:xfrm>
            <a:off x="118533" y="3292235"/>
            <a:ext cx="6475943" cy="838265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35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rgbClr val="F5B661"/>
                </a:solidFill>
              </a:rPr>
              <a:t>清华大学计算机科学与技术系</a:t>
            </a:r>
            <a:endParaRPr lang="en-US" dirty="0">
              <a:solidFill>
                <a:srgbClr val="F5B66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152400" y="2068333"/>
            <a:ext cx="6442076" cy="1036382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299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68" y="203200"/>
            <a:ext cx="7573432" cy="3039533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8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167" y="3533712"/>
            <a:ext cx="7573433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995308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11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小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7000" y="2165120"/>
            <a:ext cx="7624233" cy="818091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000" y="3174129"/>
            <a:ext cx="7624233" cy="1816971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13700" y="2165121"/>
            <a:ext cx="1041400" cy="818092"/>
          </a:xfrm>
        </p:spPr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37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088372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65298"/>
      </p:ext>
    </p:extLst>
  </p:cSld>
  <p:clrMapOvr>
    <a:masterClrMapping/>
  </p:clrMapOvr>
  <p:transition spd="slow" advClick="0" advTm="0">
    <p:strips/>
  </p:transition>
  <p:timing>
    <p:tnLst>
      <p:par>
        <p:cTn id="1" dur="indefinite" restart="never" nodeType="tmRoot"/>
      </p:par>
    </p:tnLst>
  </p:timing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/>
          <p:nvPr userDrawn="1"/>
        </p:nvSpPr>
        <p:spPr>
          <a:xfrm>
            <a:off x="0" y="626533"/>
            <a:ext cx="9144000" cy="427143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5833" cy="68156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06420" y="4931833"/>
            <a:ext cx="865613" cy="203195"/>
          </a:xfrm>
        </p:spPr>
        <p:txBody>
          <a:bodyPr lIns="36000" tIns="0" rIns="36000" bIns="0"/>
          <a:lstStyle>
            <a:lvl1pPr algn="r">
              <a:defRPr sz="1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4178300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073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899" y="586086"/>
            <a:ext cx="7539568" cy="810704"/>
          </a:xfrm>
        </p:spPr>
        <p:txBody>
          <a:bodyPr lIns="36000" tIns="36000" rIns="36000" bIns="36000"/>
          <a:lstStyle>
            <a:lvl1pPr algn="r">
              <a:defRPr sz="36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899" y="1752655"/>
            <a:ext cx="8868833" cy="3133670"/>
          </a:xfrm>
        </p:spPr>
        <p:txBody>
          <a:bodyPr lIns="36000" tIns="36000" rIns="36000" bIns="36000"/>
          <a:lstStyle>
            <a:lvl1pPr marL="252000" indent="-252000"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4753" y="592207"/>
            <a:ext cx="1089980" cy="810704"/>
          </a:xfrm>
        </p:spPr>
        <p:txBody>
          <a:bodyPr lIns="36000" tIns="36000" rIns="36000" bIns="36000"/>
          <a:lstStyle>
            <a:lvl1pPr algn="ctr"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7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312837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1048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7065" y="564922"/>
            <a:ext cx="7252635" cy="810703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单击此处编辑母版文本样式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3" y="1752655"/>
            <a:ext cx="3556932" cy="519851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1" y="2272507"/>
            <a:ext cx="3556933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2418" y="1752655"/>
            <a:ext cx="3567281" cy="5190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2418" y="2272507"/>
            <a:ext cx="3567282" cy="260111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5944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91" y="564920"/>
            <a:ext cx="7249459" cy="81070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1" y="1752655"/>
            <a:ext cx="4286250" cy="269948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8552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67" y="564921"/>
            <a:ext cx="7541683" cy="810704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40467" y="1752655"/>
            <a:ext cx="5712883" cy="313261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dirty="0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6767" y="1752654"/>
            <a:ext cx="1553633" cy="3132611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05833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6" y="2740034"/>
            <a:ext cx="6333333" cy="411726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7174" y="3533712"/>
            <a:ext cx="7194065" cy="81809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>
                <a:solidFill>
                  <a:srgbClr val="F09415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1003775" cy="818092"/>
          </a:xfrm>
        </p:spPr>
        <p:txBody>
          <a:bodyPr/>
          <a:lstStyle>
            <a:lvl1pPr>
              <a:defRPr sz="36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960306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5901" y="564921"/>
            <a:ext cx="7539566" cy="810704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zh-CN" altLang="en-US" dirty="0" smtClean="0"/>
              <a:t>计算机程序设计基础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00" y="1752655"/>
            <a:ext cx="8868833" cy="3091789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753" y="571042"/>
            <a:ext cx="1089980" cy="81070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华康手札体W5P" panose="03000500000000000000" pitchFamily="66" charset="-122"/>
                <a:ea typeface="华康手札体W5P" panose="03000500000000000000" pitchFamily="66" charset="-122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41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62" r:id="rId2"/>
    <p:sldLayoutId id="2147483654" r:id="rId3"/>
    <p:sldLayoutId id="2147483657" r:id="rId4"/>
    <p:sldLayoutId id="2147483658" r:id="rId5"/>
    <p:sldLayoutId id="2147483669" r:id="rId6"/>
    <p:sldLayoutId id="2147483653" r:id="rId7"/>
    <p:sldLayoutId id="2147483655" r:id="rId8"/>
    <p:sldLayoutId id="2147483656" r:id="rId9"/>
    <p:sldLayoutId id="2147483659" r:id="rId10"/>
    <p:sldLayoutId id="2147483660" r:id="rId11"/>
    <p:sldLayoutId id="2147483663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r" defTabSz="6858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rgbClr val="F09515"/>
          </a:solidFill>
          <a:effectLst/>
          <a:latin typeface="华康手札体W5P" panose="03000500000000000000" pitchFamily="66" charset="-122"/>
          <a:ea typeface="华康手札体W5P" panose="03000500000000000000" pitchFamily="66" charset="-122"/>
          <a:cs typeface="+mj-cs"/>
        </a:defRPr>
      </a:lvl1pPr>
    </p:titleStyle>
    <p:bodyStyle>
      <a:lvl1pPr marL="252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1pPr>
      <a:lvl2pPr marL="540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2pPr>
      <a:lvl3pPr marL="828000" indent="-252000" algn="l" defTabSz="6858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3pPr>
      <a:lvl4pPr marL="1116000" indent="-252000" algn="l" defTabSz="6858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8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4pPr>
      <a:lvl5pPr marL="1404000" indent="-252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1" kern="1200">
          <a:solidFill>
            <a:schemeClr val="accent2">
              <a:lumMod val="20000"/>
              <a:lumOff val="80000"/>
            </a:schemeClr>
          </a:solidFill>
          <a:latin typeface="华康手札体W5P" panose="03000500000000000000" pitchFamily="66" charset="-122"/>
          <a:ea typeface="华康手札体W5P" panose="03000500000000000000" pitchFamily="66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300" dirty="0" smtClean="0"/>
              <a:t>计算机程序设计基础</a:t>
            </a:r>
            <a:endParaRPr lang="zh-CN" altLang="en-US" spc="300" dirty="0"/>
          </a:p>
        </p:txBody>
      </p:sp>
    </p:spTree>
    <p:extLst>
      <p:ext uri="{BB962C8B-B14F-4D97-AF65-F5344CB8AC3E}">
        <p14:creationId xmlns:p14="http://schemas.microsoft.com/office/powerpoint/2010/main" val="13839210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zh-CN" altLang="en-US" dirty="0"/>
              <a:t>一</a:t>
            </a:r>
            <a:r>
              <a:rPr lang="zh-CN" altLang="en-US" dirty="0" smtClean="0"/>
              <a:t>章　基础文法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80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题</a:t>
            </a:r>
            <a:r>
              <a:rPr lang="zh-CN" altLang="en-US" dirty="0"/>
              <a:t>　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3200" dirty="0" smtClean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zh-CN" sz="3200" dirty="0" smtClean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zh-CN" sz="3200" dirty="0" smtClean="0">
                <a:solidFill>
                  <a:srgbClr val="FFFF00"/>
                </a:solidFill>
              </a:rPr>
              <a:t>		</a:t>
            </a:r>
            <a:r>
              <a:rPr lang="zh-CN" altLang="en-US" sz="3200" dirty="0" smtClean="0">
                <a:solidFill>
                  <a:srgbClr val="FFFF00"/>
                </a:solidFill>
              </a:rPr>
              <a:t>离</a:t>
            </a:r>
            <a:r>
              <a:rPr lang="zh-CN" altLang="en-US" sz="3200" dirty="0">
                <a:solidFill>
                  <a:srgbClr val="FFFF00"/>
                </a:solidFill>
              </a:rPr>
              <a:t>娄之明，公输子之巧</a:t>
            </a:r>
            <a:r>
              <a:rPr lang="zh-CN" altLang="en-US" sz="3200" dirty="0" smtClean="0">
                <a:solidFill>
                  <a:srgbClr val="FFFF00"/>
                </a:solidFill>
              </a:rPr>
              <a:t>，</a:t>
            </a:r>
            <a:endParaRPr lang="en-US" altLang="zh-CN" sz="3200" dirty="0" smtClean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zh-CN" sz="3200" dirty="0">
                <a:solidFill>
                  <a:srgbClr val="FFFF00"/>
                </a:solidFill>
              </a:rPr>
              <a:t>	</a:t>
            </a:r>
            <a:r>
              <a:rPr lang="en-US" altLang="zh-CN" sz="3200" dirty="0" smtClean="0">
                <a:solidFill>
                  <a:srgbClr val="FFFF00"/>
                </a:solidFill>
              </a:rPr>
              <a:t>	</a:t>
            </a:r>
            <a:r>
              <a:rPr lang="zh-CN" altLang="en-US" sz="3200" dirty="0" smtClean="0">
                <a:solidFill>
                  <a:srgbClr val="FFFF00"/>
                </a:solidFill>
              </a:rPr>
              <a:t>不</a:t>
            </a:r>
            <a:r>
              <a:rPr lang="zh-CN" altLang="en-US" sz="3200" dirty="0">
                <a:solidFill>
                  <a:srgbClr val="FFFF00"/>
                </a:solidFill>
              </a:rPr>
              <a:t>以规矩，不能成方圆。</a:t>
            </a:r>
          </a:p>
          <a:p>
            <a:pPr marL="0" indent="0">
              <a:buNone/>
            </a:pPr>
            <a:r>
              <a:rPr lang="en-US" altLang="zh-CN" sz="3200" dirty="0" smtClean="0">
                <a:solidFill>
                  <a:srgbClr val="FFFF00"/>
                </a:solidFill>
              </a:rPr>
              <a:t>		——</a:t>
            </a:r>
            <a:r>
              <a:rPr lang="zh-CN" altLang="en-US" sz="3200" dirty="0">
                <a:solidFill>
                  <a:srgbClr val="FFFF00"/>
                </a:solidFill>
              </a:rPr>
              <a:t>战国</a:t>
            </a:r>
            <a:r>
              <a:rPr lang="en-US" altLang="zh-CN" sz="3200" dirty="0">
                <a:solidFill>
                  <a:srgbClr val="FFFF00"/>
                </a:solidFill>
              </a:rPr>
              <a:t>·</a:t>
            </a:r>
            <a:r>
              <a:rPr lang="zh-CN" altLang="en-US" sz="3200" dirty="0">
                <a:solidFill>
                  <a:srgbClr val="FFFF00"/>
                </a:solidFill>
              </a:rPr>
              <a:t>孟子，</a:t>
            </a:r>
            <a:r>
              <a:rPr lang="en-US" altLang="zh-CN" sz="3200" dirty="0">
                <a:solidFill>
                  <a:srgbClr val="FFFF00"/>
                </a:solidFill>
              </a:rPr>
              <a:t>《</a:t>
            </a:r>
            <a:r>
              <a:rPr lang="zh-CN" altLang="en-US" sz="3200" dirty="0">
                <a:solidFill>
                  <a:srgbClr val="FFFF00"/>
                </a:solidFill>
              </a:rPr>
              <a:t>孟子</a:t>
            </a:r>
            <a:r>
              <a:rPr lang="en-US" altLang="zh-CN" sz="3200" dirty="0">
                <a:solidFill>
                  <a:srgbClr val="FFFF00"/>
                </a:solidFill>
              </a:rPr>
              <a:t>·</a:t>
            </a:r>
            <a:r>
              <a:rPr lang="zh-CN" altLang="en-US" sz="3200" dirty="0">
                <a:solidFill>
                  <a:srgbClr val="FFFF00"/>
                </a:solidFill>
              </a:rPr>
              <a:t>离娄上</a:t>
            </a:r>
            <a:r>
              <a:rPr lang="en-US" altLang="zh-CN" sz="3200" dirty="0" smtClean="0">
                <a:solidFill>
                  <a:srgbClr val="FFFF00"/>
                </a:solidFill>
              </a:rPr>
              <a:t>》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6739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1.1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程序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文本结构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对象与型式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表达式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语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句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数值与数学计算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基本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输入输出</a:t>
            </a:r>
            <a:endParaRPr lang="zh-CN" alt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基础文法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8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91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dir="u"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</a:rPr>
              <a:t>1.1</a:t>
            </a:r>
            <a:r>
              <a:rPr lang="zh-CN" altLang="en-US" dirty="0">
                <a:solidFill>
                  <a:srgbClr val="FFFF00"/>
                </a:solidFill>
              </a:rPr>
              <a:t>　程序文本结构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对象与型式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表达式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语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句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数值与数学计算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基本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输入输出</a:t>
            </a:r>
            <a:endParaRPr lang="zh-CN" alt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基础文法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051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</a:t>
            </a:r>
            <a:r>
              <a:rPr lang="zh-CN" altLang="en-US" dirty="0"/>
              <a:t>　</a:t>
            </a:r>
            <a:r>
              <a:rPr lang="zh-CN" altLang="en-US" dirty="0" smtClean="0"/>
              <a:t>程序文本结构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1.1.1</a:t>
            </a:r>
            <a:r>
              <a:rPr lang="zh-CN" altLang="en-US" dirty="0"/>
              <a:t>　</a:t>
            </a:r>
            <a:r>
              <a:rPr lang="zh-CN" altLang="en-US" dirty="0" smtClean="0"/>
              <a:t>代码文本</a:t>
            </a:r>
            <a:endParaRPr lang="zh-CN" altLang="en-US" dirty="0"/>
          </a:p>
          <a:p>
            <a:r>
              <a:rPr lang="en-US" altLang="zh-CN" dirty="0"/>
              <a:t>1.1.2</a:t>
            </a:r>
            <a:r>
              <a:rPr lang="zh-CN" altLang="en-US" dirty="0"/>
              <a:t>　注　释</a:t>
            </a:r>
          </a:p>
          <a:p>
            <a:r>
              <a:rPr lang="en-US" altLang="zh-CN" dirty="0"/>
              <a:t>1.1.3</a:t>
            </a:r>
            <a:r>
              <a:rPr lang="zh-CN" altLang="en-US" dirty="0"/>
              <a:t>　缩　进</a:t>
            </a:r>
          </a:p>
          <a:p>
            <a:r>
              <a:rPr lang="en-US" altLang="zh-CN" dirty="0"/>
              <a:t>1.1.4</a:t>
            </a:r>
            <a:r>
              <a:rPr lang="zh-CN" altLang="en-US" dirty="0"/>
              <a:t>　</a:t>
            </a:r>
            <a:r>
              <a:rPr lang="zh-CN" altLang="en-US" dirty="0" smtClean="0"/>
              <a:t>标识符</a:t>
            </a:r>
            <a:endParaRPr lang="en-US" altLang="zh-CN" dirty="0" smtClean="0"/>
          </a:p>
          <a:p>
            <a:r>
              <a:rPr lang="en-US" altLang="zh-CN" dirty="0" smtClean="0"/>
              <a:t>1.1.5</a:t>
            </a:r>
            <a:r>
              <a:rPr lang="zh-CN" altLang="en-US" dirty="0"/>
              <a:t>　</a:t>
            </a:r>
            <a:r>
              <a:rPr lang="zh-CN" altLang="en-US" dirty="0" smtClean="0"/>
              <a:t>关键字与软关键字</a:t>
            </a:r>
            <a:endParaRPr lang="en-US" altLang="zh-CN" dirty="0" smtClean="0"/>
          </a:p>
          <a:p>
            <a:r>
              <a:rPr lang="en-US" altLang="zh-CN" dirty="0" smtClean="0"/>
              <a:t>1.1.6</a:t>
            </a:r>
            <a:r>
              <a:rPr lang="zh-CN" altLang="en-US" dirty="0"/>
              <a:t>　</a:t>
            </a:r>
            <a:r>
              <a:rPr lang="zh-CN" altLang="en-US" dirty="0" smtClean="0"/>
              <a:t>编程风格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2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1.1.1</a:t>
            </a:r>
            <a:r>
              <a:rPr lang="zh-CN" altLang="en-US" dirty="0"/>
              <a:t>　</a:t>
            </a:r>
            <a:r>
              <a:rPr lang="zh-CN" altLang="en-US" dirty="0" smtClean="0"/>
              <a:t>代码文本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代码</a:t>
            </a:r>
            <a:r>
              <a:rPr lang="zh-CN" altLang="en-US" dirty="0" smtClean="0"/>
              <a:t>文本：</a:t>
            </a:r>
            <a:r>
              <a:rPr lang="zh-CN" altLang="en-US" dirty="0"/>
              <a:t>逻辑行与物理行</a:t>
            </a:r>
          </a:p>
          <a:p>
            <a:pPr lvl="1"/>
            <a:r>
              <a:rPr lang="en-US" altLang="zh-CN" dirty="0"/>
              <a:t>Python </a:t>
            </a:r>
            <a:r>
              <a:rPr lang="zh-CN" altLang="en-US" dirty="0"/>
              <a:t>程序代码：一定数目的连续逻辑行</a:t>
            </a:r>
          </a:p>
          <a:p>
            <a:r>
              <a:rPr lang="zh-CN" altLang="en-US" dirty="0"/>
              <a:t>物理</a:t>
            </a:r>
            <a:r>
              <a:rPr lang="zh-CN" altLang="en-US" dirty="0" smtClean="0"/>
              <a:t>行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ASCII </a:t>
            </a:r>
            <a:r>
              <a:rPr lang="en-US" altLang="zh-CN" dirty="0"/>
              <a:t>/ Unicode </a:t>
            </a:r>
            <a:r>
              <a:rPr lang="zh-CN" altLang="en-US" dirty="0"/>
              <a:t>文本行，行尾</a:t>
            </a:r>
            <a:r>
              <a:rPr lang="zh-CN" altLang="en-US" dirty="0" smtClean="0"/>
              <a:t>有换行标志</a:t>
            </a:r>
            <a:endParaRPr lang="zh-CN" altLang="en-US" dirty="0"/>
          </a:p>
          <a:p>
            <a:pPr lvl="1"/>
            <a:r>
              <a:rPr lang="zh-CN" altLang="en-US" dirty="0" smtClean="0"/>
              <a:t>换行标志：</a:t>
            </a:r>
            <a:r>
              <a:rPr lang="en-US" altLang="zh-CN" dirty="0" smtClean="0"/>
              <a:t>Windows</a:t>
            </a:r>
            <a:r>
              <a:rPr lang="zh-CN" altLang="en-US" dirty="0"/>
              <a:t>：‘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\r\n</a:t>
            </a:r>
            <a:r>
              <a:rPr lang="en-US" altLang="zh-CN" dirty="0" smtClean="0"/>
              <a:t>’</a:t>
            </a:r>
            <a:r>
              <a:rPr lang="zh-CN" altLang="en-US" dirty="0" smtClean="0"/>
              <a:t>；</a:t>
            </a:r>
            <a:r>
              <a:rPr lang="en-US" altLang="zh-CN" dirty="0" smtClean="0"/>
              <a:t>UNIX </a:t>
            </a:r>
            <a:r>
              <a:rPr lang="en-US" altLang="zh-CN" dirty="0"/>
              <a:t>/ Linux</a:t>
            </a:r>
            <a:r>
              <a:rPr lang="zh-CN" altLang="en-US" dirty="0"/>
              <a:t>：‘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\n</a:t>
            </a:r>
            <a:r>
              <a:rPr lang="en-US" altLang="zh-CN" dirty="0" smtClean="0"/>
              <a:t>’</a:t>
            </a:r>
            <a:r>
              <a:rPr lang="zh-CN" altLang="en-US" dirty="0" smtClean="0"/>
              <a:t>；旧 </a:t>
            </a:r>
            <a:r>
              <a:rPr lang="en-US" altLang="zh-CN" dirty="0"/>
              <a:t>Macintosh</a:t>
            </a:r>
            <a:r>
              <a:rPr lang="zh-CN" altLang="en-US" dirty="0"/>
              <a:t>：‘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\r</a:t>
            </a:r>
            <a:r>
              <a:rPr lang="en-US" altLang="zh-CN" dirty="0"/>
              <a:t>’</a:t>
            </a:r>
            <a:r>
              <a:rPr lang="zh-CN" altLang="en-US" dirty="0"/>
              <a:t>，</a:t>
            </a:r>
            <a:r>
              <a:rPr lang="en-US" altLang="zh-CN" dirty="0"/>
              <a:t>Mac OS X</a:t>
            </a:r>
            <a:r>
              <a:rPr lang="zh-CN" altLang="en-US" dirty="0"/>
              <a:t>：‘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\n</a:t>
            </a:r>
            <a:r>
              <a:rPr lang="en-US" altLang="zh-CN" dirty="0"/>
              <a:t>’</a:t>
            </a:r>
          </a:p>
          <a:p>
            <a:r>
              <a:rPr lang="zh-CN" altLang="en-US" dirty="0"/>
              <a:t>逻辑</a:t>
            </a:r>
            <a:r>
              <a:rPr lang="zh-CN" altLang="en-US" dirty="0" smtClean="0"/>
              <a:t>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单独</a:t>
            </a:r>
            <a:r>
              <a:rPr lang="zh-CN" altLang="en-US" dirty="0"/>
              <a:t>物理</a:t>
            </a:r>
            <a:r>
              <a:rPr lang="zh-CN" altLang="en-US" dirty="0" smtClean="0"/>
              <a:t>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按照</a:t>
            </a:r>
            <a:r>
              <a:rPr lang="zh-CN" altLang="en-US" dirty="0"/>
              <a:t>显式或隐式的行合并规则合并的连续物理行</a:t>
            </a:r>
          </a:p>
        </p:txBody>
      </p:sp>
    </p:spTree>
    <p:extLst>
      <p:ext uri="{BB962C8B-B14F-4D97-AF65-F5344CB8AC3E}">
        <p14:creationId xmlns:p14="http://schemas.microsoft.com/office/powerpoint/2010/main" val="3517531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行合并规则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显</a:t>
            </a:r>
            <a:r>
              <a:rPr lang="zh-CN" altLang="en-US" dirty="0"/>
              <a:t>式合并</a:t>
            </a:r>
          </a:p>
          <a:p>
            <a:pPr lvl="1"/>
            <a:r>
              <a:rPr lang="zh-CN" altLang="en-US" dirty="0" smtClean="0"/>
              <a:t>显式合并方式：在行</a:t>
            </a:r>
            <a:r>
              <a:rPr lang="zh-CN" altLang="en-US" dirty="0"/>
              <a:t>尾使用‘</a:t>
            </a:r>
            <a:r>
              <a:rPr lang="en-US" altLang="zh-CN" dirty="0">
                <a:solidFill>
                  <a:srgbClr val="FFC000"/>
                </a:solidFill>
              </a:rPr>
              <a:t>\</a:t>
            </a:r>
            <a:r>
              <a:rPr lang="en-US" altLang="zh-CN" dirty="0"/>
              <a:t>’</a:t>
            </a:r>
            <a:r>
              <a:rPr lang="zh-CN" altLang="en-US" dirty="0"/>
              <a:t>结束本物理行，下一物理行自动拼接到本行尾部，替换‘</a:t>
            </a:r>
            <a:r>
              <a:rPr lang="en-US" altLang="zh-CN" dirty="0">
                <a:solidFill>
                  <a:srgbClr val="FFC000"/>
                </a:solidFill>
              </a:rPr>
              <a:t>\</a:t>
            </a:r>
            <a:r>
              <a:rPr lang="en-US" altLang="zh-CN" dirty="0"/>
              <a:t>’</a:t>
            </a:r>
            <a:r>
              <a:rPr lang="zh-CN" altLang="en-US" dirty="0"/>
              <a:t>及其后的换行符</a:t>
            </a:r>
          </a:p>
          <a:p>
            <a:pPr lvl="1"/>
            <a:r>
              <a:rPr lang="zh-CN" altLang="en-US" dirty="0"/>
              <a:t>注意事项：‘</a:t>
            </a:r>
            <a:r>
              <a:rPr lang="en-US" altLang="zh-CN" dirty="0">
                <a:solidFill>
                  <a:srgbClr val="FFC000"/>
                </a:solidFill>
              </a:rPr>
              <a:t>\</a:t>
            </a:r>
            <a:r>
              <a:rPr lang="en-US" altLang="zh-CN" dirty="0"/>
              <a:t>’</a:t>
            </a:r>
            <a:r>
              <a:rPr lang="zh-CN" altLang="en-US" dirty="0"/>
              <a:t>必须为换行符前最后一个字符，其后不得书写包括注释、空格在内的任何内容</a:t>
            </a:r>
          </a:p>
          <a:p>
            <a:r>
              <a:rPr lang="zh-CN" altLang="en-US" dirty="0"/>
              <a:t>隐式合并</a:t>
            </a:r>
          </a:p>
          <a:p>
            <a:pPr lvl="1"/>
            <a:r>
              <a:rPr lang="zh-CN" altLang="en-US" dirty="0" smtClean="0"/>
              <a:t>隐式合并方式：小括号</a:t>
            </a:r>
            <a:r>
              <a:rPr lang="zh-CN" altLang="en-US" dirty="0"/>
              <a:t>、中括号和大括号中的表达式可自由折</a:t>
            </a:r>
            <a:r>
              <a:rPr lang="zh-CN" altLang="en-US" dirty="0" smtClean="0"/>
              <a:t>行，无语法限制</a:t>
            </a:r>
            <a:endParaRPr lang="zh-CN" altLang="en-US" dirty="0"/>
          </a:p>
          <a:p>
            <a:pPr lvl="1"/>
            <a:r>
              <a:rPr lang="zh-CN" altLang="en-US" dirty="0"/>
              <a:t>各物理行可随意添加</a:t>
            </a:r>
            <a:r>
              <a:rPr lang="zh-CN" altLang="en-US" dirty="0" smtClean="0"/>
              <a:t>注释，但使用空格和缩进要小心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31950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1.1.2</a:t>
            </a:r>
            <a:r>
              <a:rPr lang="zh-CN" altLang="en-US" dirty="0"/>
              <a:t>　注　释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注释（</a:t>
            </a:r>
            <a:r>
              <a:rPr lang="en-US" altLang="zh-CN" dirty="0"/>
              <a:t>comment</a:t>
            </a:r>
            <a:r>
              <a:rPr lang="zh-CN" altLang="en-US" dirty="0"/>
              <a:t>）：以‘</a:t>
            </a:r>
            <a:r>
              <a:rPr lang="en-US" altLang="zh-CN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#</a:t>
            </a:r>
            <a:r>
              <a:rPr lang="en-US" altLang="zh-CN" dirty="0"/>
              <a:t>’</a:t>
            </a:r>
            <a:r>
              <a:rPr lang="zh-CN" altLang="en-US" dirty="0"/>
              <a:t>开始至本物理行结束的文本序列</a:t>
            </a:r>
          </a:p>
          <a:p>
            <a:pPr lvl="1"/>
            <a:r>
              <a:rPr lang="zh-CN" altLang="en-US" dirty="0"/>
              <a:t>注释目的：增强程序代码可读性和可维护性</a:t>
            </a:r>
          </a:p>
          <a:p>
            <a:pPr lvl="1"/>
            <a:r>
              <a:rPr lang="zh-CN" altLang="en-US" dirty="0"/>
              <a:t>注释内容：版权信息、功能描述、编码规范等</a:t>
            </a:r>
          </a:p>
          <a:p>
            <a:r>
              <a:rPr lang="zh-CN" altLang="en-US" dirty="0"/>
              <a:t>编码规范：</a:t>
            </a:r>
            <a:r>
              <a:rPr lang="en-US" altLang="zh-CN" dirty="0"/>
              <a:t>Python </a:t>
            </a:r>
            <a:r>
              <a:rPr lang="zh-CN" altLang="en-US" dirty="0"/>
              <a:t>脚本的编码格式</a:t>
            </a:r>
          </a:p>
          <a:p>
            <a:pPr lvl="1"/>
            <a:r>
              <a:rPr lang="en-US" altLang="zh-CN" dirty="0"/>
              <a:t>Python 3.0 </a:t>
            </a:r>
            <a:r>
              <a:rPr lang="zh-CN" altLang="en-US" dirty="0"/>
              <a:t>之后缺省格式为 </a:t>
            </a:r>
            <a:r>
              <a:rPr lang="en-US" altLang="zh-CN" dirty="0" smtClean="0"/>
              <a:t>UTF-8</a:t>
            </a:r>
            <a:r>
              <a:rPr lang="zh-CN" altLang="en-US" dirty="0" smtClean="0"/>
              <a:t>，使用此格式保存脚本文件</a:t>
            </a:r>
            <a:endParaRPr lang="en-US" altLang="zh-CN" dirty="0"/>
          </a:p>
          <a:p>
            <a:pPr lvl="1"/>
            <a:r>
              <a:rPr lang="zh-CN" altLang="en-US" dirty="0" smtClean="0"/>
              <a:t>建议注释</a:t>
            </a:r>
            <a:r>
              <a:rPr lang="zh-CN" altLang="en-US" dirty="0"/>
              <a:t>格式：</a:t>
            </a:r>
            <a:r>
              <a:rPr lang="en-US" altLang="zh-CN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# -*- coding: &lt;encoding-name&gt; -*-</a:t>
            </a:r>
          </a:p>
          <a:p>
            <a:pPr lvl="1"/>
            <a:r>
              <a:rPr lang="zh-CN" altLang="en-US" dirty="0"/>
              <a:t>注释位置：单独占据脚本第一行或第二行；占据第二</a:t>
            </a:r>
            <a:r>
              <a:rPr lang="zh-CN" altLang="en-US" dirty="0" smtClean="0"/>
              <a:t>行时，第一行也必须为注释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75928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1.1.3</a:t>
            </a:r>
            <a:r>
              <a:rPr lang="zh-CN" altLang="en-US" dirty="0"/>
              <a:t>　</a:t>
            </a:r>
            <a:r>
              <a:rPr lang="zh-CN" altLang="en-US" dirty="0" smtClean="0"/>
              <a:t>缩</a:t>
            </a:r>
            <a:r>
              <a:rPr lang="zh-CN" altLang="en-US" dirty="0"/>
              <a:t>　</a:t>
            </a:r>
            <a:r>
              <a:rPr lang="zh-CN" altLang="en-US" dirty="0" smtClean="0"/>
              <a:t>进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缩进（</a:t>
            </a:r>
            <a:r>
              <a:rPr lang="en-US" altLang="zh-CN" dirty="0" smtClean="0"/>
              <a:t>indentation</a:t>
            </a:r>
            <a:r>
              <a:rPr lang="zh-CN" altLang="en-US" dirty="0" smtClean="0"/>
              <a:t>）：</a:t>
            </a:r>
            <a:r>
              <a:rPr lang="zh-CN" altLang="en-US" dirty="0"/>
              <a:t>确定代码块或语句组的层次</a:t>
            </a:r>
          </a:p>
          <a:p>
            <a:r>
              <a:rPr lang="zh-CN" altLang="en-US" dirty="0"/>
              <a:t>缩进格式：</a:t>
            </a:r>
            <a:r>
              <a:rPr lang="en-US" altLang="zh-CN" dirty="0"/>
              <a:t>Tab </a:t>
            </a:r>
            <a:r>
              <a:rPr lang="zh-CN" altLang="en-US" dirty="0"/>
              <a:t>键或固定数目的空格</a:t>
            </a:r>
          </a:p>
          <a:p>
            <a:pPr lvl="1"/>
            <a:r>
              <a:rPr lang="zh-CN" altLang="en-US" dirty="0"/>
              <a:t>缩进位置：逻辑行的行首，其他位置无所谓</a:t>
            </a:r>
          </a:p>
          <a:p>
            <a:pPr lvl="1"/>
            <a:r>
              <a:rPr lang="zh-CN" altLang="en-US" dirty="0"/>
              <a:t>建议使用两至四个空格作为缩进规范</a:t>
            </a:r>
          </a:p>
          <a:p>
            <a:pPr lvl="1"/>
            <a:r>
              <a:rPr lang="zh-CN" altLang="en-US" dirty="0"/>
              <a:t>缩</a:t>
            </a:r>
            <a:r>
              <a:rPr lang="zh-CN" altLang="en-US" dirty="0" smtClean="0"/>
              <a:t>退（</a:t>
            </a:r>
            <a:r>
              <a:rPr lang="en-US" altLang="zh-CN" dirty="0" err="1" smtClean="0"/>
              <a:t>dedentation</a:t>
            </a:r>
            <a:r>
              <a:rPr lang="zh-CN" altLang="en-US" dirty="0" smtClean="0"/>
              <a:t>）与</a:t>
            </a:r>
            <a:r>
              <a:rPr lang="zh-CN" altLang="en-US" dirty="0"/>
              <a:t>缩进必须匹配</a:t>
            </a:r>
          </a:p>
          <a:p>
            <a:pPr lvl="1"/>
            <a:r>
              <a:rPr lang="zh-CN" altLang="en-US" dirty="0"/>
              <a:t>不建议在单一脚本文件中混合使用空格和 </a:t>
            </a:r>
            <a:r>
              <a:rPr lang="en-US" altLang="zh-CN" dirty="0"/>
              <a:t>Tab </a:t>
            </a:r>
            <a:r>
              <a:rPr lang="zh-CN" altLang="en-US" dirty="0"/>
              <a:t>键</a:t>
            </a:r>
          </a:p>
          <a:p>
            <a:r>
              <a:rPr lang="zh-CN" altLang="en-US" dirty="0"/>
              <a:t>一种关注：</a:t>
            </a:r>
            <a:r>
              <a:rPr lang="en-US" altLang="zh-CN" dirty="0">
                <a:solidFill>
                  <a:srgbClr val="FFFF00"/>
                </a:solidFill>
              </a:rPr>
              <a:t>Python </a:t>
            </a:r>
            <a:r>
              <a:rPr lang="zh-CN" altLang="en-US" dirty="0" smtClean="0">
                <a:solidFill>
                  <a:srgbClr val="FFFF00"/>
                </a:solidFill>
              </a:rPr>
              <a:t>独有特征</a:t>
            </a:r>
            <a:r>
              <a:rPr lang="zh-CN" altLang="en-US" dirty="0">
                <a:solidFill>
                  <a:srgbClr val="FFFF00"/>
                </a:solidFill>
              </a:rPr>
              <a:t>，相当小清新</a:t>
            </a:r>
          </a:p>
          <a:p>
            <a:pPr lvl="1"/>
            <a:r>
              <a:rPr lang="zh-CN" altLang="en-US" dirty="0"/>
              <a:t>不符合缩进和缩退逻辑的代码文本行无法正确编译或执行</a:t>
            </a:r>
          </a:p>
        </p:txBody>
      </p:sp>
    </p:spTree>
    <p:extLst>
      <p:ext uri="{BB962C8B-B14F-4D97-AF65-F5344CB8AC3E}">
        <p14:creationId xmlns:p14="http://schemas.microsoft.com/office/powerpoint/2010/main" val="19889503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1.1.4</a:t>
            </a:r>
            <a:r>
              <a:rPr lang="zh-CN" altLang="en-US" dirty="0"/>
              <a:t>　</a:t>
            </a:r>
            <a:r>
              <a:rPr lang="zh-CN" altLang="en-US" dirty="0" smtClean="0"/>
              <a:t>标识符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标识符定义</a:t>
            </a:r>
            <a:r>
              <a:rPr lang="zh-CN" altLang="en-US" dirty="0"/>
              <a:t>规则</a:t>
            </a:r>
          </a:p>
          <a:p>
            <a:pPr lvl="1"/>
            <a:r>
              <a:rPr lang="zh-CN" altLang="en-US" dirty="0"/>
              <a:t>使用 </a:t>
            </a:r>
            <a:r>
              <a:rPr lang="en-US" altLang="zh-CN" dirty="0"/>
              <a:t>ASCII </a:t>
            </a:r>
            <a:r>
              <a:rPr lang="zh-CN" altLang="en-US" dirty="0"/>
              <a:t>字符集，以</a:t>
            </a:r>
            <a:r>
              <a:rPr lang="zh-CN" altLang="en-US" dirty="0" smtClean="0"/>
              <a:t>下划线或字母</a:t>
            </a:r>
            <a:r>
              <a:rPr lang="zh-CN" altLang="en-US" dirty="0"/>
              <a:t>开头，后跟下划线、字母和数字；标识符长度无限制，但区分大小写</a:t>
            </a:r>
          </a:p>
          <a:p>
            <a:pPr lvl="1"/>
            <a:r>
              <a:rPr lang="zh-CN" altLang="en-US" dirty="0"/>
              <a:t>标识符不得与系统关键字（</a:t>
            </a:r>
            <a:r>
              <a:rPr lang="en-US" altLang="zh-CN" dirty="0"/>
              <a:t>keyword</a:t>
            </a:r>
            <a:r>
              <a:rPr lang="zh-CN" altLang="en-US" dirty="0"/>
              <a:t>）相同</a:t>
            </a:r>
          </a:p>
          <a:p>
            <a:pPr lvl="1"/>
            <a:r>
              <a:rPr lang="zh-CN" altLang="en-US" dirty="0"/>
              <a:t>注意：</a:t>
            </a:r>
            <a:r>
              <a:rPr lang="zh-CN" altLang="en-US" dirty="0">
                <a:solidFill>
                  <a:srgbClr val="FFFF00"/>
                </a:solidFill>
              </a:rPr>
              <a:t>不建议使用</a:t>
            </a:r>
            <a:r>
              <a:rPr lang="zh-CN" altLang="en-US" dirty="0" smtClean="0">
                <a:solidFill>
                  <a:srgbClr val="FFFF00"/>
                </a:solidFill>
              </a:rPr>
              <a:t>使用</a:t>
            </a:r>
            <a:r>
              <a:rPr lang="zh-CN" altLang="en-US" dirty="0">
                <a:solidFill>
                  <a:srgbClr val="FFFF00"/>
                </a:solidFill>
              </a:rPr>
              <a:t>非</a:t>
            </a:r>
            <a:r>
              <a:rPr lang="zh-CN" altLang="en-US" dirty="0" smtClean="0">
                <a:solidFill>
                  <a:srgbClr val="FFFF00"/>
                </a:solidFill>
              </a:rPr>
              <a:t> </a:t>
            </a:r>
            <a:r>
              <a:rPr lang="en-US" altLang="zh-CN" dirty="0" smtClean="0">
                <a:solidFill>
                  <a:srgbClr val="FFFF00"/>
                </a:solidFill>
              </a:rPr>
              <a:t>ASCII </a:t>
            </a:r>
            <a:r>
              <a:rPr lang="zh-CN" altLang="en-US" dirty="0">
                <a:solidFill>
                  <a:srgbClr val="FFFF00"/>
                </a:solidFill>
              </a:rPr>
              <a:t>字符集定义标识符</a:t>
            </a:r>
          </a:p>
          <a:p>
            <a:pPr lvl="2"/>
            <a:r>
              <a:rPr lang="en-US" altLang="zh-CN" dirty="0"/>
              <a:t>Python 3.0 </a:t>
            </a:r>
            <a:r>
              <a:rPr lang="zh-CN" altLang="en-US" dirty="0"/>
              <a:t>之后合法，但容易导致不兼容问题</a:t>
            </a:r>
          </a:p>
          <a:p>
            <a:r>
              <a:rPr lang="zh-CN" altLang="en-US" dirty="0"/>
              <a:t>标识符示例</a:t>
            </a:r>
          </a:p>
          <a:p>
            <a:pPr lvl="1"/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Python</a:t>
            </a:r>
            <a:r>
              <a:rPr lang="zh-CN" altLang="en-US" dirty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python</a:t>
            </a:r>
            <a:r>
              <a:rPr lang="zh-CN" altLang="en-US" dirty="0"/>
              <a:t>、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Deep_Thought</a:t>
            </a:r>
            <a:endParaRPr lang="en-US" altLang="zh-CN" dirty="0"/>
          </a:p>
          <a:p>
            <a:pPr lvl="1"/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Python</a:t>
            </a:r>
            <a:r>
              <a:rPr lang="zh-CN" altLang="en-US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程序设计</a:t>
            </a:r>
            <a:r>
              <a:rPr lang="zh-CN" altLang="en-US" dirty="0" smtClean="0"/>
              <a:t>、</a:t>
            </a:r>
            <a:r>
              <a:rPr lang="zh-CN" altLang="en-US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程序设计</a:t>
            </a:r>
            <a:endParaRPr lang="en-US" altLang="zh-CN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63015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标识符命名规范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命名规则：标识符命名规则应统一</a:t>
            </a:r>
            <a:endParaRPr lang="en-US" altLang="zh-CN" dirty="0" smtClean="0"/>
          </a:p>
          <a:p>
            <a:pPr lvl="1"/>
            <a:r>
              <a:rPr lang="zh-CN" altLang="en-US" dirty="0"/>
              <a:t>不要使用非 </a:t>
            </a:r>
            <a:r>
              <a:rPr lang="en-US" altLang="zh-CN" dirty="0"/>
              <a:t>ASCII </a:t>
            </a:r>
            <a:r>
              <a:rPr lang="zh-CN" altLang="en-US" dirty="0" smtClean="0"/>
              <a:t>字符，以增加</a:t>
            </a:r>
            <a:r>
              <a:rPr lang="zh-CN" altLang="en-US" dirty="0"/>
              <a:t>代码的跨语言可维护性</a:t>
            </a:r>
            <a:endParaRPr lang="en-US" altLang="zh-CN" dirty="0" smtClean="0"/>
          </a:p>
          <a:p>
            <a:r>
              <a:rPr lang="zh-CN" altLang="en-US" dirty="0" smtClean="0"/>
              <a:t>函数名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全小写，单词间使用下划线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函数名应能完整准确描述其功能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函数表示动作。因而应尽量使用动词、动宾词组或系表结构命名函数，已形成历史惯例的例外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函数名尽量不缩写。单词太长的例外</a:t>
            </a:r>
            <a:r>
              <a:rPr lang="zh-CN" altLang="en-US" dirty="0"/>
              <a:t>，已形成历史惯例的</a:t>
            </a:r>
            <a:r>
              <a:rPr lang="zh-CN" altLang="en-US" dirty="0" smtClean="0"/>
              <a:t>例外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如果函数名依然太长，那不是命名的问题，是函数设计的问题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358375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标识符命名规范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　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单词首字母大写，单词间不加下划线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类名尽量不缩写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类的对象名应与类直观对应</a:t>
            </a:r>
            <a:endParaRPr lang="en-US" altLang="zh-CN" dirty="0" smtClean="0"/>
          </a:p>
          <a:p>
            <a:r>
              <a:rPr lang="zh-CN" altLang="en-US" dirty="0" smtClean="0"/>
              <a:t>对象名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大小写均可，是否添加下划线均可，是否简写均可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短程量（在代码文本中持续出现的场合较</a:t>
            </a:r>
            <a:r>
              <a:rPr lang="zh-CN" altLang="en-US" dirty="0"/>
              <a:t>短）可</a:t>
            </a:r>
            <a:r>
              <a:rPr lang="zh-CN" altLang="en-US" dirty="0" smtClean="0"/>
              <a:t>简写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数学、物理等各学科专有量遵照各学科习惯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特殊对象遵照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习惯，在名称前后使用下划线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87969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1.1.5</a:t>
            </a:r>
            <a:r>
              <a:rPr lang="zh-CN" altLang="en-US" dirty="0"/>
              <a:t>　关键字与软关键字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关键字：保留字，全程序</a:t>
            </a:r>
            <a:r>
              <a:rPr lang="zh-CN" altLang="en-US" sz="2400" dirty="0" smtClean="0"/>
              <a:t>有效</a:t>
            </a:r>
            <a:endParaRPr lang="zh-CN" altLang="en-US" sz="2400" dirty="0"/>
          </a:p>
          <a:p>
            <a:pPr lvl="1"/>
            <a:r>
              <a:rPr lang="zh-CN" altLang="en-US" sz="2000" dirty="0"/>
              <a:t>定义：由系统</a:t>
            </a:r>
            <a:r>
              <a:rPr lang="zh-CN" altLang="en-US" sz="2000" dirty="0" smtClean="0"/>
              <a:t>预定</a:t>
            </a:r>
            <a:r>
              <a:rPr lang="zh-CN" altLang="en-US" sz="2000" dirty="0"/>
              <a:t>义，并有特殊意义的标识符</a:t>
            </a:r>
          </a:p>
          <a:p>
            <a:pPr lvl="1"/>
            <a:r>
              <a:rPr lang="zh-CN" altLang="en-US" sz="2000" dirty="0"/>
              <a:t>目的：与语言的语法结构、语义规则、语用环境紧密相关</a:t>
            </a:r>
          </a:p>
          <a:p>
            <a:r>
              <a:rPr lang="zh-CN" altLang="en-US" sz="2400" dirty="0" smtClean="0"/>
              <a:t>软关键字：仅在特定场合有效的关键字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Python 3.10 </a:t>
            </a:r>
            <a:r>
              <a:rPr lang="zh-CN" altLang="en-US" sz="2000" dirty="0" smtClean="0"/>
              <a:t>引入</a:t>
            </a:r>
            <a:endParaRPr lang="en-US" altLang="zh-CN" sz="2000" dirty="0" smtClean="0"/>
          </a:p>
          <a:p>
            <a:r>
              <a:rPr lang="en-US" altLang="zh-CN" sz="2400" dirty="0" smtClean="0"/>
              <a:t>Python 3.10 </a:t>
            </a:r>
            <a:r>
              <a:rPr lang="zh-CN" altLang="en-US" sz="2400" dirty="0"/>
              <a:t>关键字列表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739143"/>
              </p:ext>
            </p:extLst>
          </p:nvPr>
        </p:nvGraphicFramePr>
        <p:xfrm>
          <a:off x="-3" y="3179476"/>
          <a:ext cx="9143999" cy="1727200"/>
        </p:xfrm>
        <a:graphic>
          <a:graphicData uri="http://schemas.openxmlformats.org/drawingml/2006/table">
            <a:tbl>
              <a:tblPr bandRow="1">
                <a:tableStyleId>{0660B408-B3CF-4A94-85FC-2B1E0A45F4A2}</a:tableStyleId>
              </a:tblPr>
              <a:tblGrid>
                <a:gridCol w="211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6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6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6520">
                  <a:extLst>
                    <a:ext uri="{9D8B030D-6E8A-4147-A177-3AD203B41FA5}">
                      <a16:colId xmlns:a16="http://schemas.microsoft.com/office/drawing/2014/main" val="415322376"/>
                    </a:ext>
                  </a:extLst>
                </a:gridCol>
                <a:gridCol w="1116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902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i="0" dirty="0" smtClean="0">
                          <a:solidFill>
                            <a:srgbClr val="FFFF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_</a:t>
                      </a:r>
                      <a:endParaRPr lang="zh-CN" altLang="en-US" sz="2000" b="0" i="0" dirty="0">
                        <a:solidFill>
                          <a:srgbClr val="FFFF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and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as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i="0" dirty="0" err="1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async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i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await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assert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break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FF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case</a:t>
                      </a:r>
                      <a:endParaRPr lang="zh-CN" altLang="en-US" sz="2000" b="0" i="0" dirty="0">
                        <a:solidFill>
                          <a:srgbClr val="FFFF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02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class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continue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err="1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def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del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err="1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elif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else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except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False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902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finally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for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from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global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if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import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in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is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902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lambda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FF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match</a:t>
                      </a:r>
                      <a:endParaRPr lang="zh-CN" altLang="en-US" sz="2000" b="0" i="0" dirty="0">
                        <a:solidFill>
                          <a:srgbClr val="FFFF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None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nonlocal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not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or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pass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raise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902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return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True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try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while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with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zh-CN" sz="20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yield</a:t>
                      </a: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endParaRPr lang="zh-CN" altLang="en-US" sz="20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8624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特定形式标识符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注意：特定形式标识符具有特殊意义</a:t>
            </a:r>
          </a:p>
          <a:p>
            <a:r>
              <a:rPr lang="zh-CN" altLang="en-US" dirty="0" smtClean="0"/>
              <a:t>标识符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_*</a:t>
            </a:r>
            <a:r>
              <a:rPr lang="zh-CN" altLang="en-US" dirty="0" smtClean="0"/>
              <a:t>：在模块内部使用，不可通过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from module import *</a:t>
            </a:r>
            <a:r>
              <a:rPr lang="en-US" altLang="zh-CN" dirty="0"/>
              <a:t> </a:t>
            </a:r>
            <a:r>
              <a:rPr lang="zh-CN" altLang="en-US" dirty="0" smtClean="0"/>
              <a:t>导入</a:t>
            </a:r>
          </a:p>
          <a:p>
            <a:r>
              <a:rPr lang="zh-CN" altLang="en-US" dirty="0" smtClean="0"/>
              <a:t>标识符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_</a:t>
            </a:r>
            <a:r>
              <a:rPr lang="zh-CN" altLang="en-US" dirty="0" smtClean="0"/>
              <a:t>：在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交互模式下表示上一个表达式的结果，在非交互模式下或为软关键字或为普通标识符</a:t>
            </a:r>
          </a:p>
          <a:p>
            <a:r>
              <a:rPr lang="zh-CN" altLang="en-US" dirty="0" smtClean="0"/>
              <a:t>标识符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__*__</a:t>
            </a:r>
            <a:r>
              <a:rPr lang="zh-CN" altLang="en-US" dirty="0" smtClean="0"/>
              <a:t>：系统定义的名称</a:t>
            </a:r>
          </a:p>
          <a:p>
            <a:r>
              <a:rPr lang="zh-CN" altLang="en-US" dirty="0" smtClean="0"/>
              <a:t>标识符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__*</a:t>
            </a:r>
            <a:r>
              <a:rPr lang="zh-CN" altLang="en-US" dirty="0" smtClean="0"/>
              <a:t>：类私有的名称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75988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1.1.6</a:t>
            </a:r>
            <a:r>
              <a:rPr lang="zh-CN" altLang="en-US" dirty="0"/>
              <a:t>　</a:t>
            </a:r>
            <a:r>
              <a:rPr lang="zh-CN" altLang="en-US" dirty="0" smtClean="0"/>
              <a:t>编程风格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恰当的注释：注释尽量占用单独文本行</a:t>
            </a:r>
            <a:endParaRPr lang="en-US" altLang="zh-CN" dirty="0" smtClean="0"/>
          </a:p>
          <a:p>
            <a:r>
              <a:rPr lang="zh-CN" altLang="en-US" dirty="0" smtClean="0"/>
              <a:t>合理的缩进：建议</a:t>
            </a:r>
            <a:r>
              <a:rPr lang="zh-CN" altLang="en-US" dirty="0"/>
              <a:t>行首缩进四个</a:t>
            </a:r>
            <a:r>
              <a:rPr lang="zh-CN" altLang="en-US" dirty="0" smtClean="0"/>
              <a:t>空格宽度，尽量不用 </a:t>
            </a:r>
            <a:r>
              <a:rPr lang="en-US" altLang="zh-CN" dirty="0" smtClean="0"/>
              <a:t>Tab </a:t>
            </a:r>
            <a:r>
              <a:rPr lang="zh-CN" altLang="en-US" dirty="0" smtClean="0"/>
              <a:t>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个人习惯三个空格，缩进四个太宽</a:t>
            </a:r>
            <a:r>
              <a:rPr lang="en-US" altLang="zh-CN" dirty="0" smtClean="0"/>
              <a:t>……</a:t>
            </a:r>
          </a:p>
          <a:p>
            <a:r>
              <a:rPr lang="zh-CN" altLang="en-US" dirty="0" smtClean="0"/>
              <a:t>合理的空格：逗号后与操作符间加空格，左括号后与右括号前尽量不加空格</a:t>
            </a:r>
            <a:endParaRPr lang="en-US" altLang="zh-CN" dirty="0"/>
          </a:p>
          <a:p>
            <a:pPr lvl="1"/>
            <a:r>
              <a:rPr lang="zh-CN" altLang="en-US" dirty="0" smtClean="0"/>
              <a:t>理论上 </a:t>
            </a:r>
            <a:r>
              <a:rPr lang="en-US" altLang="zh-CN" dirty="0"/>
              <a:t>Python </a:t>
            </a:r>
            <a:r>
              <a:rPr lang="zh-CN" altLang="en-US" dirty="0"/>
              <a:t>能</a:t>
            </a:r>
            <a:r>
              <a:rPr lang="zh-CN" altLang="en-US" dirty="0" smtClean="0"/>
              <a:t>处理此处空格</a:t>
            </a:r>
            <a:r>
              <a:rPr lang="zh-CN" altLang="en-US" dirty="0"/>
              <a:t>，但</a:t>
            </a:r>
            <a:r>
              <a:rPr lang="zh-CN" altLang="en-US" dirty="0" smtClean="0"/>
              <a:t>有时有问题，原因未知</a:t>
            </a:r>
            <a:endParaRPr lang="zh-CN" altLang="en-US" dirty="0"/>
          </a:p>
          <a:p>
            <a:r>
              <a:rPr lang="zh-CN" altLang="en-US" dirty="0" smtClean="0"/>
              <a:t>行</a:t>
            </a:r>
            <a:r>
              <a:rPr lang="zh-CN" altLang="zh-CN" dirty="0"/>
              <a:t>　</a:t>
            </a:r>
            <a:r>
              <a:rPr lang="zh-CN" altLang="en-US" dirty="0" smtClean="0"/>
              <a:t>宽：每行代码尽量不超过 </a:t>
            </a:r>
            <a:r>
              <a:rPr lang="en-US" altLang="zh-CN" dirty="0" smtClean="0"/>
              <a:t>79 </a:t>
            </a:r>
            <a:r>
              <a:rPr lang="zh-CN" altLang="en-US" dirty="0" smtClean="0"/>
              <a:t>个字符，有助于多窗口代码比对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326142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1.1.6</a:t>
            </a:r>
            <a:r>
              <a:rPr lang="zh-CN" altLang="en-US" dirty="0"/>
              <a:t>　</a:t>
            </a:r>
            <a:r>
              <a:rPr lang="zh-CN" altLang="en-US" dirty="0" smtClean="0"/>
              <a:t>编程风格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留</a:t>
            </a:r>
            <a:r>
              <a:rPr lang="zh-CN" altLang="zh-CN" dirty="0"/>
              <a:t>　</a:t>
            </a:r>
            <a:r>
              <a:rPr lang="zh-CN" altLang="en-US" dirty="0" smtClean="0"/>
              <a:t>白：使用空白行分隔函数定义、类定义与复杂语句块内部代码，有助于增加代码可读性</a:t>
            </a:r>
            <a:endParaRPr lang="en-US" altLang="zh-CN" dirty="0" smtClean="0"/>
          </a:p>
          <a:p>
            <a:r>
              <a:rPr lang="zh-CN" altLang="en-US" dirty="0" smtClean="0"/>
              <a:t>解释充分的文档字符串：使用文档字符串，有助于文档生成自动化</a:t>
            </a:r>
            <a:endParaRPr lang="en-US" altLang="zh-CN" dirty="0" smtClean="0"/>
          </a:p>
          <a:p>
            <a:r>
              <a:rPr lang="zh-CN" altLang="en-US" dirty="0" smtClean="0"/>
              <a:t>保守的字符集：除了字符串内容与注释外，不建议使用非 </a:t>
            </a:r>
            <a:r>
              <a:rPr lang="en-US" altLang="zh-CN" dirty="0" smtClean="0"/>
              <a:t>ASCII </a:t>
            </a:r>
            <a:r>
              <a:rPr lang="zh-CN" altLang="en-US" dirty="0" smtClean="0"/>
              <a:t>码字符</a:t>
            </a:r>
            <a:endParaRPr lang="en-US" altLang="zh-CN" dirty="0" smtClean="0"/>
          </a:p>
          <a:p>
            <a:r>
              <a:rPr lang="zh-CN" altLang="en-US" dirty="0" smtClean="0"/>
              <a:t>合理且清晰的命令规则</a:t>
            </a:r>
            <a:endParaRPr lang="en-US" altLang="zh-CN" dirty="0" smtClean="0"/>
          </a:p>
          <a:p>
            <a:r>
              <a:rPr lang="zh-CN" altLang="en-US" dirty="0" smtClean="0"/>
              <a:t>恰当的编码规范：</a:t>
            </a:r>
            <a:r>
              <a:rPr lang="en-US" altLang="zh-CN" dirty="0" smtClean="0"/>
              <a:t>UTF-8 </a:t>
            </a:r>
            <a:r>
              <a:rPr lang="zh-CN" altLang="en-US" dirty="0"/>
              <a:t>或 </a:t>
            </a:r>
            <a:r>
              <a:rPr lang="en-US" altLang="zh-CN" dirty="0"/>
              <a:t>ASCII </a:t>
            </a:r>
            <a:r>
              <a:rPr lang="zh-CN" altLang="en-US" dirty="0"/>
              <a:t>有助于代码移植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768894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1.1</a:t>
            </a:r>
            <a:r>
              <a:rPr lang="zh-CN" altLang="en-US" dirty="0"/>
              <a:t>　程序文本结构</a:t>
            </a:r>
            <a:br>
              <a:rPr lang="zh-CN" altLang="en-US" dirty="0"/>
            </a:br>
            <a:r>
              <a:rPr lang="en-US" altLang="zh-CN" dirty="0">
                <a:solidFill>
                  <a:srgbClr val="FFFF00"/>
                </a:solidFill>
              </a:rPr>
              <a:t>1.2</a:t>
            </a:r>
            <a:r>
              <a:rPr lang="zh-CN" altLang="en-US" dirty="0">
                <a:solidFill>
                  <a:srgbClr val="FFFF00"/>
                </a:solidFill>
              </a:rPr>
              <a:t>　对象与型式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表达式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语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句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数值与数学计算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　基本</a:t>
            </a:r>
            <a:r>
              <a:rPr lang="zh-CN" alt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输入输出</a:t>
            </a:r>
            <a:endParaRPr lang="zh-CN" alt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基础文法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7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</a:t>
            </a:r>
            <a:r>
              <a:rPr lang="zh-CN" altLang="en-US" dirty="0"/>
              <a:t>　</a:t>
            </a:r>
            <a:r>
              <a:rPr lang="zh-CN" altLang="en-US" dirty="0" smtClean="0"/>
              <a:t>对象与型式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1.2.1</a:t>
            </a:r>
            <a:r>
              <a:rPr lang="zh-CN" altLang="en-US" dirty="0" smtClean="0"/>
              <a:t>　对象基本特征</a:t>
            </a:r>
            <a:endParaRPr lang="zh-CN" altLang="en-US" dirty="0"/>
          </a:p>
          <a:p>
            <a:r>
              <a:rPr lang="en-US" altLang="zh-CN" dirty="0" smtClean="0"/>
              <a:t>1.2.2</a:t>
            </a:r>
            <a:r>
              <a:rPr lang="zh-CN" altLang="en-US" dirty="0"/>
              <a:t>　</a:t>
            </a:r>
            <a:r>
              <a:rPr lang="zh-CN" altLang="en-US" dirty="0" smtClean="0"/>
              <a:t>数值型式</a:t>
            </a:r>
            <a:endParaRPr lang="zh-CN" altLang="en-US" dirty="0"/>
          </a:p>
          <a:p>
            <a:r>
              <a:rPr lang="en-US" altLang="zh-CN" dirty="0" smtClean="0"/>
              <a:t>1.2.3</a:t>
            </a:r>
            <a:r>
              <a:rPr lang="zh-CN" altLang="en-US" dirty="0"/>
              <a:t>　文　字</a:t>
            </a:r>
          </a:p>
          <a:p>
            <a:r>
              <a:rPr lang="en-US" altLang="zh-CN" dirty="0" smtClean="0"/>
              <a:t>1.2.4</a:t>
            </a:r>
            <a:r>
              <a:rPr lang="zh-CN" altLang="en-US" dirty="0"/>
              <a:t>　</a:t>
            </a:r>
            <a:r>
              <a:rPr lang="zh-CN" altLang="en-US" dirty="0" smtClean="0"/>
              <a:t>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1.2.1</a:t>
            </a:r>
            <a:r>
              <a:rPr lang="zh-CN" altLang="en-US" dirty="0"/>
              <a:t>　</a:t>
            </a:r>
            <a:r>
              <a:rPr lang="zh-CN" altLang="en-US" dirty="0" smtClean="0"/>
              <a:t>型式与对象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数据：需要处理或已经处理的信息</a:t>
            </a:r>
          </a:p>
          <a:p>
            <a:r>
              <a:rPr lang="zh-CN" altLang="en-US" dirty="0"/>
              <a:t>对象（</a:t>
            </a:r>
            <a:r>
              <a:rPr lang="en-US" altLang="zh-CN" dirty="0"/>
              <a:t>object</a:t>
            </a:r>
            <a:r>
              <a:rPr lang="zh-CN" altLang="en-US" dirty="0"/>
              <a:t>）：数据抽象</a:t>
            </a:r>
          </a:p>
          <a:p>
            <a:pPr lvl="1"/>
            <a:r>
              <a:rPr lang="en-US" altLang="zh-CN" dirty="0"/>
              <a:t>Python </a:t>
            </a:r>
            <a:r>
              <a:rPr lang="zh-CN" altLang="en-US" dirty="0"/>
              <a:t>语言使用对象及对象间的关系描述全部数据</a:t>
            </a:r>
          </a:p>
          <a:p>
            <a:pPr lvl="1"/>
            <a:r>
              <a:rPr lang="zh-CN" altLang="en-US" dirty="0" smtClean="0"/>
              <a:t>于 </a:t>
            </a:r>
            <a:r>
              <a:rPr lang="en-US" altLang="zh-CN" dirty="0"/>
              <a:t>Python </a:t>
            </a:r>
            <a:r>
              <a:rPr lang="zh-CN" altLang="en-US" dirty="0"/>
              <a:t>而言，</a:t>
            </a:r>
            <a:r>
              <a:rPr lang="zh-CN" altLang="en-US" dirty="0">
                <a:solidFill>
                  <a:srgbClr val="FFFF00"/>
                </a:solidFill>
              </a:rPr>
              <a:t>凡物皆对象</a:t>
            </a:r>
          </a:p>
          <a:p>
            <a:r>
              <a:rPr lang="zh-CN" altLang="en-US" dirty="0"/>
              <a:t>对象的三大基本特征</a:t>
            </a:r>
          </a:p>
          <a:p>
            <a:pPr lvl="1"/>
            <a:r>
              <a:rPr lang="zh-CN" altLang="en-US" dirty="0" smtClean="0"/>
              <a:t>本征值（</a:t>
            </a:r>
            <a:r>
              <a:rPr lang="en-US" altLang="zh-CN" dirty="0" smtClean="0"/>
              <a:t>identity</a:t>
            </a:r>
            <a:r>
              <a:rPr lang="zh-CN" altLang="en-US" dirty="0" smtClean="0"/>
              <a:t>）</a:t>
            </a:r>
          </a:p>
          <a:p>
            <a:pPr lvl="1"/>
            <a:r>
              <a:rPr lang="zh-CN" altLang="en-US" dirty="0" smtClean="0"/>
              <a:t>型式（</a:t>
            </a:r>
            <a:r>
              <a:rPr lang="en-US" altLang="zh-CN" dirty="0" smtClean="0"/>
              <a:t>type</a:t>
            </a:r>
            <a:r>
              <a:rPr lang="zh-CN" altLang="en-US" dirty="0" smtClean="0"/>
              <a:t>）</a:t>
            </a:r>
          </a:p>
          <a:p>
            <a:pPr lvl="1"/>
            <a:r>
              <a:rPr lang="zh-CN" altLang="en-US" dirty="0" smtClean="0"/>
              <a:t>值（</a:t>
            </a:r>
            <a:r>
              <a:rPr lang="en-US" altLang="zh-CN" dirty="0" smtClean="0"/>
              <a:t>value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0301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本征值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本征值：用于区分不同对象的本质信息</a:t>
            </a:r>
            <a:endParaRPr lang="zh-CN" altLang="en-US" dirty="0"/>
          </a:p>
          <a:p>
            <a:pPr lvl="1"/>
            <a:r>
              <a:rPr lang="zh-CN" altLang="en-US" dirty="0"/>
              <a:t>实现方式：</a:t>
            </a:r>
            <a:r>
              <a:rPr lang="en-US" altLang="zh-CN" dirty="0"/>
              <a:t>Python </a:t>
            </a:r>
            <a:r>
              <a:rPr lang="zh-CN" altLang="en-US" dirty="0"/>
              <a:t>表示对象本征值的方式与具体实现有关</a:t>
            </a:r>
          </a:p>
          <a:p>
            <a:pPr marL="828000" lvl="3"/>
            <a:r>
              <a:rPr lang="en-US" altLang="zh-CN" sz="2200" dirty="0" err="1"/>
              <a:t>CPython</a:t>
            </a:r>
            <a:r>
              <a:rPr lang="en-US" altLang="zh-CN" sz="2200" dirty="0"/>
              <a:t> </a:t>
            </a:r>
            <a:r>
              <a:rPr lang="zh-CN" altLang="en-US" sz="2200" dirty="0"/>
              <a:t>实现：对象本征值为其在内存中的存储地址</a:t>
            </a:r>
          </a:p>
          <a:p>
            <a:pPr lvl="1"/>
            <a:r>
              <a:rPr lang="zh-CN" altLang="en-US" dirty="0" smtClean="0"/>
              <a:t>类比</a:t>
            </a:r>
            <a:r>
              <a:rPr lang="zh-CN" altLang="en-US" dirty="0"/>
              <a:t>：人的身份证号码</a:t>
            </a:r>
          </a:p>
          <a:p>
            <a:r>
              <a:rPr lang="zh-CN" altLang="en-US" dirty="0" smtClean="0"/>
              <a:t>本征值特征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唯一性、有常性（一经</a:t>
            </a:r>
            <a:r>
              <a:rPr lang="zh-CN" altLang="en-US" dirty="0"/>
              <a:t>创设即无法</a:t>
            </a:r>
            <a:r>
              <a:rPr lang="zh-CN" altLang="en-US" dirty="0" smtClean="0"/>
              <a:t>变更）</a:t>
            </a:r>
            <a:endParaRPr lang="en-US" altLang="zh-CN" dirty="0" smtClean="0"/>
          </a:p>
          <a:p>
            <a:r>
              <a:rPr lang="zh-CN" altLang="en-US" dirty="0" smtClean="0"/>
              <a:t>本征值函数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id()</a:t>
            </a:r>
            <a:r>
              <a:rPr lang="zh-CN" altLang="en-US" dirty="0" smtClean="0"/>
              <a:t>：返回对象本征值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示例：在 </a:t>
            </a:r>
            <a:r>
              <a:rPr lang="en-US" altLang="zh-CN" dirty="0" err="1"/>
              <a:t>Cpython</a:t>
            </a:r>
            <a:r>
              <a:rPr lang="en-US" altLang="zh-CN" dirty="0"/>
              <a:t> </a:t>
            </a:r>
            <a:r>
              <a:rPr lang="zh-CN" altLang="en-US" dirty="0"/>
              <a:t>实现中</a:t>
            </a:r>
            <a:r>
              <a:rPr lang="zh-CN" altLang="en-US" dirty="0" smtClean="0"/>
              <a:t>，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id(1)</a:t>
            </a:r>
            <a:r>
              <a:rPr lang="zh-CN" altLang="en-US" dirty="0" smtClean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id(object)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分别返回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object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的本征值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47513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本征值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4145179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【</a:t>
            </a:r>
            <a:r>
              <a:rPr lang="zh-CN" altLang="en-US" dirty="0"/>
              <a:t>例</a:t>
            </a:r>
            <a:r>
              <a:rPr lang="en-US" altLang="zh-CN" dirty="0" smtClean="0"/>
              <a:t>1.1】</a:t>
            </a:r>
            <a:r>
              <a:rPr lang="zh-CN" altLang="zh-CN" dirty="0" smtClean="0"/>
              <a:t>输入</a:t>
            </a:r>
            <a:r>
              <a:rPr lang="zh-CN" altLang="zh-CN" dirty="0"/>
              <a:t>下述命令，查看其输出</a:t>
            </a:r>
            <a:r>
              <a:rPr lang="zh-CN" altLang="zh-CN" dirty="0" smtClean="0"/>
              <a:t>结果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对象本征值的表示</a:t>
            </a:r>
            <a:r>
              <a:rPr lang="zh-CN" altLang="en-US" dirty="0"/>
              <a:t>方式</a:t>
            </a:r>
            <a:r>
              <a:rPr lang="zh-CN" altLang="en-US" dirty="0" smtClean="0"/>
              <a:t>与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解释器实现</a:t>
            </a:r>
            <a:r>
              <a:rPr lang="zh-CN" altLang="en-US" dirty="0"/>
              <a:t>策略</a:t>
            </a:r>
            <a:r>
              <a:rPr lang="zh-CN" altLang="en-US" dirty="0" smtClean="0"/>
              <a:t>有关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对于 </a:t>
            </a:r>
            <a:r>
              <a:rPr lang="en-US" altLang="zh-CN" dirty="0" err="1" smtClean="0"/>
              <a:t>CPython</a:t>
            </a:r>
            <a:r>
              <a:rPr lang="en-US" altLang="zh-CN" dirty="0" smtClean="0"/>
              <a:t> </a:t>
            </a:r>
            <a:r>
              <a:rPr lang="zh-CN" altLang="en-US" dirty="0" smtClean="0"/>
              <a:t>实现，</a:t>
            </a:r>
            <a:r>
              <a:rPr lang="zh-CN" altLang="en-US" dirty="0"/>
              <a:t>对象的本征值为其在内存中的存储</a:t>
            </a:r>
            <a:r>
              <a:rPr lang="zh-CN" altLang="en-US" dirty="0" smtClean="0"/>
              <a:t>地址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9906"/>
            <a:ext cx="8877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id(0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)</a:t>
            </a:r>
            <a:endParaRPr lang="zh-CN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2583863754960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id(1.1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)</a:t>
            </a:r>
            <a:endParaRPr lang="zh-CN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2583868905200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id('Python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')</a:t>
            </a:r>
            <a:endParaRPr lang="zh-CN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2583865094000</a:t>
            </a:r>
            <a:endParaRPr lang="pt-BR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0138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本征值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4133227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【</a:t>
            </a:r>
            <a:r>
              <a:rPr lang="zh-CN" altLang="en-US" dirty="0"/>
              <a:t>例</a:t>
            </a:r>
            <a:r>
              <a:rPr lang="en-US" altLang="zh-CN" dirty="0" smtClean="0"/>
              <a:t>1.2】</a:t>
            </a:r>
            <a:r>
              <a:rPr lang="zh-CN" altLang="zh-CN" dirty="0" smtClean="0"/>
              <a:t>输入</a:t>
            </a:r>
            <a:r>
              <a:rPr lang="zh-CN" altLang="zh-CN" dirty="0"/>
              <a:t>下述命令，查看其输出</a:t>
            </a:r>
            <a:r>
              <a:rPr lang="zh-CN" altLang="zh-CN" dirty="0" smtClean="0"/>
              <a:t>结果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Python </a:t>
            </a:r>
            <a:r>
              <a:rPr lang="zh-CN" altLang="en-US" dirty="0" smtClean="0"/>
              <a:t>小整数使用单子模式实现：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[-5, 256]</a:t>
            </a:r>
          </a:p>
          <a:p>
            <a:pPr lvl="1"/>
            <a:r>
              <a:rPr lang="zh-CN" altLang="en-US" dirty="0"/>
              <a:t>单子</a:t>
            </a:r>
            <a:r>
              <a:rPr lang="zh-CN" altLang="en-US" dirty="0" smtClean="0"/>
              <a:t>模式：在</a:t>
            </a:r>
            <a:r>
              <a:rPr lang="zh-CN" altLang="en-US" dirty="0"/>
              <a:t>整个程序运行期间，只为某个类保留唯一一份对象</a:t>
            </a:r>
            <a:r>
              <a:rPr lang="zh-CN" altLang="en-US" dirty="0" smtClean="0"/>
              <a:t>副本。如果已构造，访问之；如果未构造，构造并访问之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9906"/>
            <a:ext cx="8877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a, b, c, d = -6, -5, 256,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257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e, f, g, h = -6, -5, 256,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257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print(id(a), id(b), id(c), id(d), </a:t>
            </a:r>
            <a:r>
              <a:rPr lang="en-US" altLang="zh-CN" sz="200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sep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= ', 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2583898436208,  2583863754800,  2583863763152,  2583898436304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print(id(e), id(f), id(g), id(h), </a:t>
            </a:r>
            <a:r>
              <a:rPr lang="en-US" altLang="zh-CN" sz="200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sep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=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', 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2583898436464,  2583863754800,  2583863763152,  </a:t>
            </a:r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2583898436176</a:t>
            </a:r>
            <a:endParaRPr lang="pt-BR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8166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型　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型式（</a:t>
            </a:r>
            <a:r>
              <a:rPr lang="en-US" altLang="zh-CN" dirty="0" smtClean="0"/>
              <a:t>type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Python </a:t>
            </a:r>
            <a:r>
              <a:rPr lang="zh-CN" altLang="en-US" dirty="0" smtClean="0"/>
              <a:t>为纯面向对象（</a:t>
            </a:r>
            <a:r>
              <a:rPr lang="en-US" altLang="zh-CN" dirty="0" smtClean="0"/>
              <a:t>object-oriented</a:t>
            </a:r>
            <a:r>
              <a:rPr lang="zh-CN" altLang="en-US" dirty="0" smtClean="0"/>
              <a:t>）语言，因此在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中，所有</a:t>
            </a:r>
            <a:r>
              <a:rPr lang="zh-CN" altLang="en-US" dirty="0"/>
              <a:t>型式均为类（</a:t>
            </a:r>
            <a:r>
              <a:rPr lang="en-US" altLang="zh-CN" dirty="0"/>
              <a:t>class</a:t>
            </a:r>
            <a:r>
              <a:rPr lang="zh-CN" altLang="en-US" dirty="0"/>
              <a:t>）型式，简称</a:t>
            </a:r>
            <a:r>
              <a:rPr lang="zh-CN" altLang="en-US" dirty="0" smtClean="0"/>
              <a:t>类型</a:t>
            </a:r>
            <a:endParaRPr lang="en-US" altLang="zh-CN" dirty="0" smtClean="0"/>
          </a:p>
          <a:p>
            <a:r>
              <a:rPr lang="zh-CN" altLang="en-US" dirty="0" smtClean="0"/>
              <a:t>类：面向对象语言</a:t>
            </a:r>
            <a:r>
              <a:rPr lang="zh-CN" altLang="en-US" dirty="0"/>
              <a:t>中的一种特殊型</a:t>
            </a:r>
            <a:r>
              <a:rPr lang="zh-CN" altLang="en-US" dirty="0" smtClean="0"/>
              <a:t>式</a:t>
            </a:r>
            <a:endParaRPr lang="zh-CN" altLang="en-US" dirty="0"/>
          </a:p>
          <a:p>
            <a:pPr lvl="1"/>
            <a:r>
              <a:rPr lang="zh-CN" altLang="en-US" dirty="0" smtClean="0"/>
              <a:t>类型式意义：构造对象属性（</a:t>
            </a:r>
            <a:r>
              <a:rPr lang="en-US" altLang="zh-CN" dirty="0" smtClean="0"/>
              <a:t>attribute</a:t>
            </a:r>
            <a:r>
              <a:rPr lang="zh-CN" altLang="en-US" dirty="0" smtClean="0"/>
              <a:t>）和行为（</a:t>
            </a:r>
            <a:r>
              <a:rPr lang="en-US" altLang="zh-CN" dirty="0" smtClean="0"/>
              <a:t>behavior</a:t>
            </a:r>
            <a:r>
              <a:rPr lang="zh-CN" altLang="en-US" dirty="0" smtClean="0"/>
              <a:t>）的辩证统一关系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类与对象的属性为其数据</a:t>
            </a:r>
            <a:r>
              <a:rPr lang="zh-CN" altLang="en-US" dirty="0"/>
              <a:t>成员</a:t>
            </a:r>
            <a:r>
              <a:rPr lang="zh-CN" altLang="en-US" dirty="0" smtClean="0"/>
              <a:t>，对象的行为为该对象上可执行的操作成员，后者也称为方法（</a:t>
            </a:r>
            <a:r>
              <a:rPr lang="en-US" altLang="zh-CN" dirty="0" smtClean="0"/>
              <a:t>method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5493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型　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型</a:t>
            </a:r>
            <a:r>
              <a:rPr lang="zh-CN" altLang="en-US" dirty="0" smtClean="0"/>
              <a:t>式函数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type()</a:t>
            </a:r>
            <a:r>
              <a:rPr lang="zh-CN" altLang="en-US" dirty="0" smtClean="0"/>
              <a:t>：返回对象型式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示例：如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type(1)</a:t>
            </a:r>
            <a:r>
              <a:rPr lang="zh-CN" altLang="en-US" dirty="0" smtClean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type(1.1)</a:t>
            </a:r>
            <a:r>
              <a:rPr lang="zh-CN" altLang="en-US" dirty="0" smtClean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type("Python")</a:t>
            </a:r>
            <a:endParaRPr lang="zh-CN" altLang="en-US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r>
              <a:rPr lang="zh-CN" altLang="en-US" dirty="0" smtClean="0"/>
              <a:t>对象型式</a:t>
            </a:r>
            <a:endParaRPr lang="zh-CN" altLang="en-US" dirty="0"/>
          </a:p>
          <a:p>
            <a:pPr lvl="1"/>
            <a:r>
              <a:rPr lang="zh-CN" altLang="en-US" dirty="0" smtClean="0"/>
              <a:t>型式用于构造该型式的对象，故任何</a:t>
            </a:r>
            <a:r>
              <a:rPr lang="zh-CN" altLang="en-US" dirty="0"/>
              <a:t>对象都具有确定型式，一般不可改变</a:t>
            </a:r>
            <a:endParaRPr lang="en-US" altLang="zh-CN" dirty="0"/>
          </a:p>
          <a:p>
            <a:pPr lvl="1"/>
            <a:r>
              <a:rPr lang="zh-CN" altLang="en-US" dirty="0" smtClean="0"/>
              <a:t>凡是</a:t>
            </a:r>
            <a:r>
              <a:rPr lang="zh-CN" altLang="en-US" dirty="0"/>
              <a:t>总有例外：有时确实可能改变</a:t>
            </a:r>
            <a:r>
              <a:rPr lang="zh-CN" altLang="en-US" dirty="0" smtClean="0"/>
              <a:t>对象型式；</a:t>
            </a:r>
            <a:r>
              <a:rPr lang="zh-CN" altLang="en-US" dirty="0"/>
              <a:t>但请你</a:t>
            </a:r>
            <a:r>
              <a:rPr lang="en-US" altLang="zh-CN" dirty="0"/>
              <a:t>——</a:t>
            </a:r>
            <a:r>
              <a:rPr lang="zh-CN" altLang="en-US" dirty="0"/>
              <a:t>尽量不要改变</a:t>
            </a:r>
            <a:r>
              <a:rPr lang="zh-CN" altLang="en-US" dirty="0" smtClean="0"/>
              <a:t>对象</a:t>
            </a:r>
            <a:r>
              <a:rPr lang="zh-CN" altLang="en-US" dirty="0"/>
              <a:t>型式</a:t>
            </a:r>
            <a:r>
              <a:rPr lang="zh-CN" altLang="en-US" dirty="0" smtClean="0"/>
              <a:t>，</a:t>
            </a:r>
            <a:r>
              <a:rPr lang="zh-CN" altLang="en-US" dirty="0"/>
              <a:t>否则容易导致奇怪的程序行为</a:t>
            </a:r>
          </a:p>
          <a:p>
            <a:pPr lvl="1"/>
            <a:r>
              <a:rPr lang="zh-CN" altLang="en-US" dirty="0" smtClean="0"/>
              <a:t>示例：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为整数类型</a:t>
            </a:r>
            <a:r>
              <a:rPr lang="zh-CN" altLang="en-US" dirty="0"/>
              <a:t>（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int</a:t>
            </a:r>
            <a:r>
              <a:rPr lang="zh-CN" altLang="en-US" dirty="0" smtClean="0"/>
              <a:t>），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1.1</a:t>
            </a:r>
            <a:r>
              <a:rPr lang="en-US" altLang="zh-CN" dirty="0" smtClean="0"/>
              <a:t> </a:t>
            </a:r>
            <a:r>
              <a:rPr lang="zh-CN" altLang="en-US" dirty="0" smtClean="0"/>
              <a:t>为实数类型（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float</a:t>
            </a:r>
            <a:r>
              <a:rPr lang="zh-CN" altLang="en-US" dirty="0" smtClean="0"/>
              <a:t>），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"Python" </a:t>
            </a:r>
            <a:r>
              <a:rPr lang="zh-CN" altLang="en-US" dirty="0" smtClean="0"/>
              <a:t>为</a:t>
            </a:r>
            <a:r>
              <a:rPr lang="zh-CN" altLang="en-US" dirty="0"/>
              <a:t>字符串</a:t>
            </a:r>
            <a:r>
              <a:rPr lang="zh-CN" altLang="en-US" dirty="0" smtClean="0"/>
              <a:t>类型（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str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34746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型　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FFFF00"/>
                </a:solidFill>
              </a:rPr>
              <a:t>∵　凡物皆对象　∴　型式亦有相</a:t>
            </a:r>
            <a:endParaRPr lang="en-US" altLang="zh-CN" dirty="0">
              <a:solidFill>
                <a:srgbClr val="FFFF00"/>
              </a:solidFill>
            </a:endParaRPr>
          </a:p>
          <a:p>
            <a:pPr lvl="1"/>
            <a:r>
              <a:rPr lang="zh-CN" altLang="en-US" dirty="0"/>
              <a:t>型式同样也是 </a:t>
            </a:r>
            <a:r>
              <a:rPr lang="en-US" altLang="zh-CN" dirty="0"/>
              <a:t>Python </a:t>
            </a:r>
            <a:r>
              <a:rPr lang="zh-CN" altLang="en-US" dirty="0"/>
              <a:t>中的对象</a:t>
            </a:r>
          </a:p>
          <a:p>
            <a:pPr lvl="1"/>
            <a:r>
              <a:rPr lang="zh-CN" altLang="en-US" dirty="0" smtClean="0"/>
              <a:t>诡异（</a:t>
            </a:r>
            <a:r>
              <a:rPr lang="en-US" altLang="zh-CN" dirty="0" err="1" smtClean="0"/>
              <a:t>weired</a:t>
            </a:r>
            <a:r>
              <a:rPr lang="en-US" altLang="zh-CN" dirty="0" smtClean="0"/>
              <a:t> /uncanny</a:t>
            </a:r>
            <a:r>
              <a:rPr lang="zh-CN" altLang="en-US" dirty="0" smtClean="0"/>
              <a:t>）</a:t>
            </a:r>
            <a:r>
              <a:rPr lang="en-US" altLang="zh-CN" dirty="0"/>
              <a:t>……</a:t>
            </a:r>
          </a:p>
          <a:p>
            <a:r>
              <a:rPr lang="zh-CN" altLang="en-US" dirty="0" smtClean="0"/>
              <a:t>型式对象</a:t>
            </a:r>
            <a:endParaRPr lang="zh-CN" altLang="en-US" dirty="0"/>
          </a:p>
          <a:p>
            <a:pPr lvl="1"/>
            <a:r>
              <a:rPr lang="zh-CN" altLang="en-US" dirty="0" smtClean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id() </a:t>
            </a:r>
            <a:r>
              <a:rPr lang="zh-CN" altLang="en-US" dirty="0" smtClean="0"/>
              <a:t>与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type()</a:t>
            </a:r>
            <a:r>
              <a:rPr lang="zh-CN" altLang="en-US" dirty="0" smtClean="0"/>
              <a:t>：获取某个型式对象的本征值和型式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示例一：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id(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int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)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返回整数类型对象的本征值</a:t>
            </a:r>
            <a:endParaRPr lang="zh-CN" altLang="en-US" dirty="0"/>
          </a:p>
          <a:p>
            <a:pPr lvl="1"/>
            <a:r>
              <a:rPr lang="zh-CN" altLang="en-US" dirty="0" smtClean="0"/>
              <a:t>示例二：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type(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str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)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返回字符串类型对象的型式</a:t>
            </a:r>
            <a:endParaRPr lang="en-US" altLang="zh-CN" dirty="0" smtClean="0"/>
          </a:p>
          <a:p>
            <a:pPr lvl="1"/>
            <a:r>
              <a:rPr lang="zh-CN" altLang="en-US" dirty="0"/>
              <a:t>示例二：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type(type)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返回型式对象的型式（仍为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type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3312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型式对象赋值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一种关注</a:t>
            </a:r>
            <a:endParaRPr lang="zh-CN" altLang="en-US" dirty="0"/>
          </a:p>
          <a:p>
            <a:pPr lvl="1"/>
            <a:r>
              <a:rPr lang="zh-CN" altLang="en-US" dirty="0" smtClean="0"/>
              <a:t>既然型式也是对象，那么如果对一个型式对象赋值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659516"/>
            <a:ext cx="44071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int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type(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int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id(float)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type(float)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int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is float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4590430" y="1656527"/>
            <a:ext cx="44071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int</a:t>
            </a:r>
            <a:r>
              <a:rPr lang="en-US" altLang="zh-CN" sz="2000" dirty="0" smtClean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= float</a:t>
            </a:r>
            <a:endParaRPr lang="en-US" altLang="zh-CN" sz="2000" dirty="0">
              <a:solidFill>
                <a:srgbClr val="FFFF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int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type(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int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id(float)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type(float)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int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is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float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2433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值：对象在程序运行期间保存的数据</a:t>
            </a:r>
          </a:p>
          <a:p>
            <a:pPr lvl="1"/>
            <a:r>
              <a:rPr lang="zh-CN" altLang="en-US" dirty="0"/>
              <a:t>无常对象（</a:t>
            </a:r>
            <a:r>
              <a:rPr lang="en-US" altLang="zh-CN" dirty="0"/>
              <a:t>mutable</a:t>
            </a:r>
            <a:r>
              <a:rPr lang="zh-CN" altLang="en-US" dirty="0"/>
              <a:t>）：值可能变更的对象</a:t>
            </a:r>
          </a:p>
          <a:p>
            <a:pPr lvl="1"/>
            <a:r>
              <a:rPr lang="zh-CN" altLang="en-US" dirty="0"/>
              <a:t>有常对象（</a:t>
            </a:r>
            <a:r>
              <a:rPr lang="en-US" altLang="zh-CN" dirty="0"/>
              <a:t>immutable</a:t>
            </a:r>
            <a:r>
              <a:rPr lang="zh-CN" altLang="en-US" dirty="0"/>
              <a:t>） ：值不能变更的对象</a:t>
            </a:r>
          </a:p>
          <a:p>
            <a:r>
              <a:rPr lang="zh-CN" altLang="en-US" dirty="0"/>
              <a:t>一种关注</a:t>
            </a:r>
          </a:p>
          <a:p>
            <a:pPr lvl="1"/>
            <a:r>
              <a:rPr lang="zh-CN" altLang="en-US" dirty="0" smtClean="0"/>
              <a:t>对象的有常性和无常</a:t>
            </a:r>
            <a:r>
              <a:rPr lang="zh-CN" altLang="en-US" dirty="0"/>
              <a:t>性由</a:t>
            </a:r>
            <a:r>
              <a:rPr lang="zh-CN" altLang="en-US" dirty="0" smtClean="0"/>
              <a:t>其型式确定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数值（</a:t>
            </a:r>
            <a:r>
              <a:rPr lang="en-US" altLang="zh-CN" dirty="0" smtClean="0"/>
              <a:t>numeric</a:t>
            </a:r>
            <a:r>
              <a:rPr lang="zh-CN" altLang="en-US" dirty="0" smtClean="0"/>
              <a:t>）、字符串（</a:t>
            </a:r>
            <a:r>
              <a:rPr lang="en-US" altLang="zh-CN" dirty="0" smtClean="0"/>
              <a:t>string</a:t>
            </a:r>
            <a:r>
              <a:rPr lang="zh-CN" altLang="en-US" dirty="0" smtClean="0"/>
              <a:t>）和元组（</a:t>
            </a:r>
            <a:r>
              <a:rPr lang="en-US" altLang="zh-CN" dirty="0" smtClean="0"/>
              <a:t>tuple</a:t>
            </a:r>
            <a:r>
              <a:rPr lang="zh-CN" altLang="en-US" dirty="0" smtClean="0"/>
              <a:t>）为</a:t>
            </a:r>
            <a:r>
              <a:rPr lang="zh-CN" altLang="en-US" dirty="0"/>
              <a:t>有常对象</a:t>
            </a:r>
            <a:r>
              <a:rPr lang="zh-CN" altLang="en-US" dirty="0" smtClean="0"/>
              <a:t>，字典（</a:t>
            </a:r>
            <a:r>
              <a:rPr lang="en-US" altLang="zh-CN" dirty="0" smtClean="0"/>
              <a:t>dictionary</a:t>
            </a:r>
            <a:r>
              <a:rPr lang="zh-CN" altLang="en-US" dirty="0" smtClean="0"/>
              <a:t>）和列表（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）为</a:t>
            </a:r>
            <a:r>
              <a:rPr lang="zh-CN" altLang="en-US" dirty="0"/>
              <a:t>无常对象</a:t>
            </a:r>
          </a:p>
          <a:p>
            <a:pPr lvl="2"/>
            <a:r>
              <a:rPr lang="zh-CN" altLang="en-US" dirty="0" smtClean="0"/>
              <a:t>有</a:t>
            </a:r>
            <a:r>
              <a:rPr lang="zh-CN" altLang="en-US" dirty="0"/>
              <a:t>常</a:t>
            </a:r>
            <a:r>
              <a:rPr lang="zh-CN" altLang="en-US" dirty="0" smtClean="0"/>
              <a:t>容器（</a:t>
            </a:r>
            <a:r>
              <a:rPr lang="en-US" altLang="zh-CN" dirty="0" smtClean="0"/>
              <a:t>container</a:t>
            </a:r>
            <a:r>
              <a:rPr lang="zh-CN" altLang="en-US" dirty="0" smtClean="0"/>
              <a:t>）对象</a:t>
            </a:r>
            <a:r>
              <a:rPr lang="zh-CN" altLang="en-US" dirty="0"/>
              <a:t>可能</a:t>
            </a:r>
            <a:r>
              <a:rPr lang="zh-CN" altLang="en-US" dirty="0" smtClean="0"/>
              <a:t>包含无常</a:t>
            </a:r>
            <a:r>
              <a:rPr lang="zh-CN" altLang="en-US" dirty="0"/>
              <a:t>元素对象，前者值不可变，后者则不然；容器：包含对其他对象的引用的</a:t>
            </a:r>
            <a:r>
              <a:rPr lang="zh-CN" altLang="en-US" dirty="0" smtClean="0"/>
              <a:t>对象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48750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1.2.2</a:t>
            </a:r>
            <a:r>
              <a:rPr lang="zh-CN" altLang="en-US" dirty="0"/>
              <a:t>　</a:t>
            </a:r>
            <a:r>
              <a:rPr lang="zh-CN" altLang="en-US" dirty="0" smtClean="0"/>
              <a:t>数值型式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整数类型式：简称整型，名称为 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int</a:t>
            </a:r>
            <a:endParaRPr lang="zh-CN" altLang="en-US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pPr lvl="1"/>
            <a:r>
              <a:rPr lang="zh-CN" altLang="en-US" dirty="0" smtClean="0"/>
              <a:t>取值范围为正负无穷大，仅受限于计算机内存容量</a:t>
            </a:r>
            <a:endParaRPr lang="en-US" altLang="zh-CN" dirty="0" smtClean="0"/>
          </a:p>
          <a:p>
            <a:r>
              <a:rPr lang="zh-CN" altLang="en-US" dirty="0" smtClean="0"/>
              <a:t>实数类型</a:t>
            </a:r>
            <a:r>
              <a:rPr lang="zh-CN" altLang="en-US" dirty="0"/>
              <a:t>式</a:t>
            </a:r>
            <a:r>
              <a:rPr lang="zh-CN" altLang="en-US" dirty="0" smtClean="0"/>
              <a:t>：简称实型，名称</a:t>
            </a:r>
            <a:r>
              <a:rPr lang="zh-CN" altLang="en-US" dirty="0"/>
              <a:t>为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float</a:t>
            </a:r>
            <a:endParaRPr lang="zh-CN" altLang="en-US" b="0" dirty="0"/>
          </a:p>
          <a:p>
            <a:pPr lvl="1"/>
            <a:r>
              <a:rPr lang="zh-CN" altLang="en-US" dirty="0" smtClean="0"/>
              <a:t>受限于计算机的内部表示，实型的取值范围有限制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数值可能存在误差</a:t>
            </a:r>
          </a:p>
          <a:p>
            <a:r>
              <a:rPr lang="zh-CN" altLang="en-US" dirty="0" smtClean="0"/>
              <a:t>复数类型式：简称复型，名称为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complex</a:t>
            </a:r>
            <a:endParaRPr lang="zh-CN" altLang="en-US" b="0" dirty="0" smtClean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实部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c.real</a:t>
            </a:r>
            <a:r>
              <a:rPr lang="en-US" altLang="zh-CN" dirty="0"/>
              <a:t> </a:t>
            </a:r>
            <a:r>
              <a:rPr lang="zh-CN" altLang="en-US" dirty="0" smtClean="0"/>
              <a:t>与虚部 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c.imag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的取值范围与实型相同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1521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1.2.3</a:t>
            </a:r>
            <a:r>
              <a:rPr lang="zh-CN" altLang="en-US" dirty="0"/>
              <a:t>　文　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文字（</a:t>
            </a:r>
            <a:r>
              <a:rPr lang="en-US" altLang="zh-CN" dirty="0"/>
              <a:t>literal</a:t>
            </a:r>
            <a:r>
              <a:rPr lang="zh-CN" altLang="en-US" dirty="0" smtClean="0"/>
              <a:t>）：内置型式的</a:t>
            </a:r>
            <a:r>
              <a:rPr lang="zh-CN" altLang="en-US" dirty="0"/>
              <a:t>有常值，类似</a:t>
            </a:r>
            <a:r>
              <a:rPr lang="zh-CN" altLang="en-US" dirty="0" smtClean="0"/>
              <a:t>常数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FF00"/>
                </a:solidFill>
              </a:rPr>
              <a:t>文字亦</a:t>
            </a:r>
            <a:r>
              <a:rPr lang="zh-CN" altLang="en-US" dirty="0" smtClean="0">
                <a:solidFill>
                  <a:srgbClr val="FFFF00"/>
                </a:solidFill>
              </a:rPr>
              <a:t>对象</a:t>
            </a:r>
            <a:endParaRPr lang="zh-CN" altLang="en-US" dirty="0">
              <a:solidFill>
                <a:srgbClr val="FFFF00"/>
              </a:solidFill>
            </a:endParaRPr>
          </a:p>
          <a:p>
            <a:r>
              <a:rPr lang="zh-CN" altLang="en-US" dirty="0" smtClean="0"/>
              <a:t>文字种类</a:t>
            </a:r>
            <a:endParaRPr lang="zh-CN" altLang="en-US" dirty="0"/>
          </a:p>
          <a:p>
            <a:pPr lvl="1"/>
            <a:r>
              <a:rPr lang="zh-CN" altLang="en-US" dirty="0"/>
              <a:t>数值文字：</a:t>
            </a:r>
            <a:r>
              <a:rPr lang="zh-CN" altLang="en-US" dirty="0" smtClean="0"/>
              <a:t>整型文字</a:t>
            </a:r>
            <a:r>
              <a:rPr lang="zh-CN" altLang="en-US" dirty="0"/>
              <a:t>、</a:t>
            </a:r>
            <a:r>
              <a:rPr lang="zh-CN" altLang="en-US" dirty="0" smtClean="0"/>
              <a:t>实型文字</a:t>
            </a:r>
            <a:r>
              <a:rPr lang="zh-CN" altLang="en-US" dirty="0"/>
              <a:t>、</a:t>
            </a:r>
            <a:r>
              <a:rPr lang="zh-CN" altLang="en-US" dirty="0" smtClean="0"/>
              <a:t>复型文字</a:t>
            </a:r>
            <a:endParaRPr lang="zh-CN" altLang="en-US" dirty="0"/>
          </a:p>
          <a:p>
            <a:pPr lvl="1"/>
            <a:r>
              <a:rPr lang="zh-CN" altLang="en-US" dirty="0" smtClean="0"/>
              <a:t>字符串及字节串型文字</a:t>
            </a:r>
            <a:endParaRPr lang="en-US" altLang="zh-CN" dirty="0" smtClean="0"/>
          </a:p>
          <a:p>
            <a:r>
              <a:rPr lang="en-US" altLang="zh-CN" dirty="0"/>
              <a:t>Python </a:t>
            </a:r>
            <a:r>
              <a:rPr lang="zh-CN" altLang="en-US" dirty="0"/>
              <a:t>没有字符型，只有字符串型</a:t>
            </a:r>
            <a:endParaRPr lang="en-US" altLang="zh-CN" dirty="0" smtClean="0"/>
          </a:p>
          <a:p>
            <a:pPr lvl="1"/>
            <a:r>
              <a:rPr lang="zh-CN" altLang="en-US" dirty="0"/>
              <a:t>汉字（全角字符）虽然在输出占据两个半角字符的宽度，但实际计数只按单个字符</a:t>
            </a:r>
            <a:r>
              <a:rPr lang="zh-CN" altLang="en-US" dirty="0" smtClean="0"/>
              <a:t>计算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这为输出对齐带来了问题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28889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整型文字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整数类型：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int</a:t>
            </a:r>
            <a:endParaRPr lang="en-US" altLang="zh-CN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r>
              <a:rPr lang="zh-CN" altLang="en-US" dirty="0"/>
              <a:t>整数取值范围：正负无穷大</a:t>
            </a:r>
          </a:p>
          <a:p>
            <a:pPr lvl="1"/>
            <a:r>
              <a:rPr lang="zh-CN" altLang="en-US" dirty="0"/>
              <a:t>实际取值范围受限于计算机内存容量</a:t>
            </a:r>
          </a:p>
          <a:p>
            <a:r>
              <a:rPr lang="zh-CN" altLang="en-US" dirty="0"/>
              <a:t>整数表示：除十进制，一般无正负号（有亦合法）</a:t>
            </a:r>
          </a:p>
          <a:p>
            <a:pPr lvl="1"/>
            <a:r>
              <a:rPr lang="zh-CN" altLang="en-US" dirty="0"/>
              <a:t>二进制：“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</a:t>
            </a:r>
            <a:r>
              <a:rPr lang="en-US" altLang="zh-CN" dirty="0"/>
              <a:t>”</a:t>
            </a:r>
            <a:r>
              <a:rPr lang="zh-CN" altLang="en-US" dirty="0"/>
              <a:t>或“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</a:t>
            </a:r>
            <a:r>
              <a:rPr lang="en-US" altLang="zh-CN" dirty="0"/>
              <a:t>”</a:t>
            </a:r>
            <a:r>
              <a:rPr lang="zh-CN" altLang="en-US" dirty="0"/>
              <a:t>起始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</a:t>
            </a:r>
            <a:r>
              <a:rPr lang="en-US" altLang="zh-CN" dirty="0"/>
              <a:t> </a:t>
            </a:r>
            <a:r>
              <a:rPr lang="zh-CN" altLang="en-US" dirty="0"/>
              <a:t>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</a:t>
            </a:r>
            <a:r>
              <a:rPr lang="en-US" altLang="zh-CN" dirty="0"/>
              <a:t> </a:t>
            </a:r>
            <a:r>
              <a:rPr lang="zh-CN" altLang="en-US" dirty="0"/>
              <a:t>序列，如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0b0101</a:t>
            </a:r>
          </a:p>
          <a:p>
            <a:pPr lvl="1"/>
            <a:r>
              <a:rPr lang="zh-CN" altLang="en-US" dirty="0"/>
              <a:t>八进制：“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0O</a:t>
            </a:r>
            <a:r>
              <a:rPr lang="en-US" altLang="zh-CN" dirty="0"/>
              <a:t>”</a:t>
            </a:r>
            <a:r>
              <a:rPr lang="zh-CN" altLang="en-US" dirty="0"/>
              <a:t>或“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0o</a:t>
            </a:r>
            <a:r>
              <a:rPr lang="en-US" altLang="zh-CN" dirty="0"/>
              <a:t>”</a:t>
            </a:r>
            <a:r>
              <a:rPr lang="zh-CN" altLang="en-US" dirty="0"/>
              <a:t>起始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</a:t>
            </a:r>
            <a:r>
              <a:rPr lang="en-US" altLang="zh-CN" dirty="0"/>
              <a:t> </a:t>
            </a:r>
            <a:r>
              <a:rPr lang="zh-CN" altLang="en-US" dirty="0"/>
              <a:t>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7</a:t>
            </a:r>
            <a:r>
              <a:rPr lang="en-US" altLang="zh-CN" dirty="0"/>
              <a:t> </a:t>
            </a:r>
            <a:r>
              <a:rPr lang="zh-CN" altLang="en-US" dirty="0"/>
              <a:t>序列，如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0o2017</a:t>
            </a:r>
          </a:p>
          <a:p>
            <a:pPr lvl="1"/>
            <a:r>
              <a:rPr lang="zh-CN" altLang="en-US" dirty="0"/>
              <a:t>十进制：普通整数表示，如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1812</a:t>
            </a:r>
          </a:p>
          <a:p>
            <a:pPr lvl="1"/>
            <a:r>
              <a:rPr lang="zh-CN" altLang="en-US" dirty="0"/>
              <a:t>十六进制：“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0X</a:t>
            </a:r>
            <a:r>
              <a:rPr lang="en-US" altLang="zh-CN" dirty="0"/>
              <a:t>”</a:t>
            </a:r>
            <a:r>
              <a:rPr lang="zh-CN" altLang="en-US" dirty="0"/>
              <a:t>或“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0x</a:t>
            </a:r>
            <a:r>
              <a:rPr lang="en-US" altLang="zh-CN" dirty="0"/>
              <a:t>”</a:t>
            </a:r>
            <a:r>
              <a:rPr lang="zh-CN" altLang="en-US" dirty="0"/>
              <a:t>起始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/>
              <a:t>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9</a:t>
            </a:r>
            <a:r>
              <a:rPr lang="zh-CN" altLang="en-US" dirty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A/a</a:t>
            </a:r>
            <a:r>
              <a:rPr lang="en-US" altLang="zh-CN" dirty="0"/>
              <a:t> </a:t>
            </a:r>
            <a:r>
              <a:rPr lang="zh-CN" altLang="en-US" dirty="0"/>
              <a:t>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F/f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/>
              <a:t>序列，如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0xABADCAD</a:t>
            </a:r>
          </a:p>
        </p:txBody>
      </p:sp>
    </p:spTree>
    <p:extLst>
      <p:ext uri="{BB962C8B-B14F-4D97-AF65-F5344CB8AC3E}">
        <p14:creationId xmlns:p14="http://schemas.microsoft.com/office/powerpoint/2010/main" val="22228872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实型文字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实数（浮点数）类型：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float</a:t>
            </a:r>
          </a:p>
          <a:p>
            <a:r>
              <a:rPr lang="zh-CN" altLang="en-US" dirty="0"/>
              <a:t>实数表示：使用小数点区分整数与实数</a:t>
            </a:r>
          </a:p>
          <a:p>
            <a:pPr lvl="1"/>
            <a:r>
              <a:rPr lang="zh-CN" altLang="en-US" dirty="0"/>
              <a:t>普通表示法：如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-2.71828</a:t>
            </a:r>
            <a:r>
              <a:rPr lang="zh-CN" altLang="en-US" dirty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2.</a:t>
            </a:r>
            <a:r>
              <a:rPr lang="zh-CN" altLang="en-US" dirty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.101</a:t>
            </a:r>
          </a:p>
          <a:p>
            <a:pPr lvl="1"/>
            <a:r>
              <a:rPr lang="zh-CN" altLang="en-US" dirty="0"/>
              <a:t>科学计数法：以“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</a:t>
            </a:r>
            <a:r>
              <a:rPr lang="en-US" altLang="zh-CN" dirty="0"/>
              <a:t>”</a:t>
            </a:r>
            <a:r>
              <a:rPr lang="zh-CN" altLang="en-US" dirty="0"/>
              <a:t>或“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</a:t>
            </a:r>
            <a:r>
              <a:rPr lang="en-US" altLang="zh-CN" dirty="0"/>
              <a:t>”</a:t>
            </a:r>
            <a:r>
              <a:rPr lang="zh-CN" altLang="en-US" dirty="0"/>
              <a:t>连接尾数与指数部分，以 </a:t>
            </a:r>
            <a:r>
              <a:rPr lang="en-US" altLang="zh-CN" dirty="0"/>
              <a:t>10 </a:t>
            </a:r>
            <a:r>
              <a:rPr lang="zh-CN" altLang="en-US" dirty="0"/>
              <a:t>为基底，如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6.18034e-1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/>
              <a:t>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0.618034</a:t>
            </a:r>
          </a:p>
          <a:p>
            <a:r>
              <a:rPr lang="zh-CN" altLang="en-US" dirty="0"/>
              <a:t>实数取值范围</a:t>
            </a:r>
          </a:p>
          <a:p>
            <a:pPr lvl="1"/>
            <a:r>
              <a:rPr lang="zh-CN" altLang="en-US" dirty="0"/>
              <a:t>最大值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1.7976_9313_4862_3157e+308</a:t>
            </a:r>
          </a:p>
          <a:p>
            <a:pPr lvl="1"/>
            <a:r>
              <a:rPr lang="zh-CN" altLang="en-US" dirty="0"/>
              <a:t>最小值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2.2250_7385_8507_2014e-308</a:t>
            </a:r>
          </a:p>
        </p:txBody>
      </p:sp>
    </p:spTree>
    <p:extLst>
      <p:ext uri="{BB962C8B-B14F-4D97-AF65-F5344CB8AC3E}">
        <p14:creationId xmlns:p14="http://schemas.microsoft.com/office/powerpoint/2010/main" val="21056915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实数表示误差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实数表示误差</a:t>
            </a:r>
          </a:p>
          <a:p>
            <a:pPr lvl="1"/>
            <a:r>
              <a:rPr lang="zh-CN" altLang="en-US" dirty="0"/>
              <a:t>有效数字 </a:t>
            </a:r>
            <a:r>
              <a:rPr lang="en-US" altLang="zh-CN" dirty="0"/>
              <a:t>16 </a:t>
            </a:r>
            <a:r>
              <a:rPr lang="zh-CN" altLang="en-US" dirty="0"/>
              <a:t>位，精确数字 </a:t>
            </a:r>
            <a:r>
              <a:rPr lang="en-US" altLang="zh-CN" dirty="0"/>
              <a:t>15 </a:t>
            </a:r>
            <a:r>
              <a:rPr lang="zh-CN" altLang="en-US" dirty="0"/>
              <a:t>位</a:t>
            </a:r>
          </a:p>
          <a:p>
            <a:pPr lvl="1"/>
            <a:r>
              <a:rPr lang="zh-CN" altLang="en-US" dirty="0"/>
              <a:t>存在误差，最小差值为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2.2204_4604_9250_313e-16</a:t>
            </a:r>
          </a:p>
          <a:p>
            <a:r>
              <a:rPr lang="zh-CN" altLang="en-US" dirty="0"/>
              <a:t>实数运算</a:t>
            </a:r>
            <a:r>
              <a:rPr lang="zh-CN" altLang="en-US" dirty="0" smtClean="0"/>
              <a:t>示例</a:t>
            </a:r>
            <a:endParaRPr lang="zh-CN" altLang="en-US" dirty="0"/>
          </a:p>
          <a:p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r>
              <a:rPr lang="zh-CN" altLang="en-US" dirty="0" smtClean="0"/>
              <a:t>实数精确</a:t>
            </a:r>
            <a:r>
              <a:rPr lang="zh-CN" altLang="en-US" dirty="0"/>
              <a:t>表示：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decimal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 smtClean="0"/>
              <a:t>模块</a:t>
            </a:r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94733" y="2609827"/>
            <a:ext cx="8877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1.1 + 2.2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3.3000000000000003</a:t>
            </a: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0.1 + 0.1 + 0.1 -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0.3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5.551115123125783e-17</a:t>
            </a:r>
            <a:endParaRPr lang="zh-CN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1825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复型文字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虚数：实部为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0.0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/>
              <a:t>的复数</a:t>
            </a:r>
          </a:p>
          <a:p>
            <a:pPr lvl="1"/>
            <a:r>
              <a:rPr lang="zh-CN" altLang="en-US" dirty="0"/>
              <a:t>虚数取值范围：与实数同</a:t>
            </a:r>
          </a:p>
          <a:p>
            <a:pPr lvl="1"/>
            <a:r>
              <a:rPr lang="zh-CN" altLang="en-US" dirty="0"/>
              <a:t>虚数表示：整数或实数后添加“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J</a:t>
            </a:r>
            <a:r>
              <a:rPr lang="en-US" altLang="zh-CN" dirty="0"/>
              <a:t>”</a:t>
            </a:r>
            <a:r>
              <a:rPr lang="zh-CN" altLang="en-US" dirty="0"/>
              <a:t>或“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j</a:t>
            </a:r>
            <a:r>
              <a:rPr lang="en-US" altLang="zh-CN" dirty="0"/>
              <a:t>”</a:t>
            </a:r>
            <a:r>
              <a:rPr lang="zh-CN" altLang="en-US" dirty="0"/>
              <a:t>后缀</a:t>
            </a:r>
          </a:p>
          <a:p>
            <a:r>
              <a:rPr lang="zh-CN" altLang="en-US" dirty="0"/>
              <a:t>复数</a:t>
            </a:r>
            <a:r>
              <a:rPr lang="zh-CN" altLang="en-US" dirty="0" smtClean="0"/>
              <a:t>类型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复数表示：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+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bj</a:t>
            </a:r>
            <a:r>
              <a:rPr lang="zh-CN" altLang="en-US" dirty="0"/>
              <a:t>，实部和虚部均为浮点数</a:t>
            </a:r>
          </a:p>
          <a:p>
            <a:pPr lvl="1"/>
            <a:r>
              <a:rPr lang="zh-CN" altLang="en-US" dirty="0"/>
              <a:t>对于复数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c</a:t>
            </a:r>
            <a:r>
              <a:rPr lang="zh-CN" altLang="en-US" dirty="0"/>
              <a:t>，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c.real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和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c.imag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分别为其实部和虚部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3555937"/>
            <a:ext cx="8877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 smtClean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1.23 + 4.56j.imag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5.789999999999999</a:t>
            </a:r>
          </a:p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(1.23 + 4.56j).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imag</a:t>
            </a:r>
            <a:endParaRPr lang="en-US" altLang="zh-CN" sz="2000" dirty="0" smtClean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4.56</a:t>
            </a:r>
            <a:endParaRPr lang="zh-CN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159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  <a:r>
              <a:rPr lang="zh-CN" altLang="en-US" dirty="0" smtClean="0"/>
              <a:t>分节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注意：</a:t>
            </a:r>
            <a:r>
              <a:rPr lang="en-US" altLang="zh-CN" dirty="0"/>
              <a:t>Python 3.6 </a:t>
            </a:r>
            <a:r>
              <a:rPr lang="zh-CN" altLang="en-US" dirty="0"/>
              <a:t>以后适用</a:t>
            </a:r>
          </a:p>
          <a:p>
            <a:r>
              <a:rPr lang="zh-CN" altLang="en-US" dirty="0"/>
              <a:t>允许使用下划线对数字进行分节，以增强可读性</a:t>
            </a:r>
          </a:p>
          <a:p>
            <a:r>
              <a:rPr lang="zh-CN" altLang="en-US" dirty="0"/>
              <a:t>所有数值型均</a:t>
            </a:r>
            <a:r>
              <a:rPr lang="zh-CN" altLang="en-US" dirty="0" smtClean="0"/>
              <a:t>适用</a:t>
            </a:r>
            <a:endParaRPr lang="en-US" altLang="zh-CN" dirty="0" smtClean="0"/>
          </a:p>
          <a:p>
            <a:r>
              <a:rPr lang="zh-CN" altLang="en-US" dirty="0"/>
              <a:t>整数分节</a:t>
            </a:r>
          </a:p>
          <a:p>
            <a:pPr lvl="1"/>
            <a:r>
              <a:rPr lang="zh-CN" altLang="en-US" dirty="0"/>
              <a:t>示例：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0b_10_100_100</a:t>
            </a:r>
            <a:r>
              <a:rPr lang="zh-CN" altLang="en-US" dirty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0O0_2_000</a:t>
            </a:r>
            <a:r>
              <a:rPr lang="zh-CN" altLang="en-US" dirty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1949_2049</a:t>
            </a:r>
            <a:r>
              <a:rPr lang="zh-CN" altLang="en-US" dirty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1.000_000_001</a:t>
            </a:r>
            <a:r>
              <a:rPr lang="zh-CN" altLang="en-US" dirty="0" smtClean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1.111_111 + 9.999_999j</a:t>
            </a:r>
            <a:r>
              <a:rPr lang="zh-CN" altLang="en-US" dirty="0"/>
              <a:t>、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0x_DECADE_CAFE</a:t>
            </a:r>
          </a:p>
        </p:txBody>
      </p:sp>
    </p:spTree>
    <p:extLst>
      <p:ext uri="{BB962C8B-B14F-4D97-AF65-F5344CB8AC3E}">
        <p14:creationId xmlns:p14="http://schemas.microsoft.com/office/powerpoint/2010/main" val="5574953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串型文字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字符串类型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str</a:t>
            </a:r>
            <a:r>
              <a:rPr lang="zh-CN" altLang="en-US" dirty="0"/>
              <a:t>：字符序列</a:t>
            </a:r>
            <a:endParaRPr lang="en-US" altLang="zh-CN" dirty="0"/>
          </a:p>
          <a:p>
            <a:pPr lvl="1"/>
            <a:r>
              <a:rPr lang="zh-CN" altLang="en-US" dirty="0"/>
              <a:t>注意：</a:t>
            </a:r>
            <a:r>
              <a:rPr lang="en-US" altLang="zh-CN" dirty="0"/>
              <a:t>Python</a:t>
            </a:r>
            <a:r>
              <a:rPr lang="zh-CN" altLang="en-US" dirty="0"/>
              <a:t> 无字符类型</a:t>
            </a:r>
          </a:p>
          <a:p>
            <a:pPr lvl="1"/>
            <a:r>
              <a:rPr lang="zh-CN" altLang="en-US" dirty="0"/>
              <a:t>字符串</a:t>
            </a:r>
            <a:r>
              <a:rPr lang="zh-CN" altLang="en-US" dirty="0" smtClean="0"/>
              <a:t>编码为 </a:t>
            </a:r>
            <a:r>
              <a:rPr lang="en-US" altLang="zh-CN" dirty="0" smtClean="0"/>
              <a:t>Unicode</a:t>
            </a:r>
            <a:r>
              <a:rPr lang="zh-CN" altLang="en-US" dirty="0" smtClean="0"/>
              <a:t>，单个</a:t>
            </a:r>
            <a:r>
              <a:rPr lang="zh-CN" altLang="en-US" dirty="0"/>
              <a:t>中文字符和英文字符均计数为一</a:t>
            </a:r>
            <a:endParaRPr lang="en-US" altLang="zh-CN" dirty="0"/>
          </a:p>
          <a:p>
            <a:r>
              <a:rPr lang="zh-CN" altLang="en-US" dirty="0" smtClean="0"/>
              <a:t>普通串型文字</a:t>
            </a:r>
            <a:endParaRPr lang="zh-CN" altLang="en-US" dirty="0"/>
          </a:p>
          <a:p>
            <a:pPr lvl="1"/>
            <a:r>
              <a:rPr lang="zh-CN" altLang="en-US" dirty="0" smtClean="0"/>
              <a:t>由统一码（</a:t>
            </a:r>
            <a:r>
              <a:rPr lang="en-US" altLang="zh-CN" dirty="0" smtClean="0"/>
              <a:t>Unicode</a:t>
            </a:r>
            <a:r>
              <a:rPr lang="zh-CN" altLang="en-US" dirty="0" smtClean="0"/>
              <a:t>）构成的字符串文字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由单引号对、双引号对、三引号对（单双均可）</a:t>
            </a:r>
            <a:endParaRPr lang="zh-CN" altLang="en-US" dirty="0"/>
          </a:p>
          <a:p>
            <a:pPr lvl="1"/>
            <a:r>
              <a:rPr lang="zh-CN" altLang="en-US" dirty="0" smtClean="0"/>
              <a:t>示例：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"Python"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'Python'</a:t>
            </a:r>
          </a:p>
          <a:p>
            <a:r>
              <a:rPr lang="zh-CN" altLang="en-US" dirty="0" smtClean="0"/>
              <a:t>字节串型文字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加字母“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b</a:t>
            </a:r>
            <a:r>
              <a:rPr lang="zh-CN" altLang="en-US" dirty="0" smtClean="0"/>
              <a:t>”前缀，表示字节（</a:t>
            </a:r>
            <a:r>
              <a:rPr lang="en-US" altLang="zh-CN" dirty="0" smtClean="0"/>
              <a:t>byte</a:t>
            </a:r>
            <a:r>
              <a:rPr lang="zh-CN" altLang="en-US" dirty="0"/>
              <a:t>）和二进制（</a:t>
            </a:r>
            <a:r>
              <a:rPr lang="en-US" altLang="zh-CN" dirty="0"/>
              <a:t>binary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b"Python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"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b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'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Python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'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84999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串型文字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原生</a:t>
            </a:r>
            <a:r>
              <a:rPr lang="zh-CN" altLang="en-US" dirty="0" smtClean="0"/>
              <a:t>串型文字</a:t>
            </a:r>
            <a:endParaRPr lang="zh-CN" altLang="en-US" dirty="0"/>
          </a:p>
          <a:p>
            <a:pPr lvl="1"/>
            <a:r>
              <a:rPr lang="zh-CN" altLang="en-US" dirty="0"/>
              <a:t>加字母</a:t>
            </a:r>
            <a:r>
              <a:rPr lang="zh-CN" altLang="en-US" dirty="0" smtClean="0"/>
              <a:t>“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r</a:t>
            </a:r>
            <a:r>
              <a:rPr lang="zh-CN" altLang="en-US" dirty="0" smtClean="0"/>
              <a:t>”</a:t>
            </a:r>
            <a:r>
              <a:rPr lang="zh-CN" altLang="en-US" dirty="0"/>
              <a:t>前缀，</a:t>
            </a:r>
            <a:r>
              <a:rPr lang="zh-CN" altLang="en-US" dirty="0" smtClean="0"/>
              <a:t>表示字符串中无转义字符序列</a:t>
            </a:r>
            <a:endParaRPr lang="en-US" altLang="zh-CN" dirty="0"/>
          </a:p>
          <a:p>
            <a:pPr lvl="1"/>
            <a:r>
              <a:rPr lang="zh-CN" altLang="en-US" dirty="0" smtClean="0"/>
              <a:t>示例：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r"Python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"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r'Python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'</a:t>
            </a:r>
            <a:endParaRPr lang="en-US" altLang="zh-CN" b="0" dirty="0" smtClean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r>
              <a:rPr lang="zh-CN" altLang="en-US" dirty="0" smtClean="0"/>
              <a:t>格式化串型文字（</a:t>
            </a:r>
            <a:r>
              <a:rPr lang="en-US" altLang="zh-CN" dirty="0" smtClean="0"/>
              <a:t>f-string</a:t>
            </a:r>
            <a:r>
              <a:rPr lang="zh-CN" altLang="en-US" dirty="0" smtClean="0"/>
              <a:t>，法串）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 smtClean="0"/>
              <a:t>加字母“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</a:t>
            </a:r>
            <a:r>
              <a:rPr lang="zh-CN" altLang="en-US" dirty="0" smtClean="0"/>
              <a:t>”前缀，表示其带有格式化信息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可与普通串型文字和原生串型文字联用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示例：对于法串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f"{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name!r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} is very interesting!"</a:t>
            </a:r>
            <a:r>
              <a:rPr lang="zh-CN" altLang="en-US" dirty="0" smtClean="0"/>
              <a:t>，在变量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name</a:t>
            </a:r>
            <a:r>
              <a:rPr lang="zh-CN" altLang="en-US" dirty="0" smtClean="0"/>
              <a:t> 值为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'Python'</a:t>
            </a:r>
            <a:r>
              <a:rPr lang="zh-CN" altLang="en-US" dirty="0" smtClean="0"/>
              <a:t> 时，自动替换为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"'Python' is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very interesting!"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03555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转义字符序列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转义字符序列：以字符“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\</a:t>
            </a:r>
            <a:r>
              <a:rPr lang="en-US" altLang="zh-CN" dirty="0"/>
              <a:t>”</a:t>
            </a:r>
            <a:r>
              <a:rPr lang="zh-CN" altLang="en-US" dirty="0" smtClean="0"/>
              <a:t>起始，表示特殊活动</a:t>
            </a:r>
            <a:endParaRPr lang="en-US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786891"/>
              </p:ext>
            </p:extLst>
          </p:nvPr>
        </p:nvGraphicFramePr>
        <p:xfrm>
          <a:off x="194732" y="1231160"/>
          <a:ext cx="8740091" cy="3666806"/>
        </p:xfrm>
        <a:graphic>
          <a:graphicData uri="http://schemas.openxmlformats.org/drawingml/2006/table">
            <a:tbl>
              <a:tblPr firstRow="1" firstCol="1" bandRow="1">
                <a:tableStyleId>{68D230F3-CF80-4859-8CE7-A43EE81993B5}</a:tableStyleId>
              </a:tblPr>
              <a:tblGrid>
                <a:gridCol w="1723715">
                  <a:extLst>
                    <a:ext uri="{9D8B030D-6E8A-4147-A177-3AD203B41FA5}">
                      <a16:colId xmlns:a16="http://schemas.microsoft.com/office/drawing/2014/main" val="3555466874"/>
                    </a:ext>
                  </a:extLst>
                </a:gridCol>
                <a:gridCol w="7016376">
                  <a:extLst>
                    <a:ext uri="{9D8B030D-6E8A-4147-A177-3AD203B41FA5}">
                      <a16:colId xmlns:a16="http://schemas.microsoft.com/office/drawing/2014/main" val="2442943628"/>
                    </a:ext>
                  </a:extLst>
                </a:gridCol>
              </a:tblGrid>
              <a:tr h="2592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转义字符</a:t>
                      </a:r>
                      <a:r>
                        <a:rPr 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序列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释　义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0152939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\\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字符“</a:t>
                      </a:r>
                      <a:r>
                        <a:rPr lang="en-US" sz="120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</a:rPr>
                        <a:t>\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”自身。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1483531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\'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字符“</a:t>
                      </a:r>
                      <a:r>
                        <a:rPr lang="en-US" sz="120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'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”。仅在以字符“</a:t>
                      </a:r>
                      <a:r>
                        <a:rPr lang="en-US" sz="120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'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”为定界符的字符串中需要转义。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820782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\"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字符“</a:t>
                      </a:r>
                      <a:r>
                        <a:rPr lang="en-US" sz="120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"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”。仅在以字符“</a:t>
                      </a:r>
                      <a:r>
                        <a:rPr lang="en-US" sz="120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"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”为定界符的字符串中需要转义。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2660896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\a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ASCII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码字符，响铃。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7772355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\b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ASCII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码字符，退格。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8046190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\f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ASCII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码字符，换页。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8309957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\n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ASCII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码字符，换行。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2527189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\N{name}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支持字符别名。统一码数据库中被命名</a:t>
                      </a:r>
                      <a:r>
                        <a:rPr 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为</a:t>
                      </a:r>
                      <a:r>
                        <a:rPr lang="en-US" alt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 </a:t>
                      </a:r>
                      <a:r>
                        <a:rPr lang="en-US" sz="1200" b="0" kern="100" dirty="0" smtClean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name</a:t>
                      </a:r>
                      <a:r>
                        <a:rPr lang="en-US" sz="1200" kern="100" dirty="0" smtClean="0">
                          <a:solidFill>
                            <a:schemeClr val="tx1"/>
                          </a:solidFill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+mn-cs"/>
                        </a:rPr>
                        <a:t> </a:t>
                      </a:r>
                      <a:r>
                        <a:rPr 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的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字符。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6362304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\r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ASCII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码字符，回车。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6909250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\v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ASCII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码字符，垂直制表键。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623388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\t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ASCII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码字符，水平制表键。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74110576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</a:t>
                      </a:r>
                      <a:r>
                        <a:rPr lang="en-US" sz="1200" b="0" kern="100" dirty="0" err="1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ooo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八进制</a:t>
                      </a:r>
                      <a:r>
                        <a:rPr 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值</a:t>
                      </a:r>
                      <a:r>
                        <a:rPr lang="en-US" alt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 </a:t>
                      </a:r>
                      <a:r>
                        <a:rPr lang="en-US" sz="1200" b="0" kern="100" dirty="0" err="1" smtClean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ooo</a:t>
                      </a:r>
                      <a:r>
                        <a:rPr lang="en-US" sz="1200" kern="100" dirty="0" smtClean="0">
                          <a:solidFill>
                            <a:schemeClr val="tx1"/>
                          </a:solidFill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+mn-cs"/>
                        </a:rPr>
                        <a:t> </a:t>
                      </a:r>
                      <a:r>
                        <a:rPr 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表示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的字符。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6562370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</a:t>
                      </a:r>
                      <a:r>
                        <a:rPr lang="en-US" sz="1200" b="0" kern="100" dirty="0" err="1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xhh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十六进制</a:t>
                      </a:r>
                      <a:r>
                        <a:rPr 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值</a:t>
                      </a:r>
                      <a:r>
                        <a:rPr lang="en-US" alt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 </a:t>
                      </a:r>
                      <a:r>
                        <a:rPr lang="en-US" sz="1200" b="0" kern="100" dirty="0" err="1" smtClean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hh</a:t>
                      </a: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+mn-cs"/>
                        </a:rPr>
                        <a:t> </a:t>
                      </a:r>
                      <a:r>
                        <a:rPr 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表示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的字符。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25700648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</a:t>
                      </a:r>
                      <a:r>
                        <a:rPr lang="en-US" sz="1200" b="0" kern="100" dirty="0" err="1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uxxxx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16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位十六进制</a:t>
                      </a:r>
                      <a:r>
                        <a:rPr 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值</a:t>
                      </a:r>
                      <a:r>
                        <a:rPr lang="en-US" alt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 </a:t>
                      </a:r>
                      <a:r>
                        <a:rPr lang="en-US" sz="1200" b="0" kern="100" dirty="0" err="1" smtClean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xxxx</a:t>
                      </a:r>
                      <a:r>
                        <a:rPr lang="en-US" sz="1200" kern="100" dirty="0" smtClean="0">
                          <a:solidFill>
                            <a:schemeClr val="tx1"/>
                          </a:solidFill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+mn-cs"/>
                        </a:rPr>
                        <a:t> </a:t>
                      </a:r>
                      <a:r>
                        <a:rPr 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表示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的字符。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72033340"/>
                  </a:ext>
                </a:extLst>
              </a:tr>
              <a:tr h="227173"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\</a:t>
                      </a:r>
                      <a:r>
                        <a:rPr lang="en-US" sz="1200" b="0" kern="100" dirty="0" err="1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Uxxxxxxxx</a:t>
                      </a:r>
                      <a:endParaRPr lang="zh-CN" sz="1200" b="0" kern="100" dirty="0">
                        <a:solidFill>
                          <a:srgbClr val="FFC000"/>
                        </a:solidFill>
                        <a:effectLst/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32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位十六进制</a:t>
                      </a:r>
                      <a:r>
                        <a:rPr 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值</a:t>
                      </a:r>
                      <a:r>
                        <a:rPr lang="en-US" alt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 </a:t>
                      </a:r>
                      <a:r>
                        <a:rPr lang="en-US" sz="1200" b="0" kern="100" dirty="0" err="1" smtClean="0">
                          <a:solidFill>
                            <a:srgbClr val="FFC000"/>
                          </a:solidFill>
                          <a:effectLst/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+mn-cs"/>
                        </a:rPr>
                        <a:t>xxxxxxxx</a:t>
                      </a:r>
                      <a:r>
                        <a:rPr lang="en-US" sz="1200" kern="100" dirty="0" smtClean="0">
                          <a:solidFill>
                            <a:schemeClr val="tx1"/>
                          </a:solidFill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+mn-cs"/>
                        </a:rPr>
                        <a:t> </a:t>
                      </a:r>
                      <a:r>
                        <a:rPr lang="zh-CN" sz="1200" kern="100" dirty="0" smtClean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表示</a:t>
                      </a:r>
                      <a:r>
                        <a:rPr lang="zh-CN" sz="1200" kern="100" dirty="0">
                          <a:effectLst/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</a:rPr>
                        <a:t>的字符。全部统一码字符均可用。</a:t>
                      </a:r>
                      <a:endParaRPr lang="zh-CN" sz="1200" b="0" kern="100" dirty="0">
                        <a:effectLst/>
                        <a:latin typeface="华康手札体W5P" panose="03000500000000000000" pitchFamily="66" charset="-122"/>
                        <a:ea typeface="华康手札体W5P" panose="03000500000000000000" pitchFamily="66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9256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2383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1.2.4</a:t>
            </a:r>
            <a:r>
              <a:rPr lang="zh-CN" altLang="en-US" dirty="0" smtClean="0"/>
              <a:t>　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量（</a:t>
            </a:r>
            <a:r>
              <a:rPr lang="en-US" altLang="zh-CN" dirty="0"/>
              <a:t>variable</a:t>
            </a:r>
            <a:r>
              <a:rPr lang="zh-CN" altLang="en-US" dirty="0" smtClean="0"/>
              <a:t>）：引用</a:t>
            </a:r>
            <a:r>
              <a:rPr lang="zh-CN" altLang="en-US" dirty="0"/>
              <a:t>特定对象的标识符，类似代数</a:t>
            </a:r>
          </a:p>
          <a:p>
            <a:r>
              <a:rPr lang="zh-CN" altLang="en-US" dirty="0"/>
              <a:t>量与对象</a:t>
            </a:r>
          </a:p>
          <a:p>
            <a:pPr lvl="1"/>
            <a:r>
              <a:rPr lang="zh-CN" altLang="en-US" dirty="0"/>
              <a:t>量不是对象，而仅是</a:t>
            </a:r>
            <a:r>
              <a:rPr lang="zh-CN" altLang="en-US" dirty="0" smtClean="0"/>
              <a:t>对象的引用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真</a:t>
            </a:r>
            <a:r>
              <a:rPr lang="en-US" altLang="zh-CN" dirty="0" smtClean="0"/>
              <a:t>•</a:t>
            </a:r>
            <a:r>
              <a:rPr lang="zh-CN" altLang="en-US" dirty="0" smtClean="0"/>
              <a:t>对</a:t>
            </a:r>
            <a:r>
              <a:rPr lang="en-US" altLang="zh-CN" dirty="0"/>
              <a:t>•</a:t>
            </a:r>
            <a:r>
              <a:rPr lang="zh-CN" altLang="en-US" dirty="0" smtClean="0"/>
              <a:t>象：对</a:t>
            </a:r>
            <a:r>
              <a:rPr lang="zh-CN" altLang="en-US" dirty="0"/>
              <a:t>“对象”的</a:t>
            </a:r>
            <a:r>
              <a:rPr lang="zh-CN" altLang="en-US" dirty="0" smtClean="0"/>
              <a:t>“象”的引用</a:t>
            </a:r>
            <a:endParaRPr lang="zh-CN" altLang="en-US" dirty="0"/>
          </a:p>
          <a:p>
            <a:pPr lvl="1"/>
            <a:r>
              <a:rPr lang="zh-CN" altLang="en-US" dirty="0"/>
              <a:t>量是标识符，无型无款，只有对象才</a:t>
            </a:r>
            <a:r>
              <a:rPr lang="zh-CN" altLang="en-US" dirty="0" smtClean="0"/>
              <a:t>有型有款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款：钱，财产，对象的属性</a:t>
            </a:r>
            <a:r>
              <a:rPr lang="en-US" altLang="zh-CN" dirty="0" smtClean="0"/>
              <a:t>……</a:t>
            </a:r>
            <a:endParaRPr lang="zh-CN" altLang="en-US" dirty="0"/>
          </a:p>
          <a:p>
            <a:r>
              <a:rPr lang="zh-CN" altLang="en-US" dirty="0"/>
              <a:t>同一性（</a:t>
            </a:r>
            <a:r>
              <a:rPr lang="en-US" altLang="zh-CN" dirty="0"/>
              <a:t>identity</a:t>
            </a:r>
            <a:r>
              <a:rPr lang="zh-CN" altLang="en-US" dirty="0"/>
              <a:t>）：判定两个量是否引用同一对象</a:t>
            </a:r>
            <a:endParaRPr lang="en-US" altLang="zh-CN" dirty="0"/>
          </a:p>
          <a:p>
            <a:pPr lvl="1"/>
            <a:r>
              <a:rPr lang="zh-CN" altLang="en-US" dirty="0"/>
              <a:t>操作符：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is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与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is not</a:t>
            </a:r>
          </a:p>
          <a:p>
            <a:pPr lvl="1"/>
            <a:r>
              <a:rPr lang="zh-CN" altLang="en-US" dirty="0"/>
              <a:t>示例</a:t>
            </a:r>
            <a:r>
              <a:rPr lang="zh-CN" altLang="en-US" dirty="0" smtClean="0"/>
              <a:t>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 is 1</a:t>
            </a:r>
            <a:r>
              <a:rPr lang="en-US" altLang="zh-CN" dirty="0"/>
              <a:t> </a:t>
            </a:r>
            <a:r>
              <a:rPr lang="zh-CN" altLang="en-US" dirty="0" smtClean="0"/>
              <a:t>与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is b</a:t>
            </a:r>
            <a:endParaRPr lang="zh-CN" altLang="en-US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25519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1.2.4</a:t>
            </a:r>
            <a:r>
              <a:rPr lang="zh-CN" altLang="en-US" dirty="0" smtClean="0"/>
              <a:t>　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一种关注</a:t>
            </a:r>
          </a:p>
          <a:p>
            <a:pPr lvl="1"/>
            <a:r>
              <a:rPr lang="en-US" altLang="zh-CN" dirty="0" smtClean="0"/>
              <a:t>Python </a:t>
            </a:r>
            <a:r>
              <a:rPr lang="zh-CN" altLang="en-US" dirty="0" smtClean="0"/>
              <a:t>的量可以随意引用数值、字符串或其他型式的对象</a:t>
            </a:r>
          </a:p>
          <a:p>
            <a:pPr lvl="1"/>
            <a:r>
              <a:rPr lang="zh-CN" altLang="en-US" dirty="0" smtClean="0"/>
              <a:t>类比：</a:t>
            </a:r>
            <a:r>
              <a:rPr lang="en-US" altLang="zh-CN" dirty="0" smtClean="0"/>
              <a:t>C/C++ </a:t>
            </a:r>
            <a:r>
              <a:rPr lang="zh-CN" altLang="en-US" dirty="0" smtClean="0"/>
              <a:t>语言中的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void *</a:t>
            </a:r>
            <a:r>
              <a:rPr lang="en-US" altLang="zh-CN" dirty="0" smtClean="0"/>
              <a:t> </a:t>
            </a:r>
            <a:r>
              <a:rPr lang="zh-CN" altLang="en-US" dirty="0" smtClean="0"/>
              <a:t>指针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2108214"/>
            <a:ext cx="8877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 = 1.1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1.1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= "Python is very interesting!"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'Python is very interesting</a:t>
            </a:r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!'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0371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程序文本结构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对象与型式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1.3</a:t>
            </a:r>
            <a:r>
              <a:rPr lang="zh-CN" altLang="en-US" dirty="0">
                <a:solidFill>
                  <a:srgbClr val="FFFF00"/>
                </a:solidFill>
              </a:rPr>
              <a:t>　表达式</a:t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语　句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数值与数学计算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基本输入输出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基础文法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33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</a:t>
            </a:r>
            <a:r>
              <a:rPr lang="zh-CN" altLang="en-US" dirty="0"/>
              <a:t>　</a:t>
            </a:r>
            <a:r>
              <a:rPr lang="zh-CN" altLang="en-US" dirty="0" smtClean="0"/>
              <a:t>表达式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1.3.1</a:t>
            </a:r>
            <a:r>
              <a:rPr lang="zh-CN" altLang="en-US" dirty="0"/>
              <a:t>　</a:t>
            </a:r>
            <a:r>
              <a:rPr lang="zh-CN" altLang="en-US" dirty="0" smtClean="0"/>
              <a:t>表达式原子</a:t>
            </a:r>
            <a:endParaRPr lang="zh-CN" altLang="en-US" dirty="0"/>
          </a:p>
          <a:p>
            <a:r>
              <a:rPr lang="en-US" altLang="zh-CN" dirty="0" smtClean="0"/>
              <a:t>1.3.2</a:t>
            </a:r>
            <a:r>
              <a:rPr lang="zh-CN" altLang="en-US" dirty="0"/>
              <a:t>　操作符与操作数</a:t>
            </a:r>
          </a:p>
          <a:p>
            <a:r>
              <a:rPr lang="en-US" altLang="zh-CN" dirty="0" smtClean="0"/>
              <a:t>1.3.3</a:t>
            </a:r>
            <a:r>
              <a:rPr lang="zh-CN" altLang="en-US" dirty="0"/>
              <a:t>　</a:t>
            </a:r>
            <a:r>
              <a:rPr lang="zh-CN" altLang="en-US" dirty="0" smtClean="0"/>
              <a:t>括号表达式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3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1.3.1</a:t>
            </a:r>
            <a:r>
              <a:rPr lang="zh-CN" altLang="en-US" dirty="0"/>
              <a:t>　</a:t>
            </a:r>
            <a:r>
              <a:rPr lang="zh-CN" altLang="en-US" dirty="0" smtClean="0"/>
              <a:t>表达式原子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表达式原子：构成表达式的最基本单位</a:t>
            </a:r>
            <a:endParaRPr lang="zh-CN" altLang="en-US" dirty="0"/>
          </a:p>
          <a:p>
            <a:pPr lvl="1"/>
            <a:r>
              <a:rPr lang="zh-CN" altLang="en-US" dirty="0" smtClean="0"/>
              <a:t>最简单的表达式原子：标识符与文字</a:t>
            </a:r>
            <a:endParaRPr lang="en-US" altLang="zh-CN" dirty="0" smtClean="0"/>
          </a:p>
          <a:p>
            <a:r>
              <a:rPr lang="zh-CN" altLang="en-US" dirty="0" smtClean="0"/>
              <a:t>标识符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必须束定至具体对象上，否则引用时将引发 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NameError</a:t>
            </a:r>
            <a:r>
              <a:rPr lang="en-US" altLang="zh-CN" dirty="0" smtClean="0"/>
              <a:t> </a:t>
            </a:r>
            <a:r>
              <a:rPr lang="zh-CN" altLang="en-US" dirty="0" smtClean="0"/>
              <a:t>异常</a:t>
            </a:r>
            <a:endParaRPr lang="zh-CN" altLang="en-US" dirty="0"/>
          </a:p>
          <a:p>
            <a:r>
              <a:rPr lang="zh-CN" altLang="en-US" dirty="0" smtClean="0"/>
              <a:t>文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/>
              <a:t>字</a:t>
            </a:r>
            <a:endParaRPr lang="zh-CN" altLang="en-US" dirty="0"/>
          </a:p>
          <a:p>
            <a:pPr lvl="1"/>
            <a:r>
              <a:rPr lang="zh-CN" altLang="en-US" dirty="0" smtClean="0"/>
              <a:t>对文字的求值导致对象构造</a:t>
            </a:r>
            <a:endParaRPr lang="en-US" altLang="zh-CN" dirty="0"/>
          </a:p>
          <a:p>
            <a:pPr lvl="1"/>
            <a:r>
              <a:rPr lang="zh-CN" altLang="en-US" dirty="0" smtClean="0"/>
              <a:t>所有文字均为有常对象</a:t>
            </a:r>
            <a:endParaRPr lang="en-US" altLang="zh-CN" dirty="0"/>
          </a:p>
          <a:p>
            <a:pPr lvl="1"/>
            <a:r>
              <a:rPr lang="zh-CN" altLang="en-US" dirty="0" smtClean="0"/>
              <a:t>同一逻辑行中的相同文字将作为单一文字对象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示例：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1.1 is 1.1</a:t>
            </a:r>
            <a:r>
              <a:rPr lang="en-US" altLang="zh-CN" dirty="0" smtClean="0"/>
              <a:t> </a:t>
            </a:r>
            <a:r>
              <a:rPr lang="zh-CN" altLang="en-US" dirty="0" smtClean="0"/>
              <a:t>结果为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True</a:t>
            </a:r>
            <a:r>
              <a:rPr lang="zh-CN" altLang="en-US" dirty="0" smtClean="0"/>
              <a:t>；但如分为两个逻辑行，结果为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False</a:t>
            </a:r>
            <a:endParaRPr lang="zh-CN" altLang="en-US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75250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1.3.2</a:t>
            </a:r>
            <a:r>
              <a:rPr lang="zh-CN" altLang="en-US" dirty="0"/>
              <a:t>　</a:t>
            </a:r>
            <a:r>
              <a:rPr lang="zh-CN" altLang="en-US" dirty="0" smtClean="0"/>
              <a:t>操作符与操作数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操作符（</a:t>
            </a:r>
            <a:r>
              <a:rPr lang="en-US" altLang="zh-CN" dirty="0"/>
              <a:t>operator</a:t>
            </a:r>
            <a:r>
              <a:rPr lang="zh-CN" altLang="en-US" dirty="0"/>
              <a:t>）与操作数（</a:t>
            </a:r>
            <a:r>
              <a:rPr lang="en-US" altLang="zh-CN" dirty="0"/>
              <a:t>operand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操作符：由数学符号、关键字等构成的计算逻辑</a:t>
            </a:r>
          </a:p>
          <a:p>
            <a:pPr lvl="1"/>
            <a:r>
              <a:rPr lang="zh-CN" altLang="en-US" dirty="0"/>
              <a:t>操作数：由文字、量、括号、函数调用等构成的计算对象</a:t>
            </a:r>
          </a:p>
          <a:p>
            <a:r>
              <a:rPr lang="zh-CN" altLang="en-US" dirty="0"/>
              <a:t>操作符分类</a:t>
            </a:r>
          </a:p>
          <a:p>
            <a:pPr lvl="1"/>
            <a:r>
              <a:rPr lang="zh-CN" altLang="en-US" dirty="0"/>
              <a:t>一元操作符：操作符只有一个操作数，</a:t>
            </a:r>
            <a:r>
              <a:rPr lang="zh-CN" altLang="en-US" dirty="0" smtClean="0"/>
              <a:t>如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-x</a:t>
            </a:r>
            <a:r>
              <a:rPr lang="zh-CN" altLang="en-US" dirty="0"/>
              <a:t>（取负）</a:t>
            </a:r>
            <a:endParaRPr lang="en-US" altLang="zh-CN" dirty="0"/>
          </a:p>
          <a:p>
            <a:pPr lvl="1"/>
            <a:r>
              <a:rPr lang="zh-CN" altLang="en-US" dirty="0"/>
              <a:t>二元操作符：操作符有两个操作数，</a:t>
            </a:r>
            <a:r>
              <a:rPr lang="zh-CN" altLang="en-US" dirty="0" smtClean="0"/>
              <a:t>如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+ b</a:t>
            </a:r>
            <a:r>
              <a:rPr lang="zh-CN" altLang="en-US" dirty="0"/>
              <a:t>（加法）</a:t>
            </a:r>
            <a:endParaRPr lang="en-US" altLang="zh-CN" dirty="0"/>
          </a:p>
          <a:p>
            <a:pPr lvl="1"/>
            <a:r>
              <a:rPr lang="zh-CN" altLang="en-US" dirty="0"/>
              <a:t>三元操作符：条件表达式</a:t>
            </a:r>
          </a:p>
          <a:p>
            <a:r>
              <a:rPr lang="zh-CN" altLang="en-US" dirty="0"/>
              <a:t>操作符优先级（</a:t>
            </a:r>
            <a:r>
              <a:rPr lang="en-US" altLang="zh-CN" dirty="0"/>
              <a:t>precedence</a:t>
            </a:r>
            <a:r>
              <a:rPr lang="zh-CN" altLang="en-US" dirty="0"/>
              <a:t>）：确定表达式计算顺序</a:t>
            </a:r>
          </a:p>
        </p:txBody>
      </p:sp>
    </p:spTree>
    <p:extLst>
      <p:ext uri="{BB962C8B-B14F-4D97-AF65-F5344CB8AC3E}">
        <p14:creationId xmlns:p14="http://schemas.microsoft.com/office/powerpoint/2010/main" val="29722457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465337"/>
              </p:ext>
            </p:extLst>
          </p:nvPr>
        </p:nvGraphicFramePr>
        <p:xfrm>
          <a:off x="-3" y="768359"/>
          <a:ext cx="9144003" cy="39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优先级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操作符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操作符描述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1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lambda</a:t>
                      </a:r>
                      <a:endParaRPr lang="zh-CN" altLang="en-US" sz="18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Lambda</a:t>
                      </a:r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 表达式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2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if-else</a:t>
                      </a:r>
                      <a:endParaRPr lang="zh-CN" altLang="en-US" sz="18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条件表达式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3</a:t>
                      </a:r>
                      <a:endParaRPr lang="zh-CN" altLang="en-US" sz="1800" b="1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or</a:t>
                      </a:r>
                      <a:endParaRPr lang="zh-CN" altLang="en-US" sz="18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逻辑或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4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and</a:t>
                      </a:r>
                      <a:endParaRPr lang="zh-CN" altLang="en-US" sz="1800" b="0" i="0" dirty="0" smtClean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逻辑与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5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not x</a:t>
                      </a:r>
                      <a:endParaRPr lang="zh-CN" altLang="en-US" sz="18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逻辑非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6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in</a:t>
                      </a:r>
                      <a:r>
                        <a:rPr lang="en-US" altLang="zh-CN" sz="1800" b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not</a:t>
                      </a:r>
                      <a:r>
                        <a:rPr lang="en-US" altLang="zh-CN" sz="1800" b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 </a:t>
                      </a:r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in</a:t>
                      </a:r>
                      <a:r>
                        <a:rPr lang="en-US" altLang="zh-CN" sz="1800" b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is</a:t>
                      </a:r>
                      <a:r>
                        <a:rPr lang="en-US" altLang="zh-CN" sz="1800" b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is not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&lt;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&lt;=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&gt;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&gt;=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!=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==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 </a:t>
                      </a:r>
                      <a:endParaRPr lang="zh-CN" altLang="en-US" sz="1800" b="0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比较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7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|</a:t>
                      </a:r>
                      <a:endParaRPr lang="zh-CN" altLang="en-US" sz="18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位或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8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^</a:t>
                      </a:r>
                      <a:endParaRPr lang="zh-CN" altLang="en-US" sz="18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位异或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9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&amp;</a:t>
                      </a:r>
                      <a:endParaRPr lang="zh-CN" altLang="en-US" sz="18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位与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操作符优先级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2680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049091"/>
              </p:ext>
            </p:extLst>
          </p:nvPr>
        </p:nvGraphicFramePr>
        <p:xfrm>
          <a:off x="-3" y="768359"/>
          <a:ext cx="9144003" cy="36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优先级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操作符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latin typeface="华康手札体W5P" panose="03000500000000000000" pitchFamily="66" charset="-122"/>
                          <a:ea typeface="华康手札体W5P" panose="03000500000000000000" pitchFamily="66" charset="-122"/>
                          <a:cs typeface="DFPHannotateW5-GB" charset="0"/>
                        </a:rPr>
                        <a:t>操作符描述</a:t>
                      </a:r>
                      <a:endParaRPr lang="zh-CN" altLang="en-US" sz="1800" b="1" i="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华康手札体W5P" panose="03000500000000000000" pitchFamily="66" charset="-122"/>
                        <a:ea typeface="华康手札体W5P" panose="03000500000000000000" pitchFamily="66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10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&lt;&lt;,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&gt;&gt;</a:t>
                      </a:r>
                      <a:endParaRPr lang="zh-CN" altLang="en-US" sz="18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移位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11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+</a:t>
                      </a:r>
                      <a:r>
                        <a:rPr lang="en-US" altLang="zh-CN" sz="1800" b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-</a:t>
                      </a:r>
                      <a:endParaRPr lang="zh-CN" altLang="en-US" sz="18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加减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12</a:t>
                      </a:r>
                      <a:endParaRPr lang="zh-CN" altLang="en-US" sz="1800" b="1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*</a:t>
                      </a:r>
                      <a:r>
                        <a:rPr lang="en-US" altLang="zh-CN" sz="1800" b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@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/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//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%</a:t>
                      </a:r>
                      <a:endParaRPr lang="zh-CN" altLang="en-US" sz="1800" b="0" i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乘除模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13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+x</a:t>
                      </a:r>
                      <a:r>
                        <a:rPr lang="en-US" altLang="zh-CN" sz="1800" b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-x</a:t>
                      </a:r>
                      <a:r>
                        <a:rPr lang="en-US" altLang="zh-CN" sz="1800" b="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~x</a:t>
                      </a:r>
                      <a:endParaRPr lang="zh-CN" altLang="en-US" sz="1800" b="0" i="0" dirty="0" smtClean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正负与位反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14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800" b="0" kern="120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**</a:t>
                      </a:r>
                      <a:endParaRPr lang="zh-CN" altLang="en-US" sz="1800" b="0" i="0" kern="1200" baseline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幂</a:t>
                      </a: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15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800" b="0" kern="120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await  x</a:t>
                      </a:r>
                      <a:endParaRPr lang="zh-CN" altLang="en-US" sz="1800" b="0" i="0" kern="1200" baseline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等待表达式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16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800" b="0" kern="120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x[</a:t>
                      </a:r>
                      <a:r>
                        <a:rPr lang="en-US" altLang="zh-CN" sz="1800" b="0" kern="1200" baseline="0" dirty="0" err="1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idx</a:t>
                      </a:r>
                      <a:r>
                        <a:rPr lang="en-US" altLang="zh-CN" sz="1800" b="0" kern="120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]</a:t>
                      </a:r>
                      <a:r>
                        <a:rPr lang="en-US" altLang="zh-CN" sz="1800" b="0" kern="12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kern="120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x[</a:t>
                      </a:r>
                      <a:r>
                        <a:rPr lang="en-US" altLang="zh-CN" sz="1800" b="0" kern="1200" baseline="0" dirty="0" err="1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idx:idx</a:t>
                      </a:r>
                      <a:r>
                        <a:rPr lang="en-US" altLang="zh-CN" sz="1800" b="0" kern="120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]</a:t>
                      </a:r>
                      <a:r>
                        <a:rPr lang="en-US" altLang="zh-CN" sz="1800" b="0" kern="12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kern="120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x(arg...)</a:t>
                      </a:r>
                      <a:r>
                        <a:rPr lang="en-US" altLang="zh-CN" sz="1800" b="0" kern="12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kern="1200" baseline="0" dirty="0" err="1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x.attr</a:t>
                      </a:r>
                      <a:endParaRPr lang="zh-CN" altLang="en-US" sz="1800" b="0" i="0" kern="1200" baseline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下标、调用与属性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17</a:t>
                      </a:r>
                      <a:endParaRPr lang="zh-CN" altLang="en-US" sz="1800" b="1" i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36000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800" b="0" kern="120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(expr...)</a:t>
                      </a:r>
                      <a:r>
                        <a:rPr lang="en-US" altLang="zh-CN" sz="1800" b="0" kern="12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kern="120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[expr...],  {key: value...}</a:t>
                      </a:r>
                      <a:r>
                        <a:rPr lang="en-US" altLang="zh-CN" sz="1800" b="0" kern="1200" baseline="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,  </a:t>
                      </a:r>
                      <a:r>
                        <a:rPr lang="en-US" altLang="zh-CN" sz="1800" b="0" kern="1200" baseline="0" dirty="0" smtClean="0">
                          <a:solidFill>
                            <a:srgbClr val="FFC000"/>
                          </a:solidFill>
                          <a:latin typeface="等距更纱黑体 SC" panose="02000509000000000000" pitchFamily="49" charset="-122"/>
                          <a:ea typeface="等距更纱黑体 SC" panose="02000509000000000000" pitchFamily="49" charset="-122"/>
                          <a:cs typeface="DFPHannotateW5-GB" charset="0"/>
                        </a:rPr>
                        <a:t>{expr...}</a:t>
                      </a:r>
                      <a:endParaRPr lang="zh-CN" altLang="en-US" sz="1800" b="0" i="0" kern="1200" baseline="0" dirty="0">
                        <a:solidFill>
                          <a:srgbClr val="FFC000"/>
                        </a:solidFill>
                        <a:latin typeface="等距更纱黑体 SC" panose="02000509000000000000" pitchFamily="49" charset="-122"/>
                        <a:ea typeface="等距更纱黑体 SC" panose="02000509000000000000" pitchFamily="49" charset="-122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束定、元组、列表、字典、</a:t>
                      </a:r>
                      <a:r>
                        <a:rPr lang="en-US" altLang="zh-CN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/>
                      </a:r>
                      <a:br>
                        <a:rPr lang="en-US" altLang="zh-CN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</a:br>
                      <a:r>
                        <a:rPr lang="zh-CN" altLang="en-US" sz="1800" b="1" kern="1200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DFPHannotateW5-GB" charset="0"/>
                          <a:ea typeface="DFPHannotateW5-GB" charset="0"/>
                          <a:cs typeface="DFPHannotateW5-GB" charset="0"/>
                        </a:rPr>
                        <a:t>集合分列式</a:t>
                      </a:r>
                      <a:endParaRPr lang="zh-CN" altLang="en-US" sz="1800" b="1" i="0" kern="12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DFPHannotateW5-GB" charset="0"/>
                        <a:ea typeface="DFPHannotateW5-GB" charset="0"/>
                        <a:cs typeface="DFPHannotateW5-GB" charset="0"/>
                      </a:endParaRPr>
                    </a:p>
                  </a:txBody>
                  <a:tcPr marL="0" marR="0" marT="64800" marB="288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操作符优先级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98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表达式求值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93333"/>
          </a:xfrm>
        </p:spPr>
        <p:txBody>
          <a:bodyPr>
            <a:normAutofit/>
          </a:bodyPr>
          <a:lstStyle/>
          <a:p>
            <a:r>
              <a:rPr lang="zh-CN" altLang="en-US" dirty="0"/>
              <a:t>表达式：由操作符和操作数构成的计算序列</a:t>
            </a:r>
          </a:p>
          <a:p>
            <a:r>
              <a:rPr lang="zh-CN" altLang="en-US" dirty="0"/>
              <a:t>表达式求值：一般计算规则与特殊约定</a:t>
            </a:r>
          </a:p>
          <a:p>
            <a:r>
              <a:rPr lang="zh-CN" altLang="en-US" dirty="0"/>
              <a:t>表达式计算示例一：一般计算规则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2222505"/>
            <a:ext cx="88773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width = 5.0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height = 4.0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width * height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20.0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length = 2.0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volume = length * _</a:t>
            </a:r>
            <a:r>
              <a:rPr lang="en-US" altLang="zh-CN" sz="2000" dirty="0"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		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_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表示上一表达式结果，</a:t>
            </a: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值</a:t>
            </a:r>
            <a:r>
              <a:rPr lang="zh-CN" altLang="en-US" sz="200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为 </a:t>
            </a:r>
            <a:r>
              <a:rPr lang="en-US" altLang="zh-CN" sz="200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20.0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volume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40.0</a:t>
            </a:r>
            <a:endParaRPr lang="zh-CN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670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表达式求值示例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749299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表达式</a:t>
            </a:r>
            <a:r>
              <a:rPr lang="zh-CN" altLang="en-US" dirty="0"/>
              <a:t>计算</a:t>
            </a:r>
            <a:r>
              <a:rPr lang="zh-CN" altLang="en-US" dirty="0" smtClean="0"/>
              <a:t>示例二：</a:t>
            </a:r>
            <a:r>
              <a:rPr lang="zh-CN" altLang="en-US" dirty="0"/>
              <a:t>一般计算规则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19906"/>
            <a:ext cx="8877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 = 1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b = 2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c = 3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d = a + b * c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d</a:t>
            </a:r>
          </a:p>
          <a:p>
            <a:r>
              <a:rPr lang="pt-BR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7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 = a * </a:t>
            </a:r>
            <a:r>
              <a:rPr lang="pt-BR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(b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+ </a:t>
            </a:r>
            <a:r>
              <a:rPr lang="pt-BR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c)</a:t>
            </a:r>
            <a:endParaRPr lang="pt-BR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</a:t>
            </a:r>
          </a:p>
          <a:p>
            <a:r>
              <a:rPr lang="pt-BR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5</a:t>
            </a:r>
            <a:endParaRPr lang="zh-CN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0198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表达式求值示例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749299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表达式</a:t>
            </a:r>
            <a:r>
              <a:rPr lang="zh-CN" altLang="en-US" dirty="0"/>
              <a:t>计算</a:t>
            </a:r>
            <a:r>
              <a:rPr lang="zh-CN" altLang="en-US" dirty="0" smtClean="0"/>
              <a:t>示例三：特殊约定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9906"/>
            <a:ext cx="8877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 = 1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b = 2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c = 3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d = a +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-</a:t>
            </a:r>
            <a:r>
              <a:rPr lang="pt-BR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b ** c</a:t>
            </a:r>
            <a:r>
              <a:rPr lang="pt-BR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先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计算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b ** c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，再计算取负，最后是加法</a:t>
            </a:r>
            <a:endParaRPr lang="pt-BR" altLang="zh-CN" sz="2000" dirty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d</a:t>
            </a:r>
          </a:p>
          <a:p>
            <a:r>
              <a:rPr lang="pt-BR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-7</a:t>
            </a: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 = </a:t>
            </a:r>
            <a:r>
              <a:rPr lang="pt-BR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b ** -c	</a:t>
            </a:r>
            <a:r>
              <a:rPr lang="pt-BR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			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先计算取负，再计算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b ** ( -c )</a:t>
            </a:r>
            <a:endParaRPr lang="pt-BR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pt-BR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pt-BR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</a:t>
            </a:r>
          </a:p>
          <a:p>
            <a:r>
              <a:rPr lang="pt-BR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0.125</a:t>
            </a:r>
            <a:endParaRPr lang="zh-CN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9947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1.3.3</a:t>
            </a:r>
            <a:r>
              <a:rPr lang="zh-CN" altLang="en-US" dirty="0"/>
              <a:t>　括号</a:t>
            </a:r>
            <a:r>
              <a:rPr lang="zh-CN" altLang="en-US" dirty="0" smtClean="0"/>
              <a:t>表达式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大括号表达式：两种用法</a:t>
            </a:r>
            <a:endParaRPr lang="zh-CN" altLang="en-US" dirty="0"/>
          </a:p>
          <a:p>
            <a:pPr lvl="1"/>
            <a:r>
              <a:rPr lang="zh-CN" altLang="en-US" dirty="0" smtClean="0"/>
              <a:t>集合分列式、字典分列式</a:t>
            </a:r>
            <a:endParaRPr lang="en-US" altLang="zh-CN" dirty="0" smtClean="0"/>
          </a:p>
          <a:p>
            <a:r>
              <a:rPr lang="zh-CN" altLang="en-US" dirty="0" smtClean="0"/>
              <a:t>中括号表达式：三种用法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下标操作符、切片操作符、列表分列式</a:t>
            </a:r>
            <a:endParaRPr lang="zh-CN" altLang="en-US" dirty="0"/>
          </a:p>
          <a:p>
            <a:r>
              <a:rPr lang="zh-CN" altLang="en-US" dirty="0" smtClean="0"/>
              <a:t>小括号表达式：七种用法</a:t>
            </a:r>
            <a:endParaRPr lang="zh-CN" altLang="en-US" dirty="0"/>
          </a:p>
          <a:p>
            <a:pPr lvl="1"/>
            <a:r>
              <a:rPr lang="zh-CN" altLang="en-US" dirty="0" smtClean="0"/>
              <a:t>改变操作符的优先级、函数调用操作符、构造空元组对象、元组对象定界符、封装生成式（</a:t>
            </a:r>
            <a:r>
              <a:rPr lang="zh-CN" altLang="en-US" dirty="0"/>
              <a:t>生成器表达式</a:t>
            </a:r>
            <a:r>
              <a:rPr lang="zh-CN" altLang="en-US" dirty="0" smtClean="0"/>
              <a:t>）、封装推出表达式、类继承语法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00843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程序文本结构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对象与型式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表达式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1.4</a:t>
            </a:r>
            <a:r>
              <a:rPr lang="zh-CN" altLang="en-US" dirty="0">
                <a:solidFill>
                  <a:srgbClr val="FFFF00"/>
                </a:solidFill>
              </a:rPr>
              <a:t>　语　句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数值与数学计算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基本输入输出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基础文法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39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</a:t>
            </a:r>
            <a:r>
              <a:rPr lang="zh-CN" altLang="en-US" dirty="0"/>
              <a:t>　语　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1.4.1</a:t>
            </a:r>
            <a:r>
              <a:rPr lang="zh-CN" altLang="en-US" dirty="0"/>
              <a:t>　</a:t>
            </a:r>
            <a:r>
              <a:rPr lang="zh-CN" altLang="en-US" dirty="0" smtClean="0"/>
              <a:t>简单语句</a:t>
            </a:r>
            <a:endParaRPr lang="zh-CN" altLang="en-US" dirty="0"/>
          </a:p>
          <a:p>
            <a:r>
              <a:rPr lang="en-US" altLang="zh-CN" dirty="0" smtClean="0"/>
              <a:t>1.4.2</a:t>
            </a:r>
            <a:r>
              <a:rPr lang="zh-CN" altLang="en-US" dirty="0"/>
              <a:t>　</a:t>
            </a:r>
            <a:r>
              <a:rPr lang="zh-CN" altLang="en-US" dirty="0" smtClean="0"/>
              <a:t>复合语句</a:t>
            </a:r>
            <a:endParaRPr lang="zh-CN" altLang="en-US" dirty="0"/>
          </a:p>
          <a:p>
            <a:r>
              <a:rPr lang="en-US" altLang="zh-CN" dirty="0" smtClean="0"/>
              <a:t>1.4.3</a:t>
            </a:r>
            <a:r>
              <a:rPr lang="zh-CN" altLang="en-US" dirty="0"/>
              <a:t>　</a:t>
            </a:r>
            <a:r>
              <a:rPr lang="zh-CN" altLang="en-US" dirty="0" smtClean="0"/>
              <a:t>空语句</a:t>
            </a:r>
            <a:endParaRPr lang="zh-CN" altLang="en-US" dirty="0"/>
          </a:p>
          <a:p>
            <a:r>
              <a:rPr lang="en-US" altLang="zh-CN" dirty="0" smtClean="0"/>
              <a:t>1.4.4</a:t>
            </a:r>
            <a:r>
              <a:rPr lang="zh-CN" altLang="en-US" dirty="0"/>
              <a:t>　赋　值</a:t>
            </a:r>
          </a:p>
          <a:p>
            <a:r>
              <a:rPr lang="en-US" altLang="zh-CN" dirty="0" smtClean="0"/>
              <a:t>1.4.5</a:t>
            </a:r>
            <a:r>
              <a:rPr lang="zh-CN" altLang="en-US" dirty="0"/>
              <a:t>　</a:t>
            </a:r>
            <a:r>
              <a:rPr lang="zh-CN" altLang="en-US" dirty="0" smtClean="0"/>
              <a:t>含参赋值语句</a:t>
            </a:r>
            <a:endParaRPr lang="zh-CN" altLang="en-US" dirty="0"/>
          </a:p>
          <a:p>
            <a:r>
              <a:rPr lang="en-US" altLang="zh-CN" dirty="0" smtClean="0"/>
              <a:t>1.4.6</a:t>
            </a:r>
            <a:r>
              <a:rPr lang="zh-CN" altLang="en-US" dirty="0"/>
              <a:t>　</a:t>
            </a:r>
            <a:r>
              <a:rPr lang="zh-CN" altLang="en-US" dirty="0" smtClean="0"/>
              <a:t>导入语句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92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1.4.1</a:t>
            </a:r>
            <a:r>
              <a:rPr lang="zh-CN" altLang="en-US" dirty="0"/>
              <a:t>　</a:t>
            </a:r>
            <a:r>
              <a:rPr lang="zh-CN" altLang="en-US" dirty="0" smtClean="0"/>
              <a:t>简单语句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简单语句：表达单一任务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全部代码必须位于同一逻辑行中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多条简单语句可以合并至单一逻辑行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使用分号分隔即可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语句合并劣势：显著降低代码可读性</a:t>
            </a:r>
            <a:endParaRPr lang="en-US" altLang="zh-CN" dirty="0" smtClean="0"/>
          </a:p>
          <a:p>
            <a:pPr lvl="2"/>
            <a:r>
              <a:rPr lang="zh-CN" altLang="en-US" dirty="0" smtClean="0">
                <a:solidFill>
                  <a:srgbClr val="FFFF00"/>
                </a:solidFill>
              </a:rPr>
              <a:t>强烈不建议使用此类手段合并代码，容易导致问题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lvl="1"/>
            <a:r>
              <a:rPr lang="zh-CN" altLang="en-US" dirty="0" smtClean="0"/>
              <a:t>表达式语句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计算并写入一个值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通常发生在交互模式下，不用调用输出函数即可自动完成输出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342059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1.4.2</a:t>
            </a:r>
            <a:r>
              <a:rPr lang="zh-CN" altLang="en-US" dirty="0"/>
              <a:t>　</a:t>
            </a:r>
            <a:r>
              <a:rPr lang="zh-CN" altLang="en-US" dirty="0" smtClean="0"/>
              <a:t>复合语句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复合语句：为复杂任务构造可控制的层次结构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全部代码可以，有时必须位于多条逻辑行中</a:t>
            </a:r>
            <a:endParaRPr lang="en-US" altLang="zh-CN" dirty="0" smtClean="0"/>
          </a:p>
          <a:p>
            <a:r>
              <a:rPr lang="zh-CN" altLang="en-US" dirty="0" smtClean="0"/>
              <a:t>复合语句代码块（</a:t>
            </a:r>
            <a:r>
              <a:rPr lang="en-US" altLang="zh-CN" dirty="0" smtClean="0"/>
              <a:t>suite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code block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子句（</a:t>
            </a:r>
            <a:r>
              <a:rPr lang="en-US" altLang="zh-CN" dirty="0" smtClean="0"/>
              <a:t>clause</a:t>
            </a:r>
            <a:r>
              <a:rPr lang="zh-CN" altLang="en-US" dirty="0" smtClean="0"/>
              <a:t>）：子句头、子句体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使用冒号分隔子句头与子句体</a:t>
            </a:r>
            <a:endParaRPr lang="en-US" altLang="zh-CN" dirty="0" smtClean="0"/>
          </a:p>
          <a:p>
            <a:r>
              <a:rPr lang="zh-CN" altLang="en-US" dirty="0"/>
              <a:t>典型</a:t>
            </a:r>
            <a:r>
              <a:rPr lang="zh-CN" altLang="en-US" dirty="0" smtClean="0"/>
              <a:t>复合语句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分支</a:t>
            </a:r>
            <a:r>
              <a:rPr lang="zh-CN" altLang="en-US" dirty="0"/>
              <a:t>结构、循环结构、异常处理</a:t>
            </a:r>
            <a:r>
              <a:rPr lang="zh-CN" altLang="en-US" dirty="0" smtClean="0"/>
              <a:t>结构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820855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1.4.3</a:t>
            </a:r>
            <a:r>
              <a:rPr lang="zh-CN" altLang="en-US" dirty="0"/>
              <a:t>　</a:t>
            </a:r>
            <a:r>
              <a:rPr lang="zh-CN" altLang="en-US" dirty="0" smtClean="0"/>
              <a:t>空语句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关键字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pass</a:t>
            </a:r>
            <a:r>
              <a:rPr lang="zh-CN" altLang="en-US" dirty="0" smtClean="0"/>
              <a:t>：空操作，什么都不做</a:t>
            </a:r>
            <a:endParaRPr lang="en-US" altLang="zh-CN" dirty="0" smtClean="0"/>
          </a:p>
          <a:p>
            <a:r>
              <a:rPr lang="zh-CN" altLang="en-US" dirty="0" smtClean="0"/>
              <a:t>省略号型式：在表达空语句概念时，与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pass</a:t>
            </a:r>
            <a:r>
              <a:rPr lang="en-US" altLang="zh-CN" dirty="0"/>
              <a:t> </a:t>
            </a:r>
            <a:r>
              <a:rPr lang="zh-CN" altLang="en-US" dirty="0" smtClean="0"/>
              <a:t>等价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型式名称：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ellipsis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单子对象：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Ellipsis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或“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...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r>
              <a:rPr lang="zh-CN" altLang="en-US" dirty="0" smtClean="0"/>
              <a:t>空语句意义</a:t>
            </a:r>
            <a:endParaRPr lang="en-US" altLang="zh-CN" dirty="0" smtClean="0"/>
          </a:p>
          <a:p>
            <a:pPr lvl="1"/>
            <a:r>
              <a:rPr lang="zh-CN" altLang="en-US" dirty="0"/>
              <a:t>满足特定语法规则的要求。按照语法规范，该处需要子句体，可又实在没有指令需要</a:t>
            </a:r>
            <a:r>
              <a:rPr lang="zh-CN" altLang="en-US" dirty="0" smtClean="0"/>
              <a:t>执行</a:t>
            </a:r>
            <a:endParaRPr lang="zh-CN" altLang="en-US" dirty="0"/>
          </a:p>
          <a:p>
            <a:pPr lvl="1"/>
            <a:r>
              <a:rPr lang="zh-CN" altLang="en-US" dirty="0"/>
              <a:t>作为未来代码的占位标记。该处确实需要一个子句体，但现在真顾不上完成</a:t>
            </a:r>
            <a:r>
              <a:rPr lang="zh-CN" altLang="en-US" dirty="0" smtClean="0"/>
              <a:t>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797466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1.4.4</a:t>
            </a:r>
            <a:r>
              <a:rPr lang="zh-CN" altLang="en-US" dirty="0"/>
              <a:t>　赋　值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赋值表达式</a:t>
            </a:r>
            <a:r>
              <a:rPr lang="zh-CN" altLang="en-US" dirty="0"/>
              <a:t>（</a:t>
            </a:r>
            <a:r>
              <a:rPr lang="en-US" altLang="zh-CN" dirty="0" smtClean="0"/>
              <a:t>assignment expression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赋值</a:t>
            </a:r>
            <a:r>
              <a:rPr lang="zh-CN" altLang="en-US" dirty="0"/>
              <a:t>语句（ </a:t>
            </a:r>
            <a:r>
              <a:rPr lang="en-US" altLang="zh-CN" dirty="0" smtClean="0"/>
              <a:t>assignment statement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赋值</a:t>
            </a:r>
            <a:r>
              <a:rPr lang="zh-CN" altLang="en-US" dirty="0"/>
              <a:t>即</a:t>
            </a:r>
            <a:r>
              <a:rPr lang="zh-CN" altLang="en-US" dirty="0" smtClean="0"/>
              <a:t>定义：未</a:t>
            </a:r>
            <a:r>
              <a:rPr lang="zh-CN" altLang="en-US" dirty="0"/>
              <a:t>赋值量无定义</a:t>
            </a:r>
          </a:p>
          <a:p>
            <a:r>
              <a:rPr lang="zh-CN" altLang="en-US" dirty="0" smtClean="0"/>
              <a:t>赋值</a:t>
            </a:r>
            <a:r>
              <a:rPr lang="zh-CN" altLang="en-US" dirty="0"/>
              <a:t>语句目的</a:t>
            </a:r>
          </a:p>
          <a:p>
            <a:pPr lvl="1"/>
            <a:r>
              <a:rPr lang="zh-CN" altLang="en-US" dirty="0"/>
              <a:t>用于将名称（</a:t>
            </a:r>
            <a:r>
              <a:rPr lang="en-US" altLang="zh-CN" dirty="0"/>
              <a:t>name</a:t>
            </a:r>
            <a:r>
              <a:rPr lang="zh-CN" altLang="en-US" dirty="0"/>
              <a:t>）束定（</a:t>
            </a:r>
            <a:r>
              <a:rPr lang="en-US" altLang="zh-CN" dirty="0"/>
              <a:t>bind</a:t>
            </a:r>
            <a:r>
              <a:rPr lang="zh-CN" altLang="en-US" dirty="0"/>
              <a:t>）或重新束定到值上，以修改无常对象的</a:t>
            </a:r>
            <a:r>
              <a:rPr lang="zh-CN" altLang="en-US" dirty="0" smtClean="0"/>
              <a:t>属性或值</a:t>
            </a:r>
          </a:p>
          <a:p>
            <a:pPr lvl="2"/>
            <a:r>
              <a:rPr lang="zh-CN" altLang="en-US" dirty="0" smtClean="0"/>
              <a:t>名称可能是量或标识符，也可能是合法表达式（</a:t>
            </a:r>
            <a:r>
              <a:rPr lang="en-US" altLang="zh-CN" dirty="0" smtClean="0"/>
              <a:t>expression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09564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赋值表达式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赋值表达式：</a:t>
            </a:r>
            <a:r>
              <a:rPr lang="en-US" altLang="zh-CN" dirty="0" smtClean="0"/>
              <a:t>Python 3.8 </a:t>
            </a:r>
            <a:r>
              <a:rPr lang="zh-CN" altLang="en-US" dirty="0" smtClean="0"/>
              <a:t>引入</a:t>
            </a:r>
            <a:endParaRPr lang="zh-CN" altLang="en-US" dirty="0"/>
          </a:p>
          <a:p>
            <a:pPr lvl="1"/>
            <a:r>
              <a:rPr lang="zh-CN" altLang="en-US" dirty="0" smtClean="0"/>
              <a:t>格式：使用赋值操作符“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:=</a:t>
            </a:r>
            <a:r>
              <a:rPr lang="en-US" altLang="zh-CN" dirty="0" smtClean="0"/>
              <a:t>”</a:t>
            </a:r>
          </a:p>
          <a:p>
            <a:pPr lvl="1"/>
            <a:r>
              <a:rPr lang="zh-CN" altLang="en-US" dirty="0" smtClean="0"/>
              <a:t>也称：具名表达式、海象</a:t>
            </a:r>
            <a:r>
              <a:rPr lang="zh-CN" altLang="en-US" dirty="0"/>
              <a:t>表达式</a:t>
            </a:r>
            <a:endParaRPr lang="en-US" altLang="zh-CN" dirty="0"/>
          </a:p>
          <a:p>
            <a:pPr lvl="1"/>
            <a:r>
              <a:rPr lang="zh-CN" altLang="en-US" dirty="0"/>
              <a:t>示例：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identifier := expression</a:t>
            </a:r>
          </a:p>
          <a:p>
            <a:r>
              <a:rPr lang="zh-CN" altLang="en-US" dirty="0" smtClean="0"/>
              <a:t>赋值语句的任务</a:t>
            </a:r>
            <a:endParaRPr lang="en-US" altLang="zh-CN" dirty="0" smtClean="0"/>
          </a:p>
          <a:p>
            <a:pPr lvl="1"/>
            <a:r>
              <a:rPr lang="zh-CN" altLang="en-US" dirty="0"/>
              <a:t>计算</a:t>
            </a:r>
            <a:r>
              <a:rPr lang="zh-CN" altLang="en-US" dirty="0" smtClean="0"/>
              <a:t>表达式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expression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</a:t>
            </a:r>
            <a:r>
              <a:rPr lang="zh-CN" altLang="en-US" dirty="0"/>
              <a:t>值，并在需要时构造其对应的</a:t>
            </a:r>
            <a:r>
              <a:rPr lang="zh-CN" altLang="en-US" dirty="0" smtClean="0"/>
              <a:t>对象</a:t>
            </a:r>
            <a:endParaRPr lang="zh-CN" altLang="en-US" dirty="0"/>
          </a:p>
          <a:p>
            <a:pPr lvl="1"/>
            <a:r>
              <a:rPr lang="zh-CN" altLang="en-US" dirty="0"/>
              <a:t>将</a:t>
            </a:r>
            <a:r>
              <a:rPr lang="zh-CN" altLang="en-US" dirty="0" smtClean="0"/>
              <a:t>名称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identifier</a:t>
            </a:r>
            <a:r>
              <a:rPr lang="en-US" altLang="zh-CN" dirty="0" smtClean="0"/>
              <a:t> </a:t>
            </a:r>
            <a:r>
              <a:rPr lang="zh-CN" altLang="en-US" dirty="0" smtClean="0"/>
              <a:t>束</a:t>
            </a:r>
            <a:r>
              <a:rPr lang="zh-CN" altLang="en-US" dirty="0"/>
              <a:t>定在该值对应的对象</a:t>
            </a:r>
            <a:r>
              <a:rPr lang="zh-CN" altLang="en-US" dirty="0" smtClean="0"/>
              <a:t>上</a:t>
            </a:r>
            <a:endParaRPr lang="zh-CN" altLang="en-US" dirty="0"/>
          </a:p>
          <a:p>
            <a:pPr lvl="1"/>
            <a:r>
              <a:rPr lang="zh-CN" altLang="en-US" dirty="0" smtClean="0"/>
              <a:t>返回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expression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的值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30497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赋值表达式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赋值表达式目的：方便编程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有了</a:t>
            </a:r>
            <a:r>
              <a:rPr lang="zh-CN" altLang="en-US" dirty="0"/>
              <a:t>返回</a:t>
            </a:r>
            <a:r>
              <a:rPr lang="zh-CN" altLang="en-US" dirty="0" smtClean="0"/>
              <a:t>值后，</a:t>
            </a:r>
            <a:r>
              <a:rPr lang="zh-CN" altLang="en-US" dirty="0"/>
              <a:t>赋值</a:t>
            </a:r>
            <a:r>
              <a:rPr lang="zh-CN" altLang="en-US" dirty="0" smtClean="0"/>
              <a:t>表达式即可与其</a:t>
            </a:r>
            <a:r>
              <a:rPr lang="zh-CN" altLang="en-US" dirty="0"/>
              <a:t>他表达式连用</a:t>
            </a:r>
            <a:r>
              <a:rPr lang="zh-CN" altLang="en-US" dirty="0" smtClean="0"/>
              <a:t>，构造复杂</a:t>
            </a:r>
            <a:r>
              <a:rPr lang="zh-CN" altLang="en-US" dirty="0"/>
              <a:t>的表达式</a:t>
            </a:r>
            <a:r>
              <a:rPr lang="zh-CN" altLang="en-US" dirty="0" smtClean="0"/>
              <a:t>结构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zh-CN" altLang="en-US" dirty="0" smtClean="0"/>
              <a:t>如果没有赋值表达式，右侧示例</a:t>
            </a:r>
            <a:r>
              <a:rPr lang="zh-CN" altLang="en-US" dirty="0"/>
              <a:t>实际上</a:t>
            </a:r>
            <a:r>
              <a:rPr lang="zh-CN" altLang="en-US" dirty="0" smtClean="0"/>
              <a:t>构造了两对实数，而不是两个实数</a:t>
            </a:r>
            <a:endParaRPr lang="en-US" altLang="zh-CN" dirty="0" smtClean="0"/>
          </a:p>
          <a:p>
            <a:r>
              <a:rPr lang="zh-CN" altLang="en-US" dirty="0" smtClean="0"/>
              <a:t>赋值表达式优先级最低，一般需要括号</a:t>
            </a:r>
            <a:endParaRPr lang="en-US" altLang="zh-CN" dirty="0" smtClean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226483" y="2012950"/>
            <a:ext cx="4409017" cy="2385482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if (a := 1.1) &gt; (b := 2.2):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  print(a)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else: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  print(b)</a:t>
            </a:r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4627033" y="2012950"/>
            <a:ext cx="3754967" cy="2385482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if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1.1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2.2: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 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print(1.1)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else: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 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print(2.2)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7974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赋值语句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赋值语句</a:t>
            </a:r>
            <a:endParaRPr lang="en-US" altLang="zh-CN" dirty="0" smtClean="0"/>
          </a:p>
          <a:p>
            <a:pPr lvl="1"/>
            <a:r>
              <a:rPr lang="zh-CN" altLang="en-US" dirty="0"/>
              <a:t>格式：使用赋值操作符</a:t>
            </a:r>
            <a:r>
              <a:rPr lang="zh-CN" altLang="en-US" dirty="0" smtClean="0"/>
              <a:t>“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=</a:t>
            </a:r>
            <a:r>
              <a:rPr lang="en-US" altLang="zh-CN" dirty="0" smtClean="0"/>
              <a:t>”</a:t>
            </a:r>
            <a:endParaRPr lang="en-US" altLang="zh-CN" dirty="0"/>
          </a:p>
          <a:p>
            <a:pPr lvl="1"/>
            <a:r>
              <a:rPr lang="zh-CN" altLang="en-US" dirty="0" smtClean="0"/>
              <a:t>示例</a:t>
            </a:r>
            <a:r>
              <a:rPr lang="zh-CN" altLang="en-US" dirty="0"/>
              <a:t>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identifier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=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expression</a:t>
            </a:r>
          </a:p>
          <a:p>
            <a:r>
              <a:rPr lang="zh-CN" altLang="en-US" dirty="0" smtClean="0"/>
              <a:t>连续赋值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合法且有效，如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= b = 1</a:t>
            </a:r>
          </a:p>
          <a:p>
            <a:r>
              <a:rPr lang="zh-CN" altLang="en-US" dirty="0"/>
              <a:t>存在其他赋值手段，如函数参数</a:t>
            </a:r>
            <a:r>
              <a:rPr lang="zh-CN" altLang="en-US" dirty="0" smtClean="0"/>
              <a:t>传递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5457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多变量赋值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多变量“同时”赋值：从左到右依次进行</a:t>
            </a:r>
          </a:p>
          <a:p>
            <a:pPr lvl="1"/>
            <a:r>
              <a:rPr lang="zh-CN" altLang="en-US" dirty="0"/>
              <a:t>格式：使用逗号分隔符，同时对多个变量赋值</a:t>
            </a:r>
          </a:p>
          <a:p>
            <a:pPr lvl="1"/>
            <a:r>
              <a:rPr lang="zh-CN" altLang="en-US" dirty="0"/>
              <a:t>示例：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a, b, c = 1, 2,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3</a:t>
            </a:r>
            <a:endParaRPr lang="zh-CN" altLang="en-US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r>
              <a:rPr lang="zh-CN" altLang="en-US" dirty="0"/>
              <a:t>多变量</a:t>
            </a:r>
            <a:r>
              <a:rPr lang="zh-CN" altLang="en-US" dirty="0" smtClean="0"/>
              <a:t>赋值优点：省略</a:t>
            </a:r>
            <a:r>
              <a:rPr lang="zh-CN" altLang="en-US" dirty="0"/>
              <a:t>临时量的定义，简化代码</a:t>
            </a:r>
          </a:p>
          <a:p>
            <a:pPr lvl="1"/>
            <a:r>
              <a:rPr lang="zh-CN" altLang="en-US" dirty="0"/>
              <a:t>示例：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a, b = b, a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	</a:t>
            </a:r>
            <a:r>
              <a:rPr lang="en-US" altLang="zh-CN" b="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	</a:t>
            </a:r>
            <a:r>
              <a:rPr lang="en-US" altLang="zh-CN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#  </a:t>
            </a:r>
            <a:r>
              <a:rPr lang="zh-CN" altLang="en-US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值</a:t>
            </a:r>
            <a:r>
              <a:rPr lang="zh-CN" altLang="en-US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互换</a:t>
            </a:r>
          </a:p>
          <a:p>
            <a:r>
              <a:rPr lang="zh-CN" altLang="en-US" dirty="0" smtClean="0"/>
              <a:t>实际原理：构造元组对象</a:t>
            </a:r>
            <a:endParaRPr lang="en-US" altLang="zh-CN" dirty="0" smtClean="0"/>
          </a:p>
          <a:p>
            <a:r>
              <a:rPr lang="zh-CN" altLang="en-US" dirty="0" smtClean="0"/>
              <a:t>注意</a:t>
            </a:r>
            <a:r>
              <a:rPr lang="zh-CN" altLang="en-US" dirty="0"/>
              <a:t>事项</a:t>
            </a:r>
          </a:p>
          <a:p>
            <a:pPr lvl="1"/>
            <a:r>
              <a:rPr lang="zh-CN" altLang="en-US" dirty="0"/>
              <a:t>不要对彼此无关的变量同时赋值</a:t>
            </a:r>
          </a:p>
        </p:txBody>
      </p:sp>
    </p:spTree>
    <p:extLst>
      <p:ext uri="{BB962C8B-B14F-4D97-AF65-F5344CB8AC3E}">
        <p14:creationId xmlns:p14="http://schemas.microsoft.com/office/powerpoint/2010/main" val="42112508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同一性测试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一种关注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赋值与量的同一性：依赖 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语言的具体实现</a:t>
            </a:r>
            <a:r>
              <a:rPr lang="zh-CN" altLang="en-US" dirty="0">
                <a:solidFill>
                  <a:srgbClr val="FFFF00"/>
                </a:solidFill>
              </a:rPr>
              <a:t>（</a:t>
            </a:r>
            <a:r>
              <a:rPr lang="zh-CN" altLang="en-US" dirty="0" smtClean="0">
                <a:solidFill>
                  <a:srgbClr val="FFFF00"/>
                </a:solidFill>
              </a:rPr>
              <a:t>小心！）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lvl="2"/>
            <a:r>
              <a:rPr lang="zh-CN" altLang="en-US" dirty="0" smtClean="0"/>
              <a:t>示例</a:t>
            </a:r>
            <a:r>
              <a:rPr lang="zh-CN" altLang="en-US" dirty="0"/>
              <a:t>一：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= 1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与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b = 1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是否引用值为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</a:t>
            </a:r>
            <a:r>
              <a:rPr lang="en-US" altLang="zh-CN" dirty="0"/>
              <a:t> </a:t>
            </a:r>
            <a:r>
              <a:rPr lang="zh-CN" altLang="en-US" dirty="0"/>
              <a:t>的同一有常对象</a:t>
            </a:r>
            <a:r>
              <a:rPr lang="zh-CN" altLang="en-US" dirty="0" smtClean="0"/>
              <a:t>存疑</a:t>
            </a:r>
            <a:endParaRPr lang="zh-CN" altLang="en-US" dirty="0"/>
          </a:p>
          <a:p>
            <a:pPr lvl="2"/>
            <a:r>
              <a:rPr lang="zh-CN" altLang="en-US" dirty="0"/>
              <a:t>示例二：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= []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b = []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总是引用</a:t>
            </a:r>
            <a:r>
              <a:rPr lang="zh-CN" altLang="en-US" dirty="0" smtClean="0"/>
              <a:t>不同无常</a:t>
            </a:r>
            <a:r>
              <a:rPr lang="zh-CN" altLang="en-US" dirty="0"/>
              <a:t>对象（空列表）</a:t>
            </a:r>
          </a:p>
          <a:p>
            <a:pPr lvl="2"/>
            <a:r>
              <a:rPr lang="zh-CN" altLang="en-US" dirty="0"/>
              <a:t>示例三：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= b = []</a:t>
            </a:r>
            <a:r>
              <a:rPr lang="en-US" altLang="zh-CN" dirty="0"/>
              <a:t> </a:t>
            </a:r>
            <a:r>
              <a:rPr lang="zh-CN" altLang="en-US" dirty="0"/>
              <a:t>总是引用同</a:t>
            </a:r>
            <a:r>
              <a:rPr lang="zh-CN" altLang="en-US" dirty="0" smtClean="0"/>
              <a:t>一无常对象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建议</a:t>
            </a:r>
            <a:r>
              <a:rPr lang="zh-CN" altLang="en-US" dirty="0"/>
              <a:t>：</a:t>
            </a:r>
            <a:r>
              <a:rPr lang="zh-CN" altLang="en-US" dirty="0" smtClean="0"/>
              <a:t>真诚地</a:t>
            </a:r>
            <a:r>
              <a:rPr lang="en-US" altLang="zh-CN" dirty="0" smtClean="0"/>
              <a:t>……</a:t>
            </a:r>
          </a:p>
          <a:p>
            <a:pPr lvl="2"/>
            <a:r>
              <a:rPr lang="zh-CN" altLang="en-US" dirty="0" smtClean="0"/>
              <a:t>尝试执行后两张 </a:t>
            </a:r>
            <a:r>
              <a:rPr lang="en-US" altLang="zh-CN" dirty="0" smtClean="0"/>
              <a:t>PPT </a:t>
            </a:r>
            <a:r>
              <a:rPr lang="zh-CN" altLang="en-US" dirty="0" smtClean="0"/>
              <a:t>中的命令，使用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id()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函数查看赋值后</a:t>
            </a:r>
            <a:r>
              <a:rPr lang="zh-CN" altLang="en-US" dirty="0" smtClean="0"/>
              <a:t>的本征值，</a:t>
            </a:r>
            <a:r>
              <a:rPr lang="zh-CN" altLang="en-US" dirty="0"/>
              <a:t>使用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is</a:t>
            </a:r>
            <a:r>
              <a:rPr lang="en-US" altLang="zh-CN" dirty="0"/>
              <a:t> </a:t>
            </a:r>
            <a:r>
              <a:rPr lang="zh-CN" altLang="en-US" dirty="0"/>
              <a:t>操作符</a:t>
            </a:r>
            <a:r>
              <a:rPr lang="zh-CN" altLang="en-US" dirty="0" smtClean="0"/>
              <a:t>查看它们是否</a:t>
            </a:r>
            <a:r>
              <a:rPr lang="zh-CN" altLang="en-US" dirty="0"/>
              <a:t>引用同一对象</a:t>
            </a:r>
          </a:p>
          <a:p>
            <a:pPr lvl="2"/>
            <a:r>
              <a:rPr lang="zh-CN" altLang="en-US" dirty="0"/>
              <a:t>背景</a:t>
            </a:r>
            <a:r>
              <a:rPr lang="zh-CN" altLang="en-US" dirty="0" smtClean="0"/>
              <a:t>歌曲：</a:t>
            </a:r>
            <a:r>
              <a:rPr lang="en-US" altLang="zh-CN" dirty="0" smtClean="0"/>
              <a:t>As Times Goes by</a:t>
            </a:r>
            <a:endParaRPr lang="en-US" altLang="zh-CN" dirty="0"/>
          </a:p>
          <a:p>
            <a:pPr lvl="3"/>
            <a:r>
              <a:rPr lang="en-US" altLang="zh-CN" dirty="0" smtClean="0"/>
              <a:t>Casablanca</a:t>
            </a:r>
            <a:r>
              <a:rPr lang="zh-CN" altLang="en-US" dirty="0" smtClean="0"/>
              <a:t>（北非谍影，</a:t>
            </a:r>
            <a:r>
              <a:rPr lang="en-US" altLang="zh-CN" dirty="0" smtClean="0"/>
              <a:t>1942</a:t>
            </a:r>
            <a:r>
              <a:rPr lang="zh-CN" altLang="en-US" dirty="0" smtClean="0"/>
              <a:t>）（王力宏 </a:t>
            </a:r>
            <a:r>
              <a:rPr lang="en-US" altLang="zh-CN" dirty="0" smtClean="0"/>
              <a:t>《</a:t>
            </a:r>
            <a:r>
              <a:rPr lang="zh-CN" altLang="en-US" dirty="0" smtClean="0"/>
              <a:t>火力全开</a:t>
            </a:r>
            <a:r>
              <a:rPr lang="en-US" altLang="zh-CN" dirty="0" smtClean="0"/>
              <a:t>》</a:t>
            </a:r>
            <a:r>
              <a:rPr lang="zh-CN" altLang="en-US" dirty="0" smtClean="0"/>
              <a:t>版？</a:t>
            </a:r>
            <a:r>
              <a:rPr lang="en-US" altLang="zh-CN" dirty="0" smtClean="0"/>
              <a:t>2011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203363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赋值与量同一性示例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28133"/>
            <a:ext cx="8890000" cy="41783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is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	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一是一，二是二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chemeClr val="accent4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 =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id(a)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b =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id(b)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 is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b		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一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就是一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，二就是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二？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chemeClr val="accent4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 =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id(a)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id(b)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 is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b	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一就是一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，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二就是二！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1732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赋值与</a:t>
            </a:r>
            <a:r>
              <a:rPr lang="zh-CN" altLang="en-US" dirty="0" smtClean="0"/>
              <a:t>量同一性示例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28133"/>
            <a:ext cx="8890000" cy="41783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1.1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is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1.1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一带一是一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带一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，二带二是二带二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chemeClr val="accent4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c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1.1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id(c)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d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1.1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c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is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d		</a:t>
            </a:r>
            <a:r>
              <a:rPr lang="en-US" altLang="zh-CN" sz="2000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一带一不是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一带一，二带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二不是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二带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二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……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000" b="0" dirty="0" smtClean="0">
              <a:solidFill>
                <a:schemeClr val="accent4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c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=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d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id(c)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id(d)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c </a:t>
            </a:r>
            <a:r>
              <a:rPr lang="en-US" altLang="zh-CN" sz="2000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is </a:t>
            </a:r>
            <a:r>
              <a:rPr lang="en-US" altLang="zh-CN" sz="2000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d		</a:t>
            </a:r>
            <a:r>
              <a:rPr lang="en-US" altLang="zh-CN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一带一就是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一带一，二带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二就是</a:t>
            </a:r>
            <a:r>
              <a:rPr lang="zh-CN" altLang="en-US" sz="2000" b="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二带</a:t>
            </a:r>
            <a:r>
              <a:rPr lang="zh-CN" altLang="en-US" sz="2000" b="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二！</a:t>
            </a:r>
            <a:endParaRPr lang="en-US" altLang="zh-CN" sz="20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2996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1.4.5</a:t>
            </a:r>
            <a:r>
              <a:rPr lang="zh-CN" altLang="en-US" dirty="0"/>
              <a:t>　</a:t>
            </a:r>
            <a:r>
              <a:rPr lang="zh-CN" altLang="en-US" dirty="0" smtClean="0"/>
              <a:t>含参赋值语句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基本格式</a:t>
            </a:r>
          </a:p>
          <a:p>
            <a:pPr lvl="1"/>
            <a:r>
              <a:rPr lang="zh-CN" altLang="en-US" dirty="0"/>
              <a:t>加赋“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+=</a:t>
            </a:r>
            <a:r>
              <a:rPr lang="en-US" altLang="zh-CN" dirty="0"/>
              <a:t>”</a:t>
            </a:r>
            <a:r>
              <a:rPr lang="zh-CN" altLang="en-US" dirty="0"/>
              <a:t>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+= b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类似于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= a +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b</a:t>
            </a:r>
          </a:p>
          <a:p>
            <a:pPr lvl="1"/>
            <a:r>
              <a:rPr lang="zh-CN" altLang="en-US" dirty="0" smtClean="0"/>
              <a:t>减</a:t>
            </a:r>
            <a:r>
              <a:rPr lang="zh-CN" altLang="en-US" dirty="0"/>
              <a:t>赋“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-=</a:t>
            </a:r>
            <a:r>
              <a:rPr lang="en-US" altLang="zh-CN" dirty="0"/>
              <a:t>”</a:t>
            </a:r>
            <a:r>
              <a:rPr lang="zh-CN" altLang="en-US" dirty="0"/>
              <a:t>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-= b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类似于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= a - b</a:t>
            </a:r>
          </a:p>
          <a:p>
            <a:pPr lvl="1"/>
            <a:r>
              <a:rPr lang="zh-CN" altLang="en-US" dirty="0"/>
              <a:t>其他：乘赋“</a:t>
            </a:r>
            <a:r>
              <a:rPr lang="zh-CN" altLang="en-US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*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=</a:t>
            </a:r>
            <a:r>
              <a:rPr lang="en-US" altLang="zh-CN" dirty="0"/>
              <a:t>”</a:t>
            </a:r>
            <a:r>
              <a:rPr lang="zh-CN" altLang="en-US" dirty="0"/>
              <a:t>与“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@=</a:t>
            </a:r>
            <a:r>
              <a:rPr lang="en-US" altLang="zh-CN" dirty="0"/>
              <a:t>”</a:t>
            </a:r>
            <a:r>
              <a:rPr lang="zh-CN" altLang="en-US" dirty="0"/>
              <a:t>；除赋“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/=</a:t>
            </a:r>
            <a:r>
              <a:rPr lang="en-US" altLang="zh-CN" dirty="0"/>
              <a:t>”</a:t>
            </a:r>
            <a:r>
              <a:rPr lang="zh-CN" altLang="en-US" dirty="0"/>
              <a:t>与“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//=</a:t>
            </a:r>
            <a:r>
              <a:rPr lang="en-US" altLang="zh-CN" dirty="0"/>
              <a:t>”</a:t>
            </a:r>
            <a:r>
              <a:rPr lang="zh-CN" altLang="en-US" dirty="0"/>
              <a:t>；余赋“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%=</a:t>
            </a:r>
            <a:r>
              <a:rPr lang="en-US" altLang="zh-CN" dirty="0"/>
              <a:t>”</a:t>
            </a:r>
            <a:r>
              <a:rPr lang="zh-CN" altLang="en-US" dirty="0"/>
              <a:t>；幂赋“</a:t>
            </a:r>
            <a:r>
              <a:rPr lang="zh-CN" altLang="en-US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**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=</a:t>
            </a:r>
            <a:r>
              <a:rPr lang="en-US" altLang="zh-CN" dirty="0"/>
              <a:t>”</a:t>
            </a:r>
            <a:r>
              <a:rPr lang="zh-CN" altLang="en-US" dirty="0"/>
              <a:t>；移位赋“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&lt;&lt;=</a:t>
            </a:r>
            <a:r>
              <a:rPr lang="en-US" altLang="zh-CN" dirty="0"/>
              <a:t>”</a:t>
            </a:r>
            <a:r>
              <a:rPr lang="zh-CN" altLang="en-US" dirty="0"/>
              <a:t>与“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&gt;&gt;=</a:t>
            </a:r>
            <a:r>
              <a:rPr lang="en-US" altLang="zh-CN" dirty="0"/>
              <a:t>”</a:t>
            </a:r>
            <a:r>
              <a:rPr lang="zh-CN" altLang="en-US" dirty="0"/>
              <a:t>；位赋“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&amp;=</a:t>
            </a:r>
            <a:r>
              <a:rPr lang="en-US" altLang="zh-CN" dirty="0"/>
              <a:t>”</a:t>
            </a:r>
            <a:r>
              <a:rPr lang="zh-CN" altLang="en-US" dirty="0"/>
              <a:t>、</a:t>
            </a:r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^=</a:t>
            </a:r>
            <a:r>
              <a:rPr lang="en-US" altLang="zh-CN" dirty="0" smtClean="0"/>
              <a:t>”</a:t>
            </a:r>
            <a:r>
              <a:rPr lang="zh-CN" altLang="en-US" dirty="0"/>
              <a:t>与</a:t>
            </a:r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|=</a:t>
            </a:r>
            <a:r>
              <a:rPr lang="en-US" altLang="zh-CN" dirty="0" smtClean="0"/>
              <a:t>”</a:t>
            </a:r>
            <a:endParaRPr lang="en-US" altLang="zh-CN" dirty="0"/>
          </a:p>
          <a:p>
            <a:r>
              <a:rPr lang="zh-CN" altLang="en-US" dirty="0"/>
              <a:t>注意事项</a:t>
            </a:r>
          </a:p>
          <a:p>
            <a:pPr lvl="1"/>
            <a:r>
              <a:rPr lang="zh-CN" altLang="en-US" dirty="0"/>
              <a:t>实施此类操作前，右侧子表达式需计算完毕</a:t>
            </a:r>
          </a:p>
          <a:p>
            <a:pPr lvl="1"/>
            <a:r>
              <a:rPr lang="zh-CN" altLang="en-US" dirty="0"/>
              <a:t>示例：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*= b + c</a:t>
            </a:r>
            <a:r>
              <a:rPr lang="en-US" altLang="zh-CN" dirty="0"/>
              <a:t> </a:t>
            </a:r>
            <a:r>
              <a:rPr lang="zh-CN" altLang="en-US" dirty="0"/>
              <a:t>类似于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 = a * (b + c)</a:t>
            </a:r>
          </a:p>
        </p:txBody>
      </p:sp>
    </p:spTree>
    <p:extLst>
      <p:ext uri="{BB962C8B-B14F-4D97-AF65-F5344CB8AC3E}">
        <p14:creationId xmlns:p14="http://schemas.microsoft.com/office/powerpoint/2010/main" val="25224731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1.4.6</a:t>
            </a:r>
            <a:r>
              <a:rPr lang="zh-CN" altLang="en-US" dirty="0"/>
              <a:t>　</a:t>
            </a:r>
            <a:r>
              <a:rPr lang="zh-CN" altLang="en-US" dirty="0" smtClean="0"/>
              <a:t>导入语句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入语句目的：导</a:t>
            </a:r>
            <a:r>
              <a:rPr lang="zh-CN" altLang="en-US" dirty="0"/>
              <a:t>入</a:t>
            </a:r>
            <a:r>
              <a:rPr lang="zh-CN" altLang="en-US" dirty="0" smtClean="0"/>
              <a:t>模块，使用其中的名称</a:t>
            </a:r>
            <a:endParaRPr lang="zh-CN" altLang="en-US" dirty="0"/>
          </a:p>
          <a:p>
            <a:r>
              <a:rPr lang="zh-CN" altLang="en-US" dirty="0" smtClean="0"/>
              <a:t>导入格式：数学模块中定义了一个圆周率常数</a:t>
            </a:r>
            <a:endParaRPr lang="en-US" altLang="zh-CN" dirty="0" smtClean="0"/>
          </a:p>
          <a:p>
            <a:pPr lvl="1"/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import math</a:t>
            </a:r>
            <a:r>
              <a:rPr lang="en-US" altLang="zh-CN" b="0" dirty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[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as name</a:t>
            </a:r>
            <a:r>
              <a:rPr lang="en-US" altLang="zh-CN" b="0" dirty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]</a:t>
            </a:r>
            <a:r>
              <a:rPr lang="zh-CN" altLang="en-US" dirty="0" smtClean="0"/>
              <a:t>：导入数学模块，使用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math.pi</a:t>
            </a:r>
            <a:r>
              <a:rPr lang="en-US" altLang="zh-CN" dirty="0" smtClean="0"/>
              <a:t> </a:t>
            </a:r>
            <a:r>
              <a:rPr lang="zh-CN" altLang="en-US" dirty="0" smtClean="0"/>
              <a:t>访问</a:t>
            </a:r>
            <a:endParaRPr lang="en-US" altLang="zh-CN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pPr lvl="1"/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from math import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pi</a:t>
            </a:r>
            <a:r>
              <a:rPr lang="en-US" altLang="zh-CN" b="0" dirty="0" smtClean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[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as name</a:t>
            </a:r>
            <a:r>
              <a:rPr lang="en-US" altLang="zh-CN" b="0" dirty="0" smtClean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]</a:t>
            </a:r>
            <a:r>
              <a:rPr lang="zh-CN" altLang="en-US" dirty="0" smtClean="0"/>
              <a:t>：仅导入数学模块中的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pi</a:t>
            </a:r>
            <a:r>
              <a:rPr lang="zh-CN" altLang="en-US" dirty="0" smtClean="0"/>
              <a:t>，使用名称访问</a:t>
            </a:r>
            <a:endParaRPr lang="en-US" altLang="zh-CN" dirty="0" smtClean="0"/>
          </a:p>
          <a:p>
            <a:pPr lvl="1"/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from math import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*</a:t>
            </a:r>
            <a:r>
              <a:rPr lang="zh-CN" altLang="en-US" dirty="0" smtClean="0"/>
              <a:t>：导入数学模块，使用名称访问</a:t>
            </a:r>
            <a:endParaRPr lang="en-US" altLang="zh-CN" dirty="0" smtClean="0"/>
          </a:p>
          <a:p>
            <a:pPr lvl="1"/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as</a:t>
            </a:r>
            <a:r>
              <a:rPr lang="en-US" altLang="zh-CN" dirty="0" smtClean="0"/>
              <a:t> </a:t>
            </a:r>
            <a:r>
              <a:rPr lang="zh-CN" altLang="en-US" dirty="0" smtClean="0"/>
              <a:t>子句为命名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此时原名已不可用，只能用替换后的名称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目的：防止名称冲突；将长名称替换为短名称，方便编程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3012359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168" y="203200"/>
            <a:ext cx="7573432" cy="303953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程序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文本结构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对象与型式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表达式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语　句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rgbClr val="FFFF00"/>
                </a:solidFill>
              </a:rPr>
              <a:t>1.5</a:t>
            </a:r>
            <a:r>
              <a:rPr lang="zh-CN" altLang="en-US" dirty="0">
                <a:solidFill>
                  <a:srgbClr val="FFFF00"/>
                </a:solidFill>
              </a:rPr>
              <a:t>　</a:t>
            </a:r>
            <a:r>
              <a:rPr lang="zh-CN" altLang="en-US" dirty="0" smtClean="0">
                <a:solidFill>
                  <a:srgbClr val="FFFF00"/>
                </a:solidFill>
              </a:rPr>
              <a:t>数值与数学计算</a:t>
            </a:r>
            <a:r>
              <a:rPr lang="zh-CN" altLang="en-US" dirty="0">
                <a:solidFill>
                  <a:srgbClr val="FFFF00"/>
                </a:solidFill>
              </a:rPr>
              <a:t/>
            </a:r>
            <a:br>
              <a:rPr lang="zh-CN" altLang="en-US" dirty="0">
                <a:solidFill>
                  <a:srgbClr val="FFFF00"/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1.6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基本输入输出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基础文法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3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</a:t>
            </a:r>
            <a:r>
              <a:rPr lang="zh-CN" altLang="en-US" dirty="0"/>
              <a:t>　</a:t>
            </a:r>
            <a:r>
              <a:rPr lang="zh-CN" altLang="en-US" dirty="0" smtClean="0"/>
              <a:t>数值与数学计算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1.5.1</a:t>
            </a:r>
            <a:r>
              <a:rPr lang="zh-CN" altLang="en-US" dirty="0"/>
              <a:t>　</a:t>
            </a:r>
            <a:r>
              <a:rPr lang="zh-CN" altLang="en-US" dirty="0" smtClean="0"/>
              <a:t>数值计算</a:t>
            </a:r>
            <a:endParaRPr lang="en-US" altLang="zh-CN" dirty="0" smtClean="0"/>
          </a:p>
          <a:p>
            <a:r>
              <a:rPr lang="en-US" altLang="zh-CN" dirty="0" smtClean="0"/>
              <a:t>1.5.2</a:t>
            </a:r>
            <a:r>
              <a:rPr lang="zh-CN" altLang="en-US" dirty="0"/>
              <a:t>　</a:t>
            </a:r>
            <a:r>
              <a:rPr lang="zh-CN" altLang="en-US" dirty="0" smtClean="0"/>
              <a:t>内置数学函数</a:t>
            </a:r>
            <a:endParaRPr lang="zh-CN" altLang="en-US" dirty="0"/>
          </a:p>
          <a:p>
            <a:r>
              <a:rPr lang="en-US" altLang="zh-CN" dirty="0" smtClean="0"/>
              <a:t>1.5.3</a:t>
            </a:r>
            <a:r>
              <a:rPr lang="zh-CN" altLang="en-US" dirty="0"/>
              <a:t>　</a:t>
            </a:r>
            <a:r>
              <a:rPr lang="zh-CN" altLang="en-US" dirty="0" smtClean="0"/>
              <a:t>数值与数学计算模块</a:t>
            </a:r>
            <a:endParaRPr lang="zh-CN" altLang="en-US" dirty="0"/>
          </a:p>
          <a:p>
            <a:r>
              <a:rPr lang="en-US" altLang="zh-CN" dirty="0" smtClean="0"/>
              <a:t>1.5.4</a:t>
            </a:r>
            <a:r>
              <a:rPr lang="zh-CN" altLang="en-US" dirty="0"/>
              <a:t>　</a:t>
            </a:r>
            <a:r>
              <a:rPr lang="zh-CN" altLang="en-US" dirty="0" smtClean="0"/>
              <a:t>数学模块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98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1.5.1</a:t>
            </a:r>
            <a:r>
              <a:rPr lang="zh-CN" altLang="en-US" dirty="0"/>
              <a:t>　</a:t>
            </a:r>
            <a:r>
              <a:rPr lang="zh-CN" altLang="en-US" dirty="0" smtClean="0"/>
              <a:t>数值运算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四则运算及相关操作符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+</a:t>
            </a:r>
            <a:r>
              <a:rPr lang="zh-CN" altLang="en-US" dirty="0" smtClean="0"/>
              <a:t>”：加法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-</a:t>
            </a:r>
            <a:r>
              <a:rPr lang="zh-CN" altLang="en-US" dirty="0" smtClean="0"/>
              <a:t>”：减法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zh-CN" altLang="en-US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*</a:t>
            </a:r>
            <a:r>
              <a:rPr lang="zh-CN" altLang="en-US" dirty="0" smtClean="0"/>
              <a:t>”：乘法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/</a:t>
            </a:r>
            <a:r>
              <a:rPr lang="zh-CN" altLang="en-US" dirty="0" smtClean="0"/>
              <a:t>”：除法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//</a:t>
            </a:r>
            <a:r>
              <a:rPr lang="zh-CN" altLang="en-US" dirty="0" smtClean="0"/>
              <a:t>”：</a:t>
            </a:r>
            <a:r>
              <a:rPr lang="en-US" altLang="zh-CN" dirty="0"/>
              <a:t> Python 3.0 </a:t>
            </a:r>
            <a:r>
              <a:rPr lang="zh-CN" altLang="en-US" dirty="0"/>
              <a:t>之后，</a:t>
            </a:r>
            <a:r>
              <a:rPr lang="zh-CN" altLang="en-US" dirty="0" smtClean="0"/>
              <a:t>整数除法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%</a:t>
            </a:r>
            <a:r>
              <a:rPr lang="zh-CN" altLang="en-US" dirty="0" smtClean="0"/>
              <a:t>”：整数模运算（取余）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zh-CN" altLang="en-US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**</a:t>
            </a:r>
            <a:r>
              <a:rPr lang="zh-CN" altLang="en-US" dirty="0" smtClean="0"/>
              <a:t>”：幂运算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943535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1.5.1</a:t>
            </a:r>
            <a:r>
              <a:rPr lang="zh-CN" altLang="en-US" dirty="0"/>
              <a:t>　</a:t>
            </a:r>
            <a:r>
              <a:rPr lang="zh-CN" altLang="en-US" dirty="0" smtClean="0"/>
              <a:t>数值运算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符号运算操作符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+</a:t>
            </a:r>
            <a:r>
              <a:rPr lang="zh-CN" altLang="en-US" dirty="0" smtClean="0"/>
              <a:t>”：一元操作符，对象本身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-</a:t>
            </a:r>
            <a:r>
              <a:rPr lang="zh-CN" altLang="en-US" dirty="0" smtClean="0"/>
              <a:t>”：一元操作符，改变对象的正负号</a:t>
            </a:r>
            <a:endParaRPr lang="en-US" altLang="zh-CN" dirty="0" smtClean="0"/>
          </a:p>
          <a:p>
            <a:r>
              <a:rPr lang="zh-CN" altLang="en-US" dirty="0" smtClean="0"/>
              <a:t>移位运算操作符：仅适用于整数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&lt;&lt;</a:t>
            </a:r>
            <a:r>
              <a:rPr lang="zh-CN" altLang="en-US" dirty="0" smtClean="0"/>
              <a:t>”：左移，左移一位相当于倍乘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示例：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2049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&lt;&lt;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10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等价于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2049 </a:t>
            </a:r>
            <a:r>
              <a:rPr lang="zh-CN" altLang="en-US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*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 </a:t>
            </a:r>
            <a:r>
              <a:rPr lang="zh-CN" altLang="en-US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**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10</a:t>
            </a:r>
            <a:r>
              <a:rPr lang="zh-CN" altLang="en-US" dirty="0" smtClean="0"/>
              <a:t>（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2098176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&gt;&gt;</a:t>
            </a:r>
            <a:r>
              <a:rPr lang="zh-CN" altLang="en-US" dirty="0" smtClean="0"/>
              <a:t>”：</a:t>
            </a:r>
            <a:r>
              <a:rPr lang="zh-CN" altLang="en-US" dirty="0"/>
              <a:t>右</a:t>
            </a:r>
            <a:r>
              <a:rPr lang="zh-CN" altLang="en-US" dirty="0" smtClean="0"/>
              <a:t>移，右移</a:t>
            </a:r>
            <a:r>
              <a:rPr lang="zh-CN" altLang="en-US" dirty="0"/>
              <a:t>一位</a:t>
            </a:r>
            <a:r>
              <a:rPr lang="zh-CN" altLang="en-US" dirty="0" smtClean="0"/>
              <a:t>相当于折半，结果为整数</a:t>
            </a:r>
            <a:endParaRPr lang="en-US" altLang="zh-CN" dirty="0"/>
          </a:p>
          <a:p>
            <a:pPr lvl="2"/>
            <a:r>
              <a:rPr lang="zh-CN" altLang="en-US" dirty="0"/>
              <a:t>示例</a:t>
            </a:r>
            <a:r>
              <a:rPr lang="zh-CN" altLang="en-US" dirty="0" smtClean="0"/>
              <a:t>：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2049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&gt;&gt; 10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等价于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2049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//</a:t>
            </a:r>
            <a:r>
              <a:rPr lang="zh-CN" altLang="en-US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 </a:t>
            </a:r>
            <a:r>
              <a:rPr lang="zh-CN" altLang="en-US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**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10</a:t>
            </a:r>
            <a:r>
              <a:rPr lang="zh-CN" altLang="en-US" dirty="0" smtClean="0"/>
              <a:t>（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</a:t>
            </a:r>
            <a:r>
              <a:rPr lang="zh-CN" altLang="en-US" dirty="0" smtClean="0"/>
              <a:t>）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5794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1.5.1</a:t>
            </a:r>
            <a:r>
              <a:rPr lang="zh-CN" altLang="en-US" dirty="0"/>
              <a:t>　</a:t>
            </a:r>
            <a:r>
              <a:rPr lang="zh-CN" altLang="en-US" dirty="0" smtClean="0"/>
              <a:t>数值运算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位运算操作符：仅适用于整数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|</a:t>
            </a:r>
            <a:r>
              <a:rPr lang="zh-CN" altLang="en-US" dirty="0" smtClean="0"/>
              <a:t>”：位或，二进制逐位取或（全 </a:t>
            </a:r>
            <a:r>
              <a:rPr lang="en-US" altLang="zh-CN" dirty="0" smtClean="0"/>
              <a:t>0 </a:t>
            </a:r>
            <a:r>
              <a:rPr lang="zh-CN" altLang="en-US" dirty="0" smtClean="0"/>
              <a:t>为 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，其他为 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示例：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0b0101 | 0b1001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结果为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0b1101</a:t>
            </a:r>
            <a:r>
              <a:rPr lang="zh-CN" altLang="en-US" dirty="0" smtClean="0"/>
              <a:t>（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13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^</a:t>
            </a:r>
            <a:r>
              <a:rPr lang="zh-CN" altLang="en-US" dirty="0" smtClean="0"/>
              <a:t>”</a:t>
            </a:r>
            <a:r>
              <a:rPr lang="zh-CN" altLang="en-US" dirty="0"/>
              <a:t>：</a:t>
            </a:r>
            <a:r>
              <a:rPr lang="zh-CN" altLang="en-US" dirty="0" smtClean="0"/>
              <a:t>位异或</a:t>
            </a:r>
            <a:r>
              <a:rPr lang="zh-CN" altLang="en-US" dirty="0"/>
              <a:t>，</a:t>
            </a:r>
            <a:r>
              <a:rPr lang="zh-CN" altLang="en-US" dirty="0" smtClean="0"/>
              <a:t>二进制逐位取异或（相同为</a:t>
            </a:r>
            <a:r>
              <a:rPr lang="en-US" altLang="zh-CN" dirty="0"/>
              <a:t> 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，相异为 </a:t>
            </a:r>
            <a:r>
              <a:rPr lang="en-US" altLang="zh-CN" dirty="0"/>
              <a:t>1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示例：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0b0101 ^ 0b1001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结果为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0b1100</a:t>
            </a:r>
            <a:r>
              <a:rPr lang="zh-CN" altLang="en-US" dirty="0" smtClean="0"/>
              <a:t>（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12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&amp;</a:t>
            </a:r>
            <a:r>
              <a:rPr lang="zh-CN" altLang="en-US" dirty="0"/>
              <a:t>”：位与，</a:t>
            </a:r>
            <a:r>
              <a:rPr lang="zh-CN" altLang="en-US" dirty="0" smtClean="0"/>
              <a:t>二进制逐位取与（全 </a:t>
            </a:r>
            <a:r>
              <a:rPr lang="en-US" altLang="zh-CN" dirty="0" smtClean="0"/>
              <a:t>1 </a:t>
            </a:r>
            <a:r>
              <a:rPr lang="zh-CN" altLang="en-US" dirty="0" smtClean="0"/>
              <a:t>为 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，其他为 </a:t>
            </a:r>
            <a:r>
              <a:rPr lang="en-US" altLang="zh-CN" dirty="0" smtClean="0"/>
              <a:t>0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示例：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0b0101 &amp; 0b1001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结果为</a:t>
            </a:r>
            <a:r>
              <a:rPr lang="zh-CN" altLang="en-US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0b0001</a:t>
            </a:r>
            <a:r>
              <a:rPr lang="zh-CN" altLang="en-US" dirty="0"/>
              <a:t>（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 smtClean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~</a:t>
            </a:r>
            <a:r>
              <a:rPr lang="zh-CN" altLang="en-US" dirty="0" smtClean="0"/>
              <a:t>”：</a:t>
            </a:r>
            <a:r>
              <a:rPr lang="zh-CN" altLang="en-US" dirty="0"/>
              <a:t>位反</a:t>
            </a:r>
            <a:r>
              <a:rPr lang="zh-CN" altLang="en-US" dirty="0" smtClean="0"/>
              <a:t>，二进制逐位取反（</a:t>
            </a:r>
            <a:r>
              <a:rPr lang="en-US" altLang="zh-CN" dirty="0" smtClean="0"/>
              <a:t>1 </a:t>
            </a:r>
            <a:r>
              <a:rPr lang="zh-CN" altLang="en-US" dirty="0" smtClean="0"/>
              <a:t>变 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0 </a:t>
            </a:r>
            <a:r>
              <a:rPr lang="zh-CN" altLang="en-US" dirty="0" smtClean="0"/>
              <a:t>变 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示例</a:t>
            </a:r>
            <a:r>
              <a:rPr lang="zh-CN" altLang="en-US" dirty="0" smtClean="0"/>
              <a:t>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~0b0101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结果为</a:t>
            </a:r>
            <a:r>
              <a:rPr lang="zh-CN" altLang="en-US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0b1010</a:t>
            </a:r>
            <a:r>
              <a:rPr lang="zh-CN" altLang="en-US" dirty="0" smtClean="0"/>
              <a:t>（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-6</a:t>
            </a:r>
            <a:r>
              <a:rPr lang="zh-CN" altLang="en-US" dirty="0" smtClean="0"/>
              <a:t>）（前提：四位二进制整数）</a:t>
            </a:r>
          </a:p>
          <a:p>
            <a:pPr lvl="2"/>
            <a:r>
              <a:rPr lang="zh-CN" altLang="en-US" dirty="0" smtClean="0"/>
              <a:t>位反规律：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n + ~n = -1</a:t>
            </a:r>
            <a:r>
              <a:rPr lang="zh-CN" altLang="en-US" dirty="0" smtClean="0"/>
              <a:t>（</a:t>
            </a:r>
            <a:r>
              <a:rPr lang="zh-CN" altLang="en-US" dirty="0"/>
              <a:t>与</a:t>
            </a:r>
            <a:r>
              <a:rPr lang="zh-CN" altLang="en-US" dirty="0" smtClean="0"/>
              <a:t>负数表示</a:t>
            </a:r>
            <a:r>
              <a:rPr lang="zh-CN" altLang="en-US" dirty="0"/>
              <a:t>有关）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0633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1.5.2</a:t>
            </a:r>
            <a:r>
              <a:rPr lang="zh-CN" altLang="en-US" dirty="0"/>
              <a:t>　</a:t>
            </a:r>
            <a:r>
              <a:rPr lang="zh-CN" altLang="en-US" dirty="0" smtClean="0"/>
              <a:t>内置数值函数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数值型式转换函数</a:t>
            </a:r>
            <a:endParaRPr lang="zh-CN" altLang="en-US" dirty="0"/>
          </a:p>
          <a:p>
            <a:pPr lvl="1"/>
            <a:r>
              <a:rPr lang="zh-CN" altLang="en-US" dirty="0" smtClean="0"/>
              <a:t>函数</a:t>
            </a:r>
            <a:r>
              <a:rPr lang="zh-CN" altLang="en-US" dirty="0"/>
              <a:t> 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int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 smtClean="0"/>
              <a:t>：</a:t>
            </a:r>
            <a:r>
              <a:rPr lang="zh-CN" altLang="en-US" dirty="0"/>
              <a:t>浮点数或字符串转换为整数</a:t>
            </a:r>
          </a:p>
          <a:p>
            <a:pPr lvl="2"/>
            <a:r>
              <a:rPr lang="zh-CN" altLang="en-US" dirty="0"/>
              <a:t>转换时不四舍五入，小数部分直接舍弃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float(x)</a:t>
            </a:r>
            <a:r>
              <a:rPr lang="zh-CN" altLang="en-US" dirty="0"/>
              <a:t>：整数或字符串转换为浮点数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complex(re</a:t>
            </a:r>
            <a:r>
              <a:rPr lang="en-US" altLang="zh-CN" b="0" dirty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[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,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im</a:t>
            </a:r>
            <a:r>
              <a:rPr lang="en-US" altLang="zh-CN" b="0" dirty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]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)</a:t>
            </a:r>
            <a:r>
              <a:rPr lang="zh-CN" altLang="en-US" dirty="0"/>
              <a:t>：合成复数</a:t>
            </a:r>
          </a:p>
          <a:p>
            <a:pPr lvl="2"/>
            <a:r>
              <a:rPr lang="zh-CN" altLang="en-US" dirty="0"/>
              <a:t>实部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re</a:t>
            </a:r>
            <a:r>
              <a:rPr lang="en-US" altLang="zh-CN" dirty="0">
                <a:solidFill>
                  <a:srgbClr val="CF7CF8"/>
                </a:solidFill>
              </a:rPr>
              <a:t> </a:t>
            </a:r>
            <a:r>
              <a:rPr lang="zh-CN" altLang="en-US" dirty="0"/>
              <a:t>可为整数、浮点数和字符串</a:t>
            </a:r>
          </a:p>
          <a:p>
            <a:pPr lvl="2"/>
            <a:r>
              <a:rPr lang="zh-CN" altLang="en-US" dirty="0"/>
              <a:t>虚部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im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可选，若存在则可为整数或浮点数，不可为字符串</a:t>
            </a:r>
          </a:p>
          <a:p>
            <a:pPr lvl="2"/>
            <a:r>
              <a:rPr lang="zh-CN" altLang="en-US" dirty="0"/>
              <a:t>复数不可直接转换为整数或浮点数；</a:t>
            </a:r>
            <a:r>
              <a:rPr lang="zh-CN" altLang="en-US" dirty="0" smtClean="0"/>
              <a:t>但可</a:t>
            </a:r>
            <a:r>
              <a:rPr lang="zh-CN" altLang="en-US" dirty="0"/>
              <a:t>使用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c.real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与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c.imag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获得复数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c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的实部</a:t>
            </a:r>
            <a:r>
              <a:rPr lang="zh-CN" altLang="en-US" dirty="0"/>
              <a:t>与虚部后再参与转换</a:t>
            </a:r>
          </a:p>
        </p:txBody>
      </p:sp>
    </p:spTree>
    <p:extLst>
      <p:ext uri="{BB962C8B-B14F-4D97-AF65-F5344CB8AC3E}">
        <p14:creationId xmlns:p14="http://schemas.microsoft.com/office/powerpoint/2010/main" val="5707788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1.5.2</a:t>
            </a:r>
            <a:r>
              <a:rPr lang="zh-CN" altLang="en-US" dirty="0"/>
              <a:t>　</a:t>
            </a:r>
            <a:r>
              <a:rPr lang="zh-CN" altLang="en-US" dirty="0" smtClean="0"/>
              <a:t>内置数值函数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数值表示</a:t>
            </a:r>
            <a:r>
              <a:rPr lang="zh-CN" altLang="en-US" dirty="0" smtClean="0"/>
              <a:t>转换函数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bin(x)</a:t>
            </a:r>
            <a:r>
              <a:rPr lang="zh-CN" altLang="en-US" dirty="0"/>
              <a:t>：将整数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转换</a:t>
            </a:r>
            <a:r>
              <a:rPr lang="zh-CN" altLang="en-US" dirty="0" smtClean="0"/>
              <a:t>为二进制</a:t>
            </a:r>
            <a:r>
              <a:rPr lang="zh-CN" altLang="en-US" dirty="0"/>
              <a:t>字符串</a:t>
            </a:r>
            <a:r>
              <a:rPr lang="zh-CN" altLang="en-US" dirty="0" smtClean="0"/>
              <a:t>，有</a:t>
            </a:r>
            <a:r>
              <a:rPr lang="zh-CN" altLang="en-US" dirty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0b</a:t>
            </a:r>
            <a:r>
              <a:rPr lang="en-US" altLang="zh-CN" dirty="0"/>
              <a:t>”</a:t>
            </a:r>
            <a:r>
              <a:rPr lang="zh-CN" altLang="en-US" dirty="0"/>
              <a:t>前缀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hex(x)</a:t>
            </a:r>
            <a:r>
              <a:rPr lang="zh-CN" altLang="en-US" dirty="0"/>
              <a:t>：将整数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转换为小写十六进制字符串</a:t>
            </a:r>
            <a:r>
              <a:rPr lang="zh-CN" altLang="en-US" dirty="0" smtClean="0"/>
              <a:t>，有</a:t>
            </a:r>
            <a:r>
              <a:rPr lang="zh-CN" altLang="en-US" dirty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0x</a:t>
            </a:r>
            <a:r>
              <a:rPr lang="en-US" altLang="zh-CN" dirty="0"/>
              <a:t>”</a:t>
            </a:r>
            <a:r>
              <a:rPr lang="zh-CN" altLang="en-US" dirty="0" smtClean="0"/>
              <a:t>前缀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浮点数转换：使用</a:t>
            </a:r>
            <a:r>
              <a:rPr lang="zh-CN" altLang="en-US" dirty="0"/>
              <a:t>方法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float.hex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endParaRPr lang="en-US" altLang="zh-CN" sz="2400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oct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：将整数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转换为八进制字符串</a:t>
            </a:r>
            <a:r>
              <a:rPr lang="zh-CN" altLang="en-US" dirty="0" smtClean="0"/>
              <a:t>，有</a:t>
            </a:r>
            <a:r>
              <a:rPr lang="zh-CN" altLang="en-US" dirty="0"/>
              <a:t>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</a:t>
            </a:r>
            <a:r>
              <a:rPr lang="en-US" altLang="zh-CN" dirty="0"/>
              <a:t>” </a:t>
            </a:r>
            <a:r>
              <a:rPr lang="zh-CN" altLang="en-US" dirty="0"/>
              <a:t>前缀（</a:t>
            </a:r>
            <a:r>
              <a:rPr lang="en-US" altLang="zh-CN" dirty="0"/>
              <a:t>Python 3.0 </a:t>
            </a:r>
            <a:r>
              <a:rPr lang="zh-CN" altLang="en-US" dirty="0"/>
              <a:t>之前）或“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0o</a:t>
            </a:r>
            <a:r>
              <a:rPr lang="en-US" altLang="zh-CN" dirty="0"/>
              <a:t>”</a:t>
            </a:r>
            <a:r>
              <a:rPr lang="zh-CN" altLang="en-US" dirty="0"/>
              <a:t>前缀（</a:t>
            </a:r>
            <a:r>
              <a:rPr lang="en-US" altLang="zh-CN" dirty="0"/>
              <a:t>Python 3.0 </a:t>
            </a:r>
            <a:r>
              <a:rPr lang="zh-CN" altLang="en-US" dirty="0"/>
              <a:t>之后）</a:t>
            </a:r>
          </a:p>
          <a:p>
            <a:pPr lvl="1"/>
            <a:r>
              <a:rPr lang="zh-CN" altLang="en-US" dirty="0"/>
              <a:t>转换为十进制：使用函数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int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()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与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float()</a:t>
            </a:r>
          </a:p>
        </p:txBody>
      </p:sp>
    </p:spTree>
    <p:extLst>
      <p:ext uri="{BB962C8B-B14F-4D97-AF65-F5344CB8AC3E}">
        <p14:creationId xmlns:p14="http://schemas.microsoft.com/office/powerpoint/2010/main" val="39121674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1.5.2</a:t>
            </a:r>
            <a:r>
              <a:rPr lang="zh-CN" altLang="en-US" dirty="0" smtClean="0"/>
              <a:t>　内置数值函数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数值</a:t>
            </a:r>
            <a:r>
              <a:rPr lang="zh-CN" altLang="en-US" dirty="0" smtClean="0"/>
              <a:t>运算函数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abs(x)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的绝对值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divmod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(x, y)</a:t>
            </a:r>
            <a:r>
              <a:rPr lang="zh-CN" altLang="en-US" dirty="0"/>
              <a:t>：求商与余，值为二</a:t>
            </a:r>
            <a:r>
              <a:rPr lang="zh-CN" altLang="en-US" dirty="0" smtClean="0"/>
              <a:t>元组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 // y, x % y)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max(x1, x2, ...,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)</a:t>
            </a:r>
            <a:r>
              <a:rPr lang="zh-CN" altLang="en-US" dirty="0" smtClean="0"/>
              <a:t>：</a:t>
            </a:r>
            <a:r>
              <a:rPr lang="zh-CN" altLang="en-US" dirty="0"/>
              <a:t>求最大值，</a:t>
            </a:r>
            <a:r>
              <a:rPr lang="zh-CN" altLang="en-US" dirty="0" smtClean="0"/>
              <a:t>数据数目无限制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min(x1, x2, ...,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)</a:t>
            </a:r>
            <a:r>
              <a:rPr lang="zh-CN" altLang="en-US" dirty="0"/>
              <a:t>：求最小值，</a:t>
            </a:r>
            <a:r>
              <a:rPr lang="zh-CN" altLang="en-US" dirty="0" smtClean="0"/>
              <a:t>数据数目无限制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pow(x, y</a:t>
            </a:r>
            <a:r>
              <a:rPr lang="en-US" altLang="zh-CN" b="0" dirty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[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, z</a:t>
            </a:r>
            <a:r>
              <a:rPr lang="en-US" altLang="zh-CN" b="0" dirty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]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y</a:t>
            </a:r>
            <a:r>
              <a:rPr lang="en-US" altLang="zh-CN" dirty="0"/>
              <a:t> </a:t>
            </a:r>
            <a:r>
              <a:rPr lang="zh-CN" altLang="en-US" dirty="0"/>
              <a:t>次幂，提供参数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z</a:t>
            </a:r>
            <a:r>
              <a:rPr lang="en-US" altLang="zh-CN" dirty="0"/>
              <a:t> </a:t>
            </a:r>
            <a:r>
              <a:rPr lang="zh-CN" altLang="en-US" dirty="0"/>
              <a:t>时，求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 ** y % z</a:t>
            </a:r>
            <a:r>
              <a:rPr lang="en-US" altLang="zh-CN" dirty="0"/>
              <a:t> </a:t>
            </a:r>
            <a:r>
              <a:rPr lang="zh-CN" altLang="en-US" dirty="0"/>
              <a:t>的结果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round(x</a:t>
            </a:r>
            <a:r>
              <a:rPr lang="en-US" altLang="zh-CN" b="0" dirty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[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, n</a:t>
            </a:r>
            <a:r>
              <a:rPr lang="en-US" altLang="zh-CN" b="0" dirty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]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的四舍五入值，提供参数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n</a:t>
            </a:r>
            <a:r>
              <a:rPr lang="en-US" altLang="zh-CN" dirty="0"/>
              <a:t> </a:t>
            </a:r>
            <a:r>
              <a:rPr lang="zh-CN" altLang="en-US" dirty="0" smtClean="0"/>
              <a:t>时，保留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n</a:t>
            </a:r>
            <a:r>
              <a:rPr lang="en-US" altLang="zh-CN" dirty="0" smtClean="0"/>
              <a:t> </a:t>
            </a:r>
            <a:r>
              <a:rPr lang="zh-CN" altLang="en-US" dirty="0" smtClean="0"/>
              <a:t>位小数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47345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幂运算与模运算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/>
              <a:t>超大整数的幂运算：结果精确，速度极</a:t>
            </a:r>
            <a:r>
              <a:rPr lang="zh-CN" altLang="en-US" dirty="0" smtClean="0"/>
              <a:t>快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pow(2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2020)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20390229192789671200196730675808906407818580678535565853604471040981468330576609422256057752381687848600439581729091776513008621150593910720527739772380453052486767498034969314002237284144953291103458547532810152608127216408475325114421897897408047581395677670971695493487923933346069636224032935216763561673143257907287561970520670661943292226106584203713841952673366886865445199267790891789863232017223226748196794533959989836805876911810211481167739679043319937687835412885323948134322098370385629943305785136881090458653857068542385988740344220360507575957485047851613181253218943644136742478444626968576L</a:t>
            </a:r>
          </a:p>
        </p:txBody>
      </p:sp>
    </p:spTree>
    <p:extLst>
      <p:ext uri="{BB962C8B-B14F-4D97-AF65-F5344CB8AC3E}">
        <p14:creationId xmlns:p14="http://schemas.microsoft.com/office/powerpoint/2010/main" val="39464471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幂运算与模运算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/>
              <a:t>超大整数的幂与模混合运算：结果精确，速度极快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pow(2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, 20,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10000)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8576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pow(2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, 64,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10000)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1616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pow(2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, 2017,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10000)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1072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pow(3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pow(5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1000), 10000)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5443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pow(3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pow(5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1000))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% 10000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分开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计算效率极低，请耐心等待结果，或者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power off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（趴窝偶服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）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……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955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1.5.3</a:t>
            </a:r>
            <a:r>
              <a:rPr lang="zh-CN" altLang="en-US" dirty="0"/>
              <a:t>　</a:t>
            </a:r>
            <a:r>
              <a:rPr lang="zh-CN" altLang="en-US" dirty="0" smtClean="0"/>
              <a:t>数值与数学计算模块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数值模块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numbers</a:t>
            </a:r>
            <a:r>
              <a:rPr lang="zh-CN" altLang="en-US" dirty="0" smtClean="0"/>
              <a:t>：</a:t>
            </a:r>
            <a:r>
              <a:rPr lang="zh-CN" altLang="zh-CN" dirty="0"/>
              <a:t>抽象数值基类</a:t>
            </a:r>
            <a:endParaRPr lang="en-US" altLang="zh-CN" dirty="0" smtClean="0"/>
          </a:p>
          <a:p>
            <a:r>
              <a:rPr lang="zh-CN" altLang="en-US" dirty="0" smtClean="0"/>
              <a:t>数学模块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</a:t>
            </a:r>
            <a:r>
              <a:rPr lang="zh-CN" altLang="en-US" dirty="0" smtClean="0"/>
              <a:t>：</a:t>
            </a:r>
            <a:r>
              <a:rPr lang="en-US" altLang="zh-CN" dirty="0" smtClean="0"/>
              <a:t>C </a:t>
            </a:r>
            <a:r>
              <a:rPr lang="zh-CN" altLang="en-US" dirty="0" smtClean="0"/>
              <a:t>数学库函数封装，</a:t>
            </a:r>
            <a:r>
              <a:rPr lang="zh-CN" altLang="en-US" dirty="0"/>
              <a:t>含常数与函数</a:t>
            </a:r>
          </a:p>
          <a:p>
            <a:r>
              <a:rPr lang="zh-CN" altLang="en-US" dirty="0"/>
              <a:t>复数模块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complex</a:t>
            </a:r>
            <a:r>
              <a:rPr lang="zh-CN" altLang="en-US" dirty="0" smtClean="0"/>
              <a:t>：复数计算</a:t>
            </a:r>
            <a:endParaRPr lang="en-US" altLang="zh-CN" dirty="0" smtClean="0"/>
          </a:p>
          <a:p>
            <a:r>
              <a:rPr lang="zh-CN" altLang="en-US" dirty="0"/>
              <a:t>十进制</a:t>
            </a:r>
            <a:r>
              <a:rPr lang="zh-CN" altLang="en-US" dirty="0" smtClean="0"/>
              <a:t>模块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decimal</a:t>
            </a:r>
            <a:r>
              <a:rPr lang="zh-CN" altLang="en-US" dirty="0" smtClean="0"/>
              <a:t>：十进制定点数与浮点数算术模块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用于精确表示浮点数，允许自主</a:t>
            </a:r>
            <a:r>
              <a:rPr lang="zh-CN" altLang="en-US" dirty="0"/>
              <a:t>选择计算</a:t>
            </a:r>
            <a:r>
              <a:rPr lang="zh-CN" altLang="en-US" dirty="0" smtClean="0"/>
              <a:t>精度</a:t>
            </a:r>
            <a:endParaRPr lang="zh-CN" altLang="en-US" dirty="0"/>
          </a:p>
          <a:p>
            <a:r>
              <a:rPr lang="zh-CN" altLang="en-US" dirty="0"/>
              <a:t>有理数</a:t>
            </a:r>
            <a:r>
              <a:rPr lang="zh-CN" altLang="en-US" dirty="0" smtClean="0"/>
              <a:t>模块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fraction</a:t>
            </a:r>
            <a:r>
              <a:rPr lang="zh-CN" altLang="en-US" dirty="0" smtClean="0"/>
              <a:t>：支持</a:t>
            </a:r>
            <a:r>
              <a:rPr lang="zh-CN" altLang="en-US" dirty="0"/>
              <a:t>有理数</a:t>
            </a:r>
            <a:r>
              <a:rPr lang="zh-CN" altLang="en-US" dirty="0" smtClean="0"/>
              <a:t>算术</a:t>
            </a:r>
            <a:endParaRPr lang="zh-CN" altLang="en-US" dirty="0"/>
          </a:p>
          <a:p>
            <a:r>
              <a:rPr lang="zh-CN" altLang="en-US" dirty="0"/>
              <a:t>随机</a:t>
            </a:r>
            <a:r>
              <a:rPr lang="zh-CN" altLang="en-US" dirty="0" smtClean="0"/>
              <a:t>模块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random</a:t>
            </a:r>
            <a:r>
              <a:rPr lang="zh-CN" altLang="en-US" dirty="0" smtClean="0"/>
              <a:t>：用于</a:t>
            </a:r>
            <a:r>
              <a:rPr lang="zh-CN" altLang="en-US" dirty="0"/>
              <a:t>生成各类分布的</a:t>
            </a:r>
            <a:r>
              <a:rPr lang="zh-CN" altLang="en-US" dirty="0" smtClean="0"/>
              <a:t>伪随机数</a:t>
            </a:r>
            <a:endParaRPr lang="zh-CN" altLang="en-US" dirty="0"/>
          </a:p>
          <a:p>
            <a:r>
              <a:rPr lang="zh-CN" altLang="en-US" dirty="0"/>
              <a:t>数理统计</a:t>
            </a:r>
            <a:r>
              <a:rPr lang="zh-CN" altLang="en-US" dirty="0" smtClean="0"/>
              <a:t>模块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statistics</a:t>
            </a:r>
            <a:r>
              <a:rPr lang="zh-CN" altLang="en-US" dirty="0" smtClean="0"/>
              <a:t>：支持</a:t>
            </a:r>
            <a:r>
              <a:rPr lang="zh-CN" altLang="en-US" dirty="0"/>
              <a:t>实值数据的</a:t>
            </a:r>
            <a:r>
              <a:rPr lang="zh-CN" altLang="en-US" dirty="0" smtClean="0"/>
              <a:t>数理统计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52474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1.5.4</a:t>
            </a:r>
            <a:r>
              <a:rPr lang="zh-CN" altLang="en-US" dirty="0"/>
              <a:t>　数学</a:t>
            </a:r>
            <a:r>
              <a:rPr lang="zh-CN" altLang="en-US" dirty="0" smtClean="0"/>
              <a:t>模块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数学常数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自然对数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math.e</a:t>
            </a:r>
            <a:r>
              <a:rPr lang="zh-CN" altLang="en-US" dirty="0"/>
              <a:t>：值为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2.718281828459045</a:t>
            </a:r>
          </a:p>
          <a:p>
            <a:pPr lvl="1"/>
            <a:r>
              <a:rPr lang="zh-CN" altLang="en-US" dirty="0"/>
              <a:t>正无穷大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math.inf</a:t>
            </a:r>
            <a:r>
              <a:rPr lang="en-US" altLang="zh-CN" dirty="0"/>
              <a:t> </a:t>
            </a:r>
            <a:r>
              <a:rPr lang="zh-CN" altLang="en-US" dirty="0"/>
              <a:t>与负无穷大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-math.inf</a:t>
            </a:r>
          </a:p>
          <a:p>
            <a:pPr lvl="2"/>
            <a:r>
              <a:rPr lang="zh-CN" altLang="en-US" dirty="0"/>
              <a:t>前者等价于输出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float("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inf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")</a:t>
            </a:r>
            <a:r>
              <a:rPr lang="zh-CN" altLang="en-US" dirty="0" smtClean="0"/>
              <a:t>；</a:t>
            </a:r>
            <a:r>
              <a:rPr lang="en-US" altLang="zh-CN" dirty="0" smtClean="0"/>
              <a:t>Python 3.5 </a:t>
            </a:r>
            <a:r>
              <a:rPr lang="zh-CN" altLang="en-US" dirty="0" smtClean="0"/>
              <a:t>引入</a:t>
            </a:r>
          </a:p>
          <a:p>
            <a:pPr lvl="1"/>
            <a:r>
              <a:rPr lang="zh-CN" altLang="en-US" dirty="0" smtClean="0"/>
              <a:t>非</a:t>
            </a:r>
            <a:r>
              <a:rPr lang="zh-CN" altLang="en-US" dirty="0"/>
              <a:t>数标志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math.nan</a:t>
            </a:r>
            <a:endParaRPr lang="en-US" altLang="zh-CN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pPr lvl="2"/>
            <a:r>
              <a:rPr lang="zh-CN" altLang="en-US" dirty="0" smtClean="0"/>
              <a:t>等价</a:t>
            </a:r>
            <a:r>
              <a:rPr lang="zh-CN" altLang="en-US" dirty="0"/>
              <a:t>于输出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float("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NaN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")</a:t>
            </a:r>
            <a:r>
              <a:rPr lang="zh-CN" altLang="en-US" dirty="0" smtClean="0"/>
              <a:t>；</a:t>
            </a:r>
            <a:r>
              <a:rPr lang="en-US" altLang="zh-CN" dirty="0" smtClean="0"/>
              <a:t>Python </a:t>
            </a:r>
            <a:r>
              <a:rPr lang="en-US" altLang="zh-CN" dirty="0"/>
              <a:t>3.5 </a:t>
            </a:r>
            <a:r>
              <a:rPr lang="zh-CN" altLang="en-US" dirty="0"/>
              <a:t>引入</a:t>
            </a:r>
          </a:p>
          <a:p>
            <a:pPr lvl="1"/>
            <a:r>
              <a:rPr lang="zh-CN" altLang="en-US" dirty="0" smtClean="0"/>
              <a:t>圆周率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math.pi</a:t>
            </a:r>
            <a:r>
              <a:rPr lang="zh-CN" altLang="en-US" dirty="0"/>
              <a:t>：值为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3.141592653589793</a:t>
            </a:r>
          </a:p>
          <a:p>
            <a:pPr lvl="1"/>
            <a:r>
              <a:rPr lang="zh-CN" altLang="en-US" dirty="0"/>
              <a:t>倍圆周率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math.tau</a:t>
            </a:r>
            <a:r>
              <a:rPr lang="zh-CN" altLang="en-US" dirty="0"/>
              <a:t>：值为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6.283185307179586</a:t>
            </a:r>
          </a:p>
          <a:p>
            <a:pPr lvl="2"/>
            <a:r>
              <a:rPr lang="en-US" altLang="zh-CN" dirty="0" smtClean="0"/>
              <a:t>Python 3.6 </a:t>
            </a:r>
            <a:r>
              <a:rPr lang="zh-CN" altLang="en-US" dirty="0" smtClean="0"/>
              <a:t>引入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46509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1.5.4</a:t>
            </a:r>
            <a:r>
              <a:rPr lang="zh-CN" altLang="en-US" dirty="0"/>
              <a:t>　数学模块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数论与数值表示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math.ceil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：向上取整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math.copysign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(x, y)</a:t>
            </a:r>
            <a:r>
              <a:rPr lang="zh-CN" altLang="en-US" dirty="0"/>
              <a:t>：用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y</a:t>
            </a:r>
            <a:r>
              <a:rPr lang="en-US" altLang="zh-CN" dirty="0"/>
              <a:t> </a:t>
            </a:r>
            <a:r>
              <a:rPr lang="zh-CN" altLang="en-US" dirty="0" smtClean="0"/>
              <a:t>的正</a:t>
            </a:r>
            <a:r>
              <a:rPr lang="zh-CN" altLang="en-US" dirty="0"/>
              <a:t>负号替换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 smtClean="0"/>
              <a:t>的符号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math.fabs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的绝对值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math.factorial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：求阶乘，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为负数或小数时返回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ValueError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异常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math.floor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：向下取整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math.fmod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(x, y)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 % y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的值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math.frexp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 smtClean="0"/>
              <a:t>：</a:t>
            </a:r>
            <a:r>
              <a:rPr lang="zh-CN" altLang="en-US" dirty="0"/>
              <a:t>返回二元组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(k,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)</a:t>
            </a:r>
            <a:r>
              <a:rPr lang="zh-CN" altLang="en-US" dirty="0"/>
              <a:t>，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 = k * 2 **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</a:t>
            </a:r>
            <a:endParaRPr lang="en-US" altLang="zh-CN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33918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1.5.4</a:t>
            </a:r>
            <a:r>
              <a:rPr lang="zh-CN" altLang="en-US" dirty="0"/>
              <a:t>　数学模块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数论与数值表示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math.fsum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([x1, x2, ...,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])</a:t>
            </a:r>
            <a:r>
              <a:rPr lang="zh-CN" altLang="en-US" dirty="0"/>
              <a:t>：精确求和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math.gcd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(x, y)</a:t>
            </a:r>
            <a:r>
              <a:rPr lang="zh-CN" altLang="en-US" dirty="0"/>
              <a:t>：求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zh-CN" altLang="en-US" dirty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y</a:t>
            </a:r>
            <a:r>
              <a:rPr lang="en-US" altLang="zh-CN" dirty="0"/>
              <a:t> </a:t>
            </a:r>
            <a:r>
              <a:rPr lang="zh-CN" altLang="en-US" dirty="0"/>
              <a:t>最大公约数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math.isclose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(x, y)</a:t>
            </a:r>
            <a:r>
              <a:rPr lang="zh-CN" altLang="en-US" dirty="0"/>
              <a:t>：比较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zh-CN" altLang="en-US" dirty="0"/>
              <a:t>、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y</a:t>
            </a:r>
            <a:r>
              <a:rPr lang="en-US" altLang="zh-CN" dirty="0"/>
              <a:t> </a:t>
            </a:r>
            <a:r>
              <a:rPr lang="zh-CN" altLang="en-US" dirty="0"/>
              <a:t>是否近似相等，返回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True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False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math.isfinite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：当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非无穷大，也不是非数标志时返回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True</a:t>
            </a:r>
            <a:r>
              <a:rPr lang="zh-CN" altLang="en-US" dirty="0"/>
              <a:t>，否则返回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False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math.isinf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：当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为正负无穷大时返回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True</a:t>
            </a:r>
            <a:r>
              <a:rPr lang="zh-CN" altLang="en-US" dirty="0"/>
              <a:t>，否则</a:t>
            </a:r>
            <a:r>
              <a:rPr lang="zh-CN" altLang="en-US" dirty="0" smtClean="0"/>
              <a:t>返回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False</a:t>
            </a:r>
            <a:endParaRPr lang="en-US" altLang="zh-CN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99005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1.5.4</a:t>
            </a:r>
            <a:r>
              <a:rPr lang="zh-CN" altLang="en-US" dirty="0"/>
              <a:t>　数学模块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数论与数值表示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math.isnan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：当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为非数标志时返回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True</a:t>
            </a:r>
            <a:r>
              <a:rPr lang="zh-CN" altLang="en-US" dirty="0"/>
              <a:t>，否则返回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False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math.ldexp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(x,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 * 2 **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</a:t>
            </a:r>
            <a:r>
              <a:rPr lang="zh-CN" altLang="en-US" dirty="0"/>
              <a:t>，函数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math.frexp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/>
              <a:t>的逆运算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math.modf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：以二</a:t>
            </a:r>
            <a:r>
              <a:rPr lang="zh-CN" altLang="en-US" dirty="0" smtClean="0"/>
              <a:t>元组形式</a:t>
            </a:r>
            <a:r>
              <a:rPr lang="zh-CN" altLang="en-US" dirty="0"/>
              <a:t>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的小数与整数部分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math.trunc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的整数</a:t>
            </a:r>
            <a:r>
              <a:rPr lang="zh-CN" altLang="en-US" dirty="0" smtClean="0"/>
              <a:t>部分</a:t>
            </a:r>
            <a:endParaRPr lang="en-US" altLang="zh-CN" dirty="0" smtClean="0"/>
          </a:p>
          <a:p>
            <a:r>
              <a:rPr lang="zh-CN" altLang="en-US" dirty="0"/>
              <a:t>指数与对数函数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math.exp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 ** x</a:t>
            </a:r>
          </a:p>
        </p:txBody>
      </p:sp>
    </p:spTree>
    <p:extLst>
      <p:ext uri="{BB962C8B-B14F-4D97-AF65-F5344CB8AC3E}">
        <p14:creationId xmlns:p14="http://schemas.microsoft.com/office/powerpoint/2010/main" val="36401138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1.5.4</a:t>
            </a:r>
            <a:r>
              <a:rPr lang="zh-CN" altLang="en-US" dirty="0"/>
              <a:t>　数学模块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指数与对数函数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math.expm1(x)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 ** x - 1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math.log(x</a:t>
            </a:r>
            <a:r>
              <a:rPr lang="en-US" altLang="zh-CN" b="0" dirty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[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, base</a:t>
            </a:r>
            <a:r>
              <a:rPr lang="en-US" altLang="zh-CN" b="0" dirty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]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对数，基底为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base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math.e</a:t>
            </a:r>
            <a:endParaRPr lang="en-US" altLang="zh-CN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math.log1p(x)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1 + x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自然对数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math.log2(x)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对数，基底为 </a:t>
            </a:r>
            <a:r>
              <a:rPr lang="en-US" altLang="zh-CN" dirty="0"/>
              <a:t>2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math.log10(x)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对数，基底为 </a:t>
            </a:r>
            <a:r>
              <a:rPr lang="en-US" altLang="zh-CN" dirty="0" smtClean="0"/>
              <a:t>10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math.pow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(x, y)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 ** y</a:t>
            </a:r>
          </a:p>
          <a:p>
            <a:pPr lvl="2"/>
            <a:r>
              <a:rPr lang="zh-CN" altLang="en-US" dirty="0"/>
              <a:t>参数需转换为</a:t>
            </a:r>
            <a:r>
              <a:rPr lang="zh-CN" altLang="en-US" dirty="0" smtClean="0"/>
              <a:t>实数，不如内置“</a:t>
            </a:r>
            <a:r>
              <a:rPr lang="zh-CN" altLang="en-US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**</a:t>
            </a:r>
            <a:r>
              <a:rPr lang="zh-CN" altLang="en-US" dirty="0" smtClean="0"/>
              <a:t>”操作符和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pow()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函数精确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27363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1.5.4</a:t>
            </a:r>
            <a:r>
              <a:rPr lang="zh-CN" altLang="en-US" dirty="0"/>
              <a:t>　数学模块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指数与对数函数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math.sqrt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x</a:t>
            </a:r>
            <a:r>
              <a:rPr lang="en-US" altLang="zh-CN" dirty="0"/>
              <a:t> </a:t>
            </a:r>
            <a:r>
              <a:rPr lang="zh-CN" altLang="en-US" dirty="0"/>
              <a:t>平方根</a:t>
            </a:r>
          </a:p>
          <a:p>
            <a:r>
              <a:rPr lang="zh-CN" altLang="en-US" dirty="0" smtClean="0"/>
              <a:t>三角与反三角函数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math.acos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：返回反余弦值，弧度单位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math.asin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：返回反正弦值，弧度单位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math.atan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：返回反正切值，弧度单位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math.atan2(y, x)</a:t>
            </a:r>
            <a:r>
              <a:rPr lang="zh-CN" altLang="en-US" dirty="0"/>
              <a:t>：返回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y / x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反正切值，弧度单位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math.cos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：返回余弦值，弧度</a:t>
            </a:r>
            <a:r>
              <a:rPr lang="zh-CN" altLang="en-US" dirty="0" smtClean="0"/>
              <a:t>单位</a:t>
            </a:r>
          </a:p>
          <a:p>
            <a:pPr lvl="1"/>
            <a:r>
              <a:rPr lang="zh-CN" altLang="en-US" dirty="0" smtClean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math.degrees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 smtClean="0"/>
              <a:t>：弧度值转换为角度值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076867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1.5.4</a:t>
            </a:r>
            <a:r>
              <a:rPr lang="zh-CN" altLang="en-US" dirty="0"/>
              <a:t>　数学模块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三角与反三角函数</a:t>
            </a:r>
            <a:endParaRPr lang="en-US" altLang="zh-CN" dirty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math.hypot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(x, y)</a:t>
            </a:r>
            <a:r>
              <a:rPr lang="zh-CN" altLang="en-US" dirty="0"/>
              <a:t>：返回平面向量的模长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math.radians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：角度值转换为弧度值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math.sin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：返回正弦值，弧度单位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math.tan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：返回正切值，弧度单位</a:t>
            </a:r>
          </a:p>
          <a:p>
            <a:r>
              <a:rPr lang="zh-CN" altLang="en-US" dirty="0" smtClean="0"/>
              <a:t>双曲与与反双曲函数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math.acosh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：返回反双曲余弦值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math.asinh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：返回反双曲正弦</a:t>
            </a:r>
            <a:r>
              <a:rPr lang="zh-CN" altLang="en-US" dirty="0" smtClean="0"/>
              <a:t>值</a:t>
            </a:r>
          </a:p>
          <a:p>
            <a:pPr lvl="1"/>
            <a:r>
              <a:rPr lang="zh-CN" altLang="en-US" dirty="0" smtClean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math.atanh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 smtClean="0"/>
              <a:t>：返回反双曲正切值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35581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1.5.4</a:t>
            </a:r>
            <a:r>
              <a:rPr lang="zh-CN" altLang="en-US" dirty="0"/>
              <a:t>　数学模块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双曲与与反</a:t>
            </a:r>
            <a:r>
              <a:rPr lang="zh-CN" altLang="en-US" dirty="0" smtClean="0"/>
              <a:t>双曲函数</a:t>
            </a:r>
            <a:endParaRPr lang="zh-CN" altLang="en-US" dirty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math.cosh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：返回双曲余弦值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math.sinh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：返回双曲正弦值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math.tanh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：返回双曲正切值</a:t>
            </a:r>
          </a:p>
          <a:p>
            <a:r>
              <a:rPr lang="zh-CN" altLang="en-US" dirty="0" smtClean="0"/>
              <a:t>特殊函数：</a:t>
            </a:r>
            <a:r>
              <a:rPr lang="en-US" altLang="zh-CN" dirty="0" smtClean="0"/>
              <a:t>Python 3.2 </a:t>
            </a:r>
            <a:r>
              <a:rPr lang="zh-CN" altLang="en-US" dirty="0" smtClean="0"/>
              <a:t>引入</a:t>
            </a:r>
            <a:endParaRPr lang="en-US" altLang="zh-CN" dirty="0" smtClean="0"/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math.erf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：高斯误差函数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math.erfc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 smtClean="0"/>
              <a:t>：互补</a:t>
            </a:r>
            <a:r>
              <a:rPr lang="zh-CN" altLang="en-US" dirty="0"/>
              <a:t>高斯误差</a:t>
            </a:r>
            <a:r>
              <a:rPr lang="zh-CN" altLang="en-US" dirty="0" smtClean="0"/>
              <a:t>函数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math.gamma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/>
              <a:t>：伽马</a:t>
            </a:r>
            <a:r>
              <a:rPr lang="zh-CN" altLang="en-US" dirty="0" smtClean="0"/>
              <a:t>函数</a:t>
            </a:r>
          </a:p>
          <a:p>
            <a:pPr lvl="1"/>
            <a:r>
              <a:rPr lang="zh-CN" altLang="en-US" dirty="0" smtClean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math.lgamma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(x)</a:t>
            </a:r>
            <a:r>
              <a:rPr lang="zh-CN" altLang="en-US" dirty="0" smtClean="0"/>
              <a:t>：伽马函数绝对值的自然对数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38184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数学模块示例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数学模块函数调用示例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import math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math.factorial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(128)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385620482362580421735677065923463640617493109590223590278828403276373402575165543560686168588507361534030051833058916347592172932262498857766114955245039357760034644709279247692495585280000000000000000000000000000000L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math.erf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(1)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0.842700792949715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math.erfc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(1)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0.157299207050285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4241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168" y="203200"/>
            <a:ext cx="7573432" cy="303953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1.1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程序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文本结构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1.2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对　象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1.3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表达式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1.4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</a:t>
            </a: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数值型式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1.5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　数学模块</a:t>
            </a:r>
            <a:b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zh-CN" dirty="0" smtClean="0">
                <a:solidFill>
                  <a:srgbClr val="FFFF00"/>
                </a:solidFill>
              </a:rPr>
              <a:t>1.6</a:t>
            </a:r>
            <a:r>
              <a:rPr lang="zh-CN" altLang="en-US" dirty="0">
                <a:solidFill>
                  <a:srgbClr val="FFFF00"/>
                </a:solidFill>
              </a:rPr>
              <a:t>　基本输入输出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第一章</a:t>
            </a:r>
            <a:r>
              <a:rPr lang="zh-CN" altLang="en-US" dirty="0"/>
              <a:t>　</a:t>
            </a:r>
            <a:r>
              <a:rPr lang="zh-CN" altLang="en-US" dirty="0" smtClean="0"/>
              <a:t>基础文法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43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</a:t>
            </a:r>
            <a:r>
              <a:rPr lang="zh-CN" altLang="en-US" dirty="0"/>
              <a:t>　</a:t>
            </a:r>
            <a:r>
              <a:rPr lang="zh-CN" altLang="en-US" dirty="0" smtClean="0"/>
              <a:t>基本输入输出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r>
              <a:rPr lang="en-US" altLang="zh-CN" dirty="0" smtClean="0"/>
              <a:t>1.6.1</a:t>
            </a:r>
            <a:r>
              <a:rPr lang="zh-CN" altLang="en-US" dirty="0"/>
              <a:t>　</a:t>
            </a:r>
            <a:r>
              <a:rPr lang="zh-CN" altLang="en-US" dirty="0" smtClean="0"/>
              <a:t>输出函数</a:t>
            </a:r>
            <a:endParaRPr lang="zh-CN" altLang="en-US" dirty="0"/>
          </a:p>
          <a:p>
            <a:r>
              <a:rPr lang="en-US" altLang="zh-CN" dirty="0" smtClean="0"/>
              <a:t>1.6.2</a:t>
            </a:r>
            <a:r>
              <a:rPr lang="zh-CN" altLang="en-US" dirty="0"/>
              <a:t>　</a:t>
            </a:r>
            <a:r>
              <a:rPr lang="zh-CN" altLang="en-US" dirty="0" smtClean="0"/>
              <a:t>输入函数</a:t>
            </a:r>
          </a:p>
          <a:p>
            <a:r>
              <a:rPr lang="en-US" altLang="zh-CN" dirty="0" smtClean="0"/>
              <a:t>1.6.3</a:t>
            </a:r>
            <a:r>
              <a:rPr lang="zh-CN" altLang="en-US" dirty="0" smtClean="0"/>
              <a:t>　求值函数</a:t>
            </a:r>
          </a:p>
          <a:p>
            <a:r>
              <a:rPr lang="en-US" altLang="zh-CN" dirty="0" smtClean="0"/>
              <a:t>1.6.4</a:t>
            </a:r>
            <a:r>
              <a:rPr lang="zh-CN" altLang="en-US" dirty="0"/>
              <a:t>　</a:t>
            </a:r>
            <a:r>
              <a:rPr lang="zh-CN" altLang="en-US" dirty="0" smtClean="0"/>
              <a:t>表示函数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64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1.6.1</a:t>
            </a:r>
            <a:r>
              <a:rPr lang="zh-CN" altLang="en-US" dirty="0" smtClean="0"/>
              <a:t>　输出函数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 </a:t>
            </a:r>
            <a:r>
              <a:rPr lang="zh-CN" altLang="en-US" dirty="0"/>
              <a:t>输入输出：以字符串为媒介</a:t>
            </a:r>
          </a:p>
          <a:p>
            <a:pPr lvl="1"/>
            <a:r>
              <a:rPr lang="zh-CN" altLang="en-US" dirty="0" smtClean="0"/>
              <a:t>数据型式：无论整数</a:t>
            </a:r>
            <a:r>
              <a:rPr lang="zh-CN" altLang="en-US" dirty="0"/>
              <a:t>、实数，还是</a:t>
            </a:r>
            <a:r>
              <a:rPr lang="zh-CN" altLang="en-US" dirty="0" smtClean="0"/>
              <a:t>其他对象</a:t>
            </a:r>
            <a:r>
              <a:rPr lang="zh-CN" altLang="en-US" dirty="0"/>
              <a:t>，均以</a:t>
            </a:r>
            <a:r>
              <a:rPr lang="zh-CN" altLang="en-US" dirty="0" smtClean="0"/>
              <a:t>字符串型式输入输出，由</a:t>
            </a:r>
            <a:r>
              <a:rPr lang="zh-CN" altLang="en-US" dirty="0"/>
              <a:t>程序员手动或由程序自动转型为其</a:t>
            </a:r>
            <a:r>
              <a:rPr lang="zh-CN" altLang="en-US" dirty="0" smtClean="0"/>
              <a:t>他型式对象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字符串基本格式：双引号、单引号（两者均不可跨行）或连续三个引号（单、双引号均可，可跨行）封装的字符序列</a:t>
            </a:r>
            <a:endParaRPr lang="zh-CN" altLang="en-US" dirty="0"/>
          </a:p>
          <a:p>
            <a:r>
              <a:rPr lang="zh-CN" altLang="en-US" dirty="0"/>
              <a:t>基本输出功能</a:t>
            </a:r>
          </a:p>
          <a:p>
            <a:pPr lvl="1"/>
            <a:r>
              <a:rPr lang="zh-CN" altLang="en-US" dirty="0" smtClean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print()</a:t>
            </a:r>
            <a:endParaRPr lang="zh-CN" altLang="en-US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r>
              <a:rPr lang="zh-CN" altLang="en-US" dirty="0"/>
              <a:t>基本输入功能</a:t>
            </a:r>
          </a:p>
          <a:p>
            <a:pPr lvl="1"/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input()</a:t>
            </a:r>
            <a:r>
              <a:rPr lang="zh-CN" altLang="en-US" dirty="0" smtClean="0"/>
              <a:t>、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eval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223737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1.6.1</a:t>
            </a:r>
            <a:r>
              <a:rPr lang="zh-CN" altLang="en-US" dirty="0" smtClean="0"/>
              <a:t>　输出函数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print()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基本</a:t>
            </a:r>
            <a:r>
              <a:rPr lang="zh-CN" altLang="en-US" dirty="0"/>
              <a:t>用法</a:t>
            </a:r>
          </a:p>
          <a:p>
            <a:pPr lvl="1"/>
            <a:r>
              <a:rPr lang="zh-CN" altLang="en-US" dirty="0" smtClean="0"/>
              <a:t>完整格式</a:t>
            </a:r>
            <a:r>
              <a:rPr lang="zh-CN" altLang="en-US" dirty="0"/>
              <a:t>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print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(*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objects,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sep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 = " ", end = "\n", file =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sys.stdout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, flush =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False)</a:t>
            </a:r>
            <a:endParaRPr lang="en-US" altLang="zh-CN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pPr lvl="1"/>
            <a:r>
              <a:rPr lang="zh-CN" altLang="en-US" dirty="0" smtClean="0"/>
              <a:t>功能描述：按照特定规则输出多个对象</a:t>
            </a:r>
            <a:r>
              <a:rPr lang="zh-CN" altLang="en-US" dirty="0"/>
              <a:t>的字符串</a:t>
            </a:r>
            <a:r>
              <a:rPr lang="zh-CN" altLang="en-US" dirty="0" smtClean="0"/>
              <a:t>信息</a:t>
            </a:r>
            <a:endParaRPr lang="zh-CN" altLang="en-US" dirty="0"/>
          </a:p>
          <a:p>
            <a:pPr lvl="1"/>
            <a:r>
              <a:rPr lang="zh-CN" altLang="en-US" dirty="0" smtClean="0"/>
              <a:t>参数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objects</a:t>
            </a:r>
            <a:r>
              <a:rPr lang="zh-CN" altLang="en-US" dirty="0" smtClean="0"/>
              <a:t>：输出对象序列</a:t>
            </a:r>
            <a:endParaRPr lang="en-US" altLang="zh-CN" dirty="0" smtClean="0"/>
          </a:p>
          <a:p>
            <a:pPr lvl="2"/>
            <a:r>
              <a:rPr lang="zh-CN" altLang="zh-CN" dirty="0" smtClean="0"/>
              <a:t>将</a:t>
            </a:r>
            <a:r>
              <a:rPr lang="en-US" altLang="zh-CN" dirty="0" smtClean="0"/>
              <a:t>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objects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</a:t>
            </a:r>
            <a:r>
              <a:rPr lang="zh-CN" altLang="zh-CN" dirty="0" smtClean="0"/>
              <a:t>的全部对象转换</a:t>
            </a:r>
            <a:r>
              <a:rPr lang="zh-CN" altLang="zh-CN" dirty="0"/>
              <a:t>为</a:t>
            </a:r>
            <a:r>
              <a:rPr lang="zh-CN" altLang="zh-CN" dirty="0" smtClean="0"/>
              <a:t>字符串</a:t>
            </a:r>
            <a:r>
              <a:rPr lang="zh-CN" altLang="en-US" dirty="0" smtClean="0"/>
              <a:t>时</a:t>
            </a:r>
            <a:r>
              <a:rPr lang="zh-CN" altLang="zh-CN" dirty="0" smtClean="0"/>
              <a:t>可能</a:t>
            </a:r>
            <a:r>
              <a:rPr lang="zh-CN" altLang="zh-CN" dirty="0"/>
              <a:t>需要调用特殊方法</a:t>
            </a:r>
            <a:r>
              <a:rPr lang="zh-CN" altLang="zh-CN" dirty="0" smtClean="0"/>
              <a:t>，系统</a:t>
            </a:r>
            <a:r>
              <a:rPr lang="zh-CN" altLang="zh-CN" dirty="0"/>
              <a:t>无法</a:t>
            </a:r>
            <a:r>
              <a:rPr lang="zh-CN" altLang="zh-CN" dirty="0" smtClean="0"/>
              <a:t>保证转换</a:t>
            </a:r>
            <a:r>
              <a:rPr lang="zh-CN" altLang="zh-CN" dirty="0"/>
              <a:t>过程总能</a:t>
            </a:r>
            <a:r>
              <a:rPr lang="zh-CN" altLang="zh-CN" dirty="0" smtClean="0"/>
              <a:t>成功</a:t>
            </a:r>
          </a:p>
          <a:p>
            <a:pPr lvl="1"/>
            <a:r>
              <a:rPr lang="zh-CN" altLang="en-US" dirty="0" smtClean="0"/>
              <a:t>参数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file</a:t>
            </a:r>
            <a:r>
              <a:rPr lang="zh-CN" altLang="en-US" dirty="0" smtClean="0"/>
              <a:t>：文件流，即输出目的地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如果时未指定此参数，或者传递</a:t>
            </a:r>
            <a:r>
              <a:rPr lang="zh-CN" altLang="en-US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None</a:t>
            </a:r>
            <a:r>
              <a:rPr lang="zh-CN" altLang="en-US" dirty="0" smtClean="0"/>
              <a:t>，输出到标准输出流 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sys.stdout</a:t>
            </a:r>
            <a:endParaRPr lang="en-US" altLang="zh-CN" b="0" dirty="0" smtClean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pPr lvl="2"/>
            <a:r>
              <a:rPr lang="zh-CN" altLang="en-US" dirty="0" smtClean="0"/>
              <a:t>标准输出流为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sys</a:t>
            </a:r>
            <a:r>
              <a:rPr lang="en-US" altLang="zh-CN" dirty="0" smtClean="0"/>
              <a:t> </a:t>
            </a:r>
            <a:r>
              <a:rPr lang="zh-CN" altLang="en-US" dirty="0" smtClean="0"/>
              <a:t>模块定义的全局标准输出流对象，一般代表屏幕</a:t>
            </a:r>
          </a:p>
        </p:txBody>
      </p:sp>
    </p:spTree>
    <p:extLst>
      <p:ext uri="{BB962C8B-B14F-4D97-AF65-F5344CB8AC3E}">
        <p14:creationId xmlns:p14="http://schemas.microsoft.com/office/powerpoint/2010/main" val="12598250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1.6.1</a:t>
            </a:r>
            <a:r>
              <a:rPr lang="zh-CN" altLang="en-US" dirty="0"/>
              <a:t>　输出函数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print()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基本</a:t>
            </a:r>
            <a:r>
              <a:rPr lang="zh-CN" altLang="en-US" dirty="0"/>
              <a:t>用法</a:t>
            </a:r>
          </a:p>
          <a:p>
            <a:pPr lvl="1"/>
            <a:r>
              <a:rPr lang="zh-CN" altLang="en-US" dirty="0" smtClean="0"/>
              <a:t>参数 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sep</a:t>
            </a:r>
            <a:r>
              <a:rPr lang="zh-CN" altLang="en-US" dirty="0" smtClean="0"/>
              <a:t>：分隔符</a:t>
            </a:r>
            <a:endParaRPr lang="en-US" altLang="zh-CN" dirty="0" smtClean="0"/>
          </a:p>
          <a:p>
            <a:pPr lvl="2"/>
            <a:r>
              <a:rPr lang="zh-CN" altLang="en-US" dirty="0"/>
              <a:t>被输出对象的字符串信息之间以</a:t>
            </a:r>
            <a:r>
              <a:rPr lang="zh-CN" altLang="en-US" dirty="0" smtClean="0"/>
              <a:t>字符串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sep</a:t>
            </a:r>
            <a:r>
              <a:rPr lang="en-US" altLang="zh-CN" dirty="0" smtClean="0"/>
              <a:t> </a:t>
            </a:r>
            <a:r>
              <a:rPr lang="zh-CN" altLang="en-US" dirty="0" smtClean="0"/>
              <a:t>分隔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无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sep</a:t>
            </a:r>
            <a:r>
              <a:rPr lang="en-US" altLang="zh-CN" dirty="0" smtClean="0"/>
              <a:t> </a:t>
            </a:r>
            <a:r>
              <a:rPr lang="zh-CN" altLang="en-US" dirty="0" smtClean="0"/>
              <a:t>参数</a:t>
            </a:r>
            <a:r>
              <a:rPr lang="zh-CN" altLang="en-US" dirty="0"/>
              <a:t>或实际参数</a:t>
            </a:r>
            <a:r>
              <a:rPr lang="zh-CN" altLang="en-US" dirty="0" smtClean="0"/>
              <a:t>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None</a:t>
            </a:r>
            <a:r>
              <a:rPr lang="en-US" altLang="zh-CN" dirty="0"/>
              <a:t> </a:t>
            </a:r>
            <a:r>
              <a:rPr lang="zh-CN" altLang="en-US" dirty="0" smtClean="0"/>
              <a:t>时</a:t>
            </a:r>
            <a:r>
              <a:rPr lang="zh-CN" altLang="en-US" dirty="0"/>
              <a:t>，使用空格分隔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参数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end</a:t>
            </a:r>
            <a:r>
              <a:rPr lang="zh-CN" altLang="en-US" dirty="0" smtClean="0"/>
              <a:t>：结束符</a:t>
            </a:r>
            <a:endParaRPr lang="en-US" altLang="zh-CN" dirty="0" smtClean="0"/>
          </a:p>
          <a:p>
            <a:pPr lvl="2"/>
            <a:r>
              <a:rPr lang="zh-CN" altLang="zh-CN" dirty="0"/>
              <a:t>输出完毕后使用</a:t>
            </a:r>
            <a:r>
              <a:rPr lang="zh-CN" altLang="zh-CN" dirty="0" smtClean="0"/>
              <a:t>字符串</a:t>
            </a:r>
            <a:r>
              <a:rPr lang="en-US" altLang="zh-CN" dirty="0" smtClean="0"/>
              <a:t>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end</a:t>
            </a:r>
            <a:r>
              <a:rPr lang="en-US" altLang="zh-CN" dirty="0" smtClean="0"/>
              <a:t> </a:t>
            </a:r>
            <a:r>
              <a:rPr lang="zh-CN" altLang="zh-CN" dirty="0" smtClean="0"/>
              <a:t>结尾</a:t>
            </a:r>
            <a:endParaRPr lang="en-US" altLang="zh-CN" dirty="0" smtClean="0"/>
          </a:p>
          <a:p>
            <a:pPr lvl="2"/>
            <a:r>
              <a:rPr lang="zh-CN" altLang="zh-CN" dirty="0" smtClean="0"/>
              <a:t>无</a:t>
            </a:r>
            <a:r>
              <a:rPr lang="en-US" altLang="zh-CN" dirty="0" smtClean="0"/>
              <a:t>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end</a:t>
            </a:r>
            <a:r>
              <a:rPr lang="en-US" altLang="zh-CN" dirty="0" smtClean="0"/>
              <a:t> </a:t>
            </a:r>
            <a:r>
              <a:rPr lang="zh-CN" altLang="zh-CN" dirty="0" smtClean="0"/>
              <a:t>参数</a:t>
            </a:r>
            <a:r>
              <a:rPr lang="zh-CN" altLang="zh-CN" dirty="0"/>
              <a:t>或实际参数</a:t>
            </a:r>
            <a:r>
              <a:rPr lang="zh-CN" altLang="zh-CN" dirty="0" smtClean="0"/>
              <a:t>为</a:t>
            </a:r>
            <a:r>
              <a:rPr lang="en-US" altLang="zh-CN" dirty="0" smtClean="0"/>
              <a:t>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None</a:t>
            </a:r>
            <a:r>
              <a:rPr lang="en-US" altLang="zh-CN" dirty="0" smtClean="0"/>
              <a:t> </a:t>
            </a:r>
            <a:r>
              <a:rPr lang="zh-CN" altLang="zh-CN" dirty="0" smtClean="0"/>
              <a:t>时</a:t>
            </a:r>
            <a:r>
              <a:rPr lang="zh-CN" altLang="zh-CN" dirty="0"/>
              <a:t>，结尾</a:t>
            </a:r>
            <a:r>
              <a:rPr lang="zh-CN" altLang="zh-CN" dirty="0" smtClean="0"/>
              <a:t>换行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参数 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flush</a:t>
            </a:r>
            <a:r>
              <a:rPr lang="zh-CN" altLang="en-US" dirty="0" smtClean="0"/>
              <a:t>：流刷新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如果</a:t>
            </a:r>
            <a:r>
              <a:rPr lang="zh-CN" altLang="en-US" dirty="0"/>
              <a:t>参数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flush</a:t>
            </a:r>
            <a:r>
              <a:rPr lang="en-US" altLang="zh-CN" dirty="0"/>
              <a:t> </a:t>
            </a:r>
            <a:r>
              <a:rPr lang="zh-CN" altLang="en-US" dirty="0"/>
              <a:t>值为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True</a:t>
            </a:r>
            <a:r>
              <a:rPr lang="zh-CN" altLang="en-US" dirty="0"/>
              <a:t>，流强制</a:t>
            </a:r>
            <a:r>
              <a:rPr lang="zh-CN" altLang="en-US" dirty="0" smtClean="0"/>
              <a:t>刷新</a:t>
            </a:r>
            <a:endParaRPr lang="en-US" altLang="zh-CN" dirty="0" smtClean="0"/>
          </a:p>
          <a:p>
            <a:pPr lvl="2"/>
            <a:r>
              <a:rPr lang="zh-CN" altLang="zh-CN" dirty="0"/>
              <a:t>只有</a:t>
            </a:r>
            <a:r>
              <a:rPr lang="zh-CN" altLang="en-US" dirty="0"/>
              <a:t>具有</a:t>
            </a:r>
            <a:r>
              <a:rPr lang="zh-CN" altLang="zh-CN" dirty="0"/>
              <a:t>缓冲区的流才可刷新</a:t>
            </a:r>
            <a:r>
              <a:rPr lang="zh-CN" altLang="en-US" dirty="0"/>
              <a:t>；如无，本参数无</a:t>
            </a:r>
            <a:r>
              <a:rPr lang="zh-CN" altLang="en-US" dirty="0" smtClean="0"/>
              <a:t>效果</a:t>
            </a:r>
          </a:p>
        </p:txBody>
      </p:sp>
    </p:spTree>
    <p:extLst>
      <p:ext uri="{BB962C8B-B14F-4D97-AF65-F5344CB8AC3E}">
        <p14:creationId xmlns:p14="http://schemas.microsoft.com/office/powerpoint/2010/main" val="5043120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输</a:t>
            </a:r>
            <a:r>
              <a:rPr lang="zh-CN" altLang="en-US" dirty="0"/>
              <a:t>出</a:t>
            </a:r>
            <a:r>
              <a:rPr lang="zh-CN" altLang="en-US" dirty="0" smtClean="0"/>
              <a:t>函数示例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print()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调用</a:t>
            </a:r>
            <a:r>
              <a:rPr lang="zh-CN" altLang="en-US" dirty="0"/>
              <a:t>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第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0.5.3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节示例，格式化输出数据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print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('Hi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, %s!' %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name) 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endParaRPr lang="en-US" altLang="zh-CN" sz="2000" dirty="0" smtClean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第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0.5.4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节示例，多参数连续输出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print('The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product is:',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product)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endParaRPr lang="en-US" altLang="zh-CN" sz="2000" dirty="0" smtClean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第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0.5.5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节示例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，输出空格分隔的数字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print(a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, end =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 ')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第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0.5.5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节示例，换行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print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8787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1.6.2</a:t>
            </a:r>
            <a:r>
              <a:rPr lang="zh-CN" altLang="en-US" dirty="0" smtClean="0"/>
              <a:t>　输入函数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input()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基本</a:t>
            </a:r>
            <a:r>
              <a:rPr lang="zh-CN" altLang="en-US" dirty="0"/>
              <a:t>用法</a:t>
            </a:r>
          </a:p>
          <a:p>
            <a:pPr lvl="1"/>
            <a:r>
              <a:rPr lang="zh-CN" altLang="en-US" dirty="0"/>
              <a:t>格式：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input(</a:t>
            </a:r>
            <a:r>
              <a:rPr lang="en-US" altLang="zh-CN" b="0" dirty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[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prompt</a:t>
            </a:r>
            <a:r>
              <a:rPr lang="en-US" altLang="zh-CN" b="0" dirty="0" smtClean="0">
                <a:solidFill>
                  <a:srgbClr val="FFFF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]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)</a:t>
            </a:r>
            <a:endParaRPr lang="en-US" altLang="zh-CN" dirty="0">
              <a:solidFill>
                <a:srgbClr val="FFC000"/>
              </a:solidFill>
            </a:endParaRPr>
          </a:p>
          <a:p>
            <a:pPr lvl="1"/>
            <a:r>
              <a:rPr lang="zh-CN" altLang="en-US" dirty="0"/>
              <a:t>功能：读取</a:t>
            </a:r>
            <a:r>
              <a:rPr lang="zh-CN" altLang="en-US" dirty="0" smtClean="0"/>
              <a:t>用户的原生输入数据</a:t>
            </a:r>
            <a:endParaRPr lang="zh-CN" altLang="en-US" dirty="0"/>
          </a:p>
          <a:p>
            <a:pPr lvl="1"/>
            <a:r>
              <a:rPr lang="zh-CN" altLang="en-US" dirty="0"/>
              <a:t>描述：参数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prompt</a:t>
            </a:r>
            <a:r>
              <a:rPr lang="en-US" altLang="zh-CN" dirty="0"/>
              <a:t> </a:t>
            </a:r>
            <a:r>
              <a:rPr lang="zh-CN" altLang="en-US" dirty="0"/>
              <a:t>表示提示信息；</a:t>
            </a:r>
            <a:r>
              <a:rPr lang="zh-CN" altLang="en-US" dirty="0" smtClean="0"/>
              <a:t>如果存在</a:t>
            </a:r>
            <a:r>
              <a:rPr lang="zh-CN" altLang="en-US" dirty="0"/>
              <a:t>，则在获取用户输入前</a:t>
            </a:r>
            <a:r>
              <a:rPr lang="zh-CN" altLang="en-US" dirty="0" smtClean="0"/>
              <a:t>输出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可以接受</a:t>
            </a:r>
            <a:r>
              <a:rPr lang="zh-CN" altLang="zh-CN" dirty="0"/>
              <a:t>字符串、数字和表达式等多种型式的数据输入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47588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输入函数示例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4148667" cy="16764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字符串输入示例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正常字符串输入不需要输入引号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2391918"/>
            <a:ext cx="44280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input()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abc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</a:t>
            </a:r>
            <a:r>
              <a:rPr lang="en-US" altLang="zh-CN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abc</a:t>
            </a:r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input()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</a:t>
            </a:r>
            <a:r>
              <a:rPr lang="en-US" altLang="zh-CN" sz="200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abc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"'</a:t>
            </a:r>
            <a:r>
              <a:rPr lang="en-US" altLang="zh-CN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abc</a:t>
            </a:r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'"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4544483" y="726017"/>
            <a:ext cx="4428067" cy="1676400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纯数字输入示例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纯数字输入时，结果为字符串，必须经过求值或转型，才能得到最终的数值</a:t>
            </a:r>
            <a:endParaRPr lang="zh-CN" altLang="en-US" dirty="0"/>
          </a:p>
        </p:txBody>
      </p:sp>
      <p:sp>
        <p:nvSpPr>
          <p:cNvPr id="7" name="TextBox 4"/>
          <p:cNvSpPr txBox="1"/>
          <p:nvPr/>
        </p:nvSpPr>
        <p:spPr>
          <a:xfrm>
            <a:off x="4544483" y="2398268"/>
            <a:ext cx="44280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input()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</a:t>
            </a:r>
            <a:r>
              <a:rPr lang="zh-CN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  <a:endParaRPr lang="zh-CN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'1'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input()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'1'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"</a:t>
            </a:r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'1'"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1759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输入函数示例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4" y="719667"/>
            <a:ext cx="4250266" cy="16764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字符串</a:t>
            </a:r>
            <a:r>
              <a:rPr lang="zh-CN" altLang="en-US" dirty="0"/>
              <a:t>表达式</a:t>
            </a:r>
            <a:r>
              <a:rPr lang="zh-CN" altLang="en-US" dirty="0" smtClean="0"/>
              <a:t>输入示例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结果为字符串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如果输入引号，则保留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2391918"/>
            <a:ext cx="44280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input()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1 + 2</a:t>
            </a:r>
            <a:r>
              <a:rPr lang="zh-CN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  <a:endParaRPr lang="zh-CN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'1 + 2'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input()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'1 + 2'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"</a:t>
            </a:r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'1 + 2'"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4544483" y="726017"/>
            <a:ext cx="4428067" cy="1676400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1pPr>
            <a:lvl2pPr marL="540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2pPr>
            <a:lvl3pPr marL="828000" indent="-252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3pPr>
            <a:lvl4pPr marL="1116000" indent="-25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4pPr>
            <a:lvl5pPr marL="1404000" indent="-252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b="1" kern="1200">
                <a:solidFill>
                  <a:schemeClr val="accent2">
                    <a:lumMod val="20000"/>
                    <a:lumOff val="80000"/>
                  </a:schemeClr>
                </a:solidFill>
                <a:latin typeface="华康手札体W5P" panose="03000500000000000000" pitchFamily="66" charset="-122"/>
                <a:ea typeface="华康手札体W5P" panose="03000500000000000000" pitchFamily="66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特殊输入示例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结果为字符串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转义字符被解释为字符序列</a:t>
            </a:r>
            <a:endParaRPr lang="zh-CN" altLang="en-US" dirty="0"/>
          </a:p>
        </p:txBody>
      </p:sp>
      <p:sp>
        <p:nvSpPr>
          <p:cNvPr id="7" name="TextBox 4"/>
          <p:cNvSpPr txBox="1"/>
          <p:nvPr/>
        </p:nvSpPr>
        <p:spPr>
          <a:xfrm>
            <a:off x="4544483" y="2398268"/>
            <a:ext cx="44280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input()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\n</a:t>
            </a:r>
            <a:r>
              <a:rPr lang="zh-CN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  <a:endParaRPr lang="zh-CN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'\\n'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input()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'\n'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"'\\n'"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3570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1.6.3</a:t>
            </a:r>
            <a:r>
              <a:rPr lang="zh-CN" altLang="en-US" dirty="0" smtClean="0"/>
              <a:t>　求值函数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eval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()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基本</a:t>
            </a:r>
            <a:r>
              <a:rPr lang="zh-CN" altLang="en-US" dirty="0"/>
              <a:t>用法</a:t>
            </a:r>
          </a:p>
          <a:p>
            <a:pPr lvl="1"/>
            <a:r>
              <a:rPr lang="zh-CN" altLang="en-US" dirty="0"/>
              <a:t>格式：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eval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(expression,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globals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 = None, locals = None)</a:t>
            </a:r>
          </a:p>
          <a:p>
            <a:pPr lvl="1"/>
            <a:r>
              <a:rPr lang="zh-CN" altLang="en-US" dirty="0"/>
              <a:t>功能：表达式求值</a:t>
            </a:r>
          </a:p>
          <a:p>
            <a:pPr lvl="1"/>
            <a:r>
              <a:rPr lang="zh-CN" altLang="en-US" dirty="0" smtClean="0"/>
              <a:t>参数描述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参数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expression</a:t>
            </a:r>
            <a:r>
              <a:rPr lang="en-US" altLang="zh-CN" dirty="0"/>
              <a:t> </a:t>
            </a:r>
            <a:r>
              <a:rPr lang="zh-CN" altLang="en-US" dirty="0"/>
              <a:t>为字符串，函数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eval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()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将其作为 </a:t>
            </a:r>
            <a:r>
              <a:rPr lang="en-US" altLang="zh-CN" dirty="0"/>
              <a:t>Python </a:t>
            </a:r>
            <a:r>
              <a:rPr lang="zh-CN" altLang="en-US" dirty="0"/>
              <a:t>表达式进行分析和求值，并返回其</a:t>
            </a:r>
            <a:r>
              <a:rPr lang="zh-CN" altLang="en-US" dirty="0" smtClean="0"/>
              <a:t>结果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如果</a:t>
            </a:r>
            <a:r>
              <a:rPr lang="zh-CN" altLang="en-US" dirty="0"/>
              <a:t>无参数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globals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与 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locals</a:t>
            </a:r>
            <a:r>
              <a:rPr lang="zh-CN" altLang="en-US" dirty="0"/>
              <a:t>，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expression</a:t>
            </a:r>
            <a:r>
              <a:rPr lang="en-US" altLang="zh-CN" dirty="0"/>
              <a:t> </a:t>
            </a:r>
            <a:r>
              <a:rPr lang="zh-CN" altLang="en-US" dirty="0"/>
              <a:t>在函数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eval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()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/>
              <a:t>调用环境中执行，语法错误将报告为异常</a:t>
            </a:r>
          </a:p>
        </p:txBody>
      </p:sp>
    </p:spTree>
    <p:extLst>
      <p:ext uri="{BB962C8B-B14F-4D97-AF65-F5344CB8AC3E}">
        <p14:creationId xmlns:p14="http://schemas.microsoft.com/office/powerpoint/2010/main" val="24775321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求值</a:t>
            </a:r>
            <a:r>
              <a:rPr lang="zh-CN" altLang="en-US" dirty="0" smtClean="0"/>
              <a:t>函数示例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eval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()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调用</a:t>
            </a:r>
            <a:r>
              <a:rPr lang="zh-CN" altLang="en-US" dirty="0"/>
              <a:t>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counter = 1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('counter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+ 1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Python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3.0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之后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n =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(input('A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number: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'))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Python </a:t>
            </a:r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3.0 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之前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n =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raw_input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('A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number: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'))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以上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两条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语句只能根据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Python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的不同版本二</a:t>
            </a: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选一</a:t>
            </a:r>
          </a:p>
          <a:p>
            <a:r>
              <a:rPr lang="en-US" altLang="zh-CN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 number: 1024</a:t>
            </a: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print(n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*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2048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1307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输入输出示例：浮点数平方根之和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4733" y="719667"/>
            <a:ext cx="8890000" cy="16764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接受用户输入的两个实数，求两者平方根之和。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4733" y="1210818"/>
            <a:ext cx="8877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sqrtreal.py</a:t>
            </a:r>
          </a:p>
          <a:p>
            <a:r>
              <a:rPr lang="en-US" altLang="zh-CN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平方根函数需要使用数学库，导入之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import math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获取用户的输入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a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=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(input("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The first real: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"))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b =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(input("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The second real: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"))</a:t>
            </a: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计算</a:t>
            </a:r>
            <a:endParaRPr lang="en-US" altLang="zh-CN" sz="2000" dirty="0">
              <a:solidFill>
                <a:schemeClr val="accent3">
                  <a:lumMod val="75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r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=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math.sqrt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(a)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+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math.sqrt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(b)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#  </a:t>
            </a:r>
            <a:r>
              <a:rPr lang="zh-CN" altLang="en-US" sz="2000" dirty="0" smtClean="0">
                <a:solidFill>
                  <a:schemeClr val="accent3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输出结果</a:t>
            </a:r>
            <a:endParaRPr lang="en-US" altLang="zh-CN" sz="2000" dirty="0" smtClean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print("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The result is ",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r)</a:t>
            </a:r>
            <a:endParaRPr lang="en-US" altLang="zh-CN" sz="200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7414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1.6.4</a:t>
            </a:r>
            <a:r>
              <a:rPr lang="zh-CN" altLang="en-US" dirty="0" smtClean="0"/>
              <a:t>　表示函数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 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repr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()</a:t>
            </a:r>
            <a:r>
              <a:rPr lang="en-US" altLang="zh-CN" dirty="0" smtClean="0">
                <a:solidFill>
                  <a:srgbClr val="FFC000"/>
                </a:solidFill>
              </a:rPr>
              <a:t> </a:t>
            </a:r>
            <a:r>
              <a:rPr lang="zh-CN" altLang="en-US" dirty="0" smtClean="0"/>
              <a:t>基本</a:t>
            </a:r>
            <a:r>
              <a:rPr lang="zh-CN" altLang="en-US" dirty="0"/>
              <a:t>用法</a:t>
            </a:r>
          </a:p>
          <a:p>
            <a:pPr lvl="1"/>
            <a:r>
              <a:rPr lang="zh-CN" altLang="en-US" dirty="0"/>
              <a:t>格式</a:t>
            </a:r>
            <a:r>
              <a:rPr lang="zh-CN" altLang="en-US" dirty="0" smtClean="0"/>
              <a:t>：</a:t>
            </a:r>
            <a:r>
              <a:rPr lang="en-US" altLang="zh-CN" b="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repr</a:t>
            </a:r>
            <a:r>
              <a:rPr lang="en-US" altLang="zh-CN" b="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(object)</a:t>
            </a:r>
            <a:endParaRPr lang="en-US" altLang="zh-CN" b="0" dirty="0">
              <a:solidFill>
                <a:srgbClr val="FFC000"/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</a:endParaRPr>
          </a:p>
          <a:p>
            <a:pPr lvl="1"/>
            <a:r>
              <a:rPr lang="zh-CN" altLang="en-US" dirty="0"/>
              <a:t>功能</a:t>
            </a:r>
            <a:r>
              <a:rPr lang="zh-CN" altLang="en-US" dirty="0" smtClean="0"/>
              <a:t>：返回对象的“正式”字符串表示</a:t>
            </a:r>
            <a:endParaRPr lang="zh-CN" altLang="en-US" dirty="0"/>
          </a:p>
          <a:p>
            <a:pPr lvl="1"/>
            <a:r>
              <a:rPr lang="zh-CN" altLang="en-US" dirty="0" smtClean="0"/>
              <a:t>大多数情况下，将函数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repr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()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的输出回传给函数 </a:t>
            </a:r>
            <a:r>
              <a:rPr lang="en-US" altLang="zh-CN" b="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eval</a:t>
            </a:r>
            <a:r>
              <a:rPr lang="en-US" altLang="zh-CN" b="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()</a:t>
            </a:r>
            <a:r>
              <a:rPr lang="en-US" altLang="zh-CN" dirty="0" smtClean="0"/>
              <a:t> </a:t>
            </a:r>
            <a:r>
              <a:rPr lang="zh-CN" altLang="en-US" dirty="0"/>
              <a:t>都</a:t>
            </a:r>
            <a:r>
              <a:rPr lang="zh-CN" altLang="en-US" dirty="0" smtClean="0"/>
              <a:t>能推导出具有同样值的对象</a:t>
            </a:r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94733" y="2982468"/>
            <a:ext cx="4428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repr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(1 + 2)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'3'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('3')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3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4544483" y="2988818"/>
            <a:ext cx="4428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repr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('1 </a:t>
            </a:r>
            <a:r>
              <a:rPr lang="en-US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+ 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2')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"'1 + 2'"</a:t>
            </a:r>
            <a:endParaRPr lang="zh-CN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  <a:p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&gt;&gt;&gt; </a:t>
            </a:r>
            <a:r>
              <a:rPr lang="en-US" altLang="zh-CN" sz="2000" dirty="0" err="1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eval</a:t>
            </a:r>
            <a:r>
              <a:rPr lang="en-US" altLang="zh-CN" sz="2000" dirty="0" smtClean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("'1 + 2'")</a:t>
            </a:r>
            <a:r>
              <a:rPr lang="zh-CN" altLang="zh-CN" sz="2000" dirty="0">
                <a:solidFill>
                  <a:srgbClr val="FFC000"/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↙</a:t>
            </a:r>
          </a:p>
          <a:p>
            <a:r>
              <a:rPr lang="en-US" altLang="zh-CN" sz="20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等距更纱黑体 SC" panose="02000509000000000000" pitchFamily="49" charset="-122"/>
                <a:ea typeface="等距更纱黑体 SC" panose="02000509000000000000" pitchFamily="49" charset="-122"/>
                <a:cs typeface="Menlo" panose="020B0609030804020204" pitchFamily="49" charset="0"/>
              </a:rPr>
              <a:t>'1 + 2'</a:t>
            </a:r>
            <a:endParaRPr lang="en-US" altLang="zh-CN" sz="2000" dirty="0">
              <a:solidFill>
                <a:schemeClr val="accent5">
                  <a:lumMod val="60000"/>
                  <a:lumOff val="40000"/>
                </a:schemeClr>
              </a:solidFill>
              <a:latin typeface="等距更纱黑体 SC" panose="02000509000000000000" pitchFamily="49" charset="-122"/>
              <a:ea typeface="等距更纱黑体 SC" panose="02000509000000000000" pitchFamily="49" charset="-122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9382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计算机程序设计基础（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91201"/>
      </p:ext>
    </p:extLst>
  </p:cSld>
  <p:clrMapOvr>
    <a:masterClrMapping/>
  </p:clrMapOvr>
  <p:transition spd="slow" advClick="0" advTm="0">
    <p:strips dir="ru"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　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899" y="1752655"/>
            <a:ext cx="8820151" cy="3133670"/>
          </a:xfrm>
        </p:spPr>
        <p:txBody>
          <a:bodyPr>
            <a:normAutofit/>
          </a:bodyPr>
          <a:lstStyle/>
          <a:p>
            <a:r>
              <a:rPr lang="en-US" altLang="zh-CN" sz="1800" dirty="0" smtClean="0"/>
              <a:t>1.2</a:t>
            </a:r>
            <a:r>
              <a:rPr lang="zh-CN" altLang="en-US" sz="1800" dirty="0"/>
              <a:t>　编制脚本程序。接受用户输入的两个数。其中一个为一年期定期存款本金，一个为一年期定期存款利率。计算一年期满后本金与利息总额。说明：（</a:t>
            </a:r>
            <a:r>
              <a:rPr lang="en-US" altLang="zh-CN" sz="1800" dirty="0"/>
              <a:t>1</a:t>
            </a:r>
            <a:r>
              <a:rPr lang="zh-CN" altLang="en-US" sz="1800" dirty="0"/>
              <a:t>）存款金额以人民币元为单位；（</a:t>
            </a:r>
            <a:r>
              <a:rPr lang="en-US" altLang="zh-CN" sz="1800" dirty="0"/>
              <a:t>2</a:t>
            </a:r>
            <a:r>
              <a:rPr lang="zh-CN" altLang="en-US" sz="1800" dirty="0"/>
              <a:t>）输入利率时不需要输入百分号，例如一年期定期存款年利率</a:t>
            </a:r>
            <a:r>
              <a:rPr lang="zh-CN" altLang="en-US" sz="1800" dirty="0" smtClean="0"/>
              <a:t>为 </a:t>
            </a:r>
            <a:r>
              <a:rPr lang="en-US" altLang="zh-CN" sz="1800" b="0" dirty="0" smtClean="0"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2.52</a:t>
            </a:r>
            <a:r>
              <a:rPr lang="en-US" altLang="zh-CN" sz="1800" b="0" dirty="0"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%</a:t>
            </a:r>
            <a:r>
              <a:rPr lang="zh-CN" altLang="en-US" sz="1800" dirty="0"/>
              <a:t>，</a:t>
            </a:r>
            <a:r>
              <a:rPr lang="zh-CN" altLang="en-US" sz="1800" dirty="0" smtClean="0"/>
              <a:t>输入 </a:t>
            </a:r>
            <a:r>
              <a:rPr lang="en-US" altLang="zh-CN" sz="1800" b="0" dirty="0">
                <a:latin typeface="等距更纱黑体 SC" panose="02000509000000000000" pitchFamily="49" charset="-122"/>
                <a:ea typeface="等距更纱黑体 SC" panose="02000509000000000000" pitchFamily="49" charset="-122"/>
              </a:rPr>
              <a:t>2.52</a:t>
            </a:r>
            <a:r>
              <a:rPr lang="en-US" altLang="zh-CN" sz="1800" dirty="0" smtClean="0"/>
              <a:t> </a:t>
            </a:r>
            <a:r>
              <a:rPr lang="zh-CN" altLang="en-US" sz="1800" dirty="0" smtClean="0"/>
              <a:t>即</a:t>
            </a:r>
            <a:r>
              <a:rPr lang="zh-CN" altLang="en-US" sz="1800" dirty="0"/>
              <a:t>可</a:t>
            </a:r>
            <a:r>
              <a:rPr lang="zh-CN" altLang="en-US" sz="1800" dirty="0" smtClean="0"/>
              <a:t>。</a:t>
            </a:r>
            <a:endParaRPr lang="en-US" altLang="zh-CN" sz="1800" dirty="0"/>
          </a:p>
          <a:p>
            <a:r>
              <a:rPr lang="en-US" altLang="zh-CN" sz="1800" dirty="0" smtClean="0"/>
              <a:t>1.3</a:t>
            </a:r>
            <a:r>
              <a:rPr lang="zh-CN" altLang="en-US" sz="1800" dirty="0"/>
              <a:t>　继续上一题。现实生活中，储户在填定期存单时有“到期自动转存”选项，它表示在存单期满后自动转存为同样存期的新定期存单，结存的本金与利息总额将作为新本金。计算自动转存一次和两次后的期满金额</a:t>
            </a:r>
            <a:r>
              <a:rPr lang="zh-CN" altLang="en-US" sz="1800" dirty="0" smtClean="0"/>
              <a:t>。</a:t>
            </a:r>
            <a:endParaRPr lang="zh-CN" altLang="en-US" sz="1800" dirty="0"/>
          </a:p>
          <a:p>
            <a:r>
              <a:rPr lang="en-US" altLang="zh-CN" sz="1800" dirty="0" smtClean="0"/>
              <a:t>1.4</a:t>
            </a:r>
            <a:r>
              <a:rPr lang="zh-CN" altLang="en-US" sz="1800" dirty="0" smtClean="0"/>
              <a:t>　接受</a:t>
            </a:r>
            <a:r>
              <a:rPr lang="zh-CN" altLang="en-US" sz="1800" dirty="0"/>
              <a:t>用户输入的两个整数，求其阶乘之和并输出结果。　</a:t>
            </a:r>
            <a:endParaRPr lang="en-US" altLang="zh-CN" sz="1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8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dir="u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13707</TotalTime>
  <Words>6280</Words>
  <Application>Microsoft Office PowerPoint</Application>
  <PresentationFormat>全屏显示(16:9)</PresentationFormat>
  <Paragraphs>1061</Paragraphs>
  <Slides>106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106</vt:i4>
      </vt:variant>
    </vt:vector>
  </HeadingPairs>
  <TitlesOfParts>
    <vt:vector size="115" baseType="lpstr">
      <vt:lpstr>DFPHannotateW5-GB</vt:lpstr>
      <vt:lpstr>等距更纱黑体 SC</vt:lpstr>
      <vt:lpstr>华康手札体W5P</vt:lpstr>
      <vt:lpstr>宋体</vt:lpstr>
      <vt:lpstr>Arial</vt:lpstr>
      <vt:lpstr>Calibri</vt:lpstr>
      <vt:lpstr>Menlo</vt:lpstr>
      <vt:lpstr>Trebuchet MS</vt:lpstr>
      <vt:lpstr>柏林</vt:lpstr>
      <vt:lpstr>计算机程序设计基础</vt:lpstr>
      <vt:lpstr>第一章　基础文法</vt:lpstr>
      <vt:lpstr>题　记</vt:lpstr>
      <vt:lpstr>1.1　程序文本结构 1.2　对象与型式 1.3　表达式 1.4　语　句 1.5　数值与数学计算 1.6　基本输入输出</vt:lpstr>
      <vt:lpstr>计算机程序设计基础（Python）</vt:lpstr>
      <vt:lpstr>1.1　程序文本结构 1.2　对象与型式 1.3　表达式 1.4　语　句 1.5　数值与数学计算 1.6　基本输入输出</vt:lpstr>
      <vt:lpstr>1.1　程序文本结构</vt:lpstr>
      <vt:lpstr>1.1.1　代码文本</vt:lpstr>
      <vt:lpstr>行合并规则</vt:lpstr>
      <vt:lpstr>1.1.2　注　释</vt:lpstr>
      <vt:lpstr>1.1.3　缩　进</vt:lpstr>
      <vt:lpstr>1.1.4　标识符</vt:lpstr>
      <vt:lpstr>标识符命名规范</vt:lpstr>
      <vt:lpstr>标识符命名规范</vt:lpstr>
      <vt:lpstr>1.1.5　关键字与软关键字</vt:lpstr>
      <vt:lpstr>特定形式标识符</vt:lpstr>
      <vt:lpstr>1.1.6　编程风格</vt:lpstr>
      <vt:lpstr>1.1.6　编程风格</vt:lpstr>
      <vt:lpstr>计算机程序设计基础（Python）</vt:lpstr>
      <vt:lpstr>1.1　程序文本结构 1.2　对象与型式 1.3　表达式 1.4　语　句 1.5　数值与数学计算 1.6　基本输入输出</vt:lpstr>
      <vt:lpstr>1.2　对象与型式</vt:lpstr>
      <vt:lpstr>1.2.1　型式与对象</vt:lpstr>
      <vt:lpstr>本征值</vt:lpstr>
      <vt:lpstr>本征值</vt:lpstr>
      <vt:lpstr>本征值</vt:lpstr>
      <vt:lpstr>型　式</vt:lpstr>
      <vt:lpstr>型　式</vt:lpstr>
      <vt:lpstr>型　式</vt:lpstr>
      <vt:lpstr>型式对象赋值</vt:lpstr>
      <vt:lpstr>值</vt:lpstr>
      <vt:lpstr>1.2.2　数值型式</vt:lpstr>
      <vt:lpstr>1.2.3　文　字</vt:lpstr>
      <vt:lpstr>整型文字</vt:lpstr>
      <vt:lpstr>实型文字</vt:lpstr>
      <vt:lpstr>实数表示误差</vt:lpstr>
      <vt:lpstr>复型文字</vt:lpstr>
      <vt:lpstr>数字分节</vt:lpstr>
      <vt:lpstr>串型文字</vt:lpstr>
      <vt:lpstr>串型文字</vt:lpstr>
      <vt:lpstr>转义字符序列</vt:lpstr>
      <vt:lpstr>1.2.4　量</vt:lpstr>
      <vt:lpstr>1.2.4　量</vt:lpstr>
      <vt:lpstr>计算机程序设计基础（Python）</vt:lpstr>
      <vt:lpstr>1.1　程序文本结构 1.2　对象与型式 1.3　表达式 1.4　语　句 1.5　数值与数学计算 1.6　基本输入输出</vt:lpstr>
      <vt:lpstr>1.3　表达式</vt:lpstr>
      <vt:lpstr>1.3.1　表达式原子</vt:lpstr>
      <vt:lpstr>1.3.2　操作符与操作数</vt:lpstr>
      <vt:lpstr>操作符优先级</vt:lpstr>
      <vt:lpstr>操作符优先级</vt:lpstr>
      <vt:lpstr>表达式求值</vt:lpstr>
      <vt:lpstr>表达式求值示例</vt:lpstr>
      <vt:lpstr>表达式求值示例</vt:lpstr>
      <vt:lpstr>1.3.3　括号表达式</vt:lpstr>
      <vt:lpstr>计算机程序设计基础（Python）</vt:lpstr>
      <vt:lpstr>1.1　程序文本结构 1.2　对象与型式 1.3　表达式 1.4　语　句 1.5　数值与数学计算 1.6　基本输入输出</vt:lpstr>
      <vt:lpstr>1.4　语　句</vt:lpstr>
      <vt:lpstr>1.4.1　简单语句</vt:lpstr>
      <vt:lpstr>1.4.2　复合语句</vt:lpstr>
      <vt:lpstr>1.4.3　空语句</vt:lpstr>
      <vt:lpstr>1.4.4　赋　值</vt:lpstr>
      <vt:lpstr>赋值表达式</vt:lpstr>
      <vt:lpstr>赋值表达式</vt:lpstr>
      <vt:lpstr>赋值语句</vt:lpstr>
      <vt:lpstr>多变量赋值</vt:lpstr>
      <vt:lpstr>同一性测试</vt:lpstr>
      <vt:lpstr>赋值与量同一性示例</vt:lpstr>
      <vt:lpstr>赋值与量同一性示例</vt:lpstr>
      <vt:lpstr>1.4.5　含参赋值语句</vt:lpstr>
      <vt:lpstr>1.4.6　导入语句</vt:lpstr>
      <vt:lpstr>计算机程序设计基础（Python）</vt:lpstr>
      <vt:lpstr>1.1　程序文本结构 1.2　对象与型式 1.3　表达式 1.4　语　句 1.5　数值与数学计算 1.6　基本输入输出</vt:lpstr>
      <vt:lpstr>1.5　数值与数学计算</vt:lpstr>
      <vt:lpstr>1.5.1　数值运算</vt:lpstr>
      <vt:lpstr>1.5.1　数值运算</vt:lpstr>
      <vt:lpstr>1.5.1　数值运算</vt:lpstr>
      <vt:lpstr>1.5.2　内置数值函数</vt:lpstr>
      <vt:lpstr>1.5.2　内置数值函数</vt:lpstr>
      <vt:lpstr>1.5.2　内置数值函数</vt:lpstr>
      <vt:lpstr>幂运算与模运算</vt:lpstr>
      <vt:lpstr>幂运算与模运算</vt:lpstr>
      <vt:lpstr>1.5.3　数值与数学计算模块</vt:lpstr>
      <vt:lpstr>1.5.4　数学模块</vt:lpstr>
      <vt:lpstr>1.5.4　数学模块</vt:lpstr>
      <vt:lpstr>1.5.4　数学模块</vt:lpstr>
      <vt:lpstr>1.5.4　数学模块</vt:lpstr>
      <vt:lpstr>1.5.4　数学模块</vt:lpstr>
      <vt:lpstr>1.5.4　数学模块</vt:lpstr>
      <vt:lpstr>1.5.4　数学模块</vt:lpstr>
      <vt:lpstr>1.5.4　数学模块</vt:lpstr>
      <vt:lpstr>数学模块示例</vt:lpstr>
      <vt:lpstr>计算机程序设计基础（Python）</vt:lpstr>
      <vt:lpstr>1.1　程序文本结构 1.2　对　象 1.3　表达式 1.4　数值型式 1.5　数学模块 1.6　基本输入输出</vt:lpstr>
      <vt:lpstr>1.6　基本输入输出</vt:lpstr>
      <vt:lpstr>1.6.1　输出函数</vt:lpstr>
      <vt:lpstr>1.6.1　输出函数</vt:lpstr>
      <vt:lpstr>1.6.1　输出函数</vt:lpstr>
      <vt:lpstr>输出函数示例</vt:lpstr>
      <vt:lpstr>1.6.2　输入函数</vt:lpstr>
      <vt:lpstr>输入函数示例</vt:lpstr>
      <vt:lpstr>输入函数示例</vt:lpstr>
      <vt:lpstr>1.6.3　求值函数</vt:lpstr>
      <vt:lpstr>求值函数示例</vt:lpstr>
      <vt:lpstr>输入输出示例：浮点数平方根之和</vt:lpstr>
      <vt:lpstr>1.6.4　表示函数</vt:lpstr>
      <vt:lpstr>计算机程序设计基础（Python）</vt:lpstr>
      <vt:lpstr>作　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计算机程序设计基础（Python）</dc:title>
  <dc:creator>Microsoft Office 用户</dc:creator>
  <cp:lastModifiedBy>june</cp:lastModifiedBy>
  <cp:revision>1036</cp:revision>
  <dcterms:created xsi:type="dcterms:W3CDTF">2017-02-01T03:27:22Z</dcterms:created>
  <dcterms:modified xsi:type="dcterms:W3CDTF">2024-07-30T14:12:23Z</dcterms:modified>
</cp:coreProperties>
</file>