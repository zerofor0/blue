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theme/themeOverride1.xml" ContentType="application/vnd.openxmlformats-officedocument.themeOverr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6"/>
  </p:notesMasterIdLst>
  <p:handoutMasterIdLst>
    <p:handoutMasterId r:id="rId127"/>
  </p:handoutMasterIdLst>
  <p:sldIdLst>
    <p:sldId id="466" r:id="rId2"/>
    <p:sldId id="320" r:id="rId3"/>
    <p:sldId id="751" r:id="rId4"/>
    <p:sldId id="685" r:id="rId5"/>
    <p:sldId id="693" r:id="rId6"/>
    <p:sldId id="694" r:id="rId7"/>
    <p:sldId id="695" r:id="rId8"/>
    <p:sldId id="700" r:id="rId9"/>
    <p:sldId id="767" r:id="rId10"/>
    <p:sldId id="698" r:id="rId11"/>
    <p:sldId id="702" r:id="rId12"/>
    <p:sldId id="752" r:id="rId13"/>
    <p:sldId id="753" r:id="rId14"/>
    <p:sldId id="699" r:id="rId15"/>
    <p:sldId id="709" r:id="rId16"/>
    <p:sldId id="953" r:id="rId17"/>
    <p:sldId id="696" r:id="rId18"/>
    <p:sldId id="704" r:id="rId19"/>
    <p:sldId id="707" r:id="rId20"/>
    <p:sldId id="714" r:id="rId21"/>
    <p:sldId id="697" r:id="rId22"/>
    <p:sldId id="705" r:id="rId23"/>
    <p:sldId id="706" r:id="rId24"/>
    <p:sldId id="711" r:id="rId25"/>
    <p:sldId id="713" r:id="rId26"/>
    <p:sldId id="715" r:id="rId27"/>
    <p:sldId id="954" r:id="rId28"/>
    <p:sldId id="687" r:id="rId29"/>
    <p:sldId id="795" r:id="rId30"/>
    <p:sldId id="797" r:id="rId31"/>
    <p:sldId id="798" r:id="rId32"/>
    <p:sldId id="830" r:id="rId33"/>
    <p:sldId id="717" r:id="rId34"/>
    <p:sldId id="718" r:id="rId35"/>
    <p:sldId id="831" r:id="rId36"/>
    <p:sldId id="800" r:id="rId37"/>
    <p:sldId id="719" r:id="rId38"/>
    <p:sldId id="726" r:id="rId39"/>
    <p:sldId id="801" r:id="rId40"/>
    <p:sldId id="721" r:id="rId41"/>
    <p:sldId id="784" r:id="rId42"/>
    <p:sldId id="720" r:id="rId43"/>
    <p:sldId id="727" r:id="rId44"/>
    <p:sldId id="728" r:id="rId45"/>
    <p:sldId id="802" r:id="rId46"/>
    <p:sldId id="803" r:id="rId47"/>
    <p:sldId id="823" r:id="rId48"/>
    <p:sldId id="804" r:id="rId49"/>
    <p:sldId id="805" r:id="rId50"/>
    <p:sldId id="807" r:id="rId51"/>
    <p:sldId id="806" r:id="rId52"/>
    <p:sldId id="808" r:id="rId53"/>
    <p:sldId id="811" r:id="rId54"/>
    <p:sldId id="799" r:id="rId55"/>
    <p:sldId id="809" r:id="rId56"/>
    <p:sldId id="810" r:id="rId57"/>
    <p:sldId id="771" r:id="rId58"/>
    <p:sldId id="686" r:id="rId59"/>
    <p:sldId id="737" r:id="rId60"/>
    <p:sldId id="741" r:id="rId61"/>
    <p:sldId id="746" r:id="rId62"/>
    <p:sldId id="775" r:id="rId63"/>
    <p:sldId id="776" r:id="rId64"/>
    <p:sldId id="777" r:id="rId65"/>
    <p:sldId id="778" r:id="rId66"/>
    <p:sldId id="738" r:id="rId67"/>
    <p:sldId id="739" r:id="rId68"/>
    <p:sldId id="740" r:id="rId69"/>
    <p:sldId id="749" r:id="rId70"/>
    <p:sldId id="785" r:id="rId71"/>
    <p:sldId id="786" r:id="rId72"/>
    <p:sldId id="787" r:id="rId73"/>
    <p:sldId id="788" r:id="rId74"/>
    <p:sldId id="793" r:id="rId75"/>
    <p:sldId id="792" r:id="rId76"/>
    <p:sldId id="790" r:id="rId77"/>
    <p:sldId id="789" r:id="rId78"/>
    <p:sldId id="781" r:id="rId79"/>
    <p:sldId id="750" r:id="rId80"/>
    <p:sldId id="782" r:id="rId81"/>
    <p:sldId id="745" r:id="rId82"/>
    <p:sldId id="971" r:id="rId83"/>
    <p:sldId id="688" r:id="rId84"/>
    <p:sldId id="747" r:id="rId85"/>
    <p:sldId id="906" r:id="rId86"/>
    <p:sldId id="895" r:id="rId87"/>
    <p:sldId id="754" r:id="rId88"/>
    <p:sldId id="755" r:id="rId89"/>
    <p:sldId id="756" r:id="rId90"/>
    <p:sldId id="910" r:id="rId91"/>
    <p:sldId id="911" r:id="rId92"/>
    <p:sldId id="748" r:id="rId93"/>
    <p:sldId id="912" r:id="rId94"/>
    <p:sldId id="763" r:id="rId95"/>
    <p:sldId id="914" r:id="rId96"/>
    <p:sldId id="915" r:id="rId97"/>
    <p:sldId id="896" r:id="rId98"/>
    <p:sldId id="898" r:id="rId99"/>
    <p:sldId id="916" r:id="rId100"/>
    <p:sldId id="903" r:id="rId101"/>
    <p:sldId id="919" r:id="rId102"/>
    <p:sldId id="856" r:id="rId103"/>
    <p:sldId id="965" r:id="rId104"/>
    <p:sldId id="966" r:id="rId105"/>
    <p:sldId id="967" r:id="rId106"/>
    <p:sldId id="962" r:id="rId107"/>
    <p:sldId id="961" r:id="rId108"/>
    <p:sldId id="759" r:id="rId109"/>
    <p:sldId id="963" r:id="rId110"/>
    <p:sldId id="764" r:id="rId111"/>
    <p:sldId id="794" r:id="rId112"/>
    <p:sldId id="812" r:id="rId113"/>
    <p:sldId id="814" r:id="rId114"/>
    <p:sldId id="816" r:id="rId115"/>
    <p:sldId id="832" r:id="rId116"/>
    <p:sldId id="833" r:id="rId117"/>
    <p:sldId id="834" r:id="rId118"/>
    <p:sldId id="835" r:id="rId119"/>
    <p:sldId id="836" r:id="rId120"/>
    <p:sldId id="813" r:id="rId121"/>
    <p:sldId id="819" r:id="rId122"/>
    <p:sldId id="837" r:id="rId123"/>
    <p:sldId id="838" r:id="rId124"/>
    <p:sldId id="839" r:id="rId125"/>
  </p:sldIdLst>
  <p:sldSz cx="9144000" cy="6858000" type="screen4x3"/>
  <p:notesSz cx="6858000" cy="9144000"/>
  <p:custDataLst>
    <p:tags r:id="rId128"/>
  </p:custDataLst>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1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00CC00"/>
    <a:srgbClr val="008000"/>
    <a:srgbClr val="0066CC"/>
    <a:srgbClr val="1D9A78"/>
    <a:srgbClr val="FFFFFF"/>
    <a:srgbClr val="3A536D"/>
    <a:srgbClr val="003366"/>
    <a:srgbClr val="00FF00"/>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8" autoAdjust="0"/>
    <p:restoredTop sz="88767" autoAdjust="0"/>
  </p:normalViewPr>
  <p:slideViewPr>
    <p:cSldViewPr showGuides="1">
      <p:cViewPr varScale="1">
        <p:scale>
          <a:sx n="112" d="100"/>
          <a:sy n="112" d="100"/>
        </p:scale>
        <p:origin x="2232" y="192"/>
      </p:cViewPr>
      <p:guideLst>
        <p:guide orient="horz" pos="211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ags" Target="tags/tag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endParaRPr lang="en-US" altLang="zh-CN"/>
          </a:p>
        </p:txBody>
      </p:sp>
      <p:sp>
        <p:nvSpPr>
          <p:cNvPr id="4608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p:spPr>
      </p:sp>
      <p:sp>
        <p:nvSpPr>
          <p:cNvPr id="4608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4608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algn="l"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endParaRPr lang="en-US" altLang="zh-CN"/>
          </a:p>
        </p:txBody>
      </p:sp>
      <p:sp>
        <p:nvSpPr>
          <p:cNvPr id="4608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fontAlgn="auto" hangingPunct="1">
              <a:spcBef>
                <a:spcPct val="0"/>
              </a:spcBef>
              <a:spcAft>
                <a:spcPts val="0"/>
              </a:spcAft>
              <a:defRPr sz="1200">
                <a:latin typeface="Arial" panose="020B0604020202020204" pitchFamily="34" charset="0"/>
                <a:ea typeface="宋体" panose="02010600030101010101" pitchFamily="2" charset="-122"/>
              </a:defRPr>
            </a:lvl1pPr>
          </a:lstStyle>
          <a:p>
            <a:pPr>
              <a:defRPr/>
            </a:pPr>
            <a:fld id="{3C31A4FB-AB0B-4200-BC82-17C94E69ADE4}"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t>1</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橙色为对象</a:t>
            </a:r>
            <a:endParaRPr lang="en-US" altLang="zh-CN" dirty="0"/>
          </a:p>
          <a:p>
            <a:endParaRPr lang="en-US" altLang="zh-CN" dirty="0"/>
          </a:p>
          <a:p>
            <a:r>
              <a:rPr lang="en-US" altLang="zh-CN" dirty="0"/>
              <a:t>iostream</a:t>
            </a:r>
            <a:r>
              <a:rPr lang="zh-CN" altLang="en-US" dirty="0"/>
              <a:t>类比较神奇，定义在了</a:t>
            </a:r>
            <a:r>
              <a:rPr lang="en-US" altLang="zh-CN" dirty="0" err="1"/>
              <a:t>istream</a:t>
            </a:r>
            <a:r>
              <a:rPr lang="zh-CN" altLang="en-US" dirty="0"/>
              <a:t>里</a:t>
            </a:r>
            <a:endParaRPr lang="en-US" altLang="zh-CN" dirty="0"/>
          </a:p>
          <a:p>
            <a:r>
              <a:rPr lang="en-US" altLang="zh-CN" dirty="0"/>
              <a:t>&lt;iostream&gt;</a:t>
            </a:r>
            <a:r>
              <a:rPr lang="zh-CN" altLang="en-US" dirty="0"/>
              <a:t>头文件中只有</a:t>
            </a:r>
            <a:r>
              <a:rPr lang="en-US" altLang="zh-CN" dirty="0" err="1"/>
              <a:t>cin</a:t>
            </a:r>
            <a:r>
              <a:rPr lang="zh-CN" altLang="en-US" dirty="0"/>
              <a:t>和</a:t>
            </a:r>
            <a:r>
              <a:rPr lang="en-US" altLang="zh-CN" dirty="0" err="1"/>
              <a:t>cout</a:t>
            </a:r>
            <a:r>
              <a:rPr lang="zh-CN" altLang="en-US" dirty="0"/>
              <a:t>对象</a:t>
            </a:r>
            <a:endParaRPr lang="en-US" altLang="zh-CN"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t>6</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a:t>
            </a:r>
            <a:r>
              <a:rPr kumimoji="1" lang="en-US" altLang="zh-CN" dirty="0"/>
              <a:t>】</a:t>
            </a:r>
            <a:r>
              <a:rPr kumimoji="1" lang="zh-CN" altLang="en-US" dirty="0"/>
              <a:t>这个基础元素是指编译器内嵌的类型？？</a:t>
            </a:r>
            <a:r>
              <a:rPr kumimoji="1" lang="en-US" altLang="zh-CN" dirty="0" err="1"/>
              <a:t>Int</a:t>
            </a:r>
            <a:r>
              <a:rPr kumimoji="1" lang="zh-CN" altLang="en-US" dirty="0"/>
              <a:t> </a:t>
            </a:r>
            <a:r>
              <a:rPr kumimoji="1" lang="en-US" altLang="zh-CN" dirty="0"/>
              <a:t>double</a:t>
            </a:r>
            <a:r>
              <a:rPr kumimoji="1" lang="zh-CN" altLang="en-US" dirty="0"/>
              <a:t> </a:t>
            </a:r>
            <a:r>
              <a:rPr kumimoji="1" lang="en-US" altLang="zh-CN" dirty="0"/>
              <a:t>float</a:t>
            </a:r>
            <a:r>
              <a:rPr kumimoji="1" lang="zh-CN" altLang="en-US" dirty="0"/>
              <a:t> </a:t>
            </a:r>
            <a:r>
              <a:rPr kumimoji="1" lang="en-US" altLang="zh-CN" dirty="0"/>
              <a:t>char</a:t>
            </a:r>
            <a:r>
              <a:rPr kumimoji="1" lang="zh-CN" altLang="en-US" dirty="0"/>
              <a:t>* </a:t>
            </a:r>
            <a:r>
              <a:rPr kumimoji="1" lang="en-US" altLang="zh-CN" dirty="0"/>
              <a:t>char</a:t>
            </a:r>
          </a:p>
          <a:p>
            <a:endParaRPr kumimoji="1" lang="en-US" altLang="zh-CN" dirty="0"/>
          </a:p>
          <a:p>
            <a:r>
              <a:rPr kumimoji="1" lang="zh-CN" altLang="en-US" dirty="0"/>
              <a:t>是的，包括但不限于以上部分，还有</a:t>
            </a:r>
            <a:r>
              <a:rPr kumimoji="1" lang="en-US" altLang="zh-CN" dirty="0"/>
              <a:t>bool short long </a:t>
            </a:r>
            <a:r>
              <a:rPr kumimoji="1" lang="en-US" altLang="zh-CN" dirty="0" err="1"/>
              <a:t>long</a:t>
            </a:r>
            <a:r>
              <a:rPr kumimoji="1" lang="zh-CN" altLang="en-US" dirty="0"/>
              <a:t>等一系列类型。</a:t>
            </a:r>
            <a:endParaRPr kumimoji="1" lang="en-US" altLang="zh-CN" dirty="0"/>
          </a:p>
          <a:p>
            <a:r>
              <a:rPr kumimoji="1" lang="zh-CN" altLang="en-US" dirty="0"/>
              <a:t>基本包括在以下两个页面：</a:t>
            </a:r>
            <a:endParaRPr kumimoji="1" lang="en-US" altLang="zh-CN" dirty="0"/>
          </a:p>
          <a:p>
            <a:r>
              <a:rPr kumimoji="1" lang="en-US" altLang="zh-CN" dirty="0"/>
              <a:t>http://www.cplusplus.com/reference/ostream/ostream/operator%3C%3C/</a:t>
            </a:r>
          </a:p>
          <a:p>
            <a:r>
              <a:rPr kumimoji="1" lang="en-US" altLang="zh-CN" dirty="0"/>
              <a:t>http://www.cplusplus.com/reference/ostream/ostream/operator-free/</a:t>
            </a:r>
          </a:p>
          <a:p>
            <a:r>
              <a:rPr kumimoji="1" lang="zh-CN" altLang="en-US" dirty="0"/>
              <a:t>除了基础元素以外，还有可能有</a:t>
            </a:r>
            <a:r>
              <a:rPr kumimoji="1" lang="en-US" altLang="zh-CN" dirty="0"/>
              <a:t>STL</a:t>
            </a:r>
            <a:r>
              <a:rPr kumimoji="1" lang="zh-CN" altLang="en-US" dirty="0"/>
              <a:t>中的其他类也重载了输出流，比如</a:t>
            </a:r>
            <a:r>
              <a:rPr kumimoji="1" lang="en-US" altLang="zh-CN" dirty="0"/>
              <a:t>string</a:t>
            </a:r>
            <a:r>
              <a:rPr kumimoji="1" lang="zh-CN" altLang="en-US" dirty="0"/>
              <a:t>。</a:t>
            </a:r>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7</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8</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sym typeface="+mn-ea"/>
              </a:rPr>
              <a:t>iomanip</a:t>
            </a:r>
            <a:r>
              <a:rPr lang="zh-CN" altLang="en-US" dirty="0">
                <a:sym typeface="+mn-ea"/>
              </a:rPr>
              <a:t>：io代表输入输出，manip是manipulator（操纵器）的缩写</a:t>
            </a:r>
            <a:endParaRPr lang="zh-CN" altLang="en-US" dirty="0"/>
          </a:p>
          <a:p>
            <a:r>
              <a:rPr kumimoji="1" lang="en-US" altLang="zh-CN" dirty="0">
                <a:sym typeface="+mn-ea"/>
              </a:rPr>
              <a:t>----</a:t>
            </a:r>
            <a:r>
              <a:rPr kumimoji="1" lang="zh-CN" altLang="en-US" dirty="0">
                <a:sym typeface="+mn-ea"/>
              </a:rPr>
              <a:t>它</a:t>
            </a:r>
            <a:r>
              <a:rPr kumimoji="1" lang="en-US" altLang="zh-CN" dirty="0">
                <a:sym typeface="+mn-ea"/>
              </a:rPr>
              <a:t>在ios_base基类的基础上将每一种格式的设置和删除都进行了函数级的同名封装，提供了全局的调用接口函数，支持在运算符“&lt;&lt;”和“&gt;&gt;”上的多次使用</a:t>
            </a:r>
            <a:r>
              <a:rPr kumimoji="1" lang="zh-CN" altLang="en-US" dirty="0">
                <a:sym typeface="+mn-ea"/>
              </a:rPr>
              <a:t>，来对输入输出操作的格式进行更加方便的控制</a:t>
            </a:r>
            <a:endParaRPr kumimoji="1" lang="en-US" altLang="zh-CN" dirty="0"/>
          </a:p>
          <a:p>
            <a:endParaRPr kumimoji="1" lang="en-US" altLang="zh-CN" dirty="0"/>
          </a:p>
          <a:p>
            <a:r>
              <a:rPr kumimoji="1" lang="en-US" altLang="zh-CN" dirty="0">
                <a:sym typeface="+mn-ea"/>
              </a:rPr>
              <a:t>【</a:t>
            </a:r>
            <a:r>
              <a:rPr kumimoji="1" lang="zh-CN" altLang="en-US" dirty="0">
                <a:sym typeface="+mn-ea"/>
              </a:rPr>
              <a:t>？？？</a:t>
            </a:r>
            <a:r>
              <a:rPr kumimoji="1" lang="en-US" altLang="zh-CN" dirty="0">
                <a:sym typeface="+mn-ea"/>
              </a:rPr>
              <a:t>】</a:t>
            </a:r>
            <a:r>
              <a:rPr kumimoji="1" lang="zh-CN" altLang="en-US" dirty="0">
                <a:sym typeface="+mn-ea"/>
              </a:rPr>
              <a:t>这些红色都是什么？？？ 实现方法与</a:t>
            </a:r>
            <a:r>
              <a:rPr kumimoji="1" lang="en-US" altLang="zh-CN" dirty="0" err="1">
                <a:sym typeface="+mn-ea"/>
              </a:rPr>
              <a:t>setprecision</a:t>
            </a:r>
            <a:r>
              <a:rPr kumimoji="1" lang="zh-CN" altLang="en-US" dirty="0">
                <a:sym typeface="+mn-ea"/>
              </a:rPr>
              <a:t> 方式一样吗，有几种不同的实现方式？</a:t>
            </a:r>
            <a:endParaRPr kumimoji="1" lang="en-US" altLang="zh-CN" dirty="0"/>
          </a:p>
          <a:p>
            <a:endParaRPr kumimoji="1" lang="en-US" altLang="zh-CN" dirty="0"/>
          </a:p>
          <a:p>
            <a:r>
              <a:rPr kumimoji="1" lang="zh-CN" altLang="en-US" dirty="0">
                <a:sym typeface="+mn-ea"/>
              </a:rPr>
              <a:t>这都是流操纵算子。</a:t>
            </a:r>
            <a:r>
              <a:rPr kumimoji="1" lang="en-US" altLang="zh-CN" dirty="0">
                <a:sym typeface="+mn-ea"/>
              </a:rPr>
              <a:t>fixed</a:t>
            </a:r>
            <a:r>
              <a:rPr kumimoji="1" lang="zh-CN" altLang="en-US" dirty="0">
                <a:sym typeface="+mn-ea"/>
              </a:rPr>
              <a:t>、</a:t>
            </a:r>
            <a:r>
              <a:rPr kumimoji="1" lang="en-US" altLang="zh-CN" dirty="0">
                <a:sym typeface="+mn-ea"/>
              </a:rPr>
              <a:t>scientific</a:t>
            </a:r>
            <a:r>
              <a:rPr kumimoji="1" lang="zh-CN" altLang="en-US" dirty="0">
                <a:sym typeface="+mn-ea"/>
              </a:rPr>
              <a:t>、</a:t>
            </a:r>
            <a:r>
              <a:rPr kumimoji="1" lang="en-US" altLang="zh-CN" dirty="0" err="1">
                <a:sym typeface="+mn-ea"/>
              </a:rPr>
              <a:t>defaultfloat</a:t>
            </a:r>
            <a:r>
              <a:rPr kumimoji="1" lang="zh-CN" altLang="en-US" dirty="0">
                <a:sym typeface="+mn-ea"/>
              </a:rPr>
              <a:t>、</a:t>
            </a:r>
            <a:r>
              <a:rPr kumimoji="1" lang="en-US" altLang="zh-CN" dirty="0">
                <a:sym typeface="+mn-ea"/>
              </a:rPr>
              <a:t>oct</a:t>
            </a:r>
            <a:r>
              <a:rPr kumimoji="1" lang="zh-CN" altLang="en-US" dirty="0">
                <a:sym typeface="+mn-ea"/>
              </a:rPr>
              <a:t>、</a:t>
            </a:r>
            <a:r>
              <a:rPr kumimoji="1" lang="en-US" altLang="zh-CN" dirty="0">
                <a:sym typeface="+mn-ea"/>
              </a:rPr>
              <a:t>hex</a:t>
            </a:r>
            <a:r>
              <a:rPr kumimoji="1" lang="zh-CN" altLang="en-US" dirty="0">
                <a:sym typeface="+mn-ea"/>
              </a:rPr>
              <a:t>、</a:t>
            </a:r>
            <a:r>
              <a:rPr kumimoji="1" lang="en-US" altLang="zh-CN" dirty="0" err="1">
                <a:sym typeface="+mn-ea"/>
              </a:rPr>
              <a:t>dec</a:t>
            </a:r>
            <a:r>
              <a:rPr kumimoji="1" lang="zh-CN" altLang="en-US" dirty="0">
                <a:sym typeface="+mn-ea"/>
              </a:rPr>
              <a:t>实现方式和</a:t>
            </a:r>
            <a:r>
              <a:rPr kumimoji="1" lang="en-US" altLang="zh-CN" dirty="0" err="1">
                <a:sym typeface="+mn-ea"/>
              </a:rPr>
              <a:t>endl</a:t>
            </a:r>
            <a:r>
              <a:rPr kumimoji="1" lang="zh-CN" altLang="en-US" dirty="0">
                <a:sym typeface="+mn-ea"/>
              </a:rPr>
              <a:t>一样，这是标准中定义的。</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dirty="0">
                <a:sym typeface="+mn-ea"/>
              </a:rPr>
              <a:t>但有一些流操纵算子在规范里没有规定实现方式，不同的编译器实现可能不同，比如</a:t>
            </a:r>
            <a:r>
              <a:rPr kumimoji="1" lang="en-US" altLang="zh-CN" dirty="0" err="1">
                <a:sym typeface="+mn-ea"/>
              </a:rPr>
              <a:t>setprecision</a:t>
            </a:r>
            <a:r>
              <a:rPr kumimoji="1" lang="zh-CN" altLang="en-US" dirty="0">
                <a:sym typeface="+mn-ea"/>
              </a:rPr>
              <a:t>、</a:t>
            </a:r>
            <a:r>
              <a:rPr kumimoji="1" lang="en-US" altLang="zh-CN" dirty="0" err="1">
                <a:sym typeface="+mn-ea"/>
              </a:rPr>
              <a:t>setw</a:t>
            </a:r>
            <a:r>
              <a:rPr kumimoji="1" lang="zh-CN" altLang="en-US" dirty="0">
                <a:sym typeface="+mn-ea"/>
              </a:rPr>
              <a:t>、</a:t>
            </a:r>
            <a:r>
              <a:rPr kumimoji="1" lang="en-US" altLang="zh-CN" dirty="0" err="1">
                <a:sym typeface="+mn-ea"/>
              </a:rPr>
              <a:t>setfill</a:t>
            </a:r>
            <a:r>
              <a:rPr kumimoji="1" lang="zh-CN" altLang="en-US" dirty="0">
                <a:sym typeface="+mn-ea"/>
              </a:rPr>
              <a:t>。</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dirty="0">
                <a:sym typeface="+mn-ea"/>
              </a:rPr>
              <a:t>所以很难讲一共有多少种实现方式。但是按道理来讲，在同一编译器内，应该就是两种：</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b="1" dirty="0">
                <a:sym typeface="+mn-ea"/>
              </a:rPr>
              <a:t>一种是不带参数的（以</a:t>
            </a:r>
            <a:r>
              <a:rPr kumimoji="1" lang="en-US" altLang="zh-CN" b="1" dirty="0" err="1">
                <a:sym typeface="+mn-ea"/>
              </a:rPr>
              <a:t>endl</a:t>
            </a:r>
            <a:r>
              <a:rPr kumimoji="1" lang="zh-CN" altLang="en-US" b="1" dirty="0">
                <a:sym typeface="+mn-ea"/>
              </a:rPr>
              <a:t>为代表，规范有定义）；一种是带参数的（以</a:t>
            </a:r>
            <a:r>
              <a:rPr kumimoji="1" lang="en-US" altLang="zh-CN" b="1" dirty="0" err="1">
                <a:sym typeface="+mn-ea"/>
              </a:rPr>
              <a:t>setprecision</a:t>
            </a:r>
            <a:r>
              <a:rPr kumimoji="1" lang="zh-CN" altLang="en-US" b="1" dirty="0">
                <a:sym typeface="+mn-ea"/>
              </a:rPr>
              <a:t>为代表</a:t>
            </a:r>
            <a:r>
              <a:rPr kumimoji="1" lang="zh-CN" altLang="en-US" dirty="0">
                <a:sym typeface="+mn-ea"/>
              </a:rPr>
              <a:t>，规范没有定义，不同编译器实现不同）</a:t>
            </a:r>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9</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函数指针作为参数</a:t>
            </a:r>
            <a:endParaRPr kumimoji="1" lang="en-US" altLang="zh-CN" dirty="0"/>
          </a:p>
          <a:p>
            <a:r>
              <a:rPr kumimoji="1" lang="en-US" altLang="zh-CN" dirty="0"/>
              <a:t>https://zh.wikipedia.org/wiki/%E5%87%BD%E6%95%B0%E6%8C%87%E9%92%88</a:t>
            </a:r>
          </a:p>
          <a:p>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max</a:t>
            </a:r>
            <a:r>
              <a:rPr lang="en-US" altLang="zh-CN" dirty="0"/>
              <a:t>(</a:t>
            </a:r>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x,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y) </a:t>
            </a:r>
          </a:p>
          <a:p>
            <a:r>
              <a:rPr lang="en-US" altLang="zh-CN" dirty="0"/>
              <a:t>{ </a:t>
            </a:r>
            <a:r>
              <a:rPr lang="en-US" altLang="zh-CN" sz="1200" b="1" kern="1200" dirty="0">
                <a:solidFill>
                  <a:schemeClr val="tx1"/>
                </a:solidFill>
                <a:effectLst/>
                <a:latin typeface="Arial" panose="020B0604020202020204" pitchFamily="34" charset="0"/>
                <a:ea typeface="宋体" panose="02010600030101010101" pitchFamily="2" charset="-122"/>
                <a:cs typeface="+mn-cs"/>
              </a:rPr>
              <a:t>return</a:t>
            </a:r>
            <a:r>
              <a:rPr lang="en-US" altLang="zh-CN" dirty="0"/>
              <a:t> x </a:t>
            </a:r>
            <a:r>
              <a:rPr lang="en-US" altLang="zh-CN" sz="1200" kern="1200" dirty="0">
                <a:solidFill>
                  <a:schemeClr val="tx1"/>
                </a:solidFill>
                <a:effectLst/>
                <a:latin typeface="Arial" panose="020B0604020202020204" pitchFamily="34" charset="0"/>
                <a:ea typeface="宋体" panose="02010600030101010101" pitchFamily="2" charset="-122"/>
                <a:cs typeface="+mn-cs"/>
              </a:rPr>
              <a:t>&gt;</a:t>
            </a:r>
            <a:r>
              <a:rPr lang="en-US" altLang="zh-CN" dirty="0"/>
              <a:t> y </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x</a:t>
            </a:r>
            <a:r>
              <a:rPr lang="en-US" altLang="zh-CN" dirty="0"/>
              <a:t> : y; } </a:t>
            </a:r>
          </a:p>
          <a:p>
            <a:endParaRPr lang="en-US" altLang="zh-CN" dirty="0"/>
          </a:p>
          <a:p>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main</a:t>
            </a:r>
            <a:r>
              <a:rPr lang="en-US" altLang="zh-CN" dirty="0"/>
              <a:t>(</a:t>
            </a:r>
            <a:r>
              <a:rPr lang="en-US" altLang="zh-CN" sz="1200" kern="1200" dirty="0">
                <a:solidFill>
                  <a:schemeClr val="tx1"/>
                </a:solidFill>
                <a:effectLst/>
                <a:latin typeface="Arial" panose="020B0604020202020204" pitchFamily="34" charset="0"/>
                <a:ea typeface="宋体" panose="02010600030101010101" pitchFamily="2" charset="-122"/>
                <a:cs typeface="+mn-cs"/>
              </a:rPr>
              <a:t>void</a:t>
            </a:r>
            <a:r>
              <a:rPr lang="en-US" altLang="zh-CN" dirty="0"/>
              <a:t>) </a:t>
            </a:r>
          </a:p>
          <a:p>
            <a:r>
              <a:rPr lang="en-US" altLang="zh-CN" dirty="0"/>
              <a:t>{ 	</a:t>
            </a:r>
            <a:r>
              <a:rPr lang="en-US" altLang="zh-CN" sz="1200" i="1" kern="1200" dirty="0">
                <a:solidFill>
                  <a:schemeClr val="tx1"/>
                </a:solidFill>
                <a:effectLst/>
                <a:latin typeface="Arial" panose="020B0604020202020204" pitchFamily="34" charset="0"/>
                <a:ea typeface="宋体" panose="02010600030101010101" pitchFamily="2" charset="-122"/>
                <a:cs typeface="+mn-cs"/>
              </a:rPr>
              <a:t>/* p </a:t>
            </a:r>
            <a:r>
              <a:rPr lang="zh-CN" altLang="en-US" sz="1200" i="1" kern="1200" dirty="0">
                <a:solidFill>
                  <a:schemeClr val="tx1"/>
                </a:solidFill>
                <a:effectLst/>
                <a:latin typeface="Arial" panose="020B0604020202020204" pitchFamily="34" charset="0"/>
                <a:ea typeface="宋体" panose="02010600030101010101" pitchFamily="2" charset="-122"/>
                <a:cs typeface="+mn-cs"/>
              </a:rPr>
              <a:t>是函数指针 *</a:t>
            </a:r>
            <a:r>
              <a:rPr lang="en-US" altLang="zh-CN" sz="1200" i="1" kern="1200" dirty="0">
                <a:solidFill>
                  <a:schemeClr val="tx1"/>
                </a:solidFill>
                <a:effectLst/>
                <a:latin typeface="Arial" panose="020B0604020202020204" pitchFamily="34" charset="0"/>
                <a:ea typeface="宋体" panose="02010600030101010101" pitchFamily="2" charset="-122"/>
                <a:cs typeface="+mn-cs"/>
              </a:rPr>
              <a:t>/</a:t>
            </a:r>
            <a:r>
              <a:rPr lang="zh-CN" altLang="en-US" dirty="0"/>
              <a:t> </a:t>
            </a:r>
            <a:endParaRPr lang="en-US" altLang="zh-CN" dirty="0"/>
          </a:p>
          <a:p>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dirty="0"/>
              <a:t> p)(</a:t>
            </a:r>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&amp;</a:t>
            </a:r>
            <a:r>
              <a:rPr lang="en-US" altLang="zh-CN" dirty="0"/>
              <a:t> max; </a:t>
            </a:r>
            <a:r>
              <a:rPr lang="en-US" altLang="zh-CN" sz="1200" i="1" kern="1200" dirty="0">
                <a:solidFill>
                  <a:schemeClr val="tx1"/>
                </a:solidFill>
                <a:effectLst/>
                <a:latin typeface="Arial" panose="020B0604020202020204" pitchFamily="34" charset="0"/>
                <a:ea typeface="宋体" panose="02010600030101010101" pitchFamily="2" charset="-122"/>
                <a:cs typeface="+mn-cs"/>
              </a:rPr>
              <a:t>// &amp;</a:t>
            </a:r>
            <a:r>
              <a:rPr lang="zh-CN" altLang="en-US" sz="1200" i="1" kern="1200" dirty="0">
                <a:solidFill>
                  <a:schemeClr val="tx1"/>
                </a:solidFill>
                <a:effectLst/>
                <a:latin typeface="Arial" panose="020B0604020202020204" pitchFamily="34" charset="0"/>
                <a:ea typeface="宋体" panose="02010600030101010101" pitchFamily="2" charset="-122"/>
                <a:cs typeface="+mn-cs"/>
              </a:rPr>
              <a:t>可以省略</a:t>
            </a:r>
            <a:r>
              <a:rPr lang="zh-CN" altLang="en-US" dirty="0"/>
              <a:t> </a:t>
            </a:r>
            <a:endParaRPr lang="en-US" altLang="zh-CN" dirty="0"/>
          </a:p>
          <a:p>
            <a:r>
              <a:rPr lang="en-US" altLang="zh-CN" sz="1200" kern="1200" dirty="0">
                <a:solidFill>
                  <a:schemeClr val="tx1"/>
                </a:solidFill>
                <a:effectLst/>
                <a:latin typeface="Arial" panose="020B0604020202020204" pitchFamily="34" charset="0"/>
                <a:ea typeface="宋体" panose="02010600030101010101" pitchFamily="2" charset="-122"/>
                <a:cs typeface="+mn-cs"/>
              </a:rPr>
              <a:t>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int</a:t>
            </a:r>
            <a:r>
              <a:rPr lang="en-US" altLang="zh-CN" dirty="0"/>
              <a:t> a, b, c, d; </a:t>
            </a:r>
          </a:p>
          <a:p>
            <a:r>
              <a:rPr lang="en-US" altLang="zh-CN" dirty="0"/>
              <a:t>	</a:t>
            </a:r>
            <a:r>
              <a:rPr lang="en-US" altLang="zh-CN" dirty="0" err="1"/>
              <a:t>printf</a:t>
            </a:r>
            <a:r>
              <a:rPr lang="en-US" altLang="zh-CN" dirty="0"/>
              <a:t>(</a:t>
            </a:r>
            <a:r>
              <a:rPr lang="en-US" altLang="zh-CN" sz="1200" kern="1200" dirty="0">
                <a:solidFill>
                  <a:schemeClr val="tx1"/>
                </a:solidFill>
                <a:effectLst/>
                <a:latin typeface="Arial" panose="020B0604020202020204" pitchFamily="34" charset="0"/>
                <a:ea typeface="宋体" panose="02010600030101010101" pitchFamily="2" charset="-122"/>
                <a:cs typeface="+mn-cs"/>
              </a:rPr>
              <a:t>"please input 3 numbers:"</a:t>
            </a:r>
            <a:r>
              <a:rPr lang="en-US" altLang="zh-CN" dirty="0"/>
              <a:t>); </a:t>
            </a:r>
          </a:p>
          <a:p>
            <a:r>
              <a:rPr lang="en-US" altLang="zh-CN" dirty="0"/>
              <a:t>	</a:t>
            </a:r>
            <a:r>
              <a:rPr lang="en-US" altLang="zh-CN" dirty="0" err="1"/>
              <a:t>scanf</a:t>
            </a:r>
            <a:r>
              <a:rPr lang="en-US" altLang="zh-CN" dirty="0"/>
              <a:t>(</a:t>
            </a:r>
            <a:r>
              <a:rPr lang="en-US" altLang="zh-CN" sz="1200" kern="1200" dirty="0">
                <a:solidFill>
                  <a:schemeClr val="tx1"/>
                </a:solidFill>
                <a:effectLst/>
                <a:latin typeface="Arial" panose="020B0604020202020204" pitchFamily="34" charset="0"/>
                <a:ea typeface="宋体" panose="02010600030101010101" pitchFamily="2" charset="-122"/>
                <a:cs typeface="+mn-cs"/>
              </a:rPr>
              <a:t>"%d %d %d"</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&amp;</a:t>
            </a:r>
            <a:r>
              <a:rPr lang="en-US" altLang="zh-CN" dirty="0"/>
              <a:t> a, </a:t>
            </a:r>
            <a:r>
              <a:rPr lang="en-US" altLang="zh-CN" sz="1200" kern="1200" dirty="0">
                <a:solidFill>
                  <a:schemeClr val="tx1"/>
                </a:solidFill>
                <a:effectLst/>
                <a:latin typeface="Arial" panose="020B0604020202020204" pitchFamily="34" charset="0"/>
                <a:ea typeface="宋体" panose="02010600030101010101" pitchFamily="2" charset="-122"/>
                <a:cs typeface="+mn-cs"/>
              </a:rPr>
              <a:t>&amp;</a:t>
            </a:r>
            <a:r>
              <a:rPr lang="en-US" altLang="zh-CN" dirty="0"/>
              <a:t> b, </a:t>
            </a:r>
            <a:r>
              <a:rPr lang="en-US" altLang="zh-CN" sz="1200" kern="1200" dirty="0">
                <a:solidFill>
                  <a:schemeClr val="tx1"/>
                </a:solidFill>
                <a:effectLst/>
                <a:latin typeface="Arial" panose="020B0604020202020204" pitchFamily="34" charset="0"/>
                <a:ea typeface="宋体" panose="02010600030101010101" pitchFamily="2" charset="-122"/>
                <a:cs typeface="+mn-cs"/>
              </a:rPr>
              <a:t>&amp;</a:t>
            </a:r>
            <a:r>
              <a:rPr lang="en-US" altLang="zh-CN" dirty="0"/>
              <a:t> c); </a:t>
            </a:r>
            <a:r>
              <a:rPr lang="en-US" altLang="zh-CN" sz="1200" i="1" kern="1200" dirty="0">
                <a:solidFill>
                  <a:schemeClr val="tx1"/>
                </a:solidFill>
                <a:effectLst/>
                <a:latin typeface="Arial" panose="020B0604020202020204" pitchFamily="34" charset="0"/>
                <a:ea typeface="宋体" panose="02010600030101010101" pitchFamily="2" charset="-122"/>
                <a:cs typeface="+mn-cs"/>
              </a:rPr>
              <a:t>/* </a:t>
            </a:r>
            <a:r>
              <a:rPr lang="zh-CN" altLang="en-US" sz="1200" i="1" kern="1200" dirty="0">
                <a:solidFill>
                  <a:schemeClr val="tx1"/>
                </a:solidFill>
                <a:effectLst/>
                <a:latin typeface="Arial" panose="020B0604020202020204" pitchFamily="34" charset="0"/>
                <a:ea typeface="宋体" panose="02010600030101010101" pitchFamily="2" charset="-122"/>
                <a:cs typeface="+mn-cs"/>
              </a:rPr>
              <a:t>与直接调用函数等价，</a:t>
            </a:r>
            <a:r>
              <a:rPr lang="en-US" altLang="zh-CN" sz="1200" i="1" kern="1200" dirty="0">
                <a:solidFill>
                  <a:schemeClr val="tx1"/>
                </a:solidFill>
                <a:effectLst/>
                <a:latin typeface="Arial" panose="020B0604020202020204" pitchFamily="34" charset="0"/>
                <a:ea typeface="宋体" panose="02010600030101010101" pitchFamily="2" charset="-122"/>
                <a:cs typeface="+mn-cs"/>
              </a:rPr>
              <a:t>d = max(max(a, b), c) */</a:t>
            </a:r>
            <a:r>
              <a:rPr lang="en-US" altLang="zh-CN" dirty="0"/>
              <a:t> </a:t>
            </a:r>
          </a:p>
          <a:p>
            <a:r>
              <a:rPr lang="en-US" altLang="zh-CN" dirty="0"/>
              <a:t>	d </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dirty="0"/>
              <a:t> p(p(a, b), c); </a:t>
            </a:r>
          </a:p>
          <a:p>
            <a:r>
              <a:rPr lang="en-US" altLang="zh-CN" dirty="0"/>
              <a:t>	</a:t>
            </a:r>
            <a:r>
              <a:rPr lang="en-US" altLang="zh-CN" dirty="0" err="1"/>
              <a:t>printf</a:t>
            </a:r>
            <a:r>
              <a:rPr lang="en-US" altLang="zh-CN" dirty="0"/>
              <a:t>(</a:t>
            </a:r>
            <a:r>
              <a:rPr lang="en-US" altLang="zh-CN" sz="1200" kern="1200" dirty="0">
                <a:solidFill>
                  <a:schemeClr val="tx1"/>
                </a:solidFill>
                <a:effectLst/>
                <a:latin typeface="Arial" panose="020B0604020202020204" pitchFamily="34" charset="0"/>
                <a:ea typeface="宋体" panose="02010600030101010101" pitchFamily="2" charset="-122"/>
                <a:cs typeface="+mn-cs"/>
              </a:rPr>
              <a:t>"the </a:t>
            </a:r>
            <a:r>
              <a:rPr lang="en-US" altLang="zh-CN" sz="1200" kern="1200" dirty="0" err="1">
                <a:solidFill>
                  <a:schemeClr val="tx1"/>
                </a:solidFill>
                <a:effectLst/>
                <a:latin typeface="Arial" panose="020B0604020202020204" pitchFamily="34" charset="0"/>
                <a:ea typeface="宋体" panose="02010600030101010101" pitchFamily="2" charset="-122"/>
                <a:cs typeface="+mn-cs"/>
              </a:rPr>
              <a:t>maxumum</a:t>
            </a:r>
            <a:r>
              <a:rPr lang="en-US" altLang="zh-CN" sz="1200" kern="1200" dirty="0">
                <a:solidFill>
                  <a:schemeClr val="tx1"/>
                </a:solidFill>
                <a:effectLst/>
                <a:latin typeface="Arial" panose="020B0604020202020204" pitchFamily="34" charset="0"/>
                <a:ea typeface="宋体" panose="02010600030101010101" pitchFamily="2" charset="-122"/>
                <a:cs typeface="+mn-cs"/>
              </a:rPr>
              <a:t> number is: %d</a:t>
            </a:r>
            <a:r>
              <a:rPr lang="en-US" altLang="zh-CN" sz="1200" b="1" kern="1200" dirty="0">
                <a:solidFill>
                  <a:schemeClr val="tx1"/>
                </a:solidFill>
                <a:effectLst/>
                <a:latin typeface="Arial" panose="020B0604020202020204" pitchFamily="34" charset="0"/>
                <a:ea typeface="宋体" panose="02010600030101010101" pitchFamily="2" charset="-122"/>
                <a:cs typeface="+mn-cs"/>
              </a:rPr>
              <a:t>\n</a:t>
            </a:r>
            <a:r>
              <a:rPr lang="en-US" altLang="zh-CN" sz="1200" kern="1200" dirty="0">
                <a:solidFill>
                  <a:schemeClr val="tx1"/>
                </a:solidFill>
                <a:effectLst/>
                <a:latin typeface="Arial" panose="020B0604020202020204" pitchFamily="34" charset="0"/>
                <a:ea typeface="宋体" panose="02010600030101010101" pitchFamily="2" charset="-122"/>
                <a:cs typeface="+mn-cs"/>
              </a:rPr>
              <a:t>"</a:t>
            </a:r>
            <a:r>
              <a:rPr lang="en-US" altLang="zh-CN" dirty="0"/>
              <a:t>, d); </a:t>
            </a:r>
          </a:p>
          <a:p>
            <a:r>
              <a:rPr lang="en-US" altLang="zh-CN" sz="1200" b="1" kern="1200" dirty="0">
                <a:solidFill>
                  <a:schemeClr val="tx1"/>
                </a:solidFill>
                <a:effectLst/>
                <a:latin typeface="Arial" panose="020B0604020202020204" pitchFamily="34" charset="0"/>
                <a:ea typeface="宋体" panose="02010600030101010101" pitchFamily="2" charset="-122"/>
                <a:cs typeface="+mn-cs"/>
              </a:rPr>
              <a:t>	return</a:t>
            </a:r>
            <a:r>
              <a:rPr lang="en-US" altLang="zh-CN" dirty="0"/>
              <a:t> </a:t>
            </a:r>
            <a:r>
              <a:rPr lang="en-US" altLang="zh-CN" sz="1200" kern="1200" dirty="0">
                <a:solidFill>
                  <a:schemeClr val="tx1"/>
                </a:solidFill>
                <a:effectLst/>
                <a:latin typeface="Arial" panose="020B0604020202020204" pitchFamily="34" charset="0"/>
                <a:ea typeface="宋体" panose="02010600030101010101" pitchFamily="2" charset="-122"/>
                <a:cs typeface="+mn-cs"/>
              </a:rPr>
              <a:t>0</a:t>
            </a:r>
            <a:r>
              <a:rPr lang="en-US" altLang="zh-CN" dirty="0"/>
              <a:t>; </a:t>
            </a:r>
          </a:p>
          <a:p>
            <a:r>
              <a:rPr lang="en-US" altLang="zh-CN" dirty="0"/>
              <a:t>}</a:t>
            </a:r>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13</a:t>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t>14</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bool</a:t>
            </a:r>
            <a:r>
              <a:rPr lang="zh-CN" altLang="en-US" dirty="0"/>
              <a:t>运算符指 对象可以隐式转换为</a:t>
            </a:r>
            <a:r>
              <a:rPr lang="en-US" altLang="zh-CN" dirty="0"/>
              <a:t>true</a:t>
            </a:r>
            <a:r>
              <a:rPr lang="zh-CN" altLang="en-US" dirty="0"/>
              <a:t>或</a:t>
            </a:r>
            <a:r>
              <a:rPr lang="en-US" altLang="zh-CN" dirty="0"/>
              <a:t>false</a:t>
            </a:r>
          </a:p>
          <a:p>
            <a:r>
              <a:rPr lang="en-US" altLang="zh-CN" b="1" dirty="0"/>
              <a:t>peek</a:t>
            </a:r>
            <a:r>
              <a:rPr lang="zh-CN" altLang="en-US" b="1" dirty="0"/>
              <a:t>：</a:t>
            </a:r>
            <a:r>
              <a:rPr lang="zh-CN" altLang="en-US" dirty="0"/>
              <a:t>返回一个char类型的字符，返回值是指向的当前字符，但指针并不后移</a:t>
            </a:r>
          </a:p>
          <a:p>
            <a:r>
              <a:rPr lang="en-US" altLang="zh-CN" b="1" dirty="0" err="1">
                <a:solidFill>
                  <a:srgbClr val="FF0000"/>
                </a:solidFill>
                <a:latin typeface="Consolas" panose="020B0609020204030204" pitchFamily="49" charset="0"/>
                <a:sym typeface="+mn-ea"/>
              </a:rPr>
              <a:t>isdigit</a:t>
            </a:r>
            <a:r>
              <a:rPr lang="zh-CN" altLang="en-US" dirty="0"/>
              <a:t>检查参数是否为十进制数字字符</a:t>
            </a:r>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18</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peek()相当于队列的中的front()，而get()则相当于队列中的pop()</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a:t>
            </a:r>
            <a:r>
              <a:rPr kumimoji="1" lang="zh-CN" altLang="en-US" dirty="0"/>
              <a:t>？？？</a:t>
            </a:r>
            <a:r>
              <a:rPr kumimoji="1" lang="en-US" altLang="zh-CN" dirty="0"/>
              <a:t>】</a:t>
            </a:r>
            <a:r>
              <a:rPr kumimoji="1" lang="zh-CN" altLang="en-US" dirty="0"/>
              <a:t>这一页的动机很好，但是</a:t>
            </a:r>
            <a:r>
              <a:rPr kumimoji="1" lang="en-US" altLang="zh-CN" dirty="0" err="1"/>
              <a:t>cout</a:t>
            </a:r>
            <a:r>
              <a:rPr kumimoji="1" lang="zh-CN" altLang="en-US" dirty="0"/>
              <a:t>之前是否应该有类似</a:t>
            </a:r>
            <a:r>
              <a:rPr kumimoji="1" lang="en-US" altLang="zh-CN" dirty="0" err="1"/>
              <a:t>printf</a:t>
            </a:r>
            <a:r>
              <a:rPr kumimoji="1" lang="zh-CN" altLang="en-US" dirty="0"/>
              <a:t>的？？？</a:t>
            </a:r>
            <a:endParaRPr kumimoji="1" lang="en-US" altLang="zh-CN" dirty="0"/>
          </a:p>
          <a:p>
            <a:endParaRPr kumimoji="1" lang="en-US" altLang="zh-CN" dirty="0"/>
          </a:p>
          <a:p>
            <a:r>
              <a:rPr kumimoji="1" lang="en-US" altLang="zh-CN" dirty="0" err="1"/>
              <a:t>cout</a:t>
            </a:r>
            <a:r>
              <a:rPr kumimoji="1" lang="zh-CN" altLang="en-US" dirty="0"/>
              <a:t>取代</a:t>
            </a:r>
            <a:r>
              <a:rPr kumimoji="1" lang="en-US" altLang="zh-CN" dirty="0" err="1"/>
              <a:t>printf</a:t>
            </a:r>
            <a:r>
              <a:rPr kumimoji="1" lang="zh-CN" altLang="en-US" dirty="0"/>
              <a:t>的动机和</a:t>
            </a:r>
            <a:r>
              <a:rPr kumimoji="1" lang="en-US" altLang="zh-CN" dirty="0" err="1"/>
              <a:t>cin</a:t>
            </a:r>
            <a:r>
              <a:rPr kumimoji="1" lang="zh-CN" altLang="en-US" dirty="0"/>
              <a:t>取代</a:t>
            </a:r>
            <a:r>
              <a:rPr kumimoji="1" lang="en-US" altLang="zh-CN" dirty="0" err="1"/>
              <a:t>scanf</a:t>
            </a:r>
            <a:r>
              <a:rPr kumimoji="1" lang="zh-CN" altLang="en-US" dirty="0"/>
              <a:t>的动机基本一致，没有什么不同的点，如果讲两遍太过啰嗦。</a:t>
            </a:r>
            <a:endParaRPr kumimoji="1" lang="en-US" altLang="zh-CN" dirty="0"/>
          </a:p>
          <a:p>
            <a:r>
              <a:rPr kumimoji="1" lang="en-US" altLang="zh-CN" dirty="0" err="1"/>
              <a:t>cout</a:t>
            </a:r>
            <a:r>
              <a:rPr kumimoji="1" lang="zh-CN" altLang="en-US" dirty="0"/>
              <a:t>本身的内容较多，所以之前是带过讲了一下</a:t>
            </a:r>
            <a:r>
              <a:rPr kumimoji="1" lang="en-US" altLang="zh-CN" dirty="0" err="1"/>
              <a:t>printf</a:t>
            </a:r>
            <a:r>
              <a:rPr kumimoji="1" lang="zh-CN" altLang="en-US" dirty="0"/>
              <a:t>比较混乱。输入流的要点比较少，所以这里仔细解释了一下。</a:t>
            </a:r>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20</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kumimoji="1" lang="en-US" altLang="zh-CN" dirty="0">
                <a:sym typeface="+mn-ea"/>
              </a:rPr>
              <a:t>【</a:t>
            </a:r>
            <a:r>
              <a:rPr kumimoji="1" lang="zh-CN" altLang="en-US" dirty="0">
                <a:sym typeface="+mn-ea"/>
              </a:rPr>
              <a:t>？？？</a:t>
            </a:r>
            <a:r>
              <a:rPr kumimoji="1" lang="en-US" altLang="zh-CN" dirty="0">
                <a:sym typeface="+mn-ea"/>
              </a:rPr>
              <a:t>】</a:t>
            </a:r>
            <a:r>
              <a:rPr kumimoji="1" lang="zh-CN" altLang="en-US" dirty="0">
                <a:sym typeface="+mn-ea"/>
              </a:rPr>
              <a:t>：这里的</a:t>
            </a:r>
            <a:r>
              <a:rPr kumimoji="1" lang="en-US" altLang="zh-CN" dirty="0">
                <a:sym typeface="+mn-ea"/>
              </a:rPr>
              <a:t>head</a:t>
            </a:r>
            <a:r>
              <a:rPr kumimoji="1" lang="zh-CN" altLang="en-US" dirty="0">
                <a:sym typeface="+mn-ea"/>
              </a:rPr>
              <a:t>和</a:t>
            </a:r>
            <a:r>
              <a:rPr kumimoji="1" lang="en-US" altLang="zh-CN" dirty="0">
                <a:sym typeface="+mn-ea"/>
              </a:rPr>
              <a:t>tail</a:t>
            </a:r>
            <a:r>
              <a:rPr kumimoji="1" lang="zh-CN" altLang="en-US" dirty="0">
                <a:sym typeface="+mn-ea"/>
              </a:rPr>
              <a:t>，完全没讲；跟后面的状态位置</a:t>
            </a:r>
            <a:endParaRPr kumimoji="1" lang="en-US" altLang="zh-CN" dirty="0"/>
          </a:p>
          <a:p>
            <a:endParaRPr kumimoji="1" lang="en-US" altLang="zh-CN" dirty="0"/>
          </a:p>
          <a:p>
            <a:r>
              <a:rPr kumimoji="1" lang="zh-CN" altLang="en-US" dirty="0">
                <a:sym typeface="+mn-ea"/>
              </a:rPr>
              <a:t>为什么</a:t>
            </a:r>
            <a:r>
              <a:rPr kumimoji="1" lang="en-US" altLang="zh-CN" dirty="0">
                <a:sym typeface="+mn-ea"/>
              </a:rPr>
              <a:t>head</a:t>
            </a:r>
            <a:r>
              <a:rPr kumimoji="1" lang="zh-CN" altLang="en-US" dirty="0">
                <a:sym typeface="+mn-ea"/>
              </a:rPr>
              <a:t>在后面：</a:t>
            </a:r>
            <a:r>
              <a:rPr kumimoji="1" lang="en-US" altLang="zh-CN" dirty="0">
                <a:sym typeface="+mn-ea"/>
              </a:rPr>
              <a:t>head</a:t>
            </a:r>
            <a:r>
              <a:rPr kumimoji="1" lang="zh-CN" altLang="en-US" dirty="0">
                <a:sym typeface="+mn-ea"/>
              </a:rPr>
              <a:t> 是等待读入的最后位置</a:t>
            </a:r>
            <a:r>
              <a:rPr kumimoji="1" lang="en-US" altLang="zh-CN" dirty="0">
                <a:sym typeface="+mn-ea"/>
              </a:rPr>
              <a:t>(</a:t>
            </a:r>
            <a:r>
              <a:rPr kumimoji="1" lang="zh-CN" altLang="en-US" dirty="0">
                <a:sym typeface="+mn-ea"/>
              </a:rPr>
              <a:t>还没有读过的在开头；已经读过的在尾巴）</a:t>
            </a:r>
            <a:endParaRPr kumimoji="1" lang="en-US" altLang="zh-CN" dirty="0"/>
          </a:p>
          <a:p>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effectLst/>
                <a:sym typeface="+mn-ea"/>
              </a:rPr>
              <a:t>head</a:t>
            </a:r>
            <a:r>
              <a:rPr lang="zh-CN" altLang="en-US" dirty="0">
                <a:effectLst/>
                <a:sym typeface="+mn-ea"/>
              </a:rPr>
              <a:t>到</a:t>
            </a:r>
            <a:r>
              <a:rPr lang="en-US" altLang="zh-CN" dirty="0">
                <a:effectLst/>
                <a:sym typeface="+mn-ea"/>
              </a:rPr>
              <a:t>tail</a:t>
            </a:r>
            <a:r>
              <a:rPr lang="zh-CN" altLang="en-US" dirty="0">
                <a:effectLst/>
                <a:sym typeface="+mn-ea"/>
              </a:rPr>
              <a:t>表示当前等待读入的部分，所以</a:t>
            </a:r>
            <a:r>
              <a:rPr lang="en-US" altLang="zh-CN" dirty="0">
                <a:effectLst/>
                <a:sym typeface="+mn-ea"/>
              </a:rPr>
              <a:t>head</a:t>
            </a:r>
            <a:r>
              <a:rPr lang="zh-CN" altLang="en-US" dirty="0">
                <a:effectLst/>
                <a:sym typeface="+mn-ea"/>
              </a:rPr>
              <a:t>在后面；</a:t>
            </a:r>
            <a:endParaRPr lang="zh-CN" altLang="en-US" kern="1200" dirty="0">
              <a:solidFill>
                <a:schemeClr val="tx1"/>
              </a:solidFill>
              <a:effectLst/>
              <a:latin typeface="Arial" panose="020B0604020202020204" pitchFamily="34" charset="0"/>
              <a:ea typeface="宋体" panose="02010600030101010101" pitchFamily="2" charset="-122"/>
              <a:cs typeface="+mn-cs"/>
            </a:endParaRPr>
          </a:p>
          <a:p>
            <a:endParaRPr kumimoji="1" lang="zh-CN" altLang="en-US" dirty="0"/>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函数模板</a:t>
            </a:r>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t>25</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状态位？和缓冲区的差别，要彻底讲清楚？</a:t>
            </a:r>
            <a:endParaRPr kumimoji="1" lang="en-US" altLang="zh-CN" dirty="0"/>
          </a:p>
          <a:p>
            <a:r>
              <a:rPr kumimoji="1" lang="en-US" altLang="zh-CN" dirty="0"/>
              <a:t>clear:</a:t>
            </a:r>
            <a:r>
              <a:rPr kumimoji="1" lang="zh-CN" altLang="en-US" baseline="0" dirty="0"/>
              <a:t> 错误标志位、流末位标志；如果不调用可能导致如法输入。</a:t>
            </a:r>
            <a:endParaRPr kumimoji="1" lang="en-US" altLang="zh-CN" baseline="0" dirty="0"/>
          </a:p>
          <a:p>
            <a:r>
              <a:rPr lang="en-US" altLang="zh-CN" dirty="0" err="1"/>
              <a:t>goodbit</a:t>
            </a:r>
            <a:r>
              <a:rPr lang="en-US" altLang="zh-CN" dirty="0"/>
              <a:t>\</a:t>
            </a:r>
            <a:r>
              <a:rPr lang="en-US" altLang="zh-CN" dirty="0" err="1"/>
              <a:t>eofbit</a:t>
            </a:r>
            <a:r>
              <a:rPr lang="en-US" altLang="zh-CN" dirty="0"/>
              <a:t>\</a:t>
            </a:r>
            <a:r>
              <a:rPr lang="en-US" altLang="zh-CN" dirty="0" err="1"/>
              <a:t>failbit</a:t>
            </a:r>
            <a:r>
              <a:rPr lang="en-US" altLang="zh-CN" dirty="0"/>
              <a:t>\</a:t>
            </a:r>
            <a:r>
              <a:rPr lang="en-US" altLang="zh-CN" dirty="0" err="1"/>
              <a:t>badbit</a:t>
            </a:r>
          </a:p>
          <a:p>
            <a:endParaRPr kumimoji="1" lang="zh-CN" altLang="en-US" dirty="0"/>
          </a:p>
          <a:p>
            <a:r>
              <a:rPr lang="en-US" altLang="zh-CN" b="1" dirty="0" err="1">
                <a:latin typeface="Consolas" panose="020B0609020204030204" pitchFamily="49" charset="0"/>
                <a:sym typeface="+mn-ea"/>
              </a:rPr>
              <a:t>ss.clear</a:t>
            </a:r>
            <a:r>
              <a:rPr lang="en-US" altLang="zh-CN" b="1" dirty="0">
                <a:latin typeface="Consolas" panose="020B0609020204030204" pitchFamily="49" charset="0"/>
                <a:sym typeface="+mn-ea"/>
              </a:rPr>
              <a:t>()</a:t>
            </a:r>
            <a:r>
              <a:rPr lang="zh-CN" altLang="en-US" dirty="0">
                <a:latin typeface="Consolas" panose="020B0609020204030204" pitchFamily="49" charset="0"/>
                <a:sym typeface="+mn-ea"/>
              </a:rPr>
              <a:t>在</a:t>
            </a:r>
            <a:r>
              <a:rPr kumimoji="1" lang="zh-CN" altLang="en-US" dirty="0">
                <a:sym typeface="+mn-ea"/>
              </a:rPr>
              <a:t>stringstream中</a:t>
            </a:r>
            <a:r>
              <a:rPr lang="zh-CN" altLang="en-US" dirty="0">
                <a:latin typeface="Consolas" panose="020B0609020204030204" pitchFamily="49" charset="0"/>
                <a:sym typeface="+mn-ea"/>
              </a:rPr>
              <a:t>的功能</a:t>
            </a:r>
            <a:r>
              <a:rPr kumimoji="1" lang="zh-CN" altLang="en-US" dirty="0"/>
              <a:t>是</a:t>
            </a:r>
            <a:r>
              <a:rPr kumimoji="1" lang="zh-CN" altLang="en-US" dirty="0">
                <a:sym typeface="+mn-ea"/>
              </a:rPr>
              <a:t>用来清除流的错误状态，而</a:t>
            </a:r>
            <a:r>
              <a:rPr lang="en-US" altLang="zh-CN" b="1" dirty="0" err="1">
                <a:latin typeface="Consolas" panose="020B0609020204030204" pitchFamily="49" charset="0"/>
                <a:sym typeface="+mn-ea"/>
              </a:rPr>
              <a:t>ss.str</a:t>
            </a:r>
            <a:r>
              <a:rPr lang="en-US" altLang="zh-CN" b="1" dirty="0">
                <a:latin typeface="Consolas" panose="020B0609020204030204" pitchFamily="49" charset="0"/>
                <a:sym typeface="+mn-ea"/>
              </a:rPr>
              <a:t>("");</a:t>
            </a:r>
            <a:r>
              <a:rPr lang="en-US" altLang="zh-CN" dirty="0">
                <a:latin typeface="Consolas" panose="020B0609020204030204" pitchFamily="49" charset="0"/>
                <a:sym typeface="+mn-ea"/>
              </a:rPr>
              <a:t> </a:t>
            </a:r>
            <a:r>
              <a:rPr lang="zh-CN" altLang="en-US" dirty="0">
                <a:latin typeface="Consolas" panose="020B0609020204030204" pitchFamily="49" charset="0"/>
                <a:sym typeface="+mn-ea"/>
              </a:rPr>
              <a:t>才是清空缓冲区</a:t>
            </a:r>
            <a:endParaRPr kumimoji="1" lang="zh-CN" altLang="en-US" b="1" dirty="0"/>
          </a:p>
          <a:p>
            <a:r>
              <a:rPr kumimoji="1" lang="zh-CN" altLang="en-US" dirty="0"/>
              <a:t>stringstream继承自iostream，继承了标准输入输出流的很多特性，可以识别变量类型</a:t>
            </a:r>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t>26</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28</a:t>
            </a:fld>
            <a:endParaRPr lang="en-US" altLang="zh-CN"/>
          </a:p>
        </p:txBody>
      </p:sp>
    </p:spTree>
    <p:extLst>
      <p:ext uri="{BB962C8B-B14F-4D97-AF65-F5344CB8AC3E}">
        <p14:creationId xmlns:p14="http://schemas.microsoft.com/office/powerpoint/2010/main" val="41441523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kern="1200" dirty="0">
              <a:solidFill>
                <a:schemeClr val="tx1"/>
              </a:solidFill>
              <a:effectLst/>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30</a:t>
            </a:fld>
            <a:endParaRPr lang="en-US" altLang="zh-CN"/>
          </a:p>
        </p:txBody>
      </p:sp>
    </p:spTree>
    <p:extLst>
      <p:ext uri="{BB962C8B-B14F-4D97-AF65-F5344CB8AC3E}">
        <p14:creationId xmlns:p14="http://schemas.microsoft.com/office/powerpoint/2010/main" val="2426967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31</a:t>
            </a:fld>
            <a:endParaRPr lang="en-US" altLang="zh-CN"/>
          </a:p>
        </p:txBody>
      </p:sp>
    </p:spTree>
    <p:extLst>
      <p:ext uri="{BB962C8B-B14F-4D97-AF65-F5344CB8AC3E}">
        <p14:creationId xmlns:p14="http://schemas.microsoft.com/office/powerpoint/2010/main" val="1305064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33</a:t>
            </a:fld>
            <a:endParaRPr lang="en-US" altLang="zh-CN"/>
          </a:p>
        </p:txBody>
      </p:sp>
    </p:spTree>
    <p:extLst>
      <p:ext uri="{BB962C8B-B14F-4D97-AF65-F5344CB8AC3E}">
        <p14:creationId xmlns:p14="http://schemas.microsoft.com/office/powerpoint/2010/main" val="4065569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34</a:t>
            </a:fld>
            <a:endParaRPr lang="en-US" altLang="zh-CN"/>
          </a:p>
        </p:txBody>
      </p:sp>
    </p:spTree>
    <p:extLst>
      <p:ext uri="{BB962C8B-B14F-4D97-AF65-F5344CB8AC3E}">
        <p14:creationId xmlns:p14="http://schemas.microsoft.com/office/powerpoint/2010/main" val="11105904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36</a:t>
            </a:fld>
            <a:endParaRPr lang="en-US" altLang="zh-CN"/>
          </a:p>
        </p:txBody>
      </p:sp>
    </p:spTree>
    <p:extLst>
      <p:ext uri="{BB962C8B-B14F-4D97-AF65-F5344CB8AC3E}">
        <p14:creationId xmlns:p14="http://schemas.microsoft.com/office/powerpoint/2010/main" val="27460288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38</a:t>
            </a:fld>
            <a:endParaRPr lang="en-US" altLang="zh-CN"/>
          </a:p>
        </p:txBody>
      </p:sp>
    </p:spTree>
    <p:extLst>
      <p:ext uri="{BB962C8B-B14F-4D97-AF65-F5344CB8AC3E}">
        <p14:creationId xmlns:p14="http://schemas.microsoft.com/office/powerpoint/2010/main" val="3091625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Duck_typing</a:t>
            </a:r>
            <a:r>
              <a:rPr lang="zh-CN" altLang="en-US" dirty="0"/>
              <a:t>：   </a:t>
            </a:r>
            <a:r>
              <a:rPr lang="en-US" altLang="zh-CN" dirty="0"/>
              <a:t>https://en.wikipedia.org/wiki/Duck_typing</a:t>
            </a:r>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39</a:t>
            </a:fld>
            <a:endParaRPr lang="en-US" altLang="zh-CN"/>
          </a:p>
        </p:txBody>
      </p:sp>
    </p:spTree>
    <p:extLst>
      <p:ext uri="{BB962C8B-B14F-4D97-AF65-F5344CB8AC3E}">
        <p14:creationId xmlns:p14="http://schemas.microsoft.com/office/powerpoint/2010/main" val="2331427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第一个</a:t>
            </a:r>
            <a:r>
              <a:rPr lang="en-US" altLang="zh-CN" dirty="0"/>
              <a:t>Compare</a:t>
            </a:r>
            <a:r>
              <a:rPr lang="zh-CN" altLang="en-US" dirty="0"/>
              <a:t>是 函数指针  </a:t>
            </a:r>
            <a:r>
              <a:rPr lang="en-US" altLang="zh-CN" dirty="0"/>
              <a:t>bool (*)(</a:t>
            </a:r>
            <a:r>
              <a:rPr lang="en-US" altLang="zh-CN" dirty="0" err="1"/>
              <a:t>int,int</a:t>
            </a:r>
            <a:r>
              <a:rPr lang="en-US" altLang="zh-CN" dirty="0"/>
              <a:t>)</a:t>
            </a:r>
          </a:p>
          <a:p>
            <a:r>
              <a:rPr lang="zh-CN" altLang="en-US" dirty="0"/>
              <a:t>第二个</a:t>
            </a:r>
            <a:r>
              <a:rPr lang="en-US" altLang="zh-CN" dirty="0"/>
              <a:t>Compare</a:t>
            </a:r>
            <a:r>
              <a:rPr lang="zh-CN" altLang="en-US" dirty="0"/>
              <a:t>是 函数对象  </a:t>
            </a:r>
            <a:r>
              <a:rPr lang="en-US" altLang="zh-CN" dirty="0"/>
              <a:t>greater&lt;int&gt;</a:t>
            </a:r>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40</a:t>
            </a:fld>
            <a:endParaRPr lang="en-US" altLang="zh-CN"/>
          </a:p>
        </p:txBody>
      </p:sp>
    </p:spTree>
    <p:extLst>
      <p:ext uri="{BB962C8B-B14F-4D97-AF65-F5344CB8AC3E}">
        <p14:creationId xmlns:p14="http://schemas.microsoft.com/office/powerpoint/2010/main" val="4382064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41</a:t>
            </a:fld>
            <a:endParaRPr lang="en-US" altLang="zh-CN"/>
          </a:p>
        </p:txBody>
      </p:sp>
    </p:spTree>
    <p:extLst>
      <p:ext uri="{BB962C8B-B14F-4D97-AF65-F5344CB8AC3E}">
        <p14:creationId xmlns:p14="http://schemas.microsoft.com/office/powerpoint/2010/main" val="42300537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43</a:t>
            </a:fld>
            <a:endParaRPr lang="en-US" altLang="zh-CN"/>
          </a:p>
        </p:txBody>
      </p:sp>
    </p:spTree>
    <p:extLst>
      <p:ext uri="{BB962C8B-B14F-4D97-AF65-F5344CB8AC3E}">
        <p14:creationId xmlns:p14="http://schemas.microsoft.com/office/powerpoint/2010/main" val="38388817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44</a:t>
            </a:fld>
            <a:endParaRPr lang="en-US" altLang="zh-CN"/>
          </a:p>
        </p:txBody>
      </p:sp>
    </p:spTree>
    <p:extLst>
      <p:ext uri="{BB962C8B-B14F-4D97-AF65-F5344CB8AC3E}">
        <p14:creationId xmlns:p14="http://schemas.microsoft.com/office/powerpoint/2010/main" val="31305276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&lt;iostream&gt;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fstream</a:t>
            </a:r>
            <a:r>
              <a:rPr lang="en-US" altLang="zh-CN" sz="1200" b="0" kern="1200" dirty="0">
                <a:solidFill>
                  <a:schemeClr val="tx1"/>
                </a:solidFill>
                <a:effectLst/>
                <a:latin typeface="Arial" panose="020B0604020202020204" pitchFamily="34" charset="0"/>
                <a:ea typeface="宋体" panose="02010600030101010101" pitchFamily="2" charset="-122"/>
                <a:cs typeface="+mn-cs"/>
              </a:rPr>
              <a:t>&gt;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&lt;functional&gt;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&lt;string&gt;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using namespace std;</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input;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getline</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cin</a:t>
            </a:r>
            <a:r>
              <a:rPr lang="en-US" altLang="zh-CN" sz="1200" b="0" kern="1200" dirty="0">
                <a:solidFill>
                  <a:schemeClr val="tx1"/>
                </a:solidFill>
                <a:effectLst/>
                <a:latin typeface="Arial" panose="020B0604020202020204" pitchFamily="34" charset="0"/>
                <a:ea typeface="宋体" panose="02010600030101010101" pitchFamily="2" charset="-122"/>
                <a:cs typeface="+mn-cs"/>
              </a:rPr>
              <a:t>,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class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ReadFromFile</a:t>
            </a:r>
            <a:endParaRPr lang="en-US" altLang="zh-CN" sz="1200" b="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public:</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operator()(){</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getline</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ifstream</a:t>
            </a:r>
            <a:r>
              <a:rPr lang="en-US" altLang="zh-CN" sz="1200" b="0" kern="1200" dirty="0">
                <a:solidFill>
                  <a:schemeClr val="tx1"/>
                </a:solidFill>
                <a:effectLst/>
                <a:latin typeface="Arial" panose="020B0604020202020204" pitchFamily="34" charset="0"/>
                <a:ea typeface="宋体" panose="02010600030101010101" pitchFamily="2" charset="-122"/>
                <a:cs typeface="+mn-cs"/>
              </a:rPr>
              <a:t>("input.txt"),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template&lt;class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ReadFunc</a:t>
            </a:r>
            <a:r>
              <a:rPr lang="en-US" altLang="zh-CN" sz="1200" b="0" kern="1200" dirty="0">
                <a:solidFill>
                  <a:schemeClr val="tx1"/>
                </a:solidFill>
                <a:effectLst/>
                <a:latin typeface="Arial" panose="020B0604020202020204" pitchFamily="34" charset="0"/>
                <a:ea typeface="宋体" panose="02010600030101010101" pitchFamily="2" charset="-122"/>
                <a:cs typeface="+mn-cs"/>
              </a:rPr>
              <a:t>, class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CalFunc</a:t>
            </a:r>
            <a:r>
              <a:rPr lang="en-US" altLang="zh-CN" sz="1200" b="0" kern="1200" dirty="0">
                <a:solidFill>
                  <a:schemeClr val="tx1"/>
                </a:solidFill>
                <a:effectLst/>
                <a:latin typeface="Arial" panose="020B0604020202020204" pitchFamily="34" charset="0"/>
                <a:ea typeface="宋体" panose="02010600030101010101" pitchFamily="2" charset="-122"/>
                <a:cs typeface="+mn-cs"/>
              </a:rPr>
              <a:t>, class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WriteFunc</a:t>
            </a:r>
            <a:r>
              <a:rPr lang="en-US" altLang="zh-CN" sz="1200" b="0" kern="1200" dirty="0">
                <a:solidFill>
                  <a:schemeClr val="tx1"/>
                </a:solidFill>
                <a:effectLst/>
                <a:latin typeface="Arial" panose="020B0604020202020204" pitchFamily="34" charset="0"/>
                <a:ea typeface="宋体" panose="02010600030101010101" pitchFamily="2" charset="-122"/>
                <a:cs typeface="+mn-cs"/>
              </a:rPr>
              <a:t>&gt;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void process(</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ReadFunc</a:t>
            </a:r>
            <a:r>
              <a:rPr lang="en-US" altLang="zh-CN" sz="1200" b="0" kern="1200" dirty="0">
                <a:solidFill>
                  <a:schemeClr val="tx1"/>
                </a:solidFill>
                <a:effectLst/>
                <a:latin typeface="Arial" panose="020B0604020202020204" pitchFamily="34" charset="0"/>
                <a:ea typeface="宋体" panose="02010600030101010101" pitchFamily="2" charset="-122"/>
                <a:cs typeface="+mn-cs"/>
              </a:rPr>
              <a:t> read,</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CalFunc</a:t>
            </a:r>
            <a:r>
              <a:rPr lang="en-US" altLang="zh-CN" sz="1200" b="0" kern="1200" dirty="0">
                <a:solidFill>
                  <a:schemeClr val="tx1"/>
                </a:solidFill>
                <a:effectLst/>
                <a:latin typeface="Arial" panose="020B0604020202020204" pitchFamily="34" charset="0"/>
                <a:ea typeface="宋体" panose="02010600030101010101" pitchFamily="2" charset="-122"/>
                <a:cs typeface="+mn-cs"/>
              </a:rPr>
              <a:t> calculate,</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WriteFunc</a:t>
            </a:r>
            <a:r>
              <a:rPr lang="en-US" altLang="zh-CN" sz="1200" b="0" kern="1200" dirty="0">
                <a:solidFill>
                  <a:schemeClr val="tx1"/>
                </a:solidFill>
                <a:effectLst/>
                <a:latin typeface="Arial" panose="020B0604020202020204" pitchFamily="34" charset="0"/>
                <a:ea typeface="宋体" panose="02010600030101010101" pitchFamily="2" charset="-122"/>
                <a:cs typeface="+mn-cs"/>
              </a:rPr>
              <a:t> write)</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data = read();</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output = calculate(data);</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write(output);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calculateAdd</a:t>
            </a: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void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writeToScreen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cout</a:t>
            </a:r>
            <a:r>
              <a:rPr lang="en-US" altLang="zh-CN" sz="1200" b="0" kern="1200" dirty="0">
                <a:solidFill>
                  <a:schemeClr val="tx1"/>
                </a:solidFill>
                <a:effectLst/>
                <a:latin typeface="Arial" panose="020B0604020202020204" pitchFamily="34" charset="0"/>
                <a:ea typeface="宋体" panose="02010600030101010101" pitchFamily="2" charset="-122"/>
                <a:cs typeface="+mn-cs"/>
              </a:rPr>
              <a:t> &lt;&lt;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int main()</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process(</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calculateAdd</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writeToScreen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process(</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ReadFromFile</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calculateAdd</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writeToScreen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0;</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br>
              <a:rPr lang="en-US" altLang="zh-CN" sz="1200" b="0" kern="1200" dirty="0">
                <a:solidFill>
                  <a:schemeClr val="tx1"/>
                </a:solidFill>
                <a:effectLst/>
                <a:latin typeface="Arial" panose="020B0604020202020204" pitchFamily="34" charset="0"/>
                <a:ea typeface="宋体" panose="02010600030101010101" pitchFamily="2" charset="-122"/>
                <a:cs typeface="+mn-cs"/>
              </a:rPr>
            </a:br>
            <a:endParaRPr lang="en-US" altLang="zh-CN" sz="1200" b="0" kern="1200" dirty="0">
              <a:solidFill>
                <a:schemeClr val="tx1"/>
              </a:solidFill>
              <a:effectLst/>
              <a:latin typeface="Arial" panose="020B0604020202020204" pitchFamily="34"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49</a:t>
            </a:fld>
            <a:endParaRPr lang="en-US" altLang="zh-CN"/>
          </a:p>
        </p:txBody>
      </p:sp>
    </p:spTree>
    <p:extLst>
      <p:ext uri="{BB962C8B-B14F-4D97-AF65-F5344CB8AC3E}">
        <p14:creationId xmlns:p14="http://schemas.microsoft.com/office/powerpoint/2010/main" val="21507817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&lt;iostream&gt;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fstream</a:t>
            </a:r>
            <a:r>
              <a:rPr lang="en-US" altLang="zh-CN" sz="1200" b="0" kern="1200" dirty="0">
                <a:solidFill>
                  <a:schemeClr val="tx1"/>
                </a:solidFill>
                <a:effectLst/>
                <a:latin typeface="Arial" panose="020B0604020202020204" pitchFamily="34" charset="0"/>
                <a:ea typeface="宋体" panose="02010600030101010101" pitchFamily="2" charset="-122"/>
                <a:cs typeface="+mn-cs"/>
              </a:rPr>
              <a:t>&gt;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&lt;functional&gt;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#include &lt;string&gt;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using namespace std;</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input;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getline</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cin</a:t>
            </a:r>
            <a:r>
              <a:rPr lang="en-US" altLang="zh-CN" sz="1200" b="0" kern="1200" dirty="0">
                <a:solidFill>
                  <a:schemeClr val="tx1"/>
                </a:solidFill>
                <a:effectLst/>
                <a:latin typeface="Arial" panose="020B0604020202020204" pitchFamily="34" charset="0"/>
                <a:ea typeface="宋体" panose="02010600030101010101" pitchFamily="2" charset="-122"/>
                <a:cs typeface="+mn-cs"/>
              </a:rPr>
              <a:t>,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class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ReadFromFile</a:t>
            </a:r>
            <a:endParaRPr lang="en-US" altLang="zh-CN" sz="1200" b="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public:</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operator()(){</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getline</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ifstream</a:t>
            </a:r>
            <a:r>
              <a:rPr lang="en-US" altLang="zh-CN" sz="1200" b="0" kern="1200" dirty="0">
                <a:solidFill>
                  <a:schemeClr val="tx1"/>
                </a:solidFill>
                <a:effectLst/>
                <a:latin typeface="Arial" panose="020B0604020202020204" pitchFamily="34" charset="0"/>
                <a:ea typeface="宋体" panose="02010600030101010101" pitchFamily="2" charset="-122"/>
                <a:cs typeface="+mn-cs"/>
              </a:rPr>
              <a:t>("input.txt"),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input;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void process(</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function&lt;string()&gt; read,</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function&lt;string(string)&gt; calculate,</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function&lt;void(string)&gt; write)</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data = read();</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string output = calculate(data);</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write(output);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calculateAdd</a:t>
            </a: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void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writeToScreen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(string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cout</a:t>
            </a:r>
            <a:r>
              <a:rPr lang="en-US" altLang="zh-CN" sz="1200" b="0" kern="1200" dirty="0">
                <a:solidFill>
                  <a:schemeClr val="tx1"/>
                </a:solidFill>
                <a:effectLst/>
                <a:latin typeface="Arial" panose="020B0604020202020204" pitchFamily="34" charset="0"/>
                <a:ea typeface="宋体" panose="02010600030101010101" pitchFamily="2" charset="-122"/>
                <a:cs typeface="+mn-cs"/>
              </a:rPr>
              <a:t> &lt;&lt; x;</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br>
              <a:rPr lang="en-US" altLang="zh-CN" sz="1200" b="0" kern="1200" dirty="0">
                <a:solidFill>
                  <a:schemeClr val="tx1"/>
                </a:solidFill>
                <a:effectLst/>
                <a:latin typeface="Arial" panose="020B0604020202020204" pitchFamily="34" charset="0"/>
                <a:ea typeface="宋体" panose="02010600030101010101" pitchFamily="2" charset="-122"/>
                <a:cs typeface="+mn-cs"/>
              </a:rPr>
            </a:br>
            <a:r>
              <a:rPr lang="en-US" altLang="zh-CN" sz="1200" b="0" kern="1200" dirty="0">
                <a:solidFill>
                  <a:schemeClr val="tx1"/>
                </a:solidFill>
                <a:effectLst/>
                <a:latin typeface="Arial" panose="020B0604020202020204" pitchFamily="34" charset="0"/>
                <a:ea typeface="宋体" panose="02010600030101010101" pitchFamily="2" charset="-122"/>
                <a:cs typeface="+mn-cs"/>
              </a:rPr>
              <a:t>int main()</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process(</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calculateAdd</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writeToScreen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process(</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ReadFromFile</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calculateAdd</a:t>
            </a:r>
            <a:r>
              <a:rPr lang="en-US" altLang="zh-CN" sz="1200" b="0" kern="1200" dirty="0">
                <a:solidFill>
                  <a:schemeClr val="tx1"/>
                </a:solidFill>
                <a:effectLst/>
                <a:latin typeface="Arial" panose="020B0604020202020204" pitchFamily="34" charset="0"/>
                <a:ea typeface="宋体" panose="02010600030101010101" pitchFamily="2" charset="-122"/>
                <a:cs typeface="+mn-cs"/>
              </a:rPr>
              <a:t>, </a:t>
            </a:r>
            <a:r>
              <a:rPr lang="en-US" altLang="zh-CN" sz="1200" b="0" kern="1200" dirty="0" err="1">
                <a:solidFill>
                  <a:schemeClr val="tx1"/>
                </a:solidFill>
                <a:effectLst/>
                <a:latin typeface="Arial" panose="020B0604020202020204" pitchFamily="34" charset="0"/>
                <a:ea typeface="宋体" panose="02010600030101010101" pitchFamily="2" charset="-122"/>
                <a:cs typeface="+mn-cs"/>
              </a:rPr>
              <a:t>writeToScreen</a:t>
            </a:r>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    return 0;</a:t>
            </a:r>
          </a:p>
          <a:p>
            <a:r>
              <a:rPr lang="en-US" altLang="zh-CN" sz="1200" b="0" kern="1200" dirty="0">
                <a:solidFill>
                  <a:schemeClr val="tx1"/>
                </a:solidFill>
                <a:effectLst/>
                <a:latin typeface="Arial" panose="020B0604020202020204" pitchFamily="34" charset="0"/>
                <a:ea typeface="宋体" panose="02010600030101010101" pitchFamily="2" charset="-122"/>
                <a:cs typeface="+mn-cs"/>
              </a:rPr>
              <a:t>}</a:t>
            </a:r>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54</a:t>
            </a:fld>
            <a:endParaRPr lang="en-US" altLang="zh-CN"/>
          </a:p>
        </p:txBody>
      </p:sp>
    </p:spTree>
    <p:extLst>
      <p:ext uri="{BB962C8B-B14F-4D97-AF65-F5344CB8AC3E}">
        <p14:creationId xmlns:p14="http://schemas.microsoft.com/office/powerpoint/2010/main" val="3409917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60</a:t>
            </a:fld>
            <a:endParaRPr lang="en-US" altLang="zh-CN"/>
          </a:p>
        </p:txBody>
      </p:sp>
    </p:spTree>
    <p:extLst>
      <p:ext uri="{BB962C8B-B14F-4D97-AF65-F5344CB8AC3E}">
        <p14:creationId xmlns:p14="http://schemas.microsoft.com/office/powerpoint/2010/main" val="589719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61</a:t>
            </a:fld>
            <a:endParaRPr lang="en-US" altLang="zh-CN"/>
          </a:p>
        </p:txBody>
      </p:sp>
    </p:spTree>
    <p:extLst>
      <p:ext uri="{BB962C8B-B14F-4D97-AF65-F5344CB8AC3E}">
        <p14:creationId xmlns:p14="http://schemas.microsoft.com/office/powerpoint/2010/main" val="5473034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Val</a:t>
            </a:r>
            <a:r>
              <a:rPr lang="zh-CN" altLang="en-US" dirty="0"/>
              <a:t> 修改为</a:t>
            </a:r>
            <a:r>
              <a:rPr lang="en-US" altLang="zh-CN" dirty="0"/>
              <a:t>p</a:t>
            </a:r>
            <a:r>
              <a:rPr lang="zh-CN" altLang="en-US" dirty="0"/>
              <a:t>比较好？</a:t>
            </a:r>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66</a:t>
            </a:fld>
            <a:endParaRPr lang="en-US" altLang="zh-CN"/>
          </a:p>
        </p:txBody>
      </p:sp>
    </p:spTree>
    <p:extLst>
      <p:ext uri="{BB962C8B-B14F-4D97-AF65-F5344CB8AC3E}">
        <p14:creationId xmlns:p14="http://schemas.microsoft.com/office/powerpoint/2010/main" val="1321060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pA</a:t>
            </a:r>
            <a:r>
              <a:rPr lang="zh-CN" altLang="en-US" dirty="0"/>
              <a:t> </a:t>
            </a:r>
            <a:r>
              <a:rPr lang="en-US" altLang="zh-CN" dirty="0"/>
              <a:t>=</a:t>
            </a:r>
            <a:r>
              <a:rPr lang="zh-CN" altLang="en-US" dirty="0"/>
              <a:t> </a:t>
            </a:r>
            <a:r>
              <a:rPr lang="en-US" altLang="zh-CN" dirty="0" err="1"/>
              <a:t>pB</a:t>
            </a:r>
            <a:r>
              <a:rPr lang="zh-CN" altLang="en-US" dirty="0"/>
              <a:t>时；</a:t>
            </a:r>
            <a:endParaRPr lang="en-US" altLang="zh-CN" dirty="0"/>
          </a:p>
          <a:p>
            <a:r>
              <a:rPr lang="en-US" altLang="zh-CN" dirty="0" err="1"/>
              <a:t>pB</a:t>
            </a:r>
            <a:r>
              <a:rPr lang="zh-CN" altLang="en-US" dirty="0"/>
              <a:t>的</a:t>
            </a:r>
            <a:r>
              <a:rPr lang="en-US" altLang="zh-CN" dirty="0" err="1"/>
              <a:t>rp</a:t>
            </a:r>
            <a:r>
              <a:rPr lang="zh-CN" altLang="en-US" dirty="0"/>
              <a:t>引用计数应该增加（因为另外的指针 指向了它）；</a:t>
            </a:r>
            <a:endParaRPr lang="en-US" altLang="zh-CN" dirty="0"/>
          </a:p>
          <a:p>
            <a:r>
              <a:rPr lang="zh-CN" altLang="en-US" dirty="0"/>
              <a:t>同时</a:t>
            </a:r>
            <a:r>
              <a:rPr lang="en-US" altLang="zh-CN" dirty="0" err="1"/>
              <a:t>pA</a:t>
            </a:r>
            <a:r>
              <a:rPr lang="zh-CN" altLang="en-US" dirty="0"/>
              <a:t>从别的地方指向了新的地方，导致其原来</a:t>
            </a:r>
            <a:r>
              <a:rPr lang="en-US" altLang="zh-CN" dirty="0" err="1"/>
              <a:t>rp</a:t>
            </a:r>
            <a:r>
              <a:rPr lang="zh-CN" altLang="en-US" dirty="0"/>
              <a:t>的引用计数应该减少；</a:t>
            </a:r>
            <a:endParaRPr lang="en-US" altLang="zh-CN" dirty="0"/>
          </a:p>
          <a:p>
            <a:r>
              <a:rPr lang="zh-CN" altLang="en-US" dirty="0"/>
              <a:t>同时，如果其</a:t>
            </a:r>
            <a:r>
              <a:rPr lang="en-US" altLang="zh-CN" dirty="0"/>
              <a:t>count==0</a:t>
            </a:r>
            <a:r>
              <a:rPr lang="zh-CN" altLang="en-US" dirty="0"/>
              <a:t>，</a:t>
            </a:r>
            <a:r>
              <a:rPr lang="en-US" altLang="zh-CN" dirty="0" err="1"/>
              <a:t>rp</a:t>
            </a:r>
            <a:r>
              <a:rPr lang="zh-CN" altLang="en-US" dirty="0"/>
              <a:t>对象应该被删除。</a:t>
            </a:r>
            <a:endParaRPr lang="en-US" altLang="zh-CN"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67</a:t>
            </a:fld>
            <a:endParaRPr lang="en-US" altLang="zh-CN"/>
          </a:p>
        </p:txBody>
      </p:sp>
    </p:spTree>
    <p:extLst>
      <p:ext uri="{BB962C8B-B14F-4D97-AF65-F5344CB8AC3E}">
        <p14:creationId xmlns:p14="http://schemas.microsoft.com/office/powerpoint/2010/main" val="19295023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提示：数组的</a:t>
            </a:r>
            <a:r>
              <a:rPr lang="en-US" altLang="zh-CN" dirty="0"/>
              <a:t>delete</a:t>
            </a:r>
            <a:r>
              <a:rPr lang="zh-CN" altLang="en-US" dirty="0"/>
              <a:t>方式</a:t>
            </a:r>
            <a:r>
              <a:rPr lang="en-US" altLang="zh-CN" dirty="0"/>
              <a:t>;</a:t>
            </a:r>
            <a:r>
              <a:rPr lang="zh-CN" altLang="en-US" dirty="0"/>
              <a:t> 所有的实现都是</a:t>
            </a:r>
            <a:r>
              <a:rPr lang="en-US" altLang="zh-CN" dirty="0"/>
              <a:t>delete</a:t>
            </a:r>
            <a:r>
              <a:rPr lang="zh-CN" altLang="en-US" dirty="0"/>
              <a:t> </a:t>
            </a:r>
            <a:r>
              <a:rPr lang="en-US" altLang="zh-CN" dirty="0"/>
              <a:t>p;</a:t>
            </a:r>
          </a:p>
          <a:p>
            <a:r>
              <a:rPr kumimoji="1" lang="zh-CN" altLang="en-US" dirty="0"/>
              <a:t>删除数组需要</a:t>
            </a:r>
            <a:r>
              <a:rPr kumimoji="1" lang="en-US" altLang="zh-CN" dirty="0"/>
              <a:t>delete[]</a:t>
            </a:r>
            <a:r>
              <a:rPr kumimoji="1" lang="zh-CN" altLang="en-US" dirty="0"/>
              <a:t> </a:t>
            </a:r>
            <a:r>
              <a:rPr kumimoji="1" lang="en-US" altLang="zh-CN" dirty="0"/>
              <a:t>p;</a:t>
            </a:r>
            <a:endParaRPr kumimoji="1" lang="zh-CN" altLang="en-US" dirty="0"/>
          </a:p>
        </p:txBody>
      </p:sp>
      <p:sp>
        <p:nvSpPr>
          <p:cNvPr id="4" name="幻灯片编号占位符 3"/>
          <p:cNvSpPr>
            <a:spLocks noGrp="1"/>
          </p:cNvSpPr>
          <p:nvPr>
            <p:ph type="sldNum" sz="quarter" idx="10"/>
          </p:nvPr>
        </p:nvSpPr>
        <p:spPr/>
        <p:txBody>
          <a:bodyPr/>
          <a:lstStyle/>
          <a:p>
            <a:pPr>
              <a:defRPr/>
            </a:pPr>
            <a:fld id="{3C31A4FB-AB0B-4200-BC82-17C94E69ADE4}" type="slidenum">
              <a:rPr lang="en-US" altLang="zh-CN" smtClean="0"/>
              <a:pPr>
                <a:defRPr/>
              </a:pPr>
              <a:t>69</a:t>
            </a:fld>
            <a:endParaRPr lang="en-US" altLang="zh-CN"/>
          </a:p>
        </p:txBody>
      </p:sp>
    </p:spTree>
    <p:extLst>
      <p:ext uri="{BB962C8B-B14F-4D97-AF65-F5344CB8AC3E}">
        <p14:creationId xmlns:p14="http://schemas.microsoft.com/office/powerpoint/2010/main" val="15460274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pPr>
                <a:defRPr/>
              </a:pPr>
              <a:t>81</a:t>
            </a:fld>
            <a:endParaRPr lang="en-US" altLang="zh-CN"/>
          </a:p>
        </p:txBody>
      </p:sp>
    </p:spTree>
    <p:extLst>
      <p:ext uri="{BB962C8B-B14F-4D97-AF65-F5344CB8AC3E}">
        <p14:creationId xmlns:p14="http://schemas.microsoft.com/office/powerpoint/2010/main" val="29795928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3C31A4FB-AB0B-4200-BC82-17C94E69ADE4}" type="slidenum">
              <a:rPr lang="en-US" altLang="zh-CN" smtClean="0"/>
              <a:t>83</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87</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a:t>
            </a:r>
            <a:r>
              <a:rPr lang="en-US" altLang="zh-CN" dirty="0" err="1"/>
              <a:t>aeiou</a:t>
            </a:r>
            <a:r>
              <a:rPr lang="en-US" altLang="zh-CN" dirty="0"/>
              <a:t>] </a:t>
            </a:r>
            <a:r>
              <a:rPr lang="zh-CN" altLang="en-US" dirty="0"/>
              <a:t>匹配任意</a:t>
            </a:r>
            <a:r>
              <a:rPr lang="zh-CN" altLang="en-US" dirty="0">
                <a:solidFill>
                  <a:srgbClr val="FF0000"/>
                </a:solidFill>
              </a:rPr>
              <a:t>一个</a:t>
            </a:r>
            <a:r>
              <a:rPr lang="zh-CN" altLang="en-US" dirty="0"/>
              <a:t>元音字符</a:t>
            </a:r>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88</a:t>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en-GB" dirty="0" err="1">
                <a:latin typeface="Consolas" panose="020B0609020204030204" pitchFamily="49" charset="0"/>
                <a:sym typeface="+mn-ea"/>
              </a:rPr>
              <a:t>s</a:t>
            </a:r>
            <a:r>
              <a:rPr lang="en-GB" altLang="zh-CN" dirty="0" err="1">
                <a:latin typeface="Consolas" panose="020B0609020204030204" pitchFamily="49" charset="0"/>
                <a:sym typeface="+mn-ea"/>
              </a:rPr>
              <a:t>uffix</a:t>
            </a:r>
            <a:r>
              <a:rPr lang="en-GB" altLang="zh-CN" dirty="0">
                <a:latin typeface="Consolas" panose="020B0609020204030204" pitchFamily="49" charset="0"/>
                <a:sym typeface="+mn-ea"/>
              </a:rPr>
              <a:t>()</a:t>
            </a:r>
            <a:r>
              <a:rPr lang="zh-CN" altLang="en-GB" dirty="0">
                <a:latin typeface="Consolas" panose="020B0609020204030204" pitchFamily="49" charset="0"/>
                <a:sym typeface="+mn-ea"/>
              </a:rPr>
              <a:t>用于</a:t>
            </a:r>
            <a:r>
              <a:rPr lang="en-GB" altLang="zh-CN" dirty="0">
                <a:latin typeface="Consolas" panose="020B0609020204030204" pitchFamily="49" charset="0"/>
                <a:sym typeface="+mn-ea"/>
              </a:rPr>
              <a:t>获取每次匹配后的剩余字符串</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100</a:t>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分别匹配到两组：</a:t>
            </a:r>
            <a:endParaRPr lang="en-US" altLang="zh-CN" dirty="0"/>
          </a:p>
          <a:p>
            <a:r>
              <a:rPr lang="en-US" altLang="zh-CN" dirty="0"/>
              <a:t>Subject</a:t>
            </a:r>
            <a:r>
              <a:rPr lang="zh-CN" altLang="en-US" dirty="0"/>
              <a:t> </a:t>
            </a:r>
            <a:r>
              <a:rPr lang="en-US" altLang="zh-CN" dirty="0"/>
              <a:t>$1</a:t>
            </a:r>
            <a:r>
              <a:rPr lang="zh-CN" altLang="en-US" dirty="0"/>
              <a:t> </a:t>
            </a:r>
            <a:r>
              <a:rPr lang="en-US" altLang="zh-CN" dirty="0"/>
              <a:t>=</a:t>
            </a:r>
            <a:r>
              <a:rPr lang="zh-CN" altLang="en-US" dirty="0"/>
              <a:t> </a:t>
            </a:r>
            <a:r>
              <a:rPr lang="en-US" altLang="zh-CN" dirty="0"/>
              <a:t>sub</a:t>
            </a:r>
            <a:r>
              <a:rPr lang="zh-CN" altLang="en-US" dirty="0"/>
              <a:t> </a:t>
            </a:r>
            <a:r>
              <a:rPr lang="en-US" altLang="zh-CN" dirty="0"/>
              <a:t>$2=</a:t>
            </a:r>
            <a:r>
              <a:rPr lang="en-US" altLang="zh-CN" dirty="0" err="1"/>
              <a:t>ject</a:t>
            </a:r>
            <a:endParaRPr lang="en-US" altLang="zh-CN" dirty="0"/>
          </a:p>
          <a:p>
            <a:r>
              <a:rPr lang="en-US" altLang="zh-CN" dirty="0"/>
              <a:t>Submarine</a:t>
            </a:r>
            <a:r>
              <a:rPr lang="zh-CN" altLang="en-US" dirty="0"/>
              <a:t> </a:t>
            </a:r>
            <a:r>
              <a:rPr lang="en-US" altLang="zh-CN" dirty="0"/>
              <a:t>$1=</a:t>
            </a:r>
            <a:r>
              <a:rPr lang="zh-CN" altLang="en-US" dirty="0"/>
              <a:t> </a:t>
            </a:r>
            <a:r>
              <a:rPr lang="en-US" altLang="zh-CN" dirty="0"/>
              <a:t>sub</a:t>
            </a:r>
            <a:r>
              <a:rPr lang="zh-CN" altLang="en-US" dirty="0"/>
              <a:t> </a:t>
            </a:r>
            <a:r>
              <a:rPr lang="en-US" altLang="zh-CN" dirty="0"/>
              <a:t>$2=marine</a:t>
            </a:r>
          </a:p>
          <a:p>
            <a:r>
              <a:rPr lang="en-US" altLang="zh-CN" dirty="0"/>
              <a:t>$0=[$&amp;]</a:t>
            </a:r>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102</a:t>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每一个同学输出的信息的格式为：姓名</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生日</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电话号码</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邮箱，其中生日格式为</a:t>
            </a:r>
            <a:r>
              <a:rPr lang="en-GB" altLang="zh-CN" dirty="0" err="1"/>
              <a:t>yyyy.mm.dd</a:t>
            </a:r>
            <a:r>
              <a:rPr lang="zh-CN" altLang="en-GB"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当月份、日期数字小于</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10</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时，补全至两位数。</a:t>
            </a:r>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103</a:t>
            </a:fld>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t>104</a:t>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跟普通函数调用类似；</a:t>
            </a:r>
            <a:endParaRPr kumimoji="1" lang="en-US" altLang="zh-CN" dirty="0"/>
          </a:p>
          <a:p>
            <a:r>
              <a:rPr kumimoji="1" lang="zh-CN" altLang="en-US" dirty="0"/>
              <a:t>函数定义：</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en-US" altLang="zh-CN" sz="1200" b="1" dirty="0">
                <a:latin typeface="Consolas" panose="020B0609020204030204" pitchFamily="49" charset="0"/>
              </a:rPr>
              <a:t> func1(</a:t>
            </a:r>
            <a:r>
              <a:rPr lang="en-US" altLang="zh-CN" sz="1200" b="1" dirty="0" err="1">
                <a:latin typeface="Consolas" panose="020B0609020204030204" pitchFamily="49" charset="0"/>
              </a:rPr>
              <a:t>const</a:t>
            </a:r>
            <a:r>
              <a:rPr lang="en-US" altLang="zh-CN" sz="1200" b="1" dirty="0">
                <a:latin typeface="Consolas" panose="020B0609020204030204" pitchFamily="49" charset="0"/>
              </a:rPr>
              <a:t> </a:t>
            </a:r>
            <a:r>
              <a:rPr lang="en-US" altLang="zh-CN" sz="1200" b="1" dirty="0" err="1">
                <a:latin typeface="Consolas" panose="020B0609020204030204" pitchFamily="49" charset="0"/>
              </a:rPr>
              <a:t>int</a:t>
            </a:r>
            <a:r>
              <a:rPr lang="en-US" altLang="zh-CN" sz="1200" b="1" dirty="0">
                <a:latin typeface="Consolas" panose="020B0609020204030204" pitchFamily="49" charset="0"/>
              </a:rPr>
              <a:t> &amp;x, </a:t>
            </a:r>
            <a:r>
              <a:rPr lang="en-US" altLang="zh-CN" sz="1200" b="1" dirty="0" err="1">
                <a:latin typeface="Consolas" panose="020B0609020204030204" pitchFamily="49" charset="0"/>
              </a:rPr>
              <a:t>int</a:t>
            </a:r>
            <a:r>
              <a:rPr lang="en-US" altLang="zh-CN" sz="1200" b="1" dirty="0">
                <a:latin typeface="Consolas" panose="020B0609020204030204" pitchFamily="49" charset="0"/>
              </a:rPr>
              <a:t> &amp;b)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zh-CN" altLang="en-US" sz="1200" b="1" dirty="0">
                <a:latin typeface="Consolas" panose="020B0609020204030204" pitchFamily="49" charset="0"/>
              </a:rPr>
              <a:t> </a:t>
            </a:r>
            <a:r>
              <a:rPr lang="en-US" altLang="zh-CN" sz="1200" b="1" dirty="0" err="1">
                <a:latin typeface="Consolas" panose="020B0609020204030204" pitchFamily="49" charset="0"/>
              </a:rPr>
              <a:t>i</a:t>
            </a:r>
            <a:r>
              <a:rPr lang="en-US" altLang="zh-CN" sz="1200" b="1" dirty="0">
                <a:latin typeface="Consolas" panose="020B0609020204030204" pitchFamily="49" charset="0"/>
              </a:rPr>
              <a:t>=3;</a:t>
            </a:r>
            <a:r>
              <a:rPr lang="zh-CN" altLang="en-US" sz="1200" b="1" dirty="0">
                <a:latin typeface="Consolas" panose="020B0609020204030204" pitchFamily="49" charset="0"/>
              </a:rPr>
              <a:t> </a:t>
            </a:r>
            <a:endParaRPr lang="en-US" altLang="zh-CN" sz="1200" b="1" dirty="0">
              <a:latin typeface="Consolas" panose="020B0609020204030204" pitchFamily="49" charset="0"/>
            </a:endParaRPr>
          </a:p>
          <a:p>
            <a:r>
              <a:rPr kumimoji="1" lang="en-US" altLang="zh-CN" dirty="0"/>
              <a:t>Func1(</a:t>
            </a:r>
            <a:r>
              <a:rPr kumimoji="1" lang="en-US" altLang="zh-CN" dirty="0" err="1"/>
              <a:t>int,int</a:t>
            </a:r>
            <a:r>
              <a:rPr kumimoji="1" lang="en-US" altLang="zh-CN" dirty="0"/>
              <a:t>&amp;)</a:t>
            </a:r>
            <a:r>
              <a:rPr kumimoji="1" lang="zh-CN" altLang="en-US" dirty="0"/>
              <a:t>都可以调用</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113</a:t>
            </a:fld>
            <a:endParaRPr lang="en-US" altLang="zh-CN"/>
          </a:p>
        </p:txBody>
      </p:sp>
    </p:spTree>
    <p:extLst>
      <p:ext uri="{BB962C8B-B14F-4D97-AF65-F5344CB8AC3E}">
        <p14:creationId xmlns:p14="http://schemas.microsoft.com/office/powerpoint/2010/main" val="38938304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跟普通函数调用类似；</a:t>
            </a:r>
            <a:endParaRPr kumimoji="1" lang="en-US" altLang="zh-CN" dirty="0"/>
          </a:p>
          <a:p>
            <a:r>
              <a:rPr kumimoji="1" lang="zh-CN" altLang="en-US" dirty="0"/>
              <a:t>函数定义：</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en-US" altLang="zh-CN" sz="1200" b="1" dirty="0">
                <a:latin typeface="Consolas" panose="020B0609020204030204" pitchFamily="49" charset="0"/>
              </a:rPr>
              <a:t> func1(</a:t>
            </a:r>
            <a:r>
              <a:rPr lang="en-US" altLang="zh-CN" sz="1200" b="1" dirty="0" err="1">
                <a:latin typeface="Consolas" panose="020B0609020204030204" pitchFamily="49" charset="0"/>
              </a:rPr>
              <a:t>const</a:t>
            </a:r>
            <a:r>
              <a:rPr lang="en-US" altLang="zh-CN" sz="1200" b="1" dirty="0">
                <a:latin typeface="Consolas" panose="020B0609020204030204" pitchFamily="49" charset="0"/>
              </a:rPr>
              <a:t> </a:t>
            </a:r>
            <a:r>
              <a:rPr lang="en-US" altLang="zh-CN" sz="1200" b="1" dirty="0" err="1">
                <a:latin typeface="Consolas" panose="020B0609020204030204" pitchFamily="49" charset="0"/>
              </a:rPr>
              <a:t>int</a:t>
            </a:r>
            <a:r>
              <a:rPr lang="en-US" altLang="zh-CN" sz="1200" b="1" dirty="0">
                <a:latin typeface="Consolas" panose="020B0609020204030204" pitchFamily="49" charset="0"/>
              </a:rPr>
              <a:t> &amp;x, </a:t>
            </a:r>
            <a:r>
              <a:rPr lang="en-US" altLang="zh-CN" sz="1200" b="1" dirty="0" err="1">
                <a:latin typeface="Consolas" panose="020B0609020204030204" pitchFamily="49" charset="0"/>
              </a:rPr>
              <a:t>int</a:t>
            </a:r>
            <a:r>
              <a:rPr lang="en-US" altLang="zh-CN" sz="1200" b="1" dirty="0">
                <a:latin typeface="Consolas" panose="020B0609020204030204" pitchFamily="49" charset="0"/>
              </a:rPr>
              <a:t> &amp;b)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zh-CN" altLang="en-US" sz="1200" b="1" dirty="0">
                <a:latin typeface="Consolas" panose="020B0609020204030204" pitchFamily="49" charset="0"/>
              </a:rPr>
              <a:t> </a:t>
            </a:r>
            <a:r>
              <a:rPr lang="en-US" altLang="zh-CN" sz="1200" b="1" dirty="0" err="1">
                <a:latin typeface="Consolas" panose="020B0609020204030204" pitchFamily="49" charset="0"/>
              </a:rPr>
              <a:t>i</a:t>
            </a:r>
            <a:r>
              <a:rPr lang="en-US" altLang="zh-CN" sz="1200" b="1" dirty="0">
                <a:latin typeface="Consolas" panose="020B0609020204030204" pitchFamily="49" charset="0"/>
              </a:rPr>
              <a:t>=3;</a:t>
            </a:r>
            <a:r>
              <a:rPr lang="zh-CN" altLang="en-US" sz="1200" b="1" dirty="0">
                <a:latin typeface="Consolas" panose="020B0609020204030204" pitchFamily="49" charset="0"/>
              </a:rPr>
              <a:t> </a:t>
            </a:r>
            <a:endParaRPr lang="en-US" altLang="zh-CN" sz="1200" b="1" dirty="0">
              <a:latin typeface="Consolas" panose="020B0609020204030204" pitchFamily="49" charset="0"/>
            </a:endParaRPr>
          </a:p>
          <a:p>
            <a:r>
              <a:rPr kumimoji="1" lang="en-US" altLang="zh-CN" dirty="0"/>
              <a:t>Func1(</a:t>
            </a:r>
            <a:r>
              <a:rPr kumimoji="1" lang="en-US" altLang="zh-CN" dirty="0" err="1"/>
              <a:t>int,int</a:t>
            </a:r>
            <a:r>
              <a:rPr kumimoji="1" lang="en-US" altLang="zh-CN" dirty="0"/>
              <a:t>&amp;)</a:t>
            </a:r>
            <a:r>
              <a:rPr kumimoji="1" lang="zh-CN" altLang="en-US" dirty="0"/>
              <a:t>都可以调用</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116</a:t>
            </a:fld>
            <a:endParaRPr lang="en-US" altLang="zh-CN"/>
          </a:p>
        </p:txBody>
      </p:sp>
    </p:spTree>
    <p:extLst>
      <p:ext uri="{BB962C8B-B14F-4D97-AF65-F5344CB8AC3E}">
        <p14:creationId xmlns:p14="http://schemas.microsoft.com/office/powerpoint/2010/main" val="124955191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跟普通函数调用类似；</a:t>
            </a:r>
            <a:endParaRPr kumimoji="1" lang="en-US" altLang="zh-CN" dirty="0"/>
          </a:p>
          <a:p>
            <a:r>
              <a:rPr kumimoji="1" lang="zh-CN" altLang="en-US" dirty="0"/>
              <a:t>函数定义：</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en-US" altLang="zh-CN" sz="1200" b="1" dirty="0">
                <a:latin typeface="Consolas" panose="020B0609020204030204" pitchFamily="49" charset="0"/>
              </a:rPr>
              <a:t> func1(</a:t>
            </a:r>
            <a:r>
              <a:rPr lang="en-US" altLang="zh-CN" sz="1200" b="1" dirty="0" err="1">
                <a:latin typeface="Consolas" panose="020B0609020204030204" pitchFamily="49" charset="0"/>
              </a:rPr>
              <a:t>const</a:t>
            </a:r>
            <a:r>
              <a:rPr lang="en-US" altLang="zh-CN" sz="1200" b="1" dirty="0">
                <a:latin typeface="Consolas" panose="020B0609020204030204" pitchFamily="49" charset="0"/>
              </a:rPr>
              <a:t> </a:t>
            </a:r>
            <a:r>
              <a:rPr lang="en-US" altLang="zh-CN" sz="1200" b="1" dirty="0" err="1">
                <a:latin typeface="Consolas" panose="020B0609020204030204" pitchFamily="49" charset="0"/>
              </a:rPr>
              <a:t>int</a:t>
            </a:r>
            <a:r>
              <a:rPr lang="en-US" altLang="zh-CN" sz="1200" b="1" dirty="0">
                <a:latin typeface="Consolas" panose="020B0609020204030204" pitchFamily="49" charset="0"/>
              </a:rPr>
              <a:t> &amp;x, </a:t>
            </a:r>
            <a:r>
              <a:rPr lang="en-US" altLang="zh-CN" sz="1200" b="1" dirty="0" err="1">
                <a:latin typeface="Consolas" panose="020B0609020204030204" pitchFamily="49" charset="0"/>
              </a:rPr>
              <a:t>int</a:t>
            </a:r>
            <a:r>
              <a:rPr lang="en-US" altLang="zh-CN" sz="1200" b="1" dirty="0">
                <a:latin typeface="Consolas" panose="020B0609020204030204" pitchFamily="49" charset="0"/>
              </a:rPr>
              <a:t> &amp;b)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zh-CN" altLang="en-US" sz="1200" b="1" dirty="0">
                <a:latin typeface="Consolas" panose="020B0609020204030204" pitchFamily="49" charset="0"/>
              </a:rPr>
              <a:t> </a:t>
            </a:r>
            <a:r>
              <a:rPr lang="en-US" altLang="zh-CN" sz="1200" b="1" dirty="0" err="1">
                <a:latin typeface="Consolas" panose="020B0609020204030204" pitchFamily="49" charset="0"/>
              </a:rPr>
              <a:t>i</a:t>
            </a:r>
            <a:r>
              <a:rPr lang="en-US" altLang="zh-CN" sz="1200" b="1" dirty="0">
                <a:latin typeface="Consolas" panose="020B0609020204030204" pitchFamily="49" charset="0"/>
              </a:rPr>
              <a:t>=3;</a:t>
            </a:r>
            <a:r>
              <a:rPr lang="zh-CN" altLang="en-US" sz="1200" b="1" dirty="0">
                <a:latin typeface="Consolas" panose="020B0609020204030204" pitchFamily="49" charset="0"/>
              </a:rPr>
              <a:t> </a:t>
            </a:r>
            <a:endParaRPr lang="en-US" altLang="zh-CN" sz="1200" b="1" dirty="0">
              <a:latin typeface="Consolas" panose="020B0609020204030204" pitchFamily="49" charset="0"/>
            </a:endParaRPr>
          </a:p>
          <a:p>
            <a:r>
              <a:rPr kumimoji="1" lang="en-US" altLang="zh-CN" dirty="0"/>
              <a:t>Func1(</a:t>
            </a:r>
            <a:r>
              <a:rPr kumimoji="1" lang="en-US" altLang="zh-CN" dirty="0" err="1"/>
              <a:t>int,int</a:t>
            </a:r>
            <a:r>
              <a:rPr kumimoji="1" lang="en-US" altLang="zh-CN" dirty="0"/>
              <a:t>&amp;)</a:t>
            </a:r>
            <a:r>
              <a:rPr kumimoji="1" lang="zh-CN" altLang="en-US" dirty="0"/>
              <a:t>都可以调用</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117</a:t>
            </a:fld>
            <a:endParaRPr lang="en-US" altLang="zh-CN"/>
          </a:p>
        </p:txBody>
      </p:sp>
    </p:spTree>
    <p:extLst>
      <p:ext uri="{BB962C8B-B14F-4D97-AF65-F5344CB8AC3E}">
        <p14:creationId xmlns:p14="http://schemas.microsoft.com/office/powerpoint/2010/main" val="27345147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跟普通函数调用类似；</a:t>
            </a:r>
            <a:endParaRPr kumimoji="1" lang="en-US" altLang="zh-CN" dirty="0"/>
          </a:p>
          <a:p>
            <a:r>
              <a:rPr kumimoji="1" lang="zh-CN" altLang="en-US" dirty="0"/>
              <a:t>函数定义：</a:t>
            </a:r>
            <a:endParaRPr kumimoji="1"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en-US" altLang="zh-CN" sz="1200" b="1" dirty="0">
                <a:latin typeface="Consolas" panose="020B0609020204030204" pitchFamily="49" charset="0"/>
              </a:rPr>
              <a:t> func1(</a:t>
            </a:r>
            <a:r>
              <a:rPr lang="en-US" altLang="zh-CN" sz="1200" b="1" dirty="0" err="1">
                <a:latin typeface="Consolas" panose="020B0609020204030204" pitchFamily="49" charset="0"/>
              </a:rPr>
              <a:t>const</a:t>
            </a:r>
            <a:r>
              <a:rPr lang="en-US" altLang="zh-CN" sz="1200" b="1" dirty="0">
                <a:latin typeface="Consolas" panose="020B0609020204030204" pitchFamily="49" charset="0"/>
              </a:rPr>
              <a:t> </a:t>
            </a:r>
            <a:r>
              <a:rPr lang="en-US" altLang="zh-CN" sz="1200" b="1" dirty="0" err="1">
                <a:latin typeface="Consolas" panose="020B0609020204030204" pitchFamily="49" charset="0"/>
              </a:rPr>
              <a:t>int</a:t>
            </a:r>
            <a:r>
              <a:rPr lang="en-US" altLang="zh-CN" sz="1200" b="1" dirty="0">
                <a:latin typeface="Consolas" panose="020B0609020204030204" pitchFamily="49" charset="0"/>
              </a:rPr>
              <a:t> &amp;x, </a:t>
            </a:r>
            <a:r>
              <a:rPr lang="en-US" altLang="zh-CN" sz="1200" b="1" dirty="0" err="1">
                <a:latin typeface="Consolas" panose="020B0609020204030204" pitchFamily="49" charset="0"/>
              </a:rPr>
              <a:t>int</a:t>
            </a:r>
            <a:r>
              <a:rPr lang="en-US" altLang="zh-CN" sz="1200" b="1" dirty="0">
                <a:latin typeface="Consolas" panose="020B0609020204030204" pitchFamily="49" charset="0"/>
              </a:rPr>
              <a:t> &amp;b)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b="1" dirty="0" err="1">
                <a:latin typeface="Consolas" panose="020B0609020204030204" pitchFamily="49" charset="0"/>
              </a:rPr>
              <a:t>int</a:t>
            </a:r>
            <a:r>
              <a:rPr lang="zh-CN" altLang="en-US" sz="1200" b="1" dirty="0">
                <a:latin typeface="Consolas" panose="020B0609020204030204" pitchFamily="49" charset="0"/>
              </a:rPr>
              <a:t> </a:t>
            </a:r>
            <a:r>
              <a:rPr lang="en-US" altLang="zh-CN" sz="1200" b="1" dirty="0" err="1">
                <a:latin typeface="Consolas" panose="020B0609020204030204" pitchFamily="49" charset="0"/>
              </a:rPr>
              <a:t>i</a:t>
            </a:r>
            <a:r>
              <a:rPr lang="en-US" altLang="zh-CN" sz="1200" b="1" dirty="0">
                <a:latin typeface="Consolas" panose="020B0609020204030204" pitchFamily="49" charset="0"/>
              </a:rPr>
              <a:t>=3;</a:t>
            </a:r>
            <a:r>
              <a:rPr lang="zh-CN" altLang="en-US" sz="1200" b="1" dirty="0">
                <a:latin typeface="Consolas" panose="020B0609020204030204" pitchFamily="49" charset="0"/>
              </a:rPr>
              <a:t> </a:t>
            </a:r>
            <a:endParaRPr lang="en-US" altLang="zh-CN" sz="1200" b="1" dirty="0">
              <a:latin typeface="Consolas" panose="020B0609020204030204" pitchFamily="49" charset="0"/>
            </a:endParaRPr>
          </a:p>
          <a:p>
            <a:r>
              <a:rPr kumimoji="1" lang="en-US" altLang="zh-CN" dirty="0"/>
              <a:t>Func1(</a:t>
            </a:r>
            <a:r>
              <a:rPr kumimoji="1" lang="en-US" altLang="zh-CN" dirty="0" err="1"/>
              <a:t>int,int</a:t>
            </a:r>
            <a:r>
              <a:rPr kumimoji="1" lang="en-US" altLang="zh-CN" dirty="0"/>
              <a:t>&amp;)</a:t>
            </a:r>
            <a:r>
              <a:rPr kumimoji="1" lang="zh-CN" altLang="en-US" dirty="0"/>
              <a:t>都可以调用</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118</a:t>
            </a:fld>
            <a:endParaRPr lang="en-US" altLang="zh-CN"/>
          </a:p>
        </p:txBody>
      </p:sp>
    </p:spTree>
    <p:extLst>
      <p:ext uri="{BB962C8B-B14F-4D97-AF65-F5344CB8AC3E}">
        <p14:creationId xmlns:p14="http://schemas.microsoft.com/office/powerpoint/2010/main" val="20264401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121</a:t>
            </a:fld>
            <a:endParaRPr lang="en-US" altLang="zh-CN"/>
          </a:p>
        </p:txBody>
      </p:sp>
    </p:spTree>
    <p:extLst>
      <p:ext uri="{BB962C8B-B14F-4D97-AF65-F5344CB8AC3E}">
        <p14:creationId xmlns:p14="http://schemas.microsoft.com/office/powerpoint/2010/main" val="21026093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int&amp;(int)</a:t>
            </a:r>
            <a:r>
              <a:rPr lang="zh-CN" altLang="en-US" dirty="0"/>
              <a:t>也可以，这似乎有点违反规则，因为</a:t>
            </a:r>
            <a:r>
              <a:rPr lang="en-US" altLang="zh-CN" dirty="0"/>
              <a:t>int</a:t>
            </a:r>
            <a:r>
              <a:rPr lang="zh-CN" altLang="en-US" dirty="0"/>
              <a:t>无法直接传给</a:t>
            </a:r>
            <a:r>
              <a:rPr lang="en-US" altLang="zh-CN" dirty="0"/>
              <a:t>Func2()</a:t>
            </a:r>
          </a:p>
          <a:p>
            <a:r>
              <a:rPr lang="zh-CN" altLang="en-US" dirty="0"/>
              <a:t>但实际上，</a:t>
            </a:r>
            <a:r>
              <a:rPr lang="en-US" altLang="zh-CN" dirty="0"/>
              <a:t>pf2</a:t>
            </a:r>
            <a:r>
              <a:rPr lang="zh-CN" altLang="en-US" dirty="0"/>
              <a:t>的实现方式是拷贝了一份参数，然后将该参数的右值传给</a:t>
            </a:r>
            <a:r>
              <a:rPr lang="en-US" altLang="zh-CN" dirty="0"/>
              <a:t>Func2()</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123</a:t>
            </a:fld>
            <a:endParaRPr lang="en-US" altLang="zh-CN"/>
          </a:p>
        </p:txBody>
      </p:sp>
    </p:spTree>
    <p:extLst>
      <p:ext uri="{BB962C8B-B14F-4D97-AF65-F5344CB8AC3E}">
        <p14:creationId xmlns:p14="http://schemas.microsoft.com/office/powerpoint/2010/main" val="27304406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int&amp;(int)</a:t>
            </a:r>
            <a:r>
              <a:rPr lang="zh-CN" altLang="en-US" dirty="0"/>
              <a:t>也可以，这似乎有点违反规则，因为</a:t>
            </a:r>
            <a:r>
              <a:rPr lang="en-US" altLang="zh-CN" dirty="0"/>
              <a:t>int</a:t>
            </a:r>
            <a:r>
              <a:rPr lang="zh-CN" altLang="en-US" dirty="0"/>
              <a:t>无法直接传给</a:t>
            </a:r>
            <a:r>
              <a:rPr lang="en-US" altLang="zh-CN" dirty="0"/>
              <a:t>Func2()</a:t>
            </a:r>
          </a:p>
          <a:p>
            <a:r>
              <a:rPr lang="zh-CN" altLang="en-US" dirty="0"/>
              <a:t>但实际上，</a:t>
            </a:r>
            <a:r>
              <a:rPr lang="en-US" altLang="zh-CN" dirty="0"/>
              <a:t>pf2</a:t>
            </a:r>
            <a:r>
              <a:rPr lang="zh-CN" altLang="en-US" dirty="0"/>
              <a:t>的实现方式是拷贝了一份参数，然后将该参数的右值传给</a:t>
            </a:r>
            <a:r>
              <a:rPr lang="en-US" altLang="zh-CN" dirty="0"/>
              <a:t>Func2()</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3C31A4FB-AB0B-4200-BC82-17C94E69ADE4}" type="slidenum">
              <a:rPr lang="en-US" altLang="zh-CN" smtClean="0"/>
              <a:pPr>
                <a:defRPr/>
              </a:pPr>
              <a:t>124</a:t>
            </a:fld>
            <a:endParaRPr lang="en-US" altLang="zh-CN"/>
          </a:p>
        </p:txBody>
      </p:sp>
    </p:spTree>
    <p:extLst>
      <p:ext uri="{BB962C8B-B14F-4D97-AF65-F5344CB8AC3E}">
        <p14:creationId xmlns:p14="http://schemas.microsoft.com/office/powerpoint/2010/main" val="1022584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hasCustomPrompt="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5375CB7-C50A-49C3-BF10-448E10BBECBB}"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628650" y="1628800"/>
            <a:ext cx="8047806" cy="4749029"/>
          </a:xfrm>
        </p:spPr>
        <p:txBody>
          <a:bodyPr/>
          <a:lstStyle>
            <a:lvl1pPr marL="228600" indent="-228600">
              <a:buSzPct val="75000"/>
              <a:buFont typeface="Wingdings" panose="05000000000000000000" pitchFamily="2" charset="2"/>
              <a:buChar char="n"/>
              <a:defRPr b="1" baseline="0">
                <a:solidFill>
                  <a:srgbClr val="003366"/>
                </a:solidFill>
                <a:latin typeface="Consolas" panose="020B0609020204030204" pitchFamily="49" charset="0"/>
                <a:ea typeface="华文楷体" panose="02010600040101010101" pitchFamily="2" charset="-122"/>
              </a:defRPr>
            </a:lvl1pPr>
            <a:lvl2pPr>
              <a:defRPr baseline="0">
                <a:latin typeface="Consolas" panose="020B0609020204030204" pitchFamily="49" charset="0"/>
                <a:ea typeface="华文楷体" panose="02010600040101010101" pitchFamily="2" charset="-122"/>
              </a:defRPr>
            </a:lvl2pPr>
            <a:lvl3pPr>
              <a:defRPr baseline="0">
                <a:latin typeface="Consolas" panose="020B0609020204030204" pitchFamily="49" charset="0"/>
                <a:ea typeface="华文楷体" panose="02010600040101010101" pitchFamily="2" charset="-122"/>
              </a:defRPr>
            </a:lvl3pPr>
            <a:lvl4pPr>
              <a:defRPr baseline="0">
                <a:latin typeface="Consolas" panose="020B0609020204030204" pitchFamily="49" charset="0"/>
                <a:ea typeface="华文楷体" panose="02010600040101010101" pitchFamily="2" charset="-122"/>
              </a:defRPr>
            </a:lvl4pPr>
            <a:lvl5pPr>
              <a:defRPr baseline="0">
                <a:latin typeface="Consolas" panose="020B0609020204030204" pitchFamily="49" charset="0"/>
                <a:ea typeface="华文楷体" panose="02010600040101010101" pitchFamily="2" charset="-122"/>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6" name="Slide Number Placeholder 5"/>
          <p:cNvSpPr>
            <a:spLocks noGrp="1"/>
          </p:cNvSpPr>
          <p:nvPr>
            <p:ph type="sldNum" sz="quarter" idx="12"/>
          </p:nvPr>
        </p:nvSpPr>
        <p:spPr>
          <a:xfrm>
            <a:off x="6948264" y="6377830"/>
            <a:ext cx="2057400" cy="365125"/>
          </a:xfrm>
        </p:spPr>
        <p:txBody>
          <a:bodyPr/>
          <a:lstStyle>
            <a:lvl1pPr>
              <a:defRPr/>
            </a:lvl1pPr>
          </a:lstStyle>
          <a:p>
            <a:pPr>
              <a:defRPr/>
            </a:pPr>
            <a:fld id="{BFD7BE51-03DD-4CCA-8227-D775462981B4}"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56A36992-6990-409A-985D-C59BD1CB152B}"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hasCustomPrompt="1"/>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E8EEA948-DC3E-4FC8-BEDF-6D0D5F7E4CBF}"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hasCustomPrompt="1"/>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hasCustomPrompt="1"/>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hasCustomPrompt="1"/>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99D87F4C-F228-4387-9ECA-2FC048F220FE}"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20CAB157-5D5D-45D8-AA5F-3FBCA9A54B3E}" type="slidenum">
              <a:rPr lang="en-US" altLang="zh-CN"/>
              <a:t>‹#›</a:t>
            </a:fld>
            <a:endParaRPr lang="en-US" altLang="zh-CN"/>
          </a:p>
        </p:txBody>
      </p:sp>
      <p:sp>
        <p:nvSpPr>
          <p:cNvPr id="6" name="Title 1"/>
          <p:cNvSpPr>
            <a:spLocks noGrp="1"/>
          </p:cNvSpPr>
          <p:nvPr>
            <p:ph type="title"/>
          </p:nvPr>
        </p:nvSpPr>
        <p:spPr>
          <a:xfrm>
            <a:off x="179512" y="116632"/>
            <a:ext cx="7886700" cy="1325563"/>
          </a:xfrm>
        </p:spPr>
        <p:txBody>
          <a:bodyPr/>
          <a:lstStyle>
            <a:lvl1pPr>
              <a:defRPr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ltLang="zh-CN"/>
          </a:p>
        </p:txBody>
      </p:sp>
      <p:sp>
        <p:nvSpPr>
          <p:cNvPr id="3" name="Footer Placeholder 4"/>
          <p:cNvSpPr>
            <a:spLocks noGrp="1"/>
          </p:cNvSpPr>
          <p:nvPr>
            <p:ph type="ftr" sz="quarter" idx="11"/>
          </p:nvPr>
        </p:nvSpPr>
        <p:spPr/>
        <p:txBody>
          <a:bodyPr/>
          <a:lstStyle>
            <a:lvl1pPr>
              <a:defRPr/>
            </a:lvl1pPr>
          </a:lstStyle>
          <a:p>
            <a:pPr>
              <a:defRPr/>
            </a:pPr>
            <a:endParaRPr lang="en-US" altLang="zh-CN"/>
          </a:p>
        </p:txBody>
      </p:sp>
      <p:sp>
        <p:nvSpPr>
          <p:cNvPr id="4" name="Slide Number Placeholder 5"/>
          <p:cNvSpPr>
            <a:spLocks noGrp="1"/>
          </p:cNvSpPr>
          <p:nvPr>
            <p:ph type="sldNum" sz="quarter" idx="12"/>
          </p:nvPr>
        </p:nvSpPr>
        <p:spPr/>
        <p:txBody>
          <a:bodyPr/>
          <a:lstStyle>
            <a:lvl1pPr>
              <a:defRPr/>
            </a:lvl1pPr>
          </a:lstStyle>
          <a:p>
            <a:pPr>
              <a:defRPr/>
            </a:pPr>
            <a:fld id="{C34C3BD7-260C-4BC9-9C17-940D7F59C4D1}"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ACE6C39-29C4-400B-8A62-388FF04E56DD}"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noProof="0"/>
          </a:p>
        </p:txBody>
      </p:sp>
      <p:sp>
        <p:nvSpPr>
          <p:cNvPr id="4" name="Text Placeholder 3"/>
          <p:cNvSpPr>
            <a:spLocks noGrp="1"/>
          </p:cNvSpPr>
          <p:nvPr>
            <p:ph type="body" sz="half" idx="2" hasCustomPrompt="1"/>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65A6EBAE-B12E-4D6F-8E93-26479E22C411}"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E17DFA39-F49E-4E32-9F7F-DC3B6C5436DB}"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21A70E48-0FCB-4A72-B125-9E5A77787C51}"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28650" y="365125"/>
            <a:ext cx="7886700" cy="1325563"/>
          </a:xfrm>
          <a:prstGeom prst="rect">
            <a:avLst/>
          </a:prstGeom>
          <a:noFill/>
          <a:ln>
            <a:noFill/>
          </a:ln>
        </p:spPr>
        <p:txBody>
          <a:bodyPr vert="horz" wrap="square" lIns="91440" tIns="45720" rIns="91440" bIns="45720" numCol="1" anchor="ctr" anchorCtr="0" compatLnSpc="1"/>
          <a:lstStyle/>
          <a:p>
            <a:pPr lvl="0"/>
            <a:r>
              <a:rPr lang="zh-CN" altLang="en-US"/>
              <a:t>单击此处编辑母版标题样式</a:t>
            </a:r>
          </a:p>
        </p:txBody>
      </p:sp>
      <p:sp>
        <p:nvSpPr>
          <p:cNvPr id="1027" name="Text Placeholder 2"/>
          <p:cNvSpPr>
            <a:spLocks noGrp="1"/>
          </p:cNvSpPr>
          <p:nvPr>
            <p:ph type="body" idx="1"/>
          </p:nvPr>
        </p:nvSpPr>
        <p:spPr bwMode="auto">
          <a:xfrm>
            <a:off x="628650" y="1825625"/>
            <a:ext cx="7886700" cy="4351338"/>
          </a:xfrm>
          <a:prstGeom prst="rect">
            <a:avLst/>
          </a:prstGeom>
          <a:noFill/>
          <a:ln>
            <a:noFill/>
          </a:ln>
        </p:spPr>
        <p:txBody>
          <a:bodyPr vert="horz" wrap="square" lIns="91440" tIns="45720" rIns="91440" bIns="45720" numCol="1" anchor="t" anchorCtr="0" compatLnSpc="1"/>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ltLang="zh-C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E20A63EA-D302-4CF6-848F-ACE1D644E656}" type="slidenum">
              <a:rPr lang="en-US" altLang="zh-CN"/>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fontAlgn="base">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Consolas" panose="020B0609020204030204" pitchFamily="49" charset="0"/>
          <a:ea typeface="华文楷体" panose="02010600040101010101" pitchFamily="2" charset="-122"/>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Consolas" panose="020B0609020204030204" pitchFamily="49" charset="0"/>
          <a:ea typeface="华文楷体" panose="02010600040101010101" pitchFamily="2" charset="-122"/>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onsolas" panose="020B0609020204030204" pitchFamily="49" charset="0"/>
          <a:ea typeface="华文楷体" panose="02010600040101010101" pitchFamily="2" charset="-122"/>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Consolas" panose="020B0609020204030204" pitchFamily="49" charset="0"/>
          <a:ea typeface="华文楷体" panose="02010600040101010101" pitchFamily="2" charset="-122"/>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Consolas" panose="020B0609020204030204" pitchFamily="49" charset="0"/>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enju@tsinghua.edu.c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juren1987.githu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www.cplusplus.com/reference/ostream/ostream/operator%3c%3c/"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tags" Target="../tags/tag27.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tags" Target="../tags/tag26.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29" Type="http://schemas.openxmlformats.org/officeDocument/2006/relationships/image" Target="../media/image1.pn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28" Type="http://schemas.openxmlformats.org/officeDocument/2006/relationships/slideLayout" Target="../slideLayouts/slideLayout7.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 Id="rId27" Type="http://schemas.openxmlformats.org/officeDocument/2006/relationships/tags" Target="../tags/tag2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3" Type="http://schemas.openxmlformats.org/officeDocument/2006/relationships/tags" Target="../tags/tag41.xml"/><Relationship Id="rId18" Type="http://schemas.openxmlformats.org/officeDocument/2006/relationships/tags" Target="../tags/tag46.xml"/><Relationship Id="rId26" Type="http://schemas.openxmlformats.org/officeDocument/2006/relationships/tags" Target="../tags/tag54.xml"/><Relationship Id="rId21" Type="http://schemas.openxmlformats.org/officeDocument/2006/relationships/tags" Target="../tags/tag49.xml"/><Relationship Id="rId34" Type="http://schemas.openxmlformats.org/officeDocument/2006/relationships/tags" Target="../tags/tag62.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45.xml"/><Relationship Id="rId25" Type="http://schemas.openxmlformats.org/officeDocument/2006/relationships/tags" Target="../tags/tag53.xml"/><Relationship Id="rId33" Type="http://schemas.openxmlformats.org/officeDocument/2006/relationships/tags" Target="../tags/tag61.xml"/><Relationship Id="rId38" Type="http://schemas.openxmlformats.org/officeDocument/2006/relationships/notesSlide" Target="../notesSlides/notesSlide11.xml"/><Relationship Id="rId2" Type="http://schemas.openxmlformats.org/officeDocument/2006/relationships/tags" Target="../tags/tag30.xml"/><Relationship Id="rId16" Type="http://schemas.openxmlformats.org/officeDocument/2006/relationships/tags" Target="../tags/tag44.xml"/><Relationship Id="rId20" Type="http://schemas.openxmlformats.org/officeDocument/2006/relationships/tags" Target="../tags/tag48.xml"/><Relationship Id="rId29" Type="http://schemas.openxmlformats.org/officeDocument/2006/relationships/tags" Target="../tags/tag57.xml"/><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24" Type="http://schemas.openxmlformats.org/officeDocument/2006/relationships/tags" Target="../tags/tag52.xml"/><Relationship Id="rId32" Type="http://schemas.openxmlformats.org/officeDocument/2006/relationships/tags" Target="../tags/tag60.xml"/><Relationship Id="rId37" Type="http://schemas.openxmlformats.org/officeDocument/2006/relationships/slideLayout" Target="../slideLayouts/slideLayout2.xml"/><Relationship Id="rId5" Type="http://schemas.openxmlformats.org/officeDocument/2006/relationships/tags" Target="../tags/tag33.xml"/><Relationship Id="rId15" Type="http://schemas.openxmlformats.org/officeDocument/2006/relationships/tags" Target="../tags/tag43.xml"/><Relationship Id="rId23" Type="http://schemas.openxmlformats.org/officeDocument/2006/relationships/tags" Target="../tags/tag51.xml"/><Relationship Id="rId28" Type="http://schemas.openxmlformats.org/officeDocument/2006/relationships/tags" Target="../tags/tag56.xml"/><Relationship Id="rId36" Type="http://schemas.openxmlformats.org/officeDocument/2006/relationships/tags" Target="../tags/tag64.xml"/><Relationship Id="rId10" Type="http://schemas.openxmlformats.org/officeDocument/2006/relationships/tags" Target="../tags/tag38.xml"/><Relationship Id="rId19" Type="http://schemas.openxmlformats.org/officeDocument/2006/relationships/tags" Target="../tags/tag47.xml"/><Relationship Id="rId31" Type="http://schemas.openxmlformats.org/officeDocument/2006/relationships/tags" Target="../tags/tag59.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tags" Target="../tags/tag42.xml"/><Relationship Id="rId22" Type="http://schemas.openxmlformats.org/officeDocument/2006/relationships/tags" Target="../tags/tag50.xml"/><Relationship Id="rId27" Type="http://schemas.openxmlformats.org/officeDocument/2006/relationships/tags" Target="../tags/tag55.xml"/><Relationship Id="rId30" Type="http://schemas.openxmlformats.org/officeDocument/2006/relationships/tags" Target="../tags/tag58.xml"/><Relationship Id="rId35" Type="http://schemas.openxmlformats.org/officeDocument/2006/relationships/tags" Target="../tags/tag63.xml"/><Relationship Id="rId8" Type="http://schemas.openxmlformats.org/officeDocument/2006/relationships/tags" Target="../tags/tag36.xml"/><Relationship Id="rId3" Type="http://schemas.openxmlformats.org/officeDocument/2006/relationships/tags" Target="../tags/tag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cplusplus.com/reference/ios/ios/setstat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tags" Target="../tags/tag72.xml"/><Relationship Id="rId13" Type="http://schemas.openxmlformats.org/officeDocument/2006/relationships/tags" Target="../tags/tag77.xml"/><Relationship Id="rId18" Type="http://schemas.openxmlformats.org/officeDocument/2006/relationships/tags" Target="../tags/tag82.xml"/><Relationship Id="rId26" Type="http://schemas.openxmlformats.org/officeDocument/2006/relationships/tags" Target="../tags/tag90.xml"/><Relationship Id="rId3" Type="http://schemas.openxmlformats.org/officeDocument/2006/relationships/tags" Target="../tags/tag67.xml"/><Relationship Id="rId21" Type="http://schemas.openxmlformats.org/officeDocument/2006/relationships/tags" Target="../tags/tag85.xml"/><Relationship Id="rId7" Type="http://schemas.openxmlformats.org/officeDocument/2006/relationships/tags" Target="../tags/tag71.xml"/><Relationship Id="rId12" Type="http://schemas.openxmlformats.org/officeDocument/2006/relationships/tags" Target="../tags/tag76.xml"/><Relationship Id="rId17" Type="http://schemas.openxmlformats.org/officeDocument/2006/relationships/tags" Target="../tags/tag81.xml"/><Relationship Id="rId25" Type="http://schemas.openxmlformats.org/officeDocument/2006/relationships/tags" Target="../tags/tag89.xml"/><Relationship Id="rId2" Type="http://schemas.openxmlformats.org/officeDocument/2006/relationships/tags" Target="../tags/tag66.xml"/><Relationship Id="rId16" Type="http://schemas.openxmlformats.org/officeDocument/2006/relationships/tags" Target="../tags/tag80.xml"/><Relationship Id="rId20" Type="http://schemas.openxmlformats.org/officeDocument/2006/relationships/tags" Target="../tags/tag84.xml"/><Relationship Id="rId29" Type="http://schemas.openxmlformats.org/officeDocument/2006/relationships/image" Target="../media/image1.png"/><Relationship Id="rId1" Type="http://schemas.openxmlformats.org/officeDocument/2006/relationships/tags" Target="../tags/tag65.xml"/><Relationship Id="rId6" Type="http://schemas.openxmlformats.org/officeDocument/2006/relationships/tags" Target="../tags/tag70.xml"/><Relationship Id="rId11" Type="http://schemas.openxmlformats.org/officeDocument/2006/relationships/tags" Target="../tags/tag75.xml"/><Relationship Id="rId24" Type="http://schemas.openxmlformats.org/officeDocument/2006/relationships/tags" Target="../tags/tag88.xml"/><Relationship Id="rId5" Type="http://schemas.openxmlformats.org/officeDocument/2006/relationships/tags" Target="../tags/tag69.xml"/><Relationship Id="rId15" Type="http://schemas.openxmlformats.org/officeDocument/2006/relationships/tags" Target="../tags/tag79.xml"/><Relationship Id="rId23" Type="http://schemas.openxmlformats.org/officeDocument/2006/relationships/tags" Target="../tags/tag87.xml"/><Relationship Id="rId28" Type="http://schemas.openxmlformats.org/officeDocument/2006/relationships/slideLayout" Target="../slideLayouts/slideLayout7.xml"/><Relationship Id="rId10" Type="http://schemas.openxmlformats.org/officeDocument/2006/relationships/tags" Target="../tags/tag74.xml"/><Relationship Id="rId19" Type="http://schemas.openxmlformats.org/officeDocument/2006/relationships/tags" Target="../tags/tag83.xml"/><Relationship Id="rId4" Type="http://schemas.openxmlformats.org/officeDocument/2006/relationships/tags" Target="../tags/tag68.xml"/><Relationship Id="rId9" Type="http://schemas.openxmlformats.org/officeDocument/2006/relationships/tags" Target="../tags/tag73.xml"/><Relationship Id="rId14" Type="http://schemas.openxmlformats.org/officeDocument/2006/relationships/tags" Target="../tags/tag78.xml"/><Relationship Id="rId22" Type="http://schemas.openxmlformats.org/officeDocument/2006/relationships/tags" Target="../tags/tag86.xml"/><Relationship Id="rId27" Type="http://schemas.openxmlformats.org/officeDocument/2006/relationships/tags" Target="../tags/tag9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hyperlink" Target="http://www.cplusplus.com/reference/memory/" TargetMode="Externa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27732" y="1412776"/>
            <a:ext cx="8888536" cy="2952328"/>
          </a:xfrm>
        </p:spPr>
        <p:txBody>
          <a:bodyPr rtlCol="0" anchor="ctr">
            <a:normAutofit fontScale="90000"/>
          </a:bodyPr>
          <a:lstStyle/>
          <a:p>
            <a:pPr fontAlgn="auto">
              <a:lnSpc>
                <a:spcPct val="150000"/>
              </a:lnSpc>
              <a:spcAft>
                <a:spcPts val="0"/>
              </a:spcAft>
              <a:defRPr/>
            </a:pPr>
            <a:r>
              <a:rPr lang="en-US" altLang="zh-CN" b="1" dirty="0">
                <a:solidFill>
                  <a:srgbClr val="0066CC"/>
                </a:solidFill>
                <a:latin typeface="微软雅黑" panose="020B0503020204020204" pitchFamily="34" charset="-122"/>
                <a:ea typeface="微软雅黑" panose="020B0503020204020204" pitchFamily="34" charset="-122"/>
              </a:rPr>
              <a:t>STL</a:t>
            </a:r>
            <a:r>
              <a:rPr lang="zh-CN" altLang="en-US" b="1" dirty="0">
                <a:solidFill>
                  <a:srgbClr val="0066CC"/>
                </a:solidFill>
                <a:latin typeface="微软雅黑" panose="020B0503020204020204" pitchFamily="34" charset="-122"/>
                <a:ea typeface="微软雅黑" panose="020B0503020204020204" pitchFamily="34" charset="-122"/>
              </a:rPr>
              <a:t> </a:t>
            </a:r>
            <a:r>
              <a:rPr lang="zh-CN" altLang="en-US" dirty="0">
                <a:solidFill>
                  <a:srgbClr val="0066CC"/>
                </a:solidFill>
              </a:rPr>
              <a:t>：函数对象和智能指针</a:t>
            </a:r>
            <a:br>
              <a:rPr lang="zh-CN" altLang="en-US" b="1" dirty="0">
                <a:solidFill>
                  <a:srgbClr val="0066CC"/>
                </a:solidFill>
                <a:latin typeface="微软雅黑" panose="020B0503020204020204" pitchFamily="34" charset="-122"/>
                <a:ea typeface="微软雅黑" panose="020B0503020204020204" pitchFamily="34" charset="-122"/>
              </a:rPr>
            </a:br>
            <a:r>
              <a:rPr lang="zh-CN" altLang="en-US" dirty="0">
                <a:solidFill>
                  <a:srgbClr val="0066CC"/>
                </a:solidFill>
              </a:rPr>
              <a:t>（</a:t>
            </a:r>
            <a:r>
              <a:rPr lang="en-US" altLang="zh-CN" dirty="0">
                <a:solidFill>
                  <a:srgbClr val="0066CC"/>
                </a:solidFill>
              </a:rPr>
              <a:t>OOP</a:t>
            </a:r>
            <a:r>
              <a:rPr lang="zh-CN" altLang="en-US" dirty="0">
                <a:solidFill>
                  <a:srgbClr val="0066CC"/>
                </a:solidFill>
              </a:rPr>
              <a:t>）</a:t>
            </a:r>
            <a:endParaRPr lang="zh-CN" altLang="en-US" b="1" dirty="0">
              <a:solidFill>
                <a:srgbClr val="0066CC"/>
              </a:solidFill>
              <a:latin typeface="微软雅黑" panose="020B0503020204020204" pitchFamily="34" charset="-122"/>
              <a:ea typeface="微软雅黑" panose="020B0503020204020204" pitchFamily="34" charset="-122"/>
            </a:endParaRPr>
          </a:p>
        </p:txBody>
      </p:sp>
      <p:sp>
        <p:nvSpPr>
          <p:cNvPr id="4" name="副标题 2">
            <a:extLst>
              <a:ext uri="{FF2B5EF4-FFF2-40B4-BE49-F238E27FC236}">
                <a16:creationId xmlns:a16="http://schemas.microsoft.com/office/drawing/2014/main" id="{1C656841-5289-EE28-C490-1636B1DD4462}"/>
              </a:ext>
            </a:extLst>
          </p:cNvPr>
          <p:cNvSpPr txBox="1"/>
          <p:nvPr/>
        </p:nvSpPr>
        <p:spPr bwMode="auto">
          <a:xfrm>
            <a:off x="0" y="4509120"/>
            <a:ext cx="9144000" cy="2348880"/>
          </a:xfrm>
          <a:prstGeom prst="rect">
            <a:avLst/>
          </a:prstGeom>
          <a:noFill/>
          <a:ln>
            <a:noFill/>
          </a:ln>
        </p:spPr>
        <p:txBody>
          <a:bodyPr vert="horz" wrap="square" lIns="91440" tIns="45720" rIns="91440" bIns="45720" numCol="1" anchor="t" anchorCtr="0" compatLnSpc="1"/>
          <a:lstStyle>
            <a:lvl1pPr marL="0" indent="0" algn="ctr" rtl="0" eaLnBrk="1" fontAlgn="base" hangingPunct="1">
              <a:lnSpc>
                <a:spcPct val="90000"/>
              </a:lnSpc>
              <a:spcBef>
                <a:spcPts val="1000"/>
              </a:spcBef>
              <a:spcAft>
                <a:spcPct val="0"/>
              </a:spcAft>
              <a:buFont typeface="Arial" panose="020B0604020202020204" pitchFamily="34" charset="0"/>
              <a:buNone/>
              <a:defRPr sz="2400" kern="1200">
                <a:solidFill>
                  <a:schemeClr val="tx1"/>
                </a:solidFill>
                <a:latin typeface="Consolas" panose="020B0609020204030204" pitchFamily="49" charset="0"/>
                <a:ea typeface="华文楷体" panose="02010600040101010101" pitchFamily="2" charset="-122"/>
                <a:cs typeface="+mn-cs"/>
              </a:defRPr>
            </a:lvl1pPr>
            <a:lvl2pPr marL="457200" indent="0" algn="ctr" rtl="0" eaLnBrk="1" fontAlgn="base" hangingPunct="1">
              <a:lnSpc>
                <a:spcPct val="90000"/>
              </a:lnSpc>
              <a:spcBef>
                <a:spcPts val="500"/>
              </a:spcBef>
              <a:spcAft>
                <a:spcPct val="0"/>
              </a:spcAft>
              <a:buFont typeface="Arial" panose="020B0604020202020204" pitchFamily="34" charset="0"/>
              <a:buNone/>
              <a:defRPr sz="2000" kern="1200">
                <a:solidFill>
                  <a:schemeClr val="tx1"/>
                </a:solidFill>
                <a:latin typeface="Consolas" panose="020B0609020204030204" pitchFamily="49" charset="0"/>
                <a:ea typeface="华文楷体" panose="02010600040101010101" pitchFamily="2" charset="-122"/>
                <a:cs typeface="+mn-cs"/>
              </a:defRPr>
            </a:lvl2pPr>
            <a:lvl3pPr marL="914400" indent="0" algn="ctr" rtl="0" eaLnBrk="1" fontAlgn="base" hangingPunct="1">
              <a:lnSpc>
                <a:spcPct val="90000"/>
              </a:lnSpc>
              <a:spcBef>
                <a:spcPts val="500"/>
              </a:spcBef>
              <a:spcAft>
                <a:spcPct val="0"/>
              </a:spcAft>
              <a:buFont typeface="Arial" panose="020B0604020202020204" pitchFamily="34" charset="0"/>
              <a:buNone/>
              <a:defRPr sz="1800" kern="1200">
                <a:solidFill>
                  <a:schemeClr val="tx1"/>
                </a:solidFill>
                <a:latin typeface="Consolas" panose="020B0609020204030204" pitchFamily="49" charset="0"/>
                <a:ea typeface="华文楷体" panose="02010600040101010101" pitchFamily="2" charset="-122"/>
                <a:cs typeface="+mn-cs"/>
              </a:defRPr>
            </a:lvl3pPr>
            <a:lvl4pPr marL="13716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Consolas" panose="020B0609020204030204" pitchFamily="49" charset="0"/>
                <a:ea typeface="华文楷体" panose="02010600040101010101" pitchFamily="2" charset="-122"/>
                <a:cs typeface="+mn-cs"/>
              </a:defRPr>
            </a:lvl4pPr>
            <a:lvl5pPr marL="1828800" indent="0" algn="ctr" rtl="0" eaLnBrk="1" fontAlgn="base" hangingPunct="1">
              <a:lnSpc>
                <a:spcPct val="90000"/>
              </a:lnSpc>
              <a:spcBef>
                <a:spcPts val="500"/>
              </a:spcBef>
              <a:spcAft>
                <a:spcPct val="0"/>
              </a:spcAft>
              <a:buFont typeface="Arial" panose="020B0604020202020204" pitchFamily="34" charset="0"/>
              <a:buNone/>
              <a:defRPr sz="1600" kern="1200">
                <a:solidFill>
                  <a:schemeClr val="tx1"/>
                </a:solidFill>
                <a:latin typeface="Consolas" panose="020B0609020204030204" pitchFamily="49" charset="0"/>
                <a:ea typeface="华文楷体"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defTabSz="914400"/>
            <a:r>
              <a:rPr lang="zh-CN" altLang="en-US" sz="3600" b="1" dirty="0"/>
              <a:t>任炬</a:t>
            </a:r>
            <a:endParaRPr lang="en-US" altLang="zh-CN" sz="3600" b="1" dirty="0"/>
          </a:p>
          <a:p>
            <a:pPr defTabSz="914400"/>
            <a:r>
              <a:rPr lang="en-US" altLang="zh-CN" sz="2800" b="1" dirty="0">
                <a:hlinkClick r:id="rId3"/>
              </a:rPr>
              <a:t>renju@tsinghua.edu.cn</a:t>
            </a:r>
            <a:endParaRPr lang="en-US" altLang="zh-CN" sz="2800" b="1" dirty="0"/>
          </a:p>
          <a:p>
            <a:pPr defTabSz="914400"/>
            <a:r>
              <a:rPr lang="en-US" altLang="zh-CN" sz="2800" b="1" dirty="0">
                <a:hlinkClick r:id="rId4"/>
              </a:rPr>
              <a:t>https://juren1987.github.io</a:t>
            </a:r>
            <a:r>
              <a:rPr lang="zh-CN" altLang="en-US" sz="2800" b="1" dirty="0"/>
              <a:t>  </a:t>
            </a:r>
            <a:endParaRPr lang="en-US" altLang="zh-CN" sz="2800" b="1" dirty="0"/>
          </a:p>
          <a:p>
            <a:pPr defTabSz="914400"/>
            <a:r>
              <a:rPr lang="zh-CN" altLang="en-US" b="1" dirty="0"/>
              <a:t>课程团队：黄民烈 刘知远 任炬</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pPr fontAlgn="base">
              <a:spcAft>
                <a:spcPct val="0"/>
              </a:spcAft>
            </a:pPr>
            <a:r>
              <a:rPr lang="zh-CN" altLang="en-US" b="1" dirty="0">
                <a:latin typeface="微软雅黑" panose="020B0503020204020204" pitchFamily="34" charset="-122"/>
                <a:ea typeface="微软雅黑" panose="020B0503020204020204" pitchFamily="34" charset="-122"/>
              </a:rPr>
              <a:t>上期要点回顾</a:t>
            </a:r>
            <a:endParaRPr lang="en-US" b="1" dirty="0">
              <a:latin typeface="微软雅黑" panose="020B0503020204020204" pitchFamily="34" charset="-122"/>
              <a:ea typeface="微软雅黑" panose="020B0503020204020204" pitchFamily="34" charset="-122"/>
            </a:endParaRPr>
          </a:p>
        </p:txBody>
      </p:sp>
      <p:sp>
        <p:nvSpPr>
          <p:cNvPr id="4" name="内容占位符 3"/>
          <p:cNvSpPr>
            <a:spLocks noGrp="1"/>
          </p:cNvSpPr>
          <p:nvPr>
            <p:ph idx="1"/>
          </p:nvPr>
        </p:nvSpPr>
        <p:spPr/>
        <p:txBody>
          <a:bodyPr/>
          <a:lstStyle/>
          <a:p>
            <a:r>
              <a:rPr lang="zh-CN" altLang="en-US" dirty="0"/>
              <a:t> 命名空间</a:t>
            </a:r>
          </a:p>
          <a:p>
            <a:r>
              <a:rPr lang="en-US" altLang="zh-CN" dirty="0"/>
              <a:t> STL</a:t>
            </a:r>
            <a:r>
              <a:rPr lang="zh-CN" altLang="en-US" dirty="0"/>
              <a:t>初步</a:t>
            </a:r>
            <a:r>
              <a:rPr lang="en-US" altLang="zh-CN" dirty="0"/>
              <a:t>——</a:t>
            </a:r>
            <a:r>
              <a:rPr lang="zh-CN" altLang="en-US" dirty="0"/>
              <a:t>容器与迭代器</a:t>
            </a:r>
            <a:endParaRPr lang="en-US" altLang="zh-CN" dirty="0"/>
          </a:p>
          <a:p>
            <a:r>
              <a:rPr lang="en-US" altLang="zh-CN" dirty="0">
                <a:cs typeface="+mn-ea"/>
                <a:sym typeface="+mn-ea"/>
              </a:rPr>
              <a:t> string</a:t>
            </a:r>
            <a:r>
              <a:rPr lang="zh-CN" altLang="en-US" dirty="0">
                <a:cs typeface="+mn-ea"/>
                <a:sym typeface="+mn-ea"/>
              </a:rPr>
              <a:t>字符串类</a:t>
            </a:r>
          </a:p>
          <a:p>
            <a:pPr fontAlgn="base">
              <a:spcAft>
                <a:spcPct val="0"/>
              </a:spcAft>
              <a:buSzPct val="75000"/>
              <a:buFont typeface="Wingdings" panose="05000000000000000000" pitchFamily="2" charset="2"/>
              <a:buChar char="n"/>
            </a:pPr>
            <a:endParaRPr lang="zh-CN" altLang="en-US" b="1" dirty="0">
              <a:solidFill>
                <a:srgbClr val="003366"/>
              </a:solidFill>
              <a:latin typeface="Consolas" panose="020B0609020204030204" pitchFamily="49" charset="0"/>
              <a:ea typeface="华文楷体" panose="02010600040101010101" pitchFamily="2" charset="-122"/>
            </a:endParaRPr>
          </a:p>
        </p:txBody>
      </p:sp>
      <p:sp>
        <p:nvSpPr>
          <p:cNvPr id="2" name="幻灯片编号占位符 1"/>
          <p:cNvSpPr>
            <a:spLocks noGrp="1"/>
          </p:cNvSpPr>
          <p:nvPr>
            <p:ph type="sldNum" sz="quarter" idx="12"/>
          </p:nvPr>
        </p:nvSpPr>
        <p:spPr/>
        <p:txBody>
          <a:bodyPr/>
          <a:lstStyle/>
          <a:p>
            <a:pPr>
              <a:defRPr/>
            </a:pPr>
            <a:fld id="{C34C3BD7-260C-4BC9-9C17-940D7F59C4D1}" type="slidenum">
              <a:rPr lang="en-US" altLang="zh-CN"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本讲内容提要</a:t>
            </a:r>
            <a:endParaRPr lang="en-US" dirty="0"/>
          </a:p>
        </p:txBody>
      </p:sp>
      <p:sp>
        <p:nvSpPr>
          <p:cNvPr id="4" name="内容占位符 3"/>
          <p:cNvSpPr>
            <a:spLocks noGrp="1"/>
          </p:cNvSpPr>
          <p:nvPr>
            <p:ph idx="1"/>
          </p:nvPr>
        </p:nvSpPr>
        <p:spPr/>
        <p:txBody>
          <a:bodyPr/>
          <a:lstStyle/>
          <a:p>
            <a:r>
              <a:rPr lang="zh-CN" altLang="en-US" dirty="0"/>
              <a:t> </a:t>
            </a:r>
            <a:r>
              <a:rPr lang="en-US" altLang="zh-CN" dirty="0"/>
              <a:t>iostream</a:t>
            </a:r>
            <a:r>
              <a:rPr lang="zh-CN" altLang="en-US" dirty="0"/>
              <a:t>输入输出流</a:t>
            </a:r>
            <a:endParaRPr lang="en-US" altLang="zh-CN" dirty="0"/>
          </a:p>
          <a:p>
            <a:r>
              <a:rPr lang="zh-CN" altLang="en-US" dirty="0"/>
              <a:t> 函数对象</a:t>
            </a:r>
            <a:endParaRPr lang="en-US" altLang="zh-CN" dirty="0"/>
          </a:p>
          <a:p>
            <a:r>
              <a:rPr lang="en-US" altLang="zh-CN" dirty="0"/>
              <a:t> </a:t>
            </a:r>
            <a:r>
              <a:rPr lang="zh-CN" altLang="en-US" dirty="0"/>
              <a:t>智能指针与引用计数</a:t>
            </a:r>
            <a:endParaRPr lang="en-US" altLang="zh-CN" dirty="0"/>
          </a:p>
          <a:p>
            <a:r>
              <a:rPr lang="zh-CN" altLang="en-US" dirty="0"/>
              <a:t> 字符串处理与正则表达式（自学）</a:t>
            </a:r>
          </a:p>
        </p:txBody>
      </p:sp>
      <p:sp>
        <p:nvSpPr>
          <p:cNvPr id="2" name="幻灯片编号占位符 1"/>
          <p:cNvSpPr>
            <a:spLocks noGrp="1"/>
          </p:cNvSpPr>
          <p:nvPr>
            <p:ph type="sldNum" sz="quarter" idx="12"/>
          </p:nvPr>
        </p:nvSpPr>
        <p:spPr/>
        <p:txBody>
          <a:bodyPr/>
          <a:lstStyle/>
          <a:p>
            <a:pPr>
              <a:defRPr/>
            </a:pPr>
            <a:fld id="{C34C3BD7-260C-4BC9-9C17-940D7F59C4D1}" type="slidenum">
              <a:rPr lang="en-US" altLang="zh-CN" smtClean="0"/>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idx="4294967295"/>
          </p:nvPr>
        </p:nvSpPr>
        <p:spPr>
          <a:xfrm>
            <a:off x="683568" y="2564904"/>
            <a:ext cx="7772400" cy="1470025"/>
          </a:xfrm>
        </p:spPr>
        <p:txBody>
          <a:bodyPr/>
          <a:lstStyle/>
          <a:p>
            <a:pPr algn="ctr" eaLnBrk="1" hangingPunct="1"/>
            <a:r>
              <a:rPr lang="en-US" altLang="zh-CN"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ios</a:t>
            </a:r>
            <a:r>
              <a:rPr lang="en-US" altLang="zh-CN" sz="5400" b="1"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tream</a:t>
            </a:r>
            <a:br>
              <a:rPr lang="en-US" altLang="zh-CN"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输入输出流</a:t>
            </a:r>
            <a:endParaRPr lang="en-US" altLang="zh-CN" sz="5400" b="1"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579" name="灯片编号占位符 5"/>
          <p:cNvSpPr>
            <a:spLocks noGrp="1"/>
          </p:cNvSpPr>
          <p:nvPr>
            <p:ph type="sldNum" sz="quarter" idx="12"/>
          </p:nvPr>
        </p:nvSpPr>
        <p:spPr>
          <a:xfrm>
            <a:off x="6991350" y="6524625"/>
            <a:ext cx="2133600" cy="33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Char char="–"/>
              <a:defRPr sz="28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4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0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9pPr>
          </a:lstStyle>
          <a:p>
            <a:pPr>
              <a:spcBef>
                <a:spcPct val="0"/>
              </a:spcBef>
              <a:buFontTx/>
              <a:buNone/>
            </a:pPr>
            <a:fld id="{B6D092EB-5C25-4AA2-B2CD-B9A2BCD4DB8F}" type="slidenum">
              <a:rPr lang="en-US" altLang="zh-CN" sz="1400">
                <a:solidFill>
                  <a:schemeClr val="hlink"/>
                </a:solidFill>
                <a:ea typeface="宋体" panose="02010600030101010101" pitchFamily="2" charset="-122"/>
              </a:rPr>
              <a:t>4</a:t>
            </a:fld>
            <a:endParaRPr lang="en-US" altLang="zh-CN" sz="1400">
              <a:solidFill>
                <a:schemeClr val="hlink"/>
              </a:solidFill>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回忆：重载输出流运算符</a:t>
            </a:r>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err="1"/>
              <a:t>ostream</a:t>
            </a:r>
            <a:r>
              <a:rPr lang="zh-CN" altLang="en-US" dirty="0"/>
              <a:t>到底是什么？</a:t>
            </a:r>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5</a:t>
            </a:fld>
            <a:endParaRPr lang="en-US" altLang="zh-CN"/>
          </a:p>
        </p:txBody>
      </p:sp>
      <p:sp>
        <p:nvSpPr>
          <p:cNvPr id="5" name="文本框 4"/>
          <p:cNvSpPr txBox="1"/>
          <p:nvPr/>
        </p:nvSpPr>
        <p:spPr>
          <a:xfrm>
            <a:off x="339593" y="1484784"/>
            <a:ext cx="8680581" cy="3477875"/>
          </a:xfrm>
          <a:prstGeom prst="rect">
            <a:avLst/>
          </a:prstGeom>
          <a:noFill/>
        </p:spPr>
        <p:txBody>
          <a:bodyPr wrap="none" rtlCol="0">
            <a:spAutoFit/>
          </a:bodyPr>
          <a:lstStyle/>
          <a:p>
            <a:r>
              <a:rPr lang="en-US" altLang="zh-CN" sz="2400" b="1" dirty="0" err="1">
                <a:solidFill>
                  <a:srgbClr val="008000"/>
                </a:solidFill>
                <a:latin typeface="Consolas" panose="020B0609020204030204" pitchFamily="49" charset="0"/>
              </a:rPr>
              <a:t>cout</a:t>
            </a:r>
            <a:r>
              <a:rPr lang="zh-CN" altLang="en-US" sz="2400" b="1" dirty="0">
                <a:solidFill>
                  <a:srgbClr val="008000"/>
                </a:solidFill>
                <a:latin typeface="Consolas" panose="020B0609020204030204" pitchFamily="49" charset="0"/>
              </a:rPr>
              <a:t> </a:t>
            </a:r>
            <a:r>
              <a:rPr lang="en-US" altLang="zh-CN" sz="2400" b="1" dirty="0">
                <a:solidFill>
                  <a:srgbClr val="008000"/>
                </a:solidFill>
                <a:latin typeface="Consolas" panose="020B0609020204030204" pitchFamily="49" charset="0"/>
              </a:rPr>
              <a:t>&lt;&lt;</a:t>
            </a:r>
            <a:r>
              <a:rPr lang="zh-CN" altLang="en-US" sz="2400" b="1" dirty="0">
                <a:solidFill>
                  <a:srgbClr val="008000"/>
                </a:solidFill>
                <a:latin typeface="Consolas" panose="020B0609020204030204" pitchFamily="49" charset="0"/>
              </a:rPr>
              <a:t> </a:t>
            </a:r>
            <a:r>
              <a:rPr lang="en-US" altLang="zh-CN" sz="2400" b="1" dirty="0" err="1">
                <a:solidFill>
                  <a:srgbClr val="008000"/>
                </a:solidFill>
                <a:latin typeface="Consolas" panose="020B0609020204030204" pitchFamily="49" charset="0"/>
              </a:rPr>
              <a:t>str</a:t>
            </a:r>
            <a:r>
              <a:rPr lang="zh-CN" altLang="en-US" sz="2400" b="1" dirty="0">
                <a:solidFill>
                  <a:srgbClr val="008000"/>
                </a:solidFill>
                <a:latin typeface="Consolas" panose="020B0609020204030204" pitchFamily="49" charset="0"/>
              </a:rPr>
              <a:t> </a:t>
            </a:r>
            <a:r>
              <a:rPr lang="en-US" altLang="zh-CN" sz="2400" b="1" dirty="0">
                <a:solidFill>
                  <a:srgbClr val="008000"/>
                </a:solidFill>
                <a:latin typeface="Consolas" panose="020B0609020204030204" pitchFamily="49" charset="0"/>
              </a:rPr>
              <a:t>&lt;&lt;</a:t>
            </a:r>
            <a:r>
              <a:rPr lang="zh-CN" altLang="en-US" sz="2400" b="1" dirty="0">
                <a:solidFill>
                  <a:srgbClr val="008000"/>
                </a:solidFill>
                <a:latin typeface="Consolas" panose="020B0609020204030204" pitchFamily="49" charset="0"/>
              </a:rPr>
              <a:t> </a:t>
            </a:r>
            <a:r>
              <a:rPr lang="en-US" altLang="zh-CN" sz="2400" b="1" dirty="0" err="1">
                <a:solidFill>
                  <a:srgbClr val="008000"/>
                </a:solidFill>
                <a:latin typeface="Consolas" panose="020B0609020204030204" pitchFamily="49" charset="0"/>
              </a:rPr>
              <a:t>endl</a:t>
            </a:r>
            <a:r>
              <a:rPr lang="en-US" altLang="zh-CN" sz="2400" b="1" dirty="0">
                <a:solidFill>
                  <a:srgbClr val="008000"/>
                </a:solidFill>
                <a:latin typeface="Consolas" panose="020B0609020204030204" pitchFamily="49" charset="0"/>
              </a:rPr>
              <a:t>;</a:t>
            </a:r>
          </a:p>
          <a:p>
            <a:r>
              <a:rPr lang="en-US" altLang="zh-CN" sz="2400" b="1" dirty="0" err="1">
                <a:solidFill>
                  <a:srgbClr val="008000"/>
                </a:solidFill>
                <a:latin typeface="Consolas" panose="020B0609020204030204" pitchFamily="49" charset="0"/>
              </a:rPr>
              <a:t>cin</a:t>
            </a:r>
            <a:r>
              <a:rPr lang="zh-CN" altLang="en-US" sz="2400" b="1" dirty="0">
                <a:solidFill>
                  <a:srgbClr val="008000"/>
                </a:solidFill>
                <a:latin typeface="Consolas" panose="020B0609020204030204" pitchFamily="49" charset="0"/>
              </a:rPr>
              <a:t> </a:t>
            </a:r>
            <a:r>
              <a:rPr lang="en-US" altLang="zh-CN" sz="2400" b="1" dirty="0">
                <a:solidFill>
                  <a:srgbClr val="008000"/>
                </a:solidFill>
                <a:latin typeface="Consolas" panose="020B0609020204030204" pitchFamily="49" charset="0"/>
              </a:rPr>
              <a:t>&gt;&gt;</a:t>
            </a:r>
            <a:r>
              <a:rPr lang="zh-CN" altLang="en-US" sz="2400" b="1" dirty="0">
                <a:solidFill>
                  <a:srgbClr val="008000"/>
                </a:solidFill>
                <a:latin typeface="Consolas" panose="020B0609020204030204" pitchFamily="49" charset="0"/>
              </a:rPr>
              <a:t> </a:t>
            </a:r>
            <a:r>
              <a:rPr lang="en-US" altLang="zh-CN" sz="2400" b="1" dirty="0" err="1">
                <a:solidFill>
                  <a:srgbClr val="008000"/>
                </a:solidFill>
                <a:latin typeface="Consolas" panose="020B0609020204030204" pitchFamily="49" charset="0"/>
              </a:rPr>
              <a:t>str</a:t>
            </a:r>
            <a:r>
              <a:rPr lang="en-US" altLang="zh-CN" sz="2400" b="1" dirty="0">
                <a:solidFill>
                  <a:srgbClr val="008000"/>
                </a:solidFill>
                <a:latin typeface="Consolas" panose="020B0609020204030204" pitchFamily="49" charset="0"/>
              </a:rPr>
              <a:t>;</a:t>
            </a:r>
          </a:p>
          <a:p>
            <a:endParaRPr lang="pl-PL" altLang="zh-CN" sz="2400" b="1" dirty="0">
              <a:solidFill>
                <a:srgbClr val="000000"/>
              </a:solidFill>
              <a:latin typeface="Consolas" panose="020B0609020204030204" pitchFamily="49" charset="0"/>
            </a:endParaRPr>
          </a:p>
          <a:p>
            <a:r>
              <a:rPr lang="pl-PL" altLang="zh-CN" sz="2400" b="1" dirty="0" err="1">
                <a:solidFill>
                  <a:srgbClr val="000000"/>
                </a:solidFill>
                <a:latin typeface="Consolas" panose="020B0609020204030204" pitchFamily="49" charset="0"/>
              </a:rPr>
              <a:t>ostream</a:t>
            </a:r>
            <a:r>
              <a:rPr lang="pl-PL" altLang="zh-CN" sz="2400" b="1" dirty="0">
                <a:solidFill>
                  <a:srgbClr val="000000"/>
                </a:solidFill>
                <a:latin typeface="Consolas" panose="020B0609020204030204" pitchFamily="49" charset="0"/>
              </a:rPr>
              <a:t>&amp; </a:t>
            </a:r>
            <a:r>
              <a:rPr lang="pl-PL" altLang="zh-CN" sz="2400" b="1" dirty="0">
                <a:solidFill>
                  <a:srgbClr val="B40062"/>
                </a:solidFill>
                <a:latin typeface="Consolas" panose="020B0609020204030204" pitchFamily="49" charset="0"/>
              </a:rPr>
              <a:t>operator</a:t>
            </a:r>
            <a:r>
              <a:rPr lang="pl-PL" altLang="zh-CN" sz="2400" b="1" dirty="0">
                <a:solidFill>
                  <a:srgbClr val="000000"/>
                </a:solidFill>
                <a:latin typeface="Consolas" panose="020B0609020204030204" pitchFamily="49" charset="0"/>
              </a:rPr>
              <a:t>&lt;&lt;(ostream&amp; out, </a:t>
            </a:r>
            <a:r>
              <a:rPr lang="pl-PL" altLang="zh-CN" sz="2400" b="1" dirty="0">
                <a:solidFill>
                  <a:srgbClr val="B40062"/>
                </a:solidFill>
                <a:latin typeface="Consolas" panose="020B0609020204030204" pitchFamily="49" charset="0"/>
              </a:rPr>
              <a:t>const</a:t>
            </a:r>
            <a:r>
              <a:rPr lang="pl-PL" altLang="zh-CN" sz="2400" b="1" dirty="0">
                <a:solidFill>
                  <a:srgbClr val="000000"/>
                </a:solidFill>
                <a:latin typeface="Consolas" panose="020B0609020204030204" pitchFamily="49" charset="0"/>
              </a:rPr>
              <a:t> Test&amp; src)</a:t>
            </a:r>
            <a:endParaRPr lang="en-US" altLang="zh-CN" sz="2400" b="1" dirty="0">
              <a:solidFill>
                <a:srgbClr val="000000"/>
              </a:solidFill>
              <a:latin typeface="Consolas" panose="020B0609020204030204" pitchFamily="49" charset="0"/>
            </a:endParaRPr>
          </a:p>
          <a:p>
            <a:r>
              <a:rPr lang="pl-PL" altLang="zh-CN" sz="2400" b="1" dirty="0">
                <a:solidFill>
                  <a:srgbClr val="000000"/>
                </a:solidFill>
                <a:latin typeface="Consolas" panose="020B0609020204030204" pitchFamily="49" charset="0"/>
              </a:rPr>
              <a:t>{</a:t>
            </a:r>
          </a:p>
          <a:p>
            <a:r>
              <a:rPr lang="pl-PL" altLang="zh-CN" sz="2400" b="1" dirty="0">
                <a:solidFill>
                  <a:srgbClr val="000000"/>
                </a:solidFill>
                <a:latin typeface="Consolas" panose="020B0609020204030204" pitchFamily="49" charset="0"/>
              </a:rPr>
              <a:t>	out &lt;&lt; src.id &lt;&lt; endl;</a:t>
            </a:r>
          </a:p>
          <a:p>
            <a:r>
              <a:rPr lang="pl-PL" altLang="zh-CN" sz="2400" b="1" dirty="0">
                <a:solidFill>
                  <a:srgbClr val="000000"/>
                </a:solidFill>
                <a:latin typeface="Consolas" panose="020B0609020204030204" pitchFamily="49" charset="0"/>
              </a:rPr>
              <a:t>	</a:t>
            </a:r>
            <a:r>
              <a:rPr lang="pl-PL" altLang="zh-CN" sz="2400" b="1" dirty="0">
                <a:solidFill>
                  <a:srgbClr val="B40062"/>
                </a:solidFill>
                <a:latin typeface="Consolas" panose="020B0609020204030204" pitchFamily="49" charset="0"/>
              </a:rPr>
              <a:t>return</a:t>
            </a:r>
            <a:r>
              <a:rPr lang="pl-PL" altLang="zh-CN" sz="2400" b="1" dirty="0">
                <a:solidFill>
                  <a:srgbClr val="000000"/>
                </a:solidFill>
                <a:latin typeface="Consolas" panose="020B0609020204030204" pitchFamily="49" charset="0"/>
              </a:rPr>
              <a:t> out;</a:t>
            </a:r>
          </a:p>
          <a:p>
            <a:r>
              <a:rPr lang="pl-PL" altLang="zh-CN" sz="2400" b="1" dirty="0">
                <a:solidFill>
                  <a:srgbClr val="000000"/>
                </a:solidFill>
                <a:latin typeface="Consolas" panose="020B0609020204030204" pitchFamily="49" charset="0"/>
              </a:rPr>
              <a:t>} </a:t>
            </a:r>
          </a:p>
          <a:p>
            <a:endParaRPr lang="zh-CN" altLang="en-US" sz="28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STL</a:t>
            </a:r>
            <a:r>
              <a:rPr lang="zh-CN" altLang="en-US" dirty="0"/>
              <a:t>输入输出流</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6</a:t>
            </a:fld>
            <a:endParaRPr lang="en-US" altLang="zh-CN"/>
          </a:p>
        </p:txBody>
      </p:sp>
      <p:grpSp>
        <p:nvGrpSpPr>
          <p:cNvPr id="90" name="组合 89"/>
          <p:cNvGrpSpPr/>
          <p:nvPr/>
        </p:nvGrpSpPr>
        <p:grpSpPr>
          <a:xfrm>
            <a:off x="914945" y="1960822"/>
            <a:ext cx="7314109" cy="3966371"/>
            <a:chOff x="914945" y="2119409"/>
            <a:chExt cx="7314109" cy="3966371"/>
          </a:xfrm>
        </p:grpSpPr>
        <p:grpSp>
          <p:nvGrpSpPr>
            <p:cNvPr id="10" name="组合 9"/>
            <p:cNvGrpSpPr/>
            <p:nvPr/>
          </p:nvGrpSpPr>
          <p:grpSpPr>
            <a:xfrm>
              <a:off x="914945" y="2132856"/>
              <a:ext cx="7314109" cy="3952924"/>
              <a:chOff x="1177030" y="2780928"/>
              <a:chExt cx="6733623" cy="2862131"/>
            </a:xfrm>
            <a:solidFill>
              <a:schemeClr val="bg1">
                <a:lumMod val="85000"/>
              </a:schemeClr>
            </a:solidFill>
          </p:grpSpPr>
          <p:sp>
            <p:nvSpPr>
              <p:cNvPr id="5" name="矩形 4"/>
              <p:cNvSpPr/>
              <p:nvPr/>
            </p:nvSpPr>
            <p:spPr>
              <a:xfrm>
                <a:off x="1177030" y="2780928"/>
                <a:ext cx="1512168" cy="1836204"/>
              </a:xfrm>
              <a:prstGeom prst="rect">
                <a:avLst/>
              </a:prstGeom>
              <a:solidFill>
                <a:schemeClr val="accent4">
                  <a:lumMod val="20000"/>
                  <a:lumOff val="80000"/>
                </a:schemeClr>
              </a:solidFill>
              <a:ln w="19050">
                <a:solidFill>
                  <a:srgbClr val="3A53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1177030" y="4752244"/>
                <a:ext cx="1512168" cy="890815"/>
              </a:xfrm>
              <a:prstGeom prst="rect">
                <a:avLst/>
              </a:prstGeom>
              <a:solidFill>
                <a:schemeClr val="accent4">
                  <a:lumMod val="20000"/>
                  <a:lumOff val="80000"/>
                </a:schemeClr>
              </a:solidFill>
              <a:ln w="19050">
                <a:solidFill>
                  <a:srgbClr val="3A53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2917515" y="2780928"/>
                <a:ext cx="1512168" cy="2862131"/>
              </a:xfrm>
              <a:prstGeom prst="rect">
                <a:avLst/>
              </a:prstGeom>
              <a:solidFill>
                <a:schemeClr val="accent4">
                  <a:lumMod val="20000"/>
                  <a:lumOff val="80000"/>
                </a:schemeClr>
              </a:solidFill>
              <a:ln w="19050">
                <a:solidFill>
                  <a:srgbClr val="3A53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658000" y="2780928"/>
                <a:ext cx="1512168" cy="2862131"/>
              </a:xfrm>
              <a:prstGeom prst="rect">
                <a:avLst/>
              </a:prstGeom>
              <a:solidFill>
                <a:schemeClr val="accent4">
                  <a:lumMod val="20000"/>
                  <a:lumOff val="80000"/>
                </a:schemeClr>
              </a:solidFill>
              <a:ln w="19050">
                <a:solidFill>
                  <a:srgbClr val="3A53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6398485" y="2780928"/>
                <a:ext cx="1512168" cy="2862131"/>
              </a:xfrm>
              <a:prstGeom prst="rect">
                <a:avLst/>
              </a:prstGeom>
              <a:solidFill>
                <a:schemeClr val="accent4">
                  <a:lumMod val="20000"/>
                  <a:lumOff val="80000"/>
                </a:schemeClr>
              </a:solidFill>
              <a:ln w="19050">
                <a:solidFill>
                  <a:srgbClr val="3A53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 name="矩形 10"/>
            <p:cNvSpPr/>
            <p:nvPr/>
          </p:nvSpPr>
          <p:spPr>
            <a:xfrm>
              <a:off x="1004081" y="2840537"/>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istream</a:t>
              </a:r>
              <a:endParaRPr lang="zh-CN" altLang="en-US" dirty="0">
                <a:solidFill>
                  <a:schemeClr val="tx1"/>
                </a:solidFill>
              </a:endParaRPr>
            </a:p>
          </p:txBody>
        </p:sp>
        <p:sp>
          <p:nvSpPr>
            <p:cNvPr id="33" name="矩形 32"/>
            <p:cNvSpPr/>
            <p:nvPr/>
          </p:nvSpPr>
          <p:spPr>
            <a:xfrm>
              <a:off x="1000733" y="3964317"/>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iostream</a:t>
              </a:r>
              <a:endParaRPr lang="zh-CN" altLang="en-US" dirty="0">
                <a:solidFill>
                  <a:schemeClr val="tx1"/>
                </a:solidFill>
              </a:endParaRPr>
            </a:p>
          </p:txBody>
        </p:sp>
        <p:sp>
          <p:nvSpPr>
            <p:cNvPr id="48" name="矩形 47"/>
            <p:cNvSpPr/>
            <p:nvPr/>
          </p:nvSpPr>
          <p:spPr>
            <a:xfrm>
              <a:off x="1000292" y="5321613"/>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ostream</a:t>
              </a:r>
              <a:endParaRPr lang="zh-CN" altLang="en-US" dirty="0">
                <a:solidFill>
                  <a:schemeClr val="tx1"/>
                </a:solidFill>
              </a:endParaRPr>
            </a:p>
          </p:txBody>
        </p:sp>
        <p:sp>
          <p:nvSpPr>
            <p:cNvPr id="56" name="矩形 55"/>
            <p:cNvSpPr/>
            <p:nvPr/>
          </p:nvSpPr>
          <p:spPr>
            <a:xfrm>
              <a:off x="4800935" y="2596571"/>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ifstream</a:t>
              </a:r>
              <a:endParaRPr lang="zh-CN" altLang="en-US" dirty="0">
                <a:solidFill>
                  <a:schemeClr val="tx1"/>
                </a:solidFill>
              </a:endParaRPr>
            </a:p>
          </p:txBody>
        </p:sp>
        <p:sp>
          <p:nvSpPr>
            <p:cNvPr id="57" name="矩形 56"/>
            <p:cNvSpPr/>
            <p:nvPr/>
          </p:nvSpPr>
          <p:spPr>
            <a:xfrm>
              <a:off x="2910408" y="4629801"/>
              <a:ext cx="1432656" cy="432048"/>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cout</a:t>
              </a:r>
              <a:endParaRPr lang="zh-CN" altLang="en-US" dirty="0">
                <a:solidFill>
                  <a:schemeClr val="tx1"/>
                </a:solidFill>
              </a:endParaRPr>
            </a:p>
          </p:txBody>
        </p:sp>
        <p:sp>
          <p:nvSpPr>
            <p:cNvPr id="58" name="矩形 57"/>
            <p:cNvSpPr/>
            <p:nvPr/>
          </p:nvSpPr>
          <p:spPr>
            <a:xfrm>
              <a:off x="2910408" y="3430235"/>
              <a:ext cx="1432656" cy="432048"/>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cin</a:t>
              </a:r>
              <a:endParaRPr lang="zh-CN" altLang="en-US" dirty="0">
                <a:solidFill>
                  <a:schemeClr val="tx1"/>
                </a:solidFill>
              </a:endParaRPr>
            </a:p>
          </p:txBody>
        </p:sp>
        <p:sp>
          <p:nvSpPr>
            <p:cNvPr id="59" name="矩形 58"/>
            <p:cNvSpPr/>
            <p:nvPr/>
          </p:nvSpPr>
          <p:spPr>
            <a:xfrm>
              <a:off x="6692076" y="2996952"/>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istringstream</a:t>
              </a:r>
              <a:endParaRPr lang="zh-CN" altLang="en-US" dirty="0">
                <a:solidFill>
                  <a:schemeClr val="tx1"/>
                </a:solidFill>
              </a:endParaRPr>
            </a:p>
          </p:txBody>
        </p:sp>
        <p:sp>
          <p:nvSpPr>
            <p:cNvPr id="60" name="矩形 59"/>
            <p:cNvSpPr/>
            <p:nvPr/>
          </p:nvSpPr>
          <p:spPr>
            <a:xfrm>
              <a:off x="4800628" y="3768633"/>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fstream</a:t>
              </a:r>
              <a:endParaRPr lang="zh-CN" altLang="en-US" dirty="0">
                <a:solidFill>
                  <a:schemeClr val="tx1"/>
                </a:solidFill>
              </a:endParaRPr>
            </a:p>
          </p:txBody>
        </p:sp>
        <p:sp>
          <p:nvSpPr>
            <p:cNvPr id="61" name="矩形 60"/>
            <p:cNvSpPr/>
            <p:nvPr/>
          </p:nvSpPr>
          <p:spPr>
            <a:xfrm>
              <a:off x="6691769" y="4169014"/>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stringstream</a:t>
              </a:r>
              <a:endParaRPr lang="zh-CN" altLang="en-US" dirty="0">
                <a:solidFill>
                  <a:schemeClr val="tx1"/>
                </a:solidFill>
              </a:endParaRPr>
            </a:p>
          </p:txBody>
        </p:sp>
        <p:sp>
          <p:nvSpPr>
            <p:cNvPr id="70" name="矩形 69"/>
            <p:cNvSpPr/>
            <p:nvPr/>
          </p:nvSpPr>
          <p:spPr>
            <a:xfrm>
              <a:off x="4800935" y="5085184"/>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solidFill>
                    <a:schemeClr val="tx1"/>
                  </a:solidFill>
                </a:rPr>
                <a:t>ofstream</a:t>
              </a:r>
              <a:endParaRPr lang="zh-CN" altLang="en-US" dirty="0">
                <a:solidFill>
                  <a:schemeClr val="tx1"/>
                </a:solidFill>
              </a:endParaRPr>
            </a:p>
          </p:txBody>
        </p:sp>
        <p:sp>
          <p:nvSpPr>
            <p:cNvPr id="71" name="矩形 70"/>
            <p:cNvSpPr/>
            <p:nvPr/>
          </p:nvSpPr>
          <p:spPr>
            <a:xfrm>
              <a:off x="6692076" y="5485565"/>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err="1">
                  <a:solidFill>
                    <a:schemeClr val="tx1"/>
                  </a:solidFill>
                </a:rPr>
                <a:t>ostringstream</a:t>
              </a:r>
              <a:endParaRPr lang="zh-CN" altLang="en-US" sz="1600" dirty="0">
                <a:solidFill>
                  <a:schemeClr val="tx1"/>
                </a:solidFill>
              </a:endParaRPr>
            </a:p>
          </p:txBody>
        </p:sp>
        <p:cxnSp>
          <p:nvCxnSpPr>
            <p:cNvPr id="73" name="直接箭头连接符 72"/>
            <p:cNvCxnSpPr/>
            <p:nvPr/>
          </p:nvCxnSpPr>
          <p:spPr>
            <a:xfrm flipV="1">
              <a:off x="2433389" y="2935665"/>
              <a:ext cx="2367546" cy="6124"/>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2433389" y="3104125"/>
              <a:ext cx="4273876"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flipV="1">
              <a:off x="2435062" y="4088186"/>
              <a:ext cx="2367546" cy="6124"/>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a:xfrm>
              <a:off x="2435062" y="4256646"/>
              <a:ext cx="4273876"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2433389" y="3272585"/>
              <a:ext cx="477019" cy="156415"/>
            </a:xfrm>
            <a:prstGeom prst="straightConnector1">
              <a:avLst/>
            </a:prstGeom>
            <a:ln w="22225">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flipV="1">
              <a:off x="2432948" y="5087917"/>
              <a:ext cx="477460" cy="233697"/>
            </a:xfrm>
            <a:prstGeom prst="straightConnector1">
              <a:avLst/>
            </a:prstGeom>
            <a:ln w="22225">
              <a:solidFill>
                <a:schemeClr val="tx1"/>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flipV="1">
              <a:off x="2433389" y="5465453"/>
              <a:ext cx="2367546" cy="6124"/>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a:xfrm>
              <a:off x="2433389" y="5633913"/>
              <a:ext cx="4273876"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85" name="文本框 84"/>
            <p:cNvSpPr txBox="1"/>
            <p:nvPr/>
          </p:nvSpPr>
          <p:spPr>
            <a:xfrm>
              <a:off x="4859974" y="2120955"/>
              <a:ext cx="1244187" cy="400110"/>
            </a:xfrm>
            <a:prstGeom prst="rect">
              <a:avLst/>
            </a:prstGeom>
            <a:noFill/>
          </p:spPr>
          <p:txBody>
            <a:bodyPr wrap="none" rtlCol="0">
              <a:spAutoFit/>
            </a:bodyPr>
            <a:lstStyle/>
            <a:p>
              <a:r>
                <a:rPr lang="en-US" altLang="zh-CN" sz="2000" dirty="0"/>
                <a:t>&lt;</a:t>
              </a:r>
              <a:r>
                <a:rPr lang="en-US" altLang="zh-CN" sz="2000" dirty="0" err="1"/>
                <a:t>fstream</a:t>
              </a:r>
              <a:r>
                <a:rPr lang="en-US" altLang="zh-CN" sz="2000" dirty="0"/>
                <a:t>&gt;</a:t>
              </a:r>
              <a:endParaRPr lang="zh-CN" altLang="en-US" sz="2000" dirty="0"/>
            </a:p>
          </p:txBody>
        </p:sp>
        <p:sp>
          <p:nvSpPr>
            <p:cNvPr id="86" name="文本框 85"/>
            <p:cNvSpPr txBox="1"/>
            <p:nvPr/>
          </p:nvSpPr>
          <p:spPr>
            <a:xfrm>
              <a:off x="2945171" y="2119409"/>
              <a:ext cx="1363002" cy="400110"/>
            </a:xfrm>
            <a:prstGeom prst="rect">
              <a:avLst/>
            </a:prstGeom>
            <a:noFill/>
          </p:spPr>
          <p:txBody>
            <a:bodyPr wrap="none" rtlCol="0">
              <a:spAutoFit/>
            </a:bodyPr>
            <a:lstStyle/>
            <a:p>
              <a:r>
                <a:rPr lang="en-US" altLang="zh-CN" sz="2000" dirty="0"/>
                <a:t>&lt;iostream&gt;</a:t>
              </a:r>
              <a:endParaRPr lang="zh-CN" altLang="en-US" sz="2000" dirty="0"/>
            </a:p>
          </p:txBody>
        </p:sp>
        <p:sp>
          <p:nvSpPr>
            <p:cNvPr id="87" name="文本框 86"/>
            <p:cNvSpPr txBox="1"/>
            <p:nvPr/>
          </p:nvSpPr>
          <p:spPr>
            <a:xfrm>
              <a:off x="6774666" y="2132855"/>
              <a:ext cx="1270028" cy="400110"/>
            </a:xfrm>
            <a:prstGeom prst="rect">
              <a:avLst/>
            </a:prstGeom>
            <a:noFill/>
          </p:spPr>
          <p:txBody>
            <a:bodyPr wrap="none" rtlCol="0">
              <a:spAutoFit/>
            </a:bodyPr>
            <a:lstStyle/>
            <a:p>
              <a:r>
                <a:rPr lang="en-US" altLang="zh-CN" sz="2000" dirty="0"/>
                <a:t>&lt;</a:t>
              </a:r>
              <a:r>
                <a:rPr lang="en-US" altLang="zh-CN" sz="2000" dirty="0" err="1"/>
                <a:t>sstream</a:t>
              </a:r>
              <a:r>
                <a:rPr lang="en-US" altLang="zh-CN" sz="2000" dirty="0"/>
                <a:t>&gt;</a:t>
              </a:r>
              <a:endParaRPr lang="zh-CN" altLang="en-US" sz="2000" dirty="0"/>
            </a:p>
          </p:txBody>
        </p:sp>
        <p:sp>
          <p:nvSpPr>
            <p:cNvPr id="88" name="文本框 87"/>
            <p:cNvSpPr txBox="1"/>
            <p:nvPr/>
          </p:nvSpPr>
          <p:spPr>
            <a:xfrm>
              <a:off x="1108128" y="2119409"/>
              <a:ext cx="1228350" cy="400110"/>
            </a:xfrm>
            <a:prstGeom prst="rect">
              <a:avLst/>
            </a:prstGeom>
            <a:noFill/>
          </p:spPr>
          <p:txBody>
            <a:bodyPr wrap="none" rtlCol="0">
              <a:spAutoFit/>
            </a:bodyPr>
            <a:lstStyle/>
            <a:p>
              <a:r>
                <a:rPr lang="en-US" altLang="zh-CN" sz="2000" dirty="0"/>
                <a:t>&lt;</a:t>
              </a:r>
              <a:r>
                <a:rPr lang="en-US" altLang="zh-CN" sz="2000" dirty="0" err="1"/>
                <a:t>istream</a:t>
              </a:r>
              <a:r>
                <a:rPr lang="en-US" altLang="zh-CN" sz="2000" dirty="0"/>
                <a:t>&gt;</a:t>
              </a:r>
              <a:endParaRPr lang="zh-CN" altLang="en-US" sz="2000" dirty="0"/>
            </a:p>
          </p:txBody>
        </p:sp>
        <p:sp>
          <p:nvSpPr>
            <p:cNvPr id="89" name="文本框 88"/>
            <p:cNvSpPr txBox="1"/>
            <p:nvPr/>
          </p:nvSpPr>
          <p:spPr>
            <a:xfrm>
              <a:off x="1064775" y="5685670"/>
              <a:ext cx="1303690" cy="400110"/>
            </a:xfrm>
            <a:prstGeom prst="rect">
              <a:avLst/>
            </a:prstGeom>
            <a:noFill/>
          </p:spPr>
          <p:txBody>
            <a:bodyPr wrap="none" rtlCol="0">
              <a:spAutoFit/>
            </a:bodyPr>
            <a:lstStyle/>
            <a:p>
              <a:r>
                <a:rPr lang="en-US" altLang="zh-CN" sz="2000" dirty="0"/>
                <a:t>&lt;</a:t>
              </a:r>
              <a:r>
                <a:rPr lang="en-US" altLang="zh-CN" sz="2000" dirty="0" err="1"/>
                <a:t>ostream</a:t>
              </a:r>
              <a:r>
                <a:rPr lang="en-US" altLang="zh-CN" sz="2000" dirty="0"/>
                <a:t>&gt;</a:t>
              </a:r>
              <a:endParaRPr lang="zh-CN" altLang="en-US" sz="2000" dirty="0"/>
            </a:p>
          </p:txBody>
        </p:sp>
      </p:grpSp>
      <p:cxnSp>
        <p:nvCxnSpPr>
          <p:cNvPr id="92" name="直接箭头连接符 91"/>
          <p:cNvCxnSpPr>
            <a:stCxn id="11" idx="2"/>
            <a:endCxn id="33" idx="0"/>
          </p:cNvCxnSpPr>
          <p:nvPr/>
        </p:nvCxnSpPr>
        <p:spPr>
          <a:xfrm flipH="1">
            <a:off x="1717061" y="3113998"/>
            <a:ext cx="3348" cy="691732"/>
          </a:xfrm>
          <a:prstGeom prst="straightConnector1">
            <a:avLst/>
          </a:prstGeom>
          <a:ln>
            <a:headEnd type="triangle"/>
            <a:tailEnd type="none"/>
          </a:ln>
        </p:spPr>
        <p:style>
          <a:lnRef idx="3">
            <a:schemeClr val="dk1"/>
          </a:lnRef>
          <a:fillRef idx="0">
            <a:schemeClr val="dk1"/>
          </a:fillRef>
          <a:effectRef idx="2">
            <a:schemeClr val="dk1"/>
          </a:effectRef>
          <a:fontRef idx="minor">
            <a:schemeClr val="tx1"/>
          </a:fontRef>
        </p:style>
      </p:cxnSp>
      <p:cxnSp>
        <p:nvCxnSpPr>
          <p:cNvPr id="94" name="直接箭头连接符 93"/>
          <p:cNvCxnSpPr>
            <a:stCxn id="48" idx="0"/>
            <a:endCxn id="33" idx="2"/>
          </p:cNvCxnSpPr>
          <p:nvPr/>
        </p:nvCxnSpPr>
        <p:spPr>
          <a:xfrm flipV="1">
            <a:off x="1716620" y="4237778"/>
            <a:ext cx="441" cy="925248"/>
          </a:xfrm>
          <a:prstGeom prst="straightConnector1">
            <a:avLst/>
          </a:prstGeom>
          <a:ln>
            <a:headEnd type="triangle"/>
            <a:tailEnd type="none"/>
          </a:ln>
        </p:spPr>
        <p:style>
          <a:lnRef idx="3">
            <a:schemeClr val="dk1"/>
          </a:lnRef>
          <a:fillRef idx="0">
            <a:schemeClr val="dk1"/>
          </a:fillRef>
          <a:effectRef idx="2">
            <a:schemeClr val="dk1"/>
          </a:effectRef>
          <a:fontRef idx="minor">
            <a:schemeClr val="tx1"/>
          </a:fontRef>
        </p:style>
      </p:cxnSp>
      <p:sp>
        <p:nvSpPr>
          <p:cNvPr id="3" name="文本框 2"/>
          <p:cNvSpPr txBox="1"/>
          <p:nvPr/>
        </p:nvSpPr>
        <p:spPr>
          <a:xfrm>
            <a:off x="4886014" y="1397683"/>
            <a:ext cx="1261884" cy="523220"/>
          </a:xfrm>
          <a:prstGeom prst="rect">
            <a:avLst/>
          </a:prstGeom>
          <a:noFill/>
        </p:spPr>
        <p:txBody>
          <a:bodyPr wrap="none" rtlCol="0">
            <a:spAutoFit/>
          </a:bodyPr>
          <a:lstStyle/>
          <a:p>
            <a:r>
              <a:rPr lang="zh-CN" altLang="en-US" sz="2800" b="1" dirty="0"/>
              <a:t>文件流</a:t>
            </a:r>
          </a:p>
        </p:txBody>
      </p:sp>
      <p:sp>
        <p:nvSpPr>
          <p:cNvPr id="39" name="文本框 38"/>
          <p:cNvSpPr txBox="1"/>
          <p:nvPr/>
        </p:nvSpPr>
        <p:spPr>
          <a:xfrm>
            <a:off x="6602943" y="1397396"/>
            <a:ext cx="1620957" cy="523220"/>
          </a:xfrm>
          <a:prstGeom prst="rect">
            <a:avLst/>
          </a:prstGeom>
          <a:noFill/>
        </p:spPr>
        <p:txBody>
          <a:bodyPr wrap="none" rtlCol="0">
            <a:spAutoFit/>
          </a:bodyPr>
          <a:lstStyle/>
          <a:p>
            <a:r>
              <a:rPr lang="zh-CN" altLang="en-US" sz="2800" b="1" dirty="0"/>
              <a:t>字符串流</a:t>
            </a:r>
          </a:p>
        </p:txBody>
      </p:sp>
      <p:sp>
        <p:nvSpPr>
          <p:cNvPr id="40" name="文本框 39"/>
          <p:cNvSpPr txBox="1"/>
          <p:nvPr/>
        </p:nvSpPr>
        <p:spPr>
          <a:xfrm>
            <a:off x="2679304" y="1411547"/>
            <a:ext cx="1980029" cy="523220"/>
          </a:xfrm>
          <a:prstGeom prst="rect">
            <a:avLst/>
          </a:prstGeom>
          <a:noFill/>
        </p:spPr>
        <p:txBody>
          <a:bodyPr wrap="none" rtlCol="0">
            <a:spAutoFit/>
          </a:bodyPr>
          <a:lstStyle/>
          <a:p>
            <a:r>
              <a:rPr lang="zh-CN" altLang="en-US" sz="2800" b="1" dirty="0"/>
              <a:t>输入输出流</a:t>
            </a:r>
          </a:p>
        </p:txBody>
      </p:sp>
      <p:sp>
        <p:nvSpPr>
          <p:cNvPr id="42" name="文本框 41"/>
          <p:cNvSpPr txBox="1"/>
          <p:nvPr/>
        </p:nvSpPr>
        <p:spPr>
          <a:xfrm>
            <a:off x="1054188" y="1397396"/>
            <a:ext cx="1261884" cy="523220"/>
          </a:xfrm>
          <a:prstGeom prst="rect">
            <a:avLst/>
          </a:prstGeom>
          <a:noFill/>
        </p:spPr>
        <p:txBody>
          <a:bodyPr wrap="none" rtlCol="0">
            <a:spAutoFit/>
          </a:bodyPr>
          <a:lstStyle/>
          <a:p>
            <a:r>
              <a:rPr lang="zh-CN" altLang="en-US" sz="2800" b="1" dirty="0"/>
              <a:t>输入流</a:t>
            </a:r>
          </a:p>
        </p:txBody>
      </p:sp>
      <p:sp>
        <p:nvSpPr>
          <p:cNvPr id="43" name="文本框 42"/>
          <p:cNvSpPr txBox="1"/>
          <p:nvPr/>
        </p:nvSpPr>
        <p:spPr>
          <a:xfrm>
            <a:off x="1108128" y="5959131"/>
            <a:ext cx="1261884" cy="523220"/>
          </a:xfrm>
          <a:prstGeom prst="rect">
            <a:avLst/>
          </a:prstGeom>
          <a:noFill/>
        </p:spPr>
        <p:txBody>
          <a:bodyPr wrap="none" rtlCol="0">
            <a:spAutoFit/>
          </a:bodyPr>
          <a:lstStyle/>
          <a:p>
            <a:r>
              <a:rPr lang="zh-CN" altLang="en-US" sz="2800" b="1" dirty="0"/>
              <a:t>输出流</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从</a:t>
            </a:r>
            <a:r>
              <a:rPr lang="en-US" altLang="zh-CN" dirty="0" err="1"/>
              <a:t>ostream</a:t>
            </a:r>
            <a:r>
              <a:rPr lang="zh-CN" altLang="en-US" dirty="0"/>
              <a:t>和</a:t>
            </a:r>
            <a:r>
              <a:rPr lang="en-US" altLang="zh-CN" dirty="0" err="1"/>
              <a:t>cout</a:t>
            </a:r>
            <a:r>
              <a:rPr lang="zh-CN" altLang="en-US" dirty="0"/>
              <a:t>开始</a:t>
            </a:r>
          </a:p>
        </p:txBody>
      </p:sp>
      <p:sp>
        <p:nvSpPr>
          <p:cNvPr id="3" name="内容占位符 2"/>
          <p:cNvSpPr>
            <a:spLocks noGrp="1"/>
          </p:cNvSpPr>
          <p:nvPr>
            <p:ph idx="1"/>
          </p:nvPr>
        </p:nvSpPr>
        <p:spPr/>
        <p:txBody>
          <a:bodyPr/>
          <a:lstStyle/>
          <a:p>
            <a:r>
              <a:rPr lang="en-US" altLang="zh-CN" sz="2400" dirty="0" err="1"/>
              <a:t>ostream</a:t>
            </a:r>
            <a:r>
              <a:rPr lang="zh-CN" altLang="en-US" sz="2400" dirty="0"/>
              <a:t>即</a:t>
            </a:r>
            <a:r>
              <a:rPr lang="en-US" altLang="zh-CN" sz="2400" dirty="0"/>
              <a:t>output stream</a:t>
            </a:r>
          </a:p>
          <a:p>
            <a:pPr marL="0" indent="0">
              <a:buNone/>
            </a:pPr>
            <a:r>
              <a:rPr lang="en-US" altLang="zh-CN" sz="2400" dirty="0"/>
              <a:t>	</a:t>
            </a:r>
            <a:r>
              <a:rPr lang="zh-CN" altLang="en-US" sz="2400" dirty="0"/>
              <a:t>是</a:t>
            </a:r>
            <a:r>
              <a:rPr lang="en-US" altLang="zh-CN" sz="2400" dirty="0"/>
              <a:t>STL</a:t>
            </a:r>
            <a:r>
              <a:rPr lang="zh-CN" altLang="en-US" sz="2400" dirty="0"/>
              <a:t>库中所有</a:t>
            </a:r>
            <a:r>
              <a:rPr lang="zh-CN" altLang="en-US" sz="2400" dirty="0">
                <a:solidFill>
                  <a:srgbClr val="FF0000"/>
                </a:solidFill>
              </a:rPr>
              <a:t>输出流</a:t>
            </a:r>
            <a:r>
              <a:rPr lang="zh-CN" altLang="en-US" sz="2400" dirty="0"/>
              <a:t>的</a:t>
            </a:r>
            <a:r>
              <a:rPr lang="zh-CN" altLang="en-US" sz="2400" dirty="0">
                <a:solidFill>
                  <a:srgbClr val="FF0000"/>
                </a:solidFill>
              </a:rPr>
              <a:t>基类</a:t>
            </a:r>
            <a:endParaRPr lang="en-US" altLang="zh-CN" sz="2400" dirty="0">
              <a:solidFill>
                <a:srgbClr val="FF0000"/>
              </a:solidFill>
            </a:endParaRPr>
          </a:p>
          <a:p>
            <a:r>
              <a:rPr lang="zh-CN" altLang="en-US" sz="2400" dirty="0"/>
              <a:t>它重载了针对</a:t>
            </a:r>
            <a:r>
              <a:rPr lang="zh-CN" altLang="en-US" sz="2400" dirty="0">
                <a:solidFill>
                  <a:srgbClr val="FF0000"/>
                </a:solidFill>
              </a:rPr>
              <a:t>基础类型</a:t>
            </a:r>
            <a:r>
              <a:rPr lang="zh-CN" altLang="en-US" sz="2400" dirty="0"/>
              <a:t>的输出流运算符（</a:t>
            </a:r>
            <a:r>
              <a:rPr lang="en-US" altLang="zh-CN" sz="2400" dirty="0">
                <a:solidFill>
                  <a:srgbClr val="FF0000"/>
                </a:solidFill>
              </a:rPr>
              <a:t>&lt;&lt;</a:t>
            </a:r>
            <a:r>
              <a:rPr lang="en-US" altLang="zh-CN" sz="2400" dirty="0"/>
              <a:t>)</a:t>
            </a:r>
          </a:p>
          <a:p>
            <a:pPr marL="0" indent="0">
              <a:buNone/>
            </a:pPr>
            <a:r>
              <a:rPr lang="en-US" altLang="zh-CN" sz="2400" dirty="0"/>
              <a:t>	</a:t>
            </a:r>
            <a:r>
              <a:rPr lang="zh-CN" altLang="en-US" sz="2400" dirty="0"/>
              <a:t>接受不同类型的数据，再调用系统函数进行输出</a:t>
            </a:r>
            <a:endParaRPr lang="en-US" altLang="zh-CN" sz="2400" dirty="0"/>
          </a:p>
          <a:p>
            <a:r>
              <a:rPr lang="zh-CN" altLang="en-US" sz="2400" dirty="0">
                <a:solidFill>
                  <a:srgbClr val="3A536D"/>
                </a:solidFill>
              </a:rPr>
              <a:t>统一</a:t>
            </a:r>
            <a:r>
              <a:rPr lang="zh-CN" altLang="en-US" sz="2400" dirty="0"/>
              <a:t>了输出</a:t>
            </a:r>
            <a:r>
              <a:rPr lang="zh-CN" altLang="en-US" sz="2400" dirty="0">
                <a:solidFill>
                  <a:srgbClr val="FF0000"/>
                </a:solidFill>
              </a:rPr>
              <a:t>接口</a:t>
            </a:r>
            <a:r>
              <a:rPr lang="zh-CN" altLang="en-US" sz="2400" dirty="0"/>
              <a:t>，改善了</a:t>
            </a:r>
            <a:r>
              <a:rPr lang="en-US" altLang="zh-CN" sz="2400" dirty="0"/>
              <a:t>C</a:t>
            </a:r>
            <a:r>
              <a:rPr lang="zh-CN" altLang="en-US" sz="2400" dirty="0"/>
              <a:t>中输出方式混乱的状况</a:t>
            </a:r>
            <a:endParaRPr lang="en-US" altLang="zh-CN" sz="2400" dirty="0"/>
          </a:p>
          <a:p>
            <a:pPr lvl="1"/>
            <a:r>
              <a:rPr lang="en-US" altLang="zh-CN" b="1" dirty="0" err="1">
                <a:solidFill>
                  <a:srgbClr val="003366"/>
                </a:solidFill>
              </a:rPr>
              <a:t>printf</a:t>
            </a:r>
            <a:r>
              <a:rPr lang="en-US" altLang="zh-CN" b="1" dirty="0">
                <a:solidFill>
                  <a:srgbClr val="003366"/>
                </a:solidFill>
              </a:rPr>
              <a:t>("%d</a:t>
            </a:r>
            <a:r>
              <a:rPr lang="zh-CN" altLang="en-US" b="1" dirty="0">
                <a:solidFill>
                  <a:srgbClr val="003366"/>
                </a:solidFill>
              </a:rPr>
              <a:t> </a:t>
            </a:r>
            <a:r>
              <a:rPr lang="en-US" altLang="zh-CN" b="1" dirty="0">
                <a:solidFill>
                  <a:srgbClr val="003366"/>
                </a:solidFill>
              </a:rPr>
              <a:t>%f</a:t>
            </a:r>
            <a:r>
              <a:rPr lang="zh-CN" altLang="en-US" b="1" dirty="0">
                <a:solidFill>
                  <a:srgbClr val="003366"/>
                </a:solidFill>
              </a:rPr>
              <a:t> </a:t>
            </a:r>
            <a:r>
              <a:rPr lang="en-US" altLang="zh-CN" b="1" dirty="0">
                <a:solidFill>
                  <a:srgbClr val="003366"/>
                </a:solidFill>
              </a:rPr>
              <a:t>%s", 1, 2.3, "hello");</a:t>
            </a:r>
          </a:p>
          <a:p>
            <a:pPr marL="0" indent="0">
              <a:buNone/>
            </a:pPr>
            <a:r>
              <a:rPr kumimoji="1" lang="en-US" altLang="zh-CN" sz="1600" dirty="0">
                <a:hlinkClick r:id="rId3"/>
              </a:rPr>
              <a:t>http://www.cplusplus.com/reference/ostream/ostream/operator%3C%3C/</a:t>
            </a:r>
            <a:r>
              <a:rPr kumimoji="1" lang="zh-CN" altLang="en-US" sz="1600" dirty="0"/>
              <a:t> </a:t>
            </a:r>
            <a:endParaRPr kumimoji="1" lang="en-US" altLang="zh-CN" sz="1600" dirty="0"/>
          </a:p>
          <a:p>
            <a:pPr marL="0" indent="0">
              <a:buNone/>
            </a:pPr>
            <a:endParaRPr lang="en-US" altLang="zh-CN" dirty="0"/>
          </a:p>
          <a:p>
            <a:r>
              <a:rPr lang="en-US" altLang="zh-CN" sz="2400" dirty="0" err="1"/>
              <a:t>cout</a:t>
            </a:r>
            <a:r>
              <a:rPr lang="zh-CN" altLang="en-US" sz="2400" dirty="0"/>
              <a:t>是</a:t>
            </a:r>
            <a:r>
              <a:rPr lang="en-US" altLang="zh-CN" sz="2400" dirty="0"/>
              <a:t>STL</a:t>
            </a:r>
            <a:r>
              <a:rPr lang="zh-CN" altLang="en-US" sz="2400" dirty="0"/>
              <a:t>中内建的一个</a:t>
            </a:r>
            <a:r>
              <a:rPr lang="en-US" altLang="zh-CN" sz="2400" dirty="0" err="1"/>
              <a:t>ostream</a:t>
            </a:r>
            <a:r>
              <a:rPr lang="zh-CN" altLang="en-US" sz="2400" dirty="0"/>
              <a:t>对象</a:t>
            </a:r>
            <a:endParaRPr lang="en-US" altLang="zh-CN" sz="2400" dirty="0"/>
          </a:p>
          <a:p>
            <a:r>
              <a:rPr lang="zh-CN" altLang="en-US" sz="2400" dirty="0"/>
              <a:t>它会将数据送到</a:t>
            </a:r>
            <a:r>
              <a:rPr lang="zh-CN" altLang="en-US" sz="2400" dirty="0">
                <a:solidFill>
                  <a:srgbClr val="FF0000"/>
                </a:solidFill>
              </a:rPr>
              <a:t>标准输出流</a:t>
            </a:r>
            <a:r>
              <a:rPr lang="zh-CN" altLang="en-US" sz="2400" dirty="0"/>
              <a:t>（一般是屏幕）</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实现自己的</a:t>
            </a:r>
            <a:r>
              <a:rPr lang="en-US" altLang="zh-CN" dirty="0" err="1"/>
              <a:t>ostream</a:t>
            </a:r>
            <a:endParaRPr lang="zh-CN" altLang="en-US" dirty="0"/>
          </a:p>
        </p:txBody>
      </p:sp>
      <p:sp>
        <p:nvSpPr>
          <p:cNvPr id="3" name="内容占位符 2"/>
          <p:cNvSpPr>
            <a:spLocks noGrp="1"/>
          </p:cNvSpPr>
          <p:nvPr>
            <p:ph idx="1"/>
          </p:nvPr>
        </p:nvSpPr>
        <p:spPr>
          <a:xfrm>
            <a:off x="4122862" y="4057480"/>
            <a:ext cx="3096344" cy="992693"/>
          </a:xfrm>
        </p:spPr>
        <p:txBody>
          <a:bodyPr/>
          <a:lstStyle/>
          <a:p>
            <a:pPr marL="0" indent="0">
              <a:buNone/>
            </a:pPr>
            <a:r>
              <a:rPr lang="zh-CN" altLang="en-US" dirty="0"/>
              <a:t>实现原理：</a:t>
            </a:r>
            <a:endParaRPr lang="en-US" altLang="zh-CN" dirty="0"/>
          </a:p>
          <a:p>
            <a:pPr marL="0" indent="0">
              <a:buNone/>
            </a:pPr>
            <a:r>
              <a:rPr lang="en-US" altLang="zh-CN" dirty="0"/>
              <a:t>&lt;&lt;</a:t>
            </a:r>
            <a:r>
              <a:rPr lang="zh-CN" altLang="en-US" dirty="0"/>
              <a:t>运算符为</a:t>
            </a:r>
            <a:r>
              <a:rPr lang="zh-CN" altLang="en-US" dirty="0">
                <a:solidFill>
                  <a:srgbClr val="FF0000"/>
                </a:solidFill>
              </a:rPr>
              <a:t>左结合</a:t>
            </a:r>
            <a:endParaRPr lang="en-US" altLang="zh-CN" dirty="0">
              <a:solidFill>
                <a:srgbClr val="FF0000"/>
              </a:solidFill>
            </a:endParaRPr>
          </a:p>
          <a:p>
            <a:pPr marL="0" indent="0">
              <a:buNone/>
            </a:pPr>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8</a:t>
            </a:fld>
            <a:endParaRPr lang="en-US" altLang="zh-CN"/>
          </a:p>
        </p:txBody>
      </p:sp>
      <p:sp>
        <p:nvSpPr>
          <p:cNvPr id="5" name="文本框 4"/>
          <p:cNvSpPr txBox="1"/>
          <p:nvPr/>
        </p:nvSpPr>
        <p:spPr>
          <a:xfrm>
            <a:off x="194821" y="1124744"/>
            <a:ext cx="5205271" cy="3970318"/>
          </a:xfrm>
          <a:prstGeom prst="rect">
            <a:avLst/>
          </a:prstGeom>
          <a:noFill/>
        </p:spPr>
        <p:txBody>
          <a:bodyPr wrap="none" rtlCol="0">
            <a:spAutoFit/>
          </a:bodyPr>
          <a:lstStyle/>
          <a:p>
            <a:r>
              <a:rPr lang="en-US" altLang="zh-CN" b="1" dirty="0">
                <a:latin typeface="Consolas" panose="020B0609020204030204" pitchFamily="49" charset="0"/>
              </a:rPr>
              <a:t>class </a:t>
            </a:r>
            <a:r>
              <a:rPr lang="en-US" altLang="zh-CN" b="1" dirty="0" err="1">
                <a:latin typeface="Consolas" panose="020B0609020204030204" pitchFamily="49" charset="0"/>
              </a:rPr>
              <a:t>ostream</a:t>
            </a:r>
            <a:endParaRPr lang="en-US" altLang="zh-CN" b="1" dirty="0">
              <a:latin typeface="Consolas" panose="020B0609020204030204" pitchFamily="49" charset="0"/>
            </a:endParaRPr>
          </a:p>
          <a:p>
            <a:r>
              <a:rPr lang="en-US" altLang="zh-CN" b="1" dirty="0">
                <a:latin typeface="Consolas" panose="020B0609020204030204" pitchFamily="49" charset="0"/>
              </a:rPr>
              <a:t>{</a:t>
            </a:r>
          </a:p>
          <a:p>
            <a:r>
              <a:rPr lang="en-US" altLang="zh-CN" b="1" dirty="0">
                <a:latin typeface="Consolas" panose="020B0609020204030204" pitchFamily="49" charset="0"/>
              </a:rPr>
              <a:t>public:</a:t>
            </a:r>
          </a:p>
          <a:p>
            <a:r>
              <a:rPr lang="en-US" altLang="zh-CN" b="1" dirty="0">
                <a:latin typeface="Consolas" panose="020B0609020204030204" pitchFamily="49" charset="0"/>
              </a:rPr>
              <a:t>	</a:t>
            </a:r>
            <a:r>
              <a:rPr lang="en-US" altLang="zh-CN" b="1" dirty="0" err="1">
                <a:solidFill>
                  <a:srgbClr val="FF0000"/>
                </a:solidFill>
                <a:latin typeface="Consolas" panose="020B0609020204030204" pitchFamily="49" charset="0"/>
              </a:rPr>
              <a:t>ostream</a:t>
            </a:r>
            <a:r>
              <a:rPr lang="en-US" altLang="zh-CN" b="1" dirty="0">
                <a:solidFill>
                  <a:srgbClr val="FF0000"/>
                </a:solidFill>
                <a:latin typeface="Consolas" panose="020B0609020204030204" pitchFamily="49" charset="0"/>
              </a:rPr>
              <a:t>&amp; operator&lt;&lt;(char c)</a:t>
            </a:r>
          </a:p>
          <a:p>
            <a:r>
              <a:rPr lang="en-US" altLang="zh-CN" b="1" dirty="0">
                <a:latin typeface="Consolas" panose="020B0609020204030204" pitchFamily="49" charset="0"/>
              </a:rPr>
              <a:t>	{</a:t>
            </a:r>
          </a:p>
          <a:p>
            <a:r>
              <a:rPr lang="en-US" altLang="zh-CN" b="1" dirty="0">
                <a:latin typeface="Consolas" panose="020B0609020204030204" pitchFamily="49" charset="0"/>
              </a:rPr>
              <a:t>		</a:t>
            </a:r>
            <a:r>
              <a:rPr lang="en-US" altLang="zh-CN" b="1" dirty="0" err="1">
                <a:latin typeface="Consolas" panose="020B0609020204030204" pitchFamily="49" charset="0"/>
              </a:rPr>
              <a:t>printf</a:t>
            </a:r>
            <a:r>
              <a:rPr lang="en-US" altLang="zh-CN" b="1" dirty="0">
                <a:latin typeface="Consolas" panose="020B0609020204030204" pitchFamily="49" charset="0"/>
              </a:rPr>
              <a:t>("%c", c);</a:t>
            </a:r>
          </a:p>
          <a:p>
            <a:r>
              <a:rPr lang="en-US" altLang="zh-CN" b="1" dirty="0">
                <a:latin typeface="Consolas" panose="020B0609020204030204" pitchFamily="49" charset="0"/>
              </a:rPr>
              <a:t>		return *this;</a:t>
            </a:r>
          </a:p>
          <a:p>
            <a:r>
              <a:rPr lang="en-US" altLang="zh-CN" b="1" dirty="0">
                <a:latin typeface="Consolas" panose="020B0609020204030204" pitchFamily="49" charset="0"/>
              </a:rPr>
              <a:t>	}</a:t>
            </a:r>
          </a:p>
          <a:p>
            <a:r>
              <a:rPr lang="en-US" altLang="zh-CN" b="1" dirty="0">
                <a:latin typeface="Consolas" panose="020B0609020204030204" pitchFamily="49" charset="0"/>
              </a:rPr>
              <a:t>	</a:t>
            </a:r>
            <a:r>
              <a:rPr lang="en-US" altLang="zh-CN" b="1" dirty="0" err="1">
                <a:solidFill>
                  <a:srgbClr val="00B050"/>
                </a:solidFill>
                <a:latin typeface="Consolas" panose="020B0609020204030204" pitchFamily="49" charset="0"/>
              </a:rPr>
              <a:t>ostream</a:t>
            </a:r>
            <a:r>
              <a:rPr lang="en-US" altLang="zh-CN" b="1" dirty="0">
                <a:solidFill>
                  <a:srgbClr val="00B050"/>
                </a:solidFill>
                <a:latin typeface="Consolas" panose="020B0609020204030204" pitchFamily="49" charset="0"/>
              </a:rPr>
              <a:t>&amp; operator&lt;&lt;(</a:t>
            </a:r>
            <a:r>
              <a:rPr lang="en-US" altLang="zh-CN" b="1" dirty="0" err="1">
                <a:solidFill>
                  <a:srgbClr val="00B050"/>
                </a:solidFill>
                <a:latin typeface="Consolas" panose="020B0609020204030204" pitchFamily="49" charset="0"/>
              </a:rPr>
              <a:t>const</a:t>
            </a:r>
            <a:r>
              <a:rPr lang="en-US" altLang="zh-CN" b="1" dirty="0">
                <a:solidFill>
                  <a:srgbClr val="00B050"/>
                </a:solidFill>
                <a:latin typeface="Consolas" panose="020B0609020204030204" pitchFamily="49" charset="0"/>
              </a:rPr>
              <a:t> char* </a:t>
            </a:r>
            <a:r>
              <a:rPr lang="en-US" altLang="zh-CN" b="1" dirty="0" err="1">
                <a:solidFill>
                  <a:srgbClr val="00B050"/>
                </a:solidFill>
                <a:latin typeface="Consolas" panose="020B0609020204030204" pitchFamily="49" charset="0"/>
              </a:rPr>
              <a:t>str</a:t>
            </a:r>
            <a:r>
              <a:rPr lang="en-US" altLang="zh-CN" b="1" dirty="0">
                <a:solidFill>
                  <a:srgbClr val="00B050"/>
                </a:solidFill>
                <a:latin typeface="Consolas" panose="020B0609020204030204" pitchFamily="49" charset="0"/>
              </a:rPr>
              <a:t>)</a:t>
            </a:r>
          </a:p>
          <a:p>
            <a:r>
              <a:rPr lang="en-US" altLang="zh-CN" b="1" dirty="0">
                <a:latin typeface="Consolas" panose="020B0609020204030204" pitchFamily="49" charset="0"/>
              </a:rPr>
              <a:t>	{</a:t>
            </a:r>
          </a:p>
          <a:p>
            <a:r>
              <a:rPr lang="en-US" altLang="zh-CN" b="1" dirty="0">
                <a:latin typeface="Consolas" panose="020B0609020204030204" pitchFamily="49" charset="0"/>
              </a:rPr>
              <a:t>		</a:t>
            </a:r>
            <a:r>
              <a:rPr lang="en-US" altLang="zh-CN" b="1" dirty="0" err="1">
                <a:latin typeface="Consolas" panose="020B0609020204030204" pitchFamily="49" charset="0"/>
              </a:rPr>
              <a:t>printf</a:t>
            </a:r>
            <a:r>
              <a:rPr lang="en-US" altLang="zh-CN" b="1" dirty="0">
                <a:latin typeface="Consolas" panose="020B0609020204030204" pitchFamily="49" charset="0"/>
              </a:rPr>
              <a:t>("%s", </a:t>
            </a:r>
            <a:r>
              <a:rPr lang="en-US" altLang="zh-CN" b="1" dirty="0" err="1">
                <a:latin typeface="Consolas" panose="020B0609020204030204" pitchFamily="49" charset="0"/>
              </a:rPr>
              <a:t>str</a:t>
            </a:r>
            <a:r>
              <a:rPr lang="en-US" altLang="zh-CN" b="1" dirty="0">
                <a:latin typeface="Consolas" panose="020B0609020204030204" pitchFamily="49" charset="0"/>
              </a:rPr>
              <a:t>);</a:t>
            </a:r>
          </a:p>
          <a:p>
            <a:r>
              <a:rPr lang="en-US" altLang="zh-CN" b="1" dirty="0">
                <a:latin typeface="Consolas" panose="020B0609020204030204" pitchFamily="49" charset="0"/>
              </a:rPr>
              <a:t>		return *this;</a:t>
            </a:r>
          </a:p>
          <a:p>
            <a:r>
              <a:rPr lang="en-US" altLang="zh-CN" b="1" dirty="0">
                <a:latin typeface="Consolas" panose="020B0609020204030204" pitchFamily="49" charset="0"/>
              </a:rPr>
              <a:t>	}</a:t>
            </a:r>
          </a:p>
          <a:p>
            <a:r>
              <a:rPr lang="en-US" altLang="zh-CN" b="1" dirty="0">
                <a:latin typeface="Consolas" panose="020B0609020204030204" pitchFamily="49" charset="0"/>
              </a:rPr>
              <a:t>}</a:t>
            </a:r>
            <a:r>
              <a:rPr lang="en-US" altLang="zh-CN" b="1" dirty="0" err="1">
                <a:latin typeface="Consolas" panose="020B0609020204030204" pitchFamily="49" charset="0"/>
              </a:rPr>
              <a:t>cout</a:t>
            </a:r>
            <a:r>
              <a:rPr lang="en-US" altLang="zh-CN" b="1" dirty="0">
                <a:latin typeface="Consolas" panose="020B0609020204030204" pitchFamily="49" charset="0"/>
              </a:rPr>
              <a:t>;</a:t>
            </a:r>
            <a:endParaRPr lang="zh-CN" altLang="en-US" b="1" dirty="0">
              <a:latin typeface="Consolas" panose="020B0609020204030204" pitchFamily="49" charset="0"/>
            </a:endParaRPr>
          </a:p>
        </p:txBody>
      </p:sp>
      <p:sp>
        <p:nvSpPr>
          <p:cNvPr id="7" name="文本框 6"/>
          <p:cNvSpPr txBox="1"/>
          <p:nvPr/>
        </p:nvSpPr>
        <p:spPr>
          <a:xfrm>
            <a:off x="246985" y="5212165"/>
            <a:ext cx="9001000" cy="1200329"/>
          </a:xfrm>
          <a:prstGeom prst="rect">
            <a:avLst/>
          </a:prstGeom>
          <a:noFill/>
        </p:spPr>
        <p:txBody>
          <a:bodyPr wrap="square" rtlCol="0">
            <a:spAutoFit/>
          </a:bodyPr>
          <a:lstStyle/>
          <a:p>
            <a:r>
              <a:rPr lang="zh-CN" altLang="en-US" sz="2400" b="1" dirty="0">
                <a:solidFill>
                  <a:srgbClr val="3A536D"/>
                </a:solidFill>
              </a:rPr>
              <a:t>先执行</a:t>
            </a:r>
            <a:r>
              <a:rPr lang="en-US" altLang="zh-CN" sz="2400" b="1" dirty="0" err="1">
                <a:solidFill>
                  <a:srgbClr val="3A536D"/>
                </a:solidFill>
                <a:latin typeface="Consolas" panose="020B0609020204030204" pitchFamily="49" charset="0"/>
              </a:rPr>
              <a:t>cout</a:t>
            </a:r>
            <a:r>
              <a:rPr lang="en-US" altLang="zh-CN" sz="2400" b="1" dirty="0">
                <a:solidFill>
                  <a:srgbClr val="3A536D"/>
                </a:solidFill>
                <a:latin typeface="Consolas" panose="020B0609020204030204" pitchFamily="49" charset="0"/>
              </a:rPr>
              <a:t> &lt;&lt; "hello" </a:t>
            </a:r>
            <a:r>
              <a:rPr lang="zh-CN" altLang="en-US" sz="2400" b="1" dirty="0">
                <a:solidFill>
                  <a:srgbClr val="3A536D"/>
                </a:solidFill>
              </a:rPr>
              <a:t>调用</a:t>
            </a:r>
            <a:r>
              <a:rPr lang="zh-CN" altLang="en-US" sz="2400" b="1" dirty="0">
                <a:solidFill>
                  <a:srgbClr val="00B050"/>
                </a:solidFill>
              </a:rPr>
              <a:t>第二个函数</a:t>
            </a:r>
            <a:r>
              <a:rPr lang="en-US" altLang="zh-CN" sz="2400" b="1" dirty="0">
                <a:solidFill>
                  <a:srgbClr val="00B050"/>
                </a:solidFill>
              </a:rPr>
              <a:t> </a:t>
            </a:r>
            <a:r>
              <a:rPr lang="zh-CN" altLang="en-US" sz="2400" b="1" dirty="0">
                <a:solidFill>
                  <a:srgbClr val="3A536D"/>
                </a:solidFill>
              </a:rPr>
              <a:t>返回</a:t>
            </a:r>
            <a:r>
              <a:rPr lang="en-US" altLang="zh-CN" sz="2400" b="1" dirty="0">
                <a:solidFill>
                  <a:schemeClr val="accent5"/>
                </a:solidFill>
              </a:rPr>
              <a:t>c1</a:t>
            </a:r>
            <a:r>
              <a:rPr lang="zh-CN" altLang="en-US" sz="2400" b="1" dirty="0">
                <a:solidFill>
                  <a:srgbClr val="3A536D"/>
                </a:solidFill>
              </a:rPr>
              <a:t>（</a:t>
            </a:r>
            <a:r>
              <a:rPr lang="en-US" altLang="zh-CN" sz="2400" b="1" dirty="0" err="1">
                <a:solidFill>
                  <a:srgbClr val="3A536D"/>
                </a:solidFill>
              </a:rPr>
              <a:t>cout</a:t>
            </a:r>
            <a:r>
              <a:rPr lang="zh-CN" altLang="en-US" sz="2400" b="1" dirty="0">
                <a:solidFill>
                  <a:srgbClr val="3A536D"/>
                </a:solidFill>
              </a:rPr>
              <a:t>的引用）</a:t>
            </a:r>
            <a:endParaRPr lang="en-US" altLang="zh-CN" sz="2400" b="1" dirty="0">
              <a:solidFill>
                <a:srgbClr val="3A536D"/>
              </a:solidFill>
            </a:endParaRPr>
          </a:p>
          <a:p>
            <a:r>
              <a:rPr lang="zh-CN" altLang="en-US" sz="2400" b="1" dirty="0">
                <a:solidFill>
                  <a:srgbClr val="3A536D"/>
                </a:solidFill>
              </a:rPr>
              <a:t>再执行</a:t>
            </a:r>
            <a:r>
              <a:rPr lang="en-US" altLang="zh-CN" sz="2400" b="1" dirty="0">
                <a:solidFill>
                  <a:schemeClr val="accent5"/>
                </a:solidFill>
                <a:latin typeface="Consolas" panose="020B0609020204030204" pitchFamily="49" charset="0"/>
              </a:rPr>
              <a:t>c1</a:t>
            </a:r>
            <a:r>
              <a:rPr lang="en-US" altLang="zh-CN" sz="2400" b="1" dirty="0">
                <a:solidFill>
                  <a:srgbClr val="3A536D"/>
                </a:solidFill>
                <a:latin typeface="Consolas" panose="020B0609020204030204" pitchFamily="49" charset="0"/>
              </a:rPr>
              <a:t> &lt;&lt; ' ' </a:t>
            </a:r>
            <a:r>
              <a:rPr lang="zh-CN" altLang="en-US" sz="2400" b="1" dirty="0">
                <a:solidFill>
                  <a:srgbClr val="3A536D"/>
                </a:solidFill>
              </a:rPr>
              <a:t>调用</a:t>
            </a:r>
            <a:r>
              <a:rPr lang="zh-CN" altLang="en-US" sz="2400" b="1" dirty="0">
                <a:solidFill>
                  <a:srgbClr val="FF0000"/>
                </a:solidFill>
              </a:rPr>
              <a:t>第一个函数 </a:t>
            </a:r>
            <a:r>
              <a:rPr lang="zh-CN" altLang="en-US" sz="2400" b="1" dirty="0">
                <a:solidFill>
                  <a:srgbClr val="3A536D"/>
                </a:solidFill>
              </a:rPr>
              <a:t>返回</a:t>
            </a:r>
            <a:r>
              <a:rPr lang="en-US" altLang="zh-CN" sz="2400" b="1" dirty="0">
                <a:solidFill>
                  <a:schemeClr val="accent5"/>
                </a:solidFill>
              </a:rPr>
              <a:t>c2</a:t>
            </a:r>
            <a:r>
              <a:rPr lang="en-US" altLang="zh-CN" sz="2400" b="1" dirty="0">
                <a:solidFill>
                  <a:srgbClr val="3A536D"/>
                </a:solidFill>
              </a:rPr>
              <a:t> (</a:t>
            </a:r>
            <a:r>
              <a:rPr lang="en-US" altLang="zh-CN" sz="2400" b="1" dirty="0" err="1">
                <a:solidFill>
                  <a:srgbClr val="3A536D"/>
                </a:solidFill>
              </a:rPr>
              <a:t>cout</a:t>
            </a:r>
            <a:r>
              <a:rPr lang="zh-CN" altLang="en-US" sz="2400" b="1" dirty="0">
                <a:solidFill>
                  <a:srgbClr val="3A536D"/>
                </a:solidFill>
              </a:rPr>
              <a:t>的引用）</a:t>
            </a:r>
            <a:endParaRPr lang="en-US" altLang="zh-CN" sz="2400" b="1" dirty="0">
              <a:solidFill>
                <a:srgbClr val="3A536D"/>
              </a:solidFill>
            </a:endParaRPr>
          </a:p>
          <a:p>
            <a:r>
              <a:rPr lang="zh-CN" altLang="en-US" sz="2400" b="1" dirty="0">
                <a:solidFill>
                  <a:srgbClr val="3A536D"/>
                </a:solidFill>
              </a:rPr>
              <a:t>最后执行</a:t>
            </a:r>
            <a:r>
              <a:rPr lang="en-US" altLang="zh-CN" sz="2400" b="1" dirty="0">
                <a:solidFill>
                  <a:schemeClr val="accent5"/>
                </a:solidFill>
                <a:latin typeface="Consolas" panose="020B0609020204030204" pitchFamily="49" charset="0"/>
              </a:rPr>
              <a:t>c2</a:t>
            </a:r>
            <a:r>
              <a:rPr lang="en-US" altLang="zh-CN" sz="2400" b="1" dirty="0">
                <a:solidFill>
                  <a:srgbClr val="3A536D"/>
                </a:solidFill>
                <a:latin typeface="Consolas" panose="020B0609020204030204" pitchFamily="49" charset="0"/>
              </a:rPr>
              <a:t> &lt;&lt; "world" </a:t>
            </a:r>
            <a:r>
              <a:rPr lang="zh-CN" altLang="en-US" sz="2400" b="1" dirty="0">
                <a:solidFill>
                  <a:srgbClr val="3A536D"/>
                </a:solidFill>
              </a:rPr>
              <a:t>调用</a:t>
            </a:r>
            <a:r>
              <a:rPr lang="zh-CN" altLang="en-US" sz="2400" b="1" dirty="0">
                <a:solidFill>
                  <a:srgbClr val="00B050"/>
                </a:solidFill>
              </a:rPr>
              <a:t>第二个函数</a:t>
            </a:r>
            <a:endParaRPr lang="en-US" altLang="zh-CN" sz="2400" b="1" dirty="0">
              <a:solidFill>
                <a:srgbClr val="00B050"/>
              </a:solidFill>
            </a:endParaRPr>
          </a:p>
        </p:txBody>
      </p:sp>
      <p:sp>
        <p:nvSpPr>
          <p:cNvPr id="8" name="文本框 7"/>
          <p:cNvSpPr txBox="1"/>
          <p:nvPr/>
        </p:nvSpPr>
        <p:spPr>
          <a:xfrm>
            <a:off x="5642186" y="1794797"/>
            <a:ext cx="3670853" cy="2185214"/>
          </a:xfrm>
          <a:prstGeom prst="rect">
            <a:avLst/>
          </a:prstGeom>
          <a:noFill/>
        </p:spPr>
        <p:txBody>
          <a:bodyPr wrap="square" rtlCol="0">
            <a:spAutoFit/>
          </a:bodyPr>
          <a:lstStyle/>
          <a:p>
            <a:r>
              <a:rPr lang="en-US" altLang="zh-CN" b="1" dirty="0" err="1">
                <a:latin typeface="Consolas" panose="020B0609020204030204" pitchFamily="49" charset="0"/>
              </a:rPr>
              <a:t>int</a:t>
            </a:r>
            <a:r>
              <a:rPr lang="en-US" altLang="zh-CN" b="1" dirty="0">
                <a:latin typeface="Consolas" panose="020B0609020204030204" pitchFamily="49" charset="0"/>
              </a:rPr>
              <a:t> main()</a:t>
            </a:r>
          </a:p>
          <a:p>
            <a:r>
              <a:rPr lang="en-US" altLang="zh-CN" b="1" dirty="0">
                <a:latin typeface="Consolas" panose="020B0609020204030204" pitchFamily="49" charset="0"/>
              </a:rPr>
              <a:t>{</a:t>
            </a:r>
          </a:p>
          <a:p>
            <a:r>
              <a:rPr lang="en-US" altLang="zh-CN" b="1" dirty="0">
                <a:latin typeface="Consolas" panose="020B0609020204030204" pitchFamily="49" charset="0"/>
              </a:rPr>
              <a:t>	</a:t>
            </a:r>
            <a:r>
              <a:rPr lang="en-US" altLang="zh-CN" b="1" dirty="0" err="1">
                <a:latin typeface="Consolas" panose="020B0609020204030204" pitchFamily="49" charset="0"/>
              </a:rPr>
              <a:t>cout</a:t>
            </a:r>
            <a:r>
              <a:rPr lang="en-US" altLang="zh-CN" b="1" dirty="0">
                <a:latin typeface="Consolas" panose="020B0609020204030204" pitchFamily="49" charset="0"/>
              </a:rPr>
              <a:t> &lt;&lt; "hello" &lt;&lt; ' '</a:t>
            </a:r>
          </a:p>
          <a:p>
            <a:r>
              <a:rPr lang="en-US" altLang="zh-CN" b="1" dirty="0">
                <a:latin typeface="Consolas" panose="020B0609020204030204" pitchFamily="49" charset="0"/>
              </a:rPr>
              <a:t>		 &lt;&lt; "world";</a:t>
            </a:r>
          </a:p>
          <a:p>
            <a:r>
              <a:rPr lang="en-US" altLang="zh-CN" b="1" dirty="0">
                <a:latin typeface="Consolas" panose="020B0609020204030204" pitchFamily="49" charset="0"/>
              </a:rPr>
              <a:t>    return 0;</a:t>
            </a:r>
          </a:p>
          <a:p>
            <a:r>
              <a:rPr lang="en-US" altLang="zh-CN" b="1" dirty="0">
                <a:latin typeface="Consolas" panose="020B0609020204030204" pitchFamily="49" charset="0"/>
              </a:rPr>
              <a:t>}</a:t>
            </a:r>
            <a:endParaRPr lang="zh-CN" altLang="en-US" sz="2800" b="1" dirty="0">
              <a:latin typeface="Consolas" panose="020B0609020204030204" pitchFamily="49" charset="0"/>
            </a:endParaRPr>
          </a:p>
          <a:p>
            <a:endParaRPr lang="zh-CN" altLang="en-US" b="1" dirty="0">
              <a:latin typeface="Consolas" panose="020B0609020204030204" pitchFamily="49"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格式化输出</a:t>
            </a:r>
          </a:p>
        </p:txBody>
      </p:sp>
      <p:sp>
        <p:nvSpPr>
          <p:cNvPr id="3" name="内容占位符 2"/>
          <p:cNvSpPr>
            <a:spLocks noGrp="1"/>
          </p:cNvSpPr>
          <p:nvPr>
            <p:ph idx="1"/>
          </p:nvPr>
        </p:nvSpPr>
        <p:spPr>
          <a:xfrm>
            <a:off x="683568" y="1251381"/>
            <a:ext cx="8047806" cy="665452"/>
          </a:xfrm>
        </p:spPr>
        <p:txBody>
          <a:bodyPr/>
          <a:lstStyle/>
          <a:p>
            <a:r>
              <a:rPr lang="zh-CN" altLang="en-US" dirty="0"/>
              <a:t>如何格式化输出 </a:t>
            </a:r>
            <a:r>
              <a:rPr lang="en-US" altLang="zh-CN" dirty="0"/>
              <a:t>– #include</a:t>
            </a:r>
            <a:r>
              <a:rPr lang="zh-CN" altLang="en-US" dirty="0"/>
              <a:t> </a:t>
            </a:r>
            <a:r>
              <a:rPr lang="en-US" altLang="zh-CN" dirty="0"/>
              <a:t>&lt;</a:t>
            </a:r>
            <a:r>
              <a:rPr lang="en-US" altLang="zh-CN" dirty="0" err="1"/>
              <a:t>iomanip</a:t>
            </a:r>
            <a:r>
              <a:rPr lang="en-US" altLang="zh-CN" dirty="0"/>
              <a:t>&gt;</a:t>
            </a:r>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a:t>
            </a:fld>
            <a:endParaRPr lang="en-US" altLang="zh-CN"/>
          </a:p>
        </p:txBody>
      </p:sp>
      <p:sp>
        <p:nvSpPr>
          <p:cNvPr id="6" name="文本框 5"/>
          <p:cNvSpPr txBox="1"/>
          <p:nvPr/>
        </p:nvSpPr>
        <p:spPr>
          <a:xfrm>
            <a:off x="954510" y="1916833"/>
            <a:ext cx="7776864" cy="3785652"/>
          </a:xfrm>
          <a:prstGeom prst="rect">
            <a:avLst/>
          </a:prstGeom>
          <a:noFill/>
        </p:spPr>
        <p:txBody>
          <a:bodyPr wrap="square" rtlCol="0">
            <a:spAutoFit/>
          </a:bodyPr>
          <a:lstStyle/>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a:solidFill>
                  <a:srgbClr val="FF0000"/>
                </a:solidFill>
                <a:latin typeface="Consolas" panose="020B0609020204030204" pitchFamily="49" charset="0"/>
              </a:rPr>
              <a:t>fixed</a:t>
            </a:r>
            <a:r>
              <a:rPr lang="en-US" altLang="zh-CN" sz="2000" b="1" dirty="0">
                <a:latin typeface="Consolas" panose="020B0609020204030204" pitchFamily="49" charset="0"/>
              </a:rPr>
              <a:t> &lt;&lt; 2018.0 &lt;&lt; " " &lt;&lt; 0.0001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浮点数 </a:t>
            </a:r>
            <a:r>
              <a:rPr lang="en-US" altLang="zh-CN" sz="2000" b="1" dirty="0">
                <a:solidFill>
                  <a:schemeClr val="accent1"/>
                </a:solidFill>
                <a:latin typeface="Consolas" panose="020B0609020204030204" pitchFamily="49" charset="0"/>
              </a:rPr>
              <a:t>-&gt; 2018.000000 0.000100</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a:solidFill>
                  <a:srgbClr val="FF0000"/>
                </a:solidFill>
                <a:latin typeface="Consolas" panose="020B0609020204030204" pitchFamily="49" charset="0"/>
              </a:rPr>
              <a:t>scientific</a:t>
            </a:r>
            <a:r>
              <a:rPr lang="en-US" altLang="zh-CN" sz="2000" b="1" dirty="0">
                <a:latin typeface="Consolas" panose="020B0609020204030204" pitchFamily="49" charset="0"/>
              </a:rPr>
              <a:t> &lt;&lt; 2018.0 &lt;&lt; " " &lt;&lt; 0.0001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科学计数法 </a:t>
            </a:r>
            <a:r>
              <a:rPr lang="en-US" altLang="zh-CN" sz="2000" b="1" dirty="0">
                <a:solidFill>
                  <a:schemeClr val="accent1"/>
                </a:solidFill>
                <a:latin typeface="Consolas" panose="020B0609020204030204" pitchFamily="49" charset="0"/>
              </a:rPr>
              <a:t>-&gt; 2.018000e+03 1.000000e-04</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solidFill>
                  <a:srgbClr val="FF0000"/>
                </a:solidFill>
                <a:latin typeface="Consolas" panose="020B0609020204030204" pitchFamily="49" charset="0"/>
              </a:rPr>
              <a:t>defaultfloat</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a:t>
            </a:r>
            <a:r>
              <a:rPr lang="zh-CN" altLang="en-US" sz="2000" b="1" dirty="0">
                <a:solidFill>
                  <a:schemeClr val="accent1"/>
                </a:solidFill>
                <a:latin typeface="Consolas" panose="020B0609020204030204" pitchFamily="49" charset="0"/>
              </a:rPr>
              <a:t>还原默认输出格式</a:t>
            </a:r>
            <a:endParaRPr lang="en-US" altLang="zh-CN" sz="2000" b="1" dirty="0">
              <a:solidFill>
                <a:schemeClr val="accent1"/>
              </a:solidFill>
              <a:latin typeface="Consolas" panose="020B0609020204030204" pitchFamily="49" charset="0"/>
            </a:endParaRP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solidFill>
                  <a:srgbClr val="FF0000"/>
                </a:solidFill>
                <a:latin typeface="Consolas" panose="020B0609020204030204" pitchFamily="49" charset="0"/>
              </a:rPr>
              <a:t>setprecision</a:t>
            </a:r>
            <a:r>
              <a:rPr lang="en-US" altLang="zh-CN" sz="2000" b="1" dirty="0">
                <a:latin typeface="Consolas" panose="020B0609020204030204" pitchFamily="49" charset="0"/>
              </a:rPr>
              <a:t>(2) &lt;&lt; 3.1415926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输出精度设置为</a:t>
            </a:r>
            <a:r>
              <a:rPr lang="en-US" altLang="zh-CN" sz="2000" b="1" dirty="0">
                <a:solidFill>
                  <a:schemeClr val="accent1"/>
                </a:solidFill>
                <a:latin typeface="Consolas" panose="020B0609020204030204" pitchFamily="49" charset="0"/>
              </a:rPr>
              <a:t>2 -&gt; 3.2</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a:solidFill>
                  <a:srgbClr val="FF0000"/>
                </a:solidFill>
                <a:latin typeface="Consolas" panose="020B0609020204030204" pitchFamily="49" charset="0"/>
              </a:rPr>
              <a:t>oct</a:t>
            </a:r>
            <a:r>
              <a:rPr lang="en-US" altLang="zh-CN" sz="2000" b="1" dirty="0">
                <a:latin typeface="Consolas" panose="020B0609020204030204" pitchFamily="49" charset="0"/>
              </a:rPr>
              <a:t> &lt;&lt; 12 &lt;&lt; " " &lt;&lt; </a:t>
            </a:r>
            <a:r>
              <a:rPr lang="en-US" altLang="zh-CN" sz="2000" b="1" dirty="0">
                <a:solidFill>
                  <a:srgbClr val="FF0000"/>
                </a:solidFill>
                <a:latin typeface="Consolas" panose="020B0609020204030204" pitchFamily="49" charset="0"/>
              </a:rPr>
              <a:t>hex</a:t>
            </a:r>
            <a:r>
              <a:rPr lang="en-US" altLang="zh-CN" sz="2000" b="1" dirty="0">
                <a:latin typeface="Consolas" panose="020B0609020204030204" pitchFamily="49" charset="0"/>
              </a:rPr>
              <a:t> &lt;&lt; 12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八进制输出 </a:t>
            </a:r>
            <a:r>
              <a:rPr lang="en-US" altLang="zh-CN" sz="2000" b="1" dirty="0">
                <a:solidFill>
                  <a:schemeClr val="accent1"/>
                </a:solidFill>
                <a:latin typeface="Consolas" panose="020B0609020204030204" pitchFamily="49" charset="0"/>
              </a:rPr>
              <a:t>-&gt; 14</a:t>
            </a:r>
            <a:r>
              <a:rPr lang="zh-CN" altLang="en-US" sz="2000" b="1" dirty="0">
                <a:solidFill>
                  <a:schemeClr val="accent1"/>
                </a:solidFill>
                <a:latin typeface="Consolas" panose="020B0609020204030204" pitchFamily="49" charset="0"/>
              </a:rPr>
              <a:t>  十六进制输出 </a:t>
            </a:r>
            <a:r>
              <a:rPr lang="en-US" altLang="zh-CN" sz="2000" b="1" dirty="0">
                <a:solidFill>
                  <a:schemeClr val="accent1"/>
                </a:solidFill>
                <a:latin typeface="Consolas" panose="020B0609020204030204" pitchFamily="49" charset="0"/>
              </a:rPr>
              <a:t>-&gt; c</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solidFill>
                  <a:srgbClr val="FF0000"/>
                </a:solidFill>
                <a:latin typeface="Consolas" panose="020B0609020204030204" pitchFamily="49" charset="0"/>
              </a:rPr>
              <a:t>dec</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a:t>
            </a:r>
            <a:r>
              <a:rPr lang="zh-CN" altLang="en-US" sz="2000" b="1" dirty="0">
                <a:solidFill>
                  <a:schemeClr val="accent1"/>
                </a:solidFill>
                <a:latin typeface="Consolas" panose="020B0609020204030204" pitchFamily="49" charset="0"/>
              </a:rPr>
              <a:t>还原十进制</a:t>
            </a:r>
            <a:endParaRPr lang="en-US" altLang="zh-CN" sz="2000" b="1" dirty="0">
              <a:solidFill>
                <a:schemeClr val="accent1"/>
              </a:solidFill>
              <a:latin typeface="Consolas" panose="020B0609020204030204" pitchFamily="49" charset="0"/>
            </a:endParaRP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solidFill>
                  <a:srgbClr val="FF0000"/>
                </a:solidFill>
                <a:latin typeface="Consolas" panose="020B0609020204030204" pitchFamily="49" charset="0"/>
              </a:rPr>
              <a:t>setw</a:t>
            </a:r>
            <a:r>
              <a:rPr lang="en-US" altLang="zh-CN" sz="2000" b="1" dirty="0">
                <a:latin typeface="Consolas" panose="020B0609020204030204" pitchFamily="49" charset="0"/>
              </a:rPr>
              <a:t>(3) &lt;&lt; </a:t>
            </a:r>
            <a:r>
              <a:rPr lang="en-US" altLang="zh-CN" sz="2000" b="1" dirty="0" err="1">
                <a:solidFill>
                  <a:srgbClr val="FF0000"/>
                </a:solidFill>
                <a:latin typeface="Consolas" panose="020B0609020204030204" pitchFamily="49" charset="0"/>
              </a:rPr>
              <a:t>setfill</a:t>
            </a:r>
            <a:r>
              <a:rPr lang="en-US" altLang="zh-CN" sz="2000" b="1" dirty="0">
                <a:latin typeface="Consolas" panose="020B0609020204030204" pitchFamily="49" charset="0"/>
              </a:rPr>
              <a:t>('*') &lt;&lt; 5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设置对齐长度为</a:t>
            </a:r>
            <a:r>
              <a:rPr lang="en-US" altLang="zh-CN" sz="2000" b="1" dirty="0">
                <a:solidFill>
                  <a:schemeClr val="accent1"/>
                </a:solidFill>
                <a:latin typeface="Consolas" panose="020B0609020204030204" pitchFamily="49" charset="0"/>
              </a:rPr>
              <a:t>3</a:t>
            </a:r>
            <a:r>
              <a:rPr lang="zh-CN" altLang="en-US" sz="2000" b="1" dirty="0">
                <a:solidFill>
                  <a:schemeClr val="accent1"/>
                </a:solidFill>
                <a:latin typeface="Consolas" panose="020B0609020204030204" pitchFamily="49" charset="0"/>
              </a:rPr>
              <a:t>，对齐字符为</a:t>
            </a:r>
            <a:r>
              <a:rPr lang="en-US" altLang="zh-CN" sz="2000" b="1" dirty="0">
                <a:solidFill>
                  <a:schemeClr val="accent1"/>
                </a:solidFill>
                <a:latin typeface="Consolas" panose="020B0609020204030204" pitchFamily="49" charset="0"/>
              </a:rPr>
              <a:t>* -&gt;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格式化输出</a:t>
            </a:r>
          </a:p>
        </p:txBody>
      </p:sp>
      <p:sp>
        <p:nvSpPr>
          <p:cNvPr id="3" name="内容占位符 2"/>
          <p:cNvSpPr>
            <a:spLocks noGrp="1"/>
          </p:cNvSpPr>
          <p:nvPr>
            <p:ph idx="1"/>
          </p:nvPr>
        </p:nvSpPr>
        <p:spPr>
          <a:xfrm>
            <a:off x="628650" y="1628801"/>
            <a:ext cx="8047806" cy="2664296"/>
          </a:xfrm>
        </p:spPr>
        <p:txBody>
          <a:bodyPr/>
          <a:lstStyle/>
          <a:p>
            <a:r>
              <a:rPr lang="zh-CN" altLang="en-US" dirty="0"/>
              <a:t>以</a:t>
            </a:r>
            <a:r>
              <a:rPr lang="en-US" altLang="zh-CN" dirty="0" err="1"/>
              <a:t>setprecision</a:t>
            </a:r>
            <a:r>
              <a:rPr lang="zh-CN" altLang="en-US" dirty="0"/>
              <a:t>为例</a:t>
            </a:r>
            <a:endParaRPr lang="en-US" altLang="zh-CN" dirty="0"/>
          </a:p>
          <a:p>
            <a:pPr lvl="1"/>
            <a:r>
              <a:rPr lang="en-US" altLang="zh-CN" dirty="0" err="1"/>
              <a:t>cout</a:t>
            </a:r>
            <a:r>
              <a:rPr lang="en-US" altLang="zh-CN" dirty="0"/>
              <a:t> &lt;&lt; </a:t>
            </a:r>
            <a:r>
              <a:rPr lang="en-US" altLang="zh-CN" dirty="0" err="1"/>
              <a:t>setprecision</a:t>
            </a:r>
            <a:r>
              <a:rPr lang="en-US" altLang="zh-CN" dirty="0"/>
              <a:t>(2)</a:t>
            </a:r>
            <a:r>
              <a:rPr lang="ja-JP" altLang="en-US" dirty="0"/>
              <a:t> </a:t>
            </a:r>
            <a:r>
              <a:rPr lang="en-US" altLang="ja-JP" dirty="0"/>
              <a:t>&lt;&lt;</a:t>
            </a:r>
            <a:r>
              <a:rPr lang="ja-JP" altLang="en-US" dirty="0"/>
              <a:t> </a:t>
            </a:r>
            <a:r>
              <a:rPr lang="en-US" altLang="ja-JP" dirty="0"/>
              <a:t>1.05 &lt;&lt; </a:t>
            </a:r>
            <a:r>
              <a:rPr lang="en-US" altLang="ja-JP" dirty="0" err="1"/>
              <a:t>endl</a:t>
            </a:r>
            <a:r>
              <a:rPr lang="en-US" altLang="ja-JP" dirty="0"/>
              <a:t>;</a:t>
            </a:r>
          </a:p>
          <a:p>
            <a:pPr lvl="1"/>
            <a:r>
              <a:rPr lang="zh-CN" altLang="en-US" dirty="0"/>
              <a:t>保留</a:t>
            </a:r>
            <a:r>
              <a:rPr lang="en-US" altLang="zh-CN" dirty="0"/>
              <a:t>2</a:t>
            </a:r>
            <a:r>
              <a:rPr lang="zh-CN" altLang="en-US" dirty="0"/>
              <a:t>位精度，输出</a:t>
            </a:r>
            <a:r>
              <a:rPr lang="en-US" altLang="zh-CN" dirty="0"/>
              <a:t>1.1</a:t>
            </a:r>
          </a:p>
          <a:p>
            <a:r>
              <a:rPr lang="zh-CN" altLang="en-US" dirty="0"/>
              <a:t>如何实现？</a:t>
            </a:r>
            <a:endParaRPr lang="en-US" altLang="zh-CN" dirty="0"/>
          </a:p>
          <a:p>
            <a:pPr lvl="1"/>
            <a:r>
              <a:rPr lang="en-US" altLang="zh-CN" dirty="0"/>
              <a:t>C++</a:t>
            </a:r>
            <a:r>
              <a:rPr lang="zh-CN" altLang="en-US" dirty="0"/>
              <a:t>标准中未定义，不同编译器有自己的实现方式</a:t>
            </a:r>
            <a:endParaRPr lang="en-US" altLang="zh-CN" dirty="0"/>
          </a:p>
          <a:p>
            <a:pPr lvl="1"/>
            <a:r>
              <a:rPr lang="zh-CN" altLang="en-US" dirty="0"/>
              <a:t>一种实现方式的示例</a:t>
            </a:r>
            <a:endParaRPr lang="en-US" altLang="zh-CN" dirty="0"/>
          </a:p>
          <a:p>
            <a:pPr lvl="1"/>
            <a:endParaRPr lang="en-US" altLang="ja-JP"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a:t>
            </a:fld>
            <a:endParaRPr lang="en-US" altLang="zh-CN"/>
          </a:p>
        </p:txBody>
      </p:sp>
      <p:sp>
        <p:nvSpPr>
          <p:cNvPr id="5" name="文本框 4"/>
          <p:cNvSpPr txBox="1"/>
          <p:nvPr/>
        </p:nvSpPr>
        <p:spPr>
          <a:xfrm>
            <a:off x="1763688" y="4123997"/>
            <a:ext cx="6624736" cy="2616101"/>
          </a:xfrm>
          <a:prstGeom prst="rect">
            <a:avLst/>
          </a:prstGeom>
          <a:noFill/>
        </p:spPr>
        <p:txBody>
          <a:bodyPr wrap="square" rtlCol="0">
            <a:spAutoFit/>
          </a:bodyPr>
          <a:lstStyle/>
          <a:p>
            <a:r>
              <a:rPr lang="en-US" altLang="zh-CN" b="1" dirty="0">
                <a:latin typeface="Consolas" panose="020B0609020204030204" pitchFamily="49" charset="0"/>
              </a:rPr>
              <a:t>class </a:t>
            </a:r>
            <a:r>
              <a:rPr lang="en-US" altLang="zh-CN" b="1" dirty="0" err="1">
                <a:solidFill>
                  <a:srgbClr val="FF0000"/>
                </a:solidFill>
                <a:latin typeface="Consolas" panose="020B0609020204030204" pitchFamily="49" charset="0"/>
              </a:rPr>
              <a:t>setprecision</a:t>
            </a:r>
            <a:endParaRPr lang="en-US" altLang="zh-CN" b="1" dirty="0">
              <a:solidFill>
                <a:srgbClr val="FF0000"/>
              </a:solidFill>
              <a:latin typeface="Consolas" panose="020B0609020204030204" pitchFamily="49" charset="0"/>
            </a:endParaRPr>
          </a:p>
          <a:p>
            <a:r>
              <a:rPr lang="en-US" altLang="zh-CN" b="1" dirty="0">
                <a:latin typeface="Consolas" panose="020B0609020204030204" pitchFamily="49" charset="0"/>
              </a:rPr>
              <a:t>{</a:t>
            </a:r>
          </a:p>
          <a:p>
            <a:r>
              <a:rPr lang="en-US" altLang="zh-CN" b="1" dirty="0">
                <a:latin typeface="Consolas" panose="020B0609020204030204" pitchFamily="49" charset="0"/>
              </a:rPr>
              <a:t>private:</a:t>
            </a:r>
          </a:p>
          <a:p>
            <a:r>
              <a:rPr lang="en-US" altLang="zh-CN" b="1" dirty="0">
                <a:latin typeface="Consolas" panose="020B0609020204030204" pitchFamily="49" charset="0"/>
              </a:rPr>
              <a:t>	</a:t>
            </a:r>
            <a:r>
              <a:rPr lang="en-US" altLang="zh-CN" b="1" dirty="0" err="1">
                <a:latin typeface="Consolas" panose="020B0609020204030204" pitchFamily="49" charset="0"/>
              </a:rPr>
              <a:t>int</a:t>
            </a:r>
            <a:r>
              <a:rPr lang="en-US" altLang="zh-CN" b="1" dirty="0">
                <a:latin typeface="Consolas" panose="020B0609020204030204" pitchFamily="49" charset="0"/>
              </a:rPr>
              <a:t> </a:t>
            </a:r>
            <a:r>
              <a:rPr lang="en-US" altLang="zh-CN" b="1" dirty="0">
                <a:solidFill>
                  <a:srgbClr val="FF0000"/>
                </a:solidFill>
                <a:latin typeface="Consolas" panose="020B0609020204030204" pitchFamily="49" charset="0"/>
              </a:rPr>
              <a:t>precision</a:t>
            </a:r>
            <a:r>
              <a:rPr lang="en-US" altLang="zh-CN" b="1" dirty="0">
                <a:latin typeface="Consolas" panose="020B0609020204030204" pitchFamily="49" charset="0"/>
              </a:rPr>
              <a:t>;</a:t>
            </a:r>
          </a:p>
          <a:p>
            <a:r>
              <a:rPr lang="en-US" altLang="zh-CN" b="1" dirty="0">
                <a:latin typeface="Consolas" panose="020B0609020204030204" pitchFamily="49" charset="0"/>
              </a:rPr>
              <a:t>public:</a:t>
            </a:r>
          </a:p>
          <a:p>
            <a:r>
              <a:rPr lang="en-US" altLang="zh-CN" b="1" dirty="0">
                <a:latin typeface="Consolas" panose="020B0609020204030204" pitchFamily="49" charset="0"/>
              </a:rPr>
              <a:t>	</a:t>
            </a:r>
            <a:r>
              <a:rPr lang="en-US" altLang="zh-CN" b="1" dirty="0" err="1">
                <a:latin typeface="Consolas" panose="020B0609020204030204" pitchFamily="49" charset="0"/>
              </a:rPr>
              <a:t>setprecision</a:t>
            </a:r>
            <a:r>
              <a:rPr lang="en-US" altLang="zh-CN" b="1" dirty="0">
                <a:latin typeface="Consolas" panose="020B0609020204030204" pitchFamily="49" charset="0"/>
              </a:rPr>
              <a:t>(</a:t>
            </a:r>
            <a:r>
              <a:rPr lang="en-US" altLang="zh-CN" b="1" dirty="0" err="1">
                <a:latin typeface="Consolas" panose="020B0609020204030204" pitchFamily="49" charset="0"/>
              </a:rPr>
              <a:t>int</a:t>
            </a:r>
            <a:r>
              <a:rPr lang="en-US" altLang="zh-CN" b="1" dirty="0">
                <a:latin typeface="Consolas" panose="020B0609020204030204" pitchFamily="49" charset="0"/>
              </a:rPr>
              <a:t> p) : precision(p) {}</a:t>
            </a:r>
          </a:p>
          <a:p>
            <a:r>
              <a:rPr lang="en-US" altLang="zh-CN" b="1" dirty="0">
                <a:latin typeface="Consolas" panose="020B0609020204030204" pitchFamily="49" charset="0"/>
              </a:rPr>
              <a:t>	</a:t>
            </a:r>
            <a:r>
              <a:rPr lang="en-US" altLang="zh-CN" b="1" dirty="0">
                <a:solidFill>
                  <a:srgbClr val="FF0000"/>
                </a:solidFill>
                <a:latin typeface="Consolas" panose="020B0609020204030204" pitchFamily="49" charset="0"/>
              </a:rPr>
              <a:t>friend class </a:t>
            </a:r>
            <a:r>
              <a:rPr lang="en-US" altLang="zh-CN" b="1" dirty="0" err="1">
                <a:solidFill>
                  <a:srgbClr val="FF0000"/>
                </a:solidFill>
                <a:latin typeface="Consolas" panose="020B0609020204030204" pitchFamily="49" charset="0"/>
              </a:rPr>
              <a:t>ostream</a:t>
            </a:r>
            <a:r>
              <a:rPr lang="en-US" altLang="zh-CN" b="1" dirty="0">
                <a:solidFill>
                  <a:srgbClr val="FF0000"/>
                </a:solidFill>
                <a:latin typeface="Consolas" panose="020B0609020204030204" pitchFamily="49" charset="0"/>
              </a:rPr>
              <a:t>;</a:t>
            </a:r>
          </a:p>
          <a:p>
            <a:r>
              <a:rPr lang="en-US" altLang="zh-CN" b="1" dirty="0">
                <a:latin typeface="Consolas" panose="020B0609020204030204" pitchFamily="49" charset="0"/>
              </a:rPr>
              <a:t>};</a:t>
            </a:r>
          </a:p>
          <a:p>
            <a:r>
              <a:rPr lang="en-US" altLang="zh-CN" sz="2000" b="1" dirty="0">
                <a:solidFill>
                  <a:srgbClr val="008000"/>
                </a:solidFill>
                <a:latin typeface="Kaiti SC" panose="02010600040101010101" pitchFamily="2" charset="-122"/>
                <a:ea typeface="Kaiti SC" panose="02010600040101010101" pitchFamily="2" charset="-122"/>
              </a:rPr>
              <a:t>// </a:t>
            </a:r>
            <a:r>
              <a:rPr lang="en-US" altLang="zh-CN" sz="2000" b="1" dirty="0" err="1">
                <a:solidFill>
                  <a:srgbClr val="008000"/>
                </a:solidFill>
                <a:latin typeface="Kaiti SC" panose="02010600040101010101" pitchFamily="2" charset="-122"/>
                <a:ea typeface="Kaiti SC" panose="02010600040101010101" pitchFamily="2" charset="-122"/>
              </a:rPr>
              <a:t>setprecision</a:t>
            </a:r>
            <a:r>
              <a:rPr lang="en-US" altLang="zh-CN" sz="2000" b="1" dirty="0">
                <a:solidFill>
                  <a:srgbClr val="008000"/>
                </a:solidFill>
                <a:latin typeface="Kaiti SC" panose="02010600040101010101" pitchFamily="2" charset="-122"/>
                <a:ea typeface="Kaiti SC" panose="02010600040101010101" pitchFamily="2" charset="-122"/>
              </a:rPr>
              <a:t>(2)</a:t>
            </a:r>
            <a:r>
              <a:rPr lang="zh-CN" altLang="en-US" sz="2000" b="1" dirty="0">
                <a:solidFill>
                  <a:srgbClr val="008000"/>
                </a:solidFill>
                <a:latin typeface="Kaiti SC" panose="02010600040101010101" pitchFamily="2" charset="-122"/>
                <a:ea typeface="Kaiti SC" panose="02010600040101010101" pitchFamily="2" charset="-122"/>
              </a:rPr>
              <a:t> 是一个类的对象</a:t>
            </a:r>
            <a:endParaRPr lang="zh-CN" altLang="en-US" b="1" dirty="0">
              <a:solidFill>
                <a:srgbClr val="008000"/>
              </a:solidFill>
              <a:latin typeface="Kaiti SC" panose="02010600040101010101" pitchFamily="2" charset="-122"/>
              <a:ea typeface="Kaiti SC" panose="0201060004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Consolas" panose="020B0609020204030204" pitchFamily="49" charset="0"/>
              </a:rPr>
              <a:t>流操纵算子</a:t>
            </a:r>
            <a:r>
              <a:rPr lang="en-US" altLang="zh-CN" sz="3200" dirty="0"/>
              <a:t>(stream manipulator)</a:t>
            </a:r>
            <a:endParaRPr lang="zh-CN" altLang="en-US" dirty="0"/>
          </a:p>
        </p:txBody>
      </p:sp>
      <p:sp>
        <p:nvSpPr>
          <p:cNvPr id="3" name="内容占位符 2"/>
          <p:cNvSpPr>
            <a:spLocks noGrp="1"/>
          </p:cNvSpPr>
          <p:nvPr>
            <p:ph idx="1"/>
          </p:nvPr>
        </p:nvSpPr>
        <p:spPr>
          <a:xfrm>
            <a:off x="5419862" y="1844824"/>
            <a:ext cx="3056804" cy="4439703"/>
          </a:xfrm>
        </p:spPr>
        <p:txBody>
          <a:bodyPr/>
          <a:lstStyle/>
          <a:p>
            <a:r>
              <a:rPr lang="zh-CN" altLang="en-US" dirty="0"/>
              <a:t>借助辅助类，</a:t>
            </a:r>
            <a:br>
              <a:rPr lang="en-US" altLang="zh-CN" dirty="0"/>
            </a:br>
            <a:r>
              <a:rPr lang="zh-CN" altLang="en-US" dirty="0"/>
              <a:t>设置成员变量</a:t>
            </a:r>
            <a:endParaRPr lang="en-US" altLang="zh-CN" dirty="0"/>
          </a:p>
          <a:p>
            <a:r>
              <a:rPr lang="zh-CN" altLang="en-US" dirty="0"/>
              <a:t>这种类叫</a:t>
            </a:r>
            <a:br>
              <a:rPr lang="en-US" altLang="zh-CN" dirty="0"/>
            </a:br>
            <a:r>
              <a:rPr lang="zh-CN" altLang="en-US" dirty="0"/>
              <a:t>流操纵算子</a:t>
            </a:r>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11</a:t>
            </a:fld>
            <a:endParaRPr lang="en-US" altLang="zh-CN" dirty="0"/>
          </a:p>
        </p:txBody>
      </p:sp>
      <p:sp>
        <p:nvSpPr>
          <p:cNvPr id="5" name="文本框 4"/>
          <p:cNvSpPr txBox="1"/>
          <p:nvPr/>
        </p:nvSpPr>
        <p:spPr>
          <a:xfrm>
            <a:off x="395536" y="1700808"/>
            <a:ext cx="5620578" cy="5078313"/>
          </a:xfrm>
          <a:prstGeom prst="rect">
            <a:avLst/>
          </a:prstGeom>
          <a:noFill/>
        </p:spPr>
        <p:txBody>
          <a:bodyPr wrap="none" rtlCol="0">
            <a:spAutoFit/>
          </a:bodyPr>
          <a:lstStyle/>
          <a:p>
            <a:r>
              <a:rPr lang="en-US" altLang="zh-CN" sz="2000" b="1" dirty="0">
                <a:latin typeface="Consolas" panose="020B0609020204030204" pitchFamily="49" charset="0"/>
              </a:rPr>
              <a:t>class </a:t>
            </a:r>
            <a:r>
              <a:rPr lang="en-US" altLang="zh-CN" sz="2000" b="1" dirty="0" err="1">
                <a:latin typeface="Consolas" panose="020B0609020204030204" pitchFamily="49" charset="0"/>
              </a:rPr>
              <a:t>ostream</a:t>
            </a:r>
            <a:endParaRPr lang="en-US" altLang="zh-CN" sz="2000" b="1" dirty="0">
              <a:latin typeface="Consolas" panose="020B0609020204030204" pitchFamily="49" charset="0"/>
            </a:endParaRPr>
          </a:p>
          <a:p>
            <a:r>
              <a:rPr lang="en-US" altLang="zh-CN" sz="2000" b="1" dirty="0">
                <a:latin typeface="Consolas" panose="020B0609020204030204" pitchFamily="49" charset="0"/>
              </a:rPr>
              <a:t>{</a:t>
            </a:r>
          </a:p>
          <a:p>
            <a:r>
              <a:rPr lang="en-US" altLang="zh-CN" sz="2000" b="1" dirty="0">
                <a:latin typeface="Consolas" panose="020B0609020204030204" pitchFamily="49" charset="0"/>
              </a:rPr>
              <a:t>private:</a:t>
            </a:r>
          </a:p>
          <a:p>
            <a:r>
              <a:rPr lang="en-US" altLang="zh-CN" sz="2000" b="1" dirty="0">
                <a:latin typeface="Consolas" panose="020B0609020204030204" pitchFamily="49" charset="0"/>
              </a:rPr>
              <a:t>	</a:t>
            </a:r>
            <a:r>
              <a:rPr lang="en-US" altLang="zh-CN" sz="2000" b="1" dirty="0" err="1">
                <a:latin typeface="Consolas" panose="020B0609020204030204" pitchFamily="49" charset="0"/>
              </a:rPr>
              <a:t>int</a:t>
            </a:r>
            <a:r>
              <a:rPr lang="en-US" altLang="zh-CN" sz="2000" b="1" dirty="0">
                <a:latin typeface="Consolas" panose="020B0609020204030204" pitchFamily="49" charset="0"/>
              </a:rPr>
              <a:t> </a:t>
            </a:r>
            <a:r>
              <a:rPr lang="en-US" altLang="zh-CN" sz="2000" b="1" dirty="0">
                <a:solidFill>
                  <a:srgbClr val="FF0000"/>
                </a:solidFill>
                <a:latin typeface="Consolas" panose="020B0609020204030204" pitchFamily="49" charset="0"/>
              </a:rPr>
              <a:t>precision</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a:t>
            </a:r>
            <a:r>
              <a:rPr lang="zh-CN" altLang="en-US" sz="2000" b="1" dirty="0">
                <a:solidFill>
                  <a:schemeClr val="accent1"/>
                </a:solidFill>
                <a:latin typeface="Consolas" panose="020B0609020204030204" pitchFamily="49" charset="0"/>
              </a:rPr>
              <a:t>记录流的状态</a:t>
            </a:r>
            <a:endParaRPr lang="en-US" altLang="zh-CN" sz="2000" b="1" dirty="0">
              <a:solidFill>
                <a:schemeClr val="accent1"/>
              </a:solidFill>
              <a:latin typeface="Consolas" panose="020B0609020204030204" pitchFamily="49" charset="0"/>
            </a:endParaRPr>
          </a:p>
          <a:p>
            <a:r>
              <a:rPr lang="en-US" altLang="zh-CN" sz="2000" b="1" dirty="0">
                <a:latin typeface="Consolas" panose="020B0609020204030204" pitchFamily="49" charset="0"/>
              </a:rPr>
              <a:t>public:</a:t>
            </a:r>
          </a:p>
          <a:p>
            <a:r>
              <a:rPr lang="en-US" altLang="zh-CN" sz="2000" b="1" dirty="0">
                <a:latin typeface="Consolas" panose="020B0609020204030204" pitchFamily="49" charset="0"/>
              </a:rPr>
              <a:t>	</a:t>
            </a:r>
            <a:r>
              <a:rPr lang="en-US" altLang="zh-CN" sz="2000" b="1" dirty="0" err="1">
                <a:latin typeface="Consolas" panose="020B0609020204030204" pitchFamily="49" charset="0"/>
              </a:rPr>
              <a:t>ostream</a:t>
            </a:r>
            <a:r>
              <a:rPr lang="en-US" altLang="zh-CN" sz="2000" b="1" dirty="0">
                <a:latin typeface="Consolas" panose="020B0609020204030204" pitchFamily="49" charset="0"/>
              </a:rPr>
              <a:t>&amp; </a:t>
            </a:r>
            <a:r>
              <a:rPr lang="en-US" altLang="zh-CN" sz="2000" b="1" dirty="0">
                <a:solidFill>
                  <a:srgbClr val="FF0000"/>
                </a:solidFill>
                <a:latin typeface="Consolas" panose="020B0609020204030204" pitchFamily="49" charset="0"/>
              </a:rPr>
              <a:t>operator</a:t>
            </a:r>
            <a:r>
              <a:rPr lang="en-US" altLang="zh-CN" sz="2000" b="1" dirty="0">
                <a:latin typeface="Consolas" panose="020B0609020204030204" pitchFamily="49" charset="0"/>
              </a:rPr>
              <a:t>&lt;&lt;</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const</a:t>
            </a:r>
            <a:r>
              <a:rPr lang="en-US" altLang="zh-CN" sz="2000" b="1" dirty="0">
                <a:latin typeface="Consolas" panose="020B0609020204030204" pitchFamily="49" charset="0"/>
              </a:rPr>
              <a:t> </a:t>
            </a:r>
            <a:r>
              <a:rPr lang="en-US" altLang="zh-CN" sz="2000" b="1" dirty="0" err="1">
                <a:latin typeface="Consolas" panose="020B0609020204030204" pitchFamily="49" charset="0"/>
              </a:rPr>
              <a:t>setprecision</a:t>
            </a:r>
            <a:r>
              <a:rPr lang="en-US" altLang="zh-CN" sz="2000" b="1" dirty="0">
                <a:latin typeface="Consolas" panose="020B0609020204030204" pitchFamily="49" charset="0"/>
              </a:rPr>
              <a:t> &amp;m) {</a:t>
            </a:r>
          </a:p>
          <a:p>
            <a:r>
              <a:rPr lang="en-US" altLang="zh-CN" sz="2000" b="1" dirty="0">
                <a:latin typeface="Consolas" panose="020B0609020204030204" pitchFamily="49" charset="0"/>
              </a:rPr>
              <a:t>		</a:t>
            </a:r>
            <a:r>
              <a:rPr lang="en-US" altLang="zh-CN" sz="2000" b="1" dirty="0">
                <a:solidFill>
                  <a:srgbClr val="FF0000"/>
                </a:solidFill>
                <a:latin typeface="Consolas" panose="020B0609020204030204" pitchFamily="49" charset="0"/>
              </a:rPr>
              <a:t>precision</a:t>
            </a:r>
            <a:r>
              <a:rPr lang="en-US" altLang="zh-CN" sz="2000" b="1" dirty="0">
                <a:latin typeface="Consolas" panose="020B0609020204030204" pitchFamily="49" charset="0"/>
              </a:rPr>
              <a:t> = </a:t>
            </a:r>
            <a:r>
              <a:rPr lang="en-US" altLang="zh-CN" sz="2000" b="1" dirty="0" err="1">
                <a:solidFill>
                  <a:srgbClr val="FF0000"/>
                </a:solidFill>
                <a:latin typeface="Consolas" panose="020B0609020204030204" pitchFamily="49" charset="0"/>
              </a:rPr>
              <a:t>m.precision</a:t>
            </a:r>
            <a:r>
              <a:rPr lang="en-US" altLang="zh-CN" sz="2000" b="1" dirty="0">
                <a:latin typeface="Consolas" panose="020B0609020204030204" pitchFamily="49" charset="0"/>
              </a:rPr>
              <a:t>;</a:t>
            </a:r>
          </a:p>
          <a:p>
            <a:r>
              <a:rPr lang="en-US" altLang="zh-CN" sz="2000" b="1" dirty="0">
                <a:latin typeface="Consolas" panose="020B0609020204030204" pitchFamily="49" charset="0"/>
              </a:rPr>
              <a:t>		return *this;</a:t>
            </a:r>
          </a:p>
          <a:p>
            <a:r>
              <a:rPr lang="en-US" altLang="zh-CN" sz="2000" b="1" dirty="0">
                <a:latin typeface="Consolas" panose="020B0609020204030204" pitchFamily="49" charset="0"/>
              </a:rPr>
              <a:t>	}</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a:t>
            </a:r>
          </a:p>
          <a:p>
            <a:endParaRPr lang="en-US" altLang="zh-CN" sz="3200" b="1" dirty="0">
              <a:latin typeface="Consolas" panose="020B0609020204030204" pitchFamily="49" charset="0"/>
            </a:endParaRPr>
          </a:p>
          <a:p>
            <a:r>
              <a:rPr lang="en-US" altLang="zh-CN" sz="2400" b="1" dirty="0">
                <a:solidFill>
                  <a:srgbClr val="3A536D"/>
                </a:solidFill>
                <a:latin typeface="Consolas" panose="020B0609020204030204" pitchFamily="49" charset="0"/>
              </a:rPr>
              <a:t>	</a:t>
            </a:r>
            <a:r>
              <a:rPr lang="en-US" altLang="zh-CN" sz="2400" b="1" dirty="0" err="1">
                <a:solidFill>
                  <a:srgbClr val="3A536D"/>
                </a:solidFill>
                <a:latin typeface="Consolas" panose="020B0609020204030204" pitchFamily="49" charset="0"/>
              </a:rPr>
              <a:t>cout</a:t>
            </a:r>
            <a:r>
              <a:rPr lang="en-US" altLang="zh-CN" sz="2400" b="1" dirty="0">
                <a:solidFill>
                  <a:srgbClr val="3A536D"/>
                </a:solidFill>
                <a:latin typeface="Consolas" panose="020B0609020204030204" pitchFamily="49" charset="0"/>
              </a:rPr>
              <a:t> &lt;&lt; </a:t>
            </a:r>
            <a:r>
              <a:rPr lang="en-US" altLang="zh-CN" sz="2400" b="1" dirty="0" err="1">
                <a:solidFill>
                  <a:srgbClr val="3A536D"/>
                </a:solidFill>
                <a:latin typeface="Consolas" panose="020B0609020204030204" pitchFamily="49" charset="0"/>
              </a:rPr>
              <a:t>setprecision</a:t>
            </a:r>
            <a:r>
              <a:rPr lang="en-US" altLang="zh-CN" sz="2400" b="1" dirty="0">
                <a:solidFill>
                  <a:srgbClr val="3A536D"/>
                </a:solidFill>
                <a:latin typeface="Consolas" panose="020B0609020204030204" pitchFamily="49" charset="0"/>
              </a:rPr>
              <a:t>(2);</a:t>
            </a:r>
            <a:r>
              <a:rPr lang="zh-CN" altLang="en-US" sz="2400" b="1" dirty="0">
                <a:solidFill>
                  <a:srgbClr val="3A536D"/>
                </a:solidFill>
                <a:latin typeface="Consolas" panose="020B0609020204030204" pitchFamily="49" charset="0"/>
              </a:rPr>
              <a:t> </a:t>
            </a:r>
            <a:endParaRPr lang="en-US" altLang="zh-CN" sz="2400" b="1" dirty="0">
              <a:solidFill>
                <a:srgbClr val="3A536D"/>
              </a:solidFill>
              <a:latin typeface="Consolas" panose="020B0609020204030204" pitchFamily="49" charset="0"/>
            </a:endParaRPr>
          </a:p>
          <a:p>
            <a:r>
              <a:rPr lang="zh-CN" altLang="en-US" sz="2400" b="1" dirty="0">
                <a:solidFill>
                  <a:srgbClr val="3A536D"/>
                </a:solidFill>
                <a:latin typeface="Consolas" panose="020B0609020204030204" pitchFamily="49" charset="0"/>
                <a:ea typeface="Kaiti SC" panose="02010600040101010101" pitchFamily="2" charset="-122"/>
              </a:rPr>
              <a:t>   </a:t>
            </a:r>
            <a:r>
              <a:rPr lang="en-US" altLang="zh-CN" sz="2400" b="1" dirty="0">
                <a:solidFill>
                  <a:srgbClr val="008000"/>
                </a:solidFill>
                <a:latin typeface="Kaiti SC" panose="02010600040101010101" pitchFamily="2" charset="-122"/>
                <a:ea typeface="Kaiti SC" panose="02010600040101010101" pitchFamily="2" charset="-122"/>
              </a:rPr>
              <a:t>// </a:t>
            </a:r>
            <a:r>
              <a:rPr lang="en-US" altLang="zh-CN" sz="2400" b="1" dirty="0" err="1">
                <a:solidFill>
                  <a:srgbClr val="008000"/>
                </a:solidFill>
                <a:latin typeface="Kaiti SC" panose="02010600040101010101" pitchFamily="2" charset="-122"/>
                <a:ea typeface="Kaiti SC" panose="02010600040101010101" pitchFamily="2" charset="-122"/>
              </a:rPr>
              <a:t>setprecision</a:t>
            </a:r>
            <a:r>
              <a:rPr lang="en-US" altLang="zh-CN" sz="2400" b="1" dirty="0">
                <a:solidFill>
                  <a:srgbClr val="008000"/>
                </a:solidFill>
                <a:latin typeface="Kaiti SC" panose="02010600040101010101" pitchFamily="2" charset="-122"/>
                <a:ea typeface="Kaiti SC" panose="02010600040101010101" pitchFamily="2" charset="-122"/>
              </a:rPr>
              <a:t>(2)</a:t>
            </a:r>
            <a:r>
              <a:rPr lang="zh-CN" altLang="en-US" sz="2400" b="1" dirty="0">
                <a:solidFill>
                  <a:srgbClr val="008000"/>
                </a:solidFill>
                <a:latin typeface="Kaiti SC" panose="02010600040101010101" pitchFamily="2" charset="-122"/>
                <a:ea typeface="Kaiti SC" panose="02010600040101010101" pitchFamily="2" charset="-122"/>
              </a:rPr>
              <a:t> 是一个类的对象</a:t>
            </a:r>
          </a:p>
          <a:p>
            <a:endParaRPr lang="zh-CN" altLang="en-US" sz="2400" b="1" dirty="0">
              <a:solidFill>
                <a:srgbClr val="3A536D"/>
              </a:solidFill>
              <a:latin typeface="Consolas" panose="020B0609020204030204" pitchFamily="49"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流操纵算子：</a:t>
            </a:r>
            <a:r>
              <a:rPr lang="en-US" altLang="zh-CN" dirty="0" err="1"/>
              <a:t>endl</a:t>
            </a:r>
            <a:endParaRPr lang="zh-CN" altLang="en-US" dirty="0"/>
          </a:p>
        </p:txBody>
      </p:sp>
      <p:sp>
        <p:nvSpPr>
          <p:cNvPr id="3" name="内容占位符 2"/>
          <p:cNvSpPr>
            <a:spLocks noGrp="1"/>
          </p:cNvSpPr>
          <p:nvPr>
            <p:ph idx="1"/>
          </p:nvPr>
        </p:nvSpPr>
        <p:spPr>
          <a:xfrm>
            <a:off x="662984" y="1295221"/>
            <a:ext cx="8047806" cy="5322710"/>
          </a:xfrm>
        </p:spPr>
        <p:txBody>
          <a:bodyPr/>
          <a:lstStyle/>
          <a:p>
            <a:r>
              <a:rPr lang="en-US" altLang="zh-CN" dirty="0"/>
              <a:t>C++</a:t>
            </a:r>
            <a:r>
              <a:rPr lang="zh-CN" altLang="en-US" dirty="0"/>
              <a:t>标准中</a:t>
            </a:r>
            <a:r>
              <a:rPr lang="en-US" altLang="zh-CN" dirty="0" err="1"/>
              <a:t>endl</a:t>
            </a:r>
            <a:r>
              <a:rPr lang="zh-CN" altLang="en-US" dirty="0"/>
              <a:t>的声明</a:t>
            </a:r>
            <a:endParaRPr lang="en-US" altLang="zh-CN" dirty="0"/>
          </a:p>
          <a:p>
            <a:pPr lvl="1"/>
            <a:r>
              <a:rPr lang="en-US" altLang="zh-CN" dirty="0" err="1"/>
              <a:t>ostream</a:t>
            </a:r>
            <a:r>
              <a:rPr lang="en-US" altLang="zh-CN" dirty="0"/>
              <a:t>&amp; </a:t>
            </a:r>
            <a:r>
              <a:rPr lang="en-US" altLang="zh-CN" dirty="0" err="1"/>
              <a:t>endl</a:t>
            </a:r>
            <a:r>
              <a:rPr lang="en-US" altLang="zh-CN" dirty="0"/>
              <a:t>(</a:t>
            </a:r>
            <a:r>
              <a:rPr lang="en-US" altLang="zh-CN" dirty="0" err="1"/>
              <a:t>ostream</a:t>
            </a:r>
            <a:r>
              <a:rPr lang="en-US" altLang="zh-CN" dirty="0"/>
              <a:t>&amp; </a:t>
            </a:r>
            <a:r>
              <a:rPr lang="en-US" altLang="zh-CN" dirty="0" err="1"/>
              <a:t>os</a:t>
            </a:r>
            <a:r>
              <a:rPr lang="en-US" altLang="zh-CN" dirty="0"/>
              <a:t>);</a:t>
            </a:r>
          </a:p>
          <a:p>
            <a:r>
              <a:rPr lang="en-US" altLang="zh-CN" dirty="0" err="1"/>
              <a:t>endl</a:t>
            </a:r>
            <a:r>
              <a:rPr lang="zh-CN" altLang="en-US" dirty="0"/>
              <a:t>是一个函数</a:t>
            </a:r>
            <a:endParaRPr lang="en-US" altLang="zh-CN" dirty="0"/>
          </a:p>
          <a:p>
            <a:pPr lvl="1"/>
            <a:r>
              <a:rPr lang="zh-CN" altLang="en-US" dirty="0"/>
              <a:t>等同于输出</a:t>
            </a:r>
            <a:r>
              <a:rPr lang="en-US" altLang="zh-CN" dirty="0"/>
              <a:t>'\n'</a:t>
            </a:r>
            <a:r>
              <a:rPr lang="zh-CN" altLang="en-US" dirty="0"/>
              <a:t>，再清空缓冲区 </a:t>
            </a:r>
            <a:r>
              <a:rPr lang="en-US" altLang="zh-CN" dirty="0" err="1"/>
              <a:t>os.flush</a:t>
            </a:r>
            <a:r>
              <a:rPr lang="en-US" altLang="zh-CN" dirty="0"/>
              <a:t>()</a:t>
            </a:r>
          </a:p>
          <a:p>
            <a:pPr lvl="1"/>
            <a:endParaRPr lang="en-US" altLang="zh-CN" dirty="0"/>
          </a:p>
          <a:p>
            <a:pPr lvl="1"/>
            <a:endParaRPr lang="en-US" altLang="zh-CN" dirty="0"/>
          </a:p>
          <a:p>
            <a:pPr lvl="1"/>
            <a:endParaRPr lang="en-US" altLang="zh-CN" dirty="0"/>
          </a:p>
          <a:p>
            <a:pPr lvl="1"/>
            <a:endParaRPr lang="en-US" altLang="zh-CN" dirty="0"/>
          </a:p>
          <a:p>
            <a:pPr lvl="1"/>
            <a:r>
              <a:rPr lang="zh-CN" altLang="en-US" dirty="0"/>
              <a:t>可以调用 </a:t>
            </a:r>
            <a:r>
              <a:rPr lang="en-US" altLang="zh-CN" dirty="0" err="1"/>
              <a:t>endl</a:t>
            </a:r>
            <a:r>
              <a:rPr lang="en-US" altLang="zh-CN" dirty="0"/>
              <a:t>(</a:t>
            </a:r>
            <a:r>
              <a:rPr lang="en-US" altLang="zh-CN" dirty="0" err="1"/>
              <a:t>cout</a:t>
            </a:r>
            <a:r>
              <a:rPr lang="en-US" altLang="zh-CN" dirty="0"/>
              <a:t>);</a:t>
            </a:r>
          </a:p>
          <a:p>
            <a:r>
              <a:rPr lang="zh-CN" altLang="en-US" dirty="0"/>
              <a:t>缓冲区</a:t>
            </a:r>
            <a:endParaRPr lang="en-US" altLang="zh-CN" dirty="0"/>
          </a:p>
          <a:p>
            <a:pPr lvl="1"/>
            <a:r>
              <a:rPr lang="zh-CN" altLang="en-US" dirty="0"/>
              <a:t>目的是减少外部读写次数</a:t>
            </a:r>
            <a:endParaRPr lang="en-US" altLang="zh-CN" dirty="0"/>
          </a:p>
          <a:p>
            <a:pPr lvl="1"/>
            <a:r>
              <a:rPr lang="zh-CN" altLang="en-US" dirty="0"/>
              <a:t>写文件时，只有清空缓冲区或关闭文件才能保证内容正确写入</a:t>
            </a:r>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12</a:t>
            </a:fld>
            <a:endParaRPr lang="en-US" altLang="zh-CN"/>
          </a:p>
        </p:txBody>
      </p:sp>
      <p:sp>
        <p:nvSpPr>
          <p:cNvPr id="5" name="文本框 4"/>
          <p:cNvSpPr txBox="1"/>
          <p:nvPr/>
        </p:nvSpPr>
        <p:spPr>
          <a:xfrm>
            <a:off x="1856280" y="3021920"/>
            <a:ext cx="6624736" cy="1631216"/>
          </a:xfrm>
          <a:prstGeom prst="rect">
            <a:avLst/>
          </a:prstGeom>
          <a:noFill/>
        </p:spPr>
        <p:txBody>
          <a:bodyPr wrap="square" rtlCol="0">
            <a:spAutoFit/>
          </a:bodyPr>
          <a:lstStyle/>
          <a:p>
            <a:r>
              <a:rPr lang="en-US" altLang="zh-CN" sz="2000" b="1" dirty="0" err="1">
                <a:solidFill>
                  <a:srgbClr val="FF0000"/>
                </a:solidFill>
                <a:latin typeface="Consolas" panose="020B0609020204030204" pitchFamily="49" charset="0"/>
              </a:rPr>
              <a:t>ostream</a:t>
            </a:r>
            <a:r>
              <a:rPr lang="en-US" altLang="zh-CN" sz="2000" b="1" dirty="0">
                <a:solidFill>
                  <a:srgbClr val="FF0000"/>
                </a:solidFill>
                <a:latin typeface="Consolas" panose="020B0609020204030204" pitchFamily="49" charset="0"/>
              </a:rPr>
              <a:t>&amp;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r>
              <a:rPr lang="en-US" altLang="zh-CN" sz="2000" b="1" dirty="0" err="1">
                <a:solidFill>
                  <a:srgbClr val="FF0000"/>
                </a:solidFill>
                <a:latin typeface="Consolas" panose="020B0609020204030204" pitchFamily="49" charset="0"/>
              </a:rPr>
              <a:t>ostream</a:t>
            </a:r>
            <a:r>
              <a:rPr lang="en-US" altLang="zh-CN" sz="2000" b="1" dirty="0">
                <a:solidFill>
                  <a:srgbClr val="FF0000"/>
                </a:solidFill>
                <a:latin typeface="Consolas" panose="020B0609020204030204" pitchFamily="49" charset="0"/>
              </a:rPr>
              <a:t>&amp; </a:t>
            </a:r>
            <a:r>
              <a:rPr lang="en-US" altLang="zh-CN" sz="2000" b="1" dirty="0" err="1">
                <a:latin typeface="Consolas" panose="020B0609020204030204" pitchFamily="49" charset="0"/>
              </a:rPr>
              <a:t>os</a:t>
            </a:r>
            <a:r>
              <a:rPr lang="en-US" altLang="zh-CN" sz="2000" b="1" dirty="0">
                <a:latin typeface="Consolas" panose="020B0609020204030204" pitchFamily="49" charset="0"/>
              </a:rPr>
              <a:t>) {</a:t>
            </a:r>
          </a:p>
          <a:p>
            <a:r>
              <a:rPr lang="en-US" altLang="zh-CN" sz="2000" b="1" dirty="0">
                <a:latin typeface="Consolas" panose="020B0609020204030204" pitchFamily="49" charset="0"/>
              </a:rPr>
              <a:t>	</a:t>
            </a:r>
            <a:r>
              <a:rPr lang="en-US" altLang="zh-CN" sz="2000" b="1" dirty="0" err="1">
                <a:latin typeface="Consolas" panose="020B0609020204030204" pitchFamily="49" charset="0"/>
              </a:rPr>
              <a:t>os.put</a:t>
            </a:r>
            <a:r>
              <a:rPr lang="en-US" altLang="zh-CN" sz="2000" b="1" dirty="0">
                <a:latin typeface="Consolas" panose="020B0609020204030204" pitchFamily="49" charset="0"/>
              </a:rPr>
              <a:t>('\n');</a:t>
            </a:r>
          </a:p>
          <a:p>
            <a:r>
              <a:rPr lang="en-US" altLang="zh-CN" sz="2000" b="1" dirty="0">
                <a:latin typeface="Consolas" panose="020B0609020204030204" pitchFamily="49" charset="0"/>
              </a:rPr>
              <a:t>	</a:t>
            </a:r>
            <a:r>
              <a:rPr lang="en-US" altLang="zh-CN" sz="2000" b="1" dirty="0" err="1">
                <a:latin typeface="Consolas" panose="020B0609020204030204" pitchFamily="49" charset="0"/>
              </a:rPr>
              <a:t>os.</a:t>
            </a:r>
            <a:r>
              <a:rPr lang="en-US" altLang="zh-CN" sz="2000" b="1" dirty="0" err="1">
                <a:solidFill>
                  <a:srgbClr val="FF0000"/>
                </a:solidFill>
                <a:latin typeface="Consolas" panose="020B0609020204030204" pitchFamily="49" charset="0"/>
              </a:rPr>
              <a:t>flush</a:t>
            </a:r>
            <a:r>
              <a:rPr lang="en-US" altLang="zh-CN" sz="2000" b="1" dirty="0">
                <a:latin typeface="Consolas" panose="020B0609020204030204" pitchFamily="49" charset="0"/>
              </a:rPr>
              <a:t>();</a:t>
            </a:r>
          </a:p>
          <a:p>
            <a:r>
              <a:rPr lang="en-US" altLang="zh-CN" sz="2000" b="1" dirty="0">
                <a:latin typeface="Consolas" panose="020B0609020204030204" pitchFamily="49" charset="0"/>
              </a:rPr>
              <a:t>	return </a:t>
            </a:r>
            <a:r>
              <a:rPr lang="en-US" altLang="zh-CN" sz="2000" b="1" dirty="0" err="1">
                <a:latin typeface="Consolas" panose="020B0609020204030204" pitchFamily="49" charset="0"/>
              </a:rPr>
              <a:t>os</a:t>
            </a:r>
            <a:r>
              <a:rPr lang="en-US" altLang="zh-CN" sz="2000" b="1" dirty="0">
                <a:latin typeface="Consolas" panose="020B0609020204030204" pitchFamily="49" charset="0"/>
              </a:rPr>
              <a:t>;</a:t>
            </a:r>
          </a:p>
          <a:p>
            <a:r>
              <a:rPr lang="en-US" altLang="zh-CN" sz="2000" b="1" dirty="0">
                <a:latin typeface="Consolas" panose="020B0609020204030204" pitchFamily="49" charset="0"/>
              </a:rPr>
              <a:t>}</a:t>
            </a:r>
          </a:p>
        </p:txBody>
      </p:sp>
      <p:sp>
        <p:nvSpPr>
          <p:cNvPr id="6" name="圆角矩形 5"/>
          <p:cNvSpPr/>
          <p:nvPr/>
        </p:nvSpPr>
        <p:spPr>
          <a:xfrm>
            <a:off x="1403648" y="3029306"/>
            <a:ext cx="4882802" cy="1557596"/>
          </a:xfrm>
          <a:prstGeom prst="roundRect">
            <a:avLst/>
          </a:prstGeom>
          <a:solidFill>
            <a:schemeClr val="accent1">
              <a:alpha val="1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流操纵算子：</a:t>
            </a:r>
            <a:r>
              <a:rPr lang="en-US" altLang="zh-CN" dirty="0" err="1"/>
              <a:t>endl</a:t>
            </a:r>
            <a:endParaRPr lang="zh-CN" altLang="en-US" dirty="0"/>
          </a:p>
        </p:txBody>
      </p:sp>
      <p:sp>
        <p:nvSpPr>
          <p:cNvPr id="3" name="内容占位符 2"/>
          <p:cNvSpPr>
            <a:spLocks noGrp="1"/>
          </p:cNvSpPr>
          <p:nvPr>
            <p:ph idx="1"/>
          </p:nvPr>
        </p:nvSpPr>
        <p:spPr/>
        <p:txBody>
          <a:bodyPr/>
          <a:lstStyle/>
          <a:p>
            <a:r>
              <a:rPr lang="en-US" altLang="zh-CN" dirty="0" err="1"/>
              <a:t>endl</a:t>
            </a:r>
            <a:r>
              <a:rPr lang="zh-CN" altLang="en-US" dirty="0"/>
              <a:t>同时也是流操纵算子，如何实现？</a:t>
            </a:r>
            <a:endParaRPr lang="en-US" altLang="zh-CN" dirty="0"/>
          </a:p>
          <a:p>
            <a:pPr lvl="1"/>
            <a:r>
              <a:rPr lang="en-US" altLang="zh-CN" dirty="0" err="1"/>
              <a:t>cout</a:t>
            </a:r>
            <a:r>
              <a:rPr lang="en-US" altLang="zh-CN" dirty="0"/>
              <a:t> &lt;&lt; </a:t>
            </a:r>
            <a:r>
              <a:rPr lang="en-US" altLang="zh-CN" dirty="0" err="1"/>
              <a:t>endl</a:t>
            </a:r>
            <a:r>
              <a:rPr lang="en-US" altLang="zh-CN" dirty="0"/>
              <a:t>;</a:t>
            </a:r>
            <a:endParaRPr lang="zh-CN" altLang="en-US" dirty="0"/>
          </a:p>
          <a:p>
            <a:endParaRPr lang="en-US" altLang="zh-CN" dirty="0"/>
          </a:p>
          <a:p>
            <a:r>
              <a:rPr lang="zh-CN" altLang="en-US" dirty="0"/>
              <a:t>一种实现方式的示例</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13</a:t>
            </a:fld>
            <a:endParaRPr lang="en-US" altLang="zh-CN"/>
          </a:p>
        </p:txBody>
      </p:sp>
      <p:sp>
        <p:nvSpPr>
          <p:cNvPr id="6" name="文本框 5"/>
          <p:cNvSpPr txBox="1"/>
          <p:nvPr/>
        </p:nvSpPr>
        <p:spPr>
          <a:xfrm>
            <a:off x="1115616" y="3700173"/>
            <a:ext cx="8856984" cy="2677656"/>
          </a:xfrm>
          <a:prstGeom prst="rect">
            <a:avLst/>
          </a:prstGeom>
          <a:noFill/>
        </p:spPr>
        <p:txBody>
          <a:bodyPr wrap="square" rtlCol="0">
            <a:spAutoFit/>
          </a:bodyPr>
          <a:lstStyle/>
          <a:p>
            <a:r>
              <a:rPr lang="en-US" altLang="zh-CN" sz="2800" b="1" dirty="0" err="1">
                <a:latin typeface="Consolas" panose="020B0609020204030204" pitchFamily="49" charset="0"/>
              </a:rPr>
              <a:t>ostream</a:t>
            </a:r>
            <a:r>
              <a:rPr lang="en-US" altLang="zh-CN" sz="2800" b="1" dirty="0">
                <a:latin typeface="Consolas" panose="020B0609020204030204" pitchFamily="49" charset="0"/>
              </a:rPr>
              <a:t>&amp; </a:t>
            </a:r>
            <a:r>
              <a:rPr lang="en-US" altLang="zh-CN" sz="2800" b="1" dirty="0">
                <a:solidFill>
                  <a:srgbClr val="FF0000"/>
                </a:solidFill>
                <a:latin typeface="Consolas" panose="020B0609020204030204" pitchFamily="49" charset="0"/>
              </a:rPr>
              <a:t>operator</a:t>
            </a:r>
            <a:r>
              <a:rPr lang="en-US" altLang="zh-CN" sz="2800" b="1" dirty="0">
                <a:latin typeface="Consolas" panose="020B0609020204030204" pitchFamily="49" charset="0"/>
              </a:rPr>
              <a:t>&lt;&lt;</a:t>
            </a:r>
          </a:p>
          <a:p>
            <a:r>
              <a:rPr lang="en-US" altLang="zh-CN" sz="2800" b="1" dirty="0">
                <a:latin typeface="Consolas" panose="020B0609020204030204" pitchFamily="49" charset="0"/>
              </a:rPr>
              <a:t>		(</a:t>
            </a:r>
            <a:r>
              <a:rPr lang="en-US" altLang="zh-CN" sz="2800" b="1" dirty="0" err="1">
                <a:solidFill>
                  <a:srgbClr val="7030A0"/>
                </a:solidFill>
                <a:latin typeface="Consolas" panose="020B0609020204030204" pitchFamily="49" charset="0"/>
              </a:rPr>
              <a:t>ostream</a:t>
            </a:r>
            <a:r>
              <a:rPr lang="en-US" altLang="zh-CN" sz="2800" b="1" dirty="0">
                <a:solidFill>
                  <a:srgbClr val="7030A0"/>
                </a:solidFill>
                <a:latin typeface="Consolas" panose="020B0609020204030204" pitchFamily="49" charset="0"/>
              </a:rPr>
              <a:t>&amp; </a:t>
            </a:r>
            <a:r>
              <a:rPr lang="en-US" altLang="zh-CN" sz="2800" b="1" dirty="0">
                <a:latin typeface="Consolas" panose="020B0609020204030204" pitchFamily="49" charset="0"/>
              </a:rPr>
              <a:t>(*</a:t>
            </a:r>
            <a:r>
              <a:rPr lang="en-US" altLang="zh-CN" sz="2800" b="1" dirty="0" err="1">
                <a:latin typeface="Consolas" panose="020B0609020204030204" pitchFamily="49" charset="0"/>
              </a:rPr>
              <a:t>fn</a:t>
            </a:r>
            <a:r>
              <a:rPr lang="en-US" altLang="zh-CN" sz="2800" b="1" dirty="0">
                <a:latin typeface="Consolas" panose="020B0609020204030204" pitchFamily="49" charset="0"/>
              </a:rPr>
              <a:t>)(</a:t>
            </a:r>
            <a:r>
              <a:rPr lang="en-US" altLang="zh-CN" sz="2800" b="1" dirty="0" err="1">
                <a:solidFill>
                  <a:srgbClr val="0066CC"/>
                </a:solidFill>
                <a:latin typeface="Consolas" panose="020B0609020204030204" pitchFamily="49" charset="0"/>
              </a:rPr>
              <a:t>ostream</a:t>
            </a:r>
            <a:r>
              <a:rPr lang="en-US" altLang="zh-CN" sz="2800" b="1" dirty="0">
                <a:solidFill>
                  <a:srgbClr val="0066CC"/>
                </a:solidFill>
                <a:latin typeface="Consolas" panose="020B0609020204030204" pitchFamily="49" charset="0"/>
              </a:rPr>
              <a:t>&amp;</a:t>
            </a:r>
            <a:r>
              <a:rPr lang="en-US" altLang="zh-CN" sz="2800" b="1" dirty="0">
                <a:latin typeface="Consolas" panose="020B0609020204030204" pitchFamily="49" charset="0"/>
              </a:rPr>
              <a:t>)) {</a:t>
            </a:r>
          </a:p>
          <a:p>
            <a:r>
              <a:rPr lang="en-US" altLang="zh-CN" sz="2800" b="1" dirty="0">
                <a:latin typeface="Consolas" panose="020B0609020204030204" pitchFamily="49" charset="0"/>
              </a:rPr>
              <a:t>		</a:t>
            </a:r>
            <a:r>
              <a:rPr lang="en-US" altLang="zh-CN" sz="2800" b="1" dirty="0">
                <a:solidFill>
                  <a:srgbClr val="00B050"/>
                </a:solidFill>
                <a:latin typeface="Consolas" panose="020B0609020204030204" pitchFamily="49" charset="0"/>
              </a:rPr>
              <a:t>//</a:t>
            </a:r>
            <a:r>
              <a:rPr lang="zh-CN" altLang="en-US" sz="2800" b="1" dirty="0">
                <a:solidFill>
                  <a:srgbClr val="00B050"/>
                </a:solidFill>
                <a:latin typeface="Consolas" panose="020B0609020204030204" pitchFamily="49" charset="0"/>
              </a:rPr>
              <a:t>流运算符重载，函数指针作为参数</a:t>
            </a:r>
            <a:endParaRPr lang="en-US" altLang="zh-CN" sz="2800" b="1" dirty="0">
              <a:solidFill>
                <a:srgbClr val="00B050"/>
              </a:solidFill>
              <a:latin typeface="Consolas" panose="020B0609020204030204" pitchFamily="49" charset="0"/>
            </a:endParaRPr>
          </a:p>
          <a:p>
            <a:r>
              <a:rPr lang="en-US" altLang="zh-CN" sz="2800" b="1" dirty="0">
                <a:latin typeface="Consolas" panose="020B0609020204030204" pitchFamily="49" charset="0"/>
              </a:rPr>
              <a:t>	return </a:t>
            </a:r>
            <a:r>
              <a:rPr lang="en-US" altLang="zh-CN" sz="2800" b="1" dirty="0">
                <a:solidFill>
                  <a:srgbClr val="FF0000"/>
                </a:solidFill>
                <a:latin typeface="Consolas" panose="020B0609020204030204" pitchFamily="49" charset="0"/>
              </a:rPr>
              <a:t>(*</a:t>
            </a:r>
            <a:r>
              <a:rPr lang="en-US" altLang="zh-CN" sz="2800" b="1" dirty="0" err="1">
                <a:solidFill>
                  <a:srgbClr val="FF0000"/>
                </a:solidFill>
                <a:latin typeface="Consolas" panose="020B0609020204030204" pitchFamily="49" charset="0"/>
              </a:rPr>
              <a:t>fn</a:t>
            </a:r>
            <a:r>
              <a:rPr lang="en-US" altLang="zh-CN" sz="2800" b="1" dirty="0">
                <a:solidFill>
                  <a:srgbClr val="FF0000"/>
                </a:solidFill>
                <a:latin typeface="Consolas" panose="020B0609020204030204" pitchFamily="49" charset="0"/>
              </a:rPr>
              <a:t>)(*this);</a:t>
            </a:r>
          </a:p>
          <a:p>
            <a:r>
              <a:rPr lang="en-US" altLang="zh-CN" sz="2800" b="1" dirty="0">
                <a:latin typeface="Consolas" panose="020B0609020204030204" pitchFamily="49" charset="0"/>
              </a:rPr>
              <a:t>}</a:t>
            </a:r>
          </a:p>
          <a:p>
            <a:endParaRPr lang="zh-CN" altLang="en-US" sz="28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不能复制的</a:t>
            </a:r>
            <a:r>
              <a:rPr lang="en-US" altLang="zh-CN" dirty="0" err="1"/>
              <a:t>cout</a:t>
            </a:r>
            <a:endParaRPr lang="zh-CN" altLang="en-US" dirty="0"/>
          </a:p>
        </p:txBody>
      </p:sp>
      <p:sp>
        <p:nvSpPr>
          <p:cNvPr id="3" name="内容占位符 2"/>
          <p:cNvSpPr>
            <a:spLocks noGrp="1"/>
          </p:cNvSpPr>
          <p:nvPr>
            <p:ph idx="1"/>
          </p:nvPr>
        </p:nvSpPr>
        <p:spPr/>
        <p:txBody>
          <a:bodyPr/>
          <a:lstStyle/>
          <a:p>
            <a:r>
              <a:rPr lang="zh-CN" altLang="en-US" dirty="0"/>
              <a:t>注意重载流运算符的方式</a:t>
            </a:r>
            <a:endParaRPr lang="en-US" altLang="zh-CN" dirty="0"/>
          </a:p>
          <a:p>
            <a:pPr marL="457200" lvl="1" indent="0">
              <a:buNone/>
            </a:pPr>
            <a:r>
              <a:rPr lang="en-US" altLang="zh-CN" sz="2000" dirty="0" err="1">
                <a:solidFill>
                  <a:srgbClr val="FF0000"/>
                </a:solidFill>
              </a:rPr>
              <a:t>ostream</a:t>
            </a:r>
            <a:r>
              <a:rPr lang="en-US" altLang="zh-CN" sz="2000" dirty="0">
                <a:solidFill>
                  <a:srgbClr val="FF0000"/>
                </a:solidFill>
              </a:rPr>
              <a:t>&amp;</a:t>
            </a:r>
            <a:r>
              <a:rPr lang="en-US" altLang="zh-CN" sz="2000" dirty="0"/>
              <a:t> operator&lt;&lt;(</a:t>
            </a:r>
            <a:r>
              <a:rPr lang="en-US" altLang="zh-CN" sz="2000" dirty="0" err="1"/>
              <a:t>const</a:t>
            </a:r>
            <a:r>
              <a:rPr lang="en-US" altLang="zh-CN" sz="2000" dirty="0"/>
              <a:t> char &amp;c)</a:t>
            </a:r>
          </a:p>
          <a:p>
            <a:pPr marL="457200" lvl="1" indent="0">
              <a:buNone/>
            </a:pPr>
            <a:r>
              <a:rPr lang="en-US" altLang="zh-CN" sz="2000" dirty="0"/>
              <a:t>friend </a:t>
            </a:r>
            <a:r>
              <a:rPr lang="en-US" altLang="zh-CN" sz="2000" dirty="0" err="1">
                <a:solidFill>
                  <a:srgbClr val="FF0000"/>
                </a:solidFill>
              </a:rPr>
              <a:t>ostream</a:t>
            </a:r>
            <a:r>
              <a:rPr lang="en-US" altLang="zh-CN" sz="2000" dirty="0">
                <a:solidFill>
                  <a:srgbClr val="FF0000"/>
                </a:solidFill>
              </a:rPr>
              <a:t>&amp;</a:t>
            </a:r>
            <a:r>
              <a:rPr lang="en-US" altLang="zh-CN" sz="2000" dirty="0"/>
              <a:t> operator&lt;&lt;(</a:t>
            </a:r>
            <a:r>
              <a:rPr lang="en-US" altLang="zh-CN" sz="2000" dirty="0" err="1">
                <a:solidFill>
                  <a:srgbClr val="FF0000"/>
                </a:solidFill>
              </a:rPr>
              <a:t>ostream</a:t>
            </a:r>
            <a:r>
              <a:rPr lang="en-US" altLang="zh-CN" sz="2000" dirty="0">
                <a:solidFill>
                  <a:srgbClr val="FF0000"/>
                </a:solidFill>
              </a:rPr>
              <a:t>&amp; </a:t>
            </a:r>
            <a:r>
              <a:rPr lang="en-US" altLang="zh-CN" sz="2000" dirty="0" err="1"/>
              <a:t>os</a:t>
            </a:r>
            <a:r>
              <a:rPr lang="en-US" altLang="zh-CN" sz="2000" dirty="0"/>
              <a:t>, </a:t>
            </a:r>
            <a:r>
              <a:rPr lang="en-US" altLang="zh-CN" sz="2000" dirty="0" err="1"/>
              <a:t>MyClass</a:t>
            </a:r>
            <a:r>
              <a:rPr lang="en-US" altLang="zh-CN" sz="2000" dirty="0"/>
              <a:t> </a:t>
            </a:r>
            <a:r>
              <a:rPr lang="en-US" altLang="zh-CN" sz="2000" dirty="0" err="1"/>
              <a:t>obj</a:t>
            </a:r>
            <a:r>
              <a:rPr lang="en-US" altLang="zh-CN" sz="2000" dirty="0"/>
              <a:t>)</a:t>
            </a:r>
          </a:p>
          <a:p>
            <a:r>
              <a:rPr lang="zh-CN" altLang="en-US" dirty="0"/>
              <a:t>为什么重载流运算符要返回引用？</a:t>
            </a:r>
            <a:endParaRPr lang="en-US" altLang="zh-CN" dirty="0"/>
          </a:p>
          <a:p>
            <a:pPr lvl="1"/>
            <a:r>
              <a:rPr lang="zh-CN" altLang="en-US" dirty="0">
                <a:solidFill>
                  <a:srgbClr val="FF0000"/>
                </a:solidFill>
              </a:rPr>
              <a:t>避免复制</a:t>
            </a:r>
            <a:endParaRPr lang="en-US" altLang="zh-CN" dirty="0">
              <a:solidFill>
                <a:srgbClr val="FF0000"/>
              </a:solidFill>
            </a:endParaRPr>
          </a:p>
          <a:p>
            <a:endParaRPr lang="en-US" altLang="zh-CN" dirty="0"/>
          </a:p>
          <a:p>
            <a:r>
              <a:rPr lang="zh-CN" altLang="en-US" dirty="0"/>
              <a:t>观察</a:t>
            </a:r>
            <a:r>
              <a:rPr lang="en-US" altLang="zh-CN" dirty="0" err="1"/>
              <a:t>ostream</a:t>
            </a:r>
            <a:r>
              <a:rPr lang="zh-CN" altLang="en-US" dirty="0"/>
              <a:t>的复制构造函数</a:t>
            </a:r>
            <a:endParaRPr lang="en-US" altLang="zh-CN" dirty="0"/>
          </a:p>
          <a:p>
            <a:pPr lvl="1"/>
            <a:r>
              <a:rPr lang="en-US" altLang="zh-CN" dirty="0" err="1"/>
              <a:t>ostream</a:t>
            </a:r>
            <a:r>
              <a:rPr lang="en-US" altLang="zh-CN" dirty="0"/>
              <a:t>(</a:t>
            </a:r>
            <a:r>
              <a:rPr lang="en-US" altLang="zh-CN" dirty="0" err="1"/>
              <a:t>const</a:t>
            </a:r>
            <a:r>
              <a:rPr lang="en-US" altLang="zh-CN" dirty="0"/>
              <a:t> </a:t>
            </a:r>
            <a:r>
              <a:rPr lang="en-US" altLang="zh-CN" dirty="0" err="1"/>
              <a:t>ostream</a:t>
            </a:r>
            <a:r>
              <a:rPr lang="en-US" altLang="zh-CN" dirty="0"/>
              <a:t>&amp;) = </a:t>
            </a:r>
            <a:r>
              <a:rPr lang="en-US" altLang="zh-CN" dirty="0">
                <a:solidFill>
                  <a:srgbClr val="FF0000"/>
                </a:solidFill>
              </a:rPr>
              <a:t>delete</a:t>
            </a:r>
            <a:r>
              <a:rPr lang="en-US" altLang="zh-CN" dirty="0"/>
              <a:t>;</a:t>
            </a:r>
          </a:p>
          <a:p>
            <a:pPr lvl="1"/>
            <a:r>
              <a:rPr lang="en-US" altLang="zh-CN" dirty="0" err="1"/>
              <a:t>ostream</a:t>
            </a:r>
            <a:r>
              <a:rPr lang="en-US" altLang="zh-CN" dirty="0"/>
              <a:t>(</a:t>
            </a:r>
            <a:r>
              <a:rPr lang="en-US" altLang="zh-CN" dirty="0" err="1"/>
              <a:t>ostream</a:t>
            </a:r>
            <a:r>
              <a:rPr lang="en-US" altLang="zh-CN" dirty="0"/>
              <a:t>&amp;&amp; x);</a:t>
            </a:r>
          </a:p>
          <a:p>
            <a:pPr lvl="1"/>
            <a:r>
              <a:rPr lang="zh-CN" altLang="en-US" dirty="0">
                <a:solidFill>
                  <a:srgbClr val="FF0000"/>
                </a:solidFill>
              </a:rPr>
              <a:t>禁止复制、只允许移动</a:t>
            </a:r>
            <a:endParaRPr lang="en-US" altLang="zh-CN" dirty="0">
              <a:solidFill>
                <a:srgbClr val="FF0000"/>
              </a:solidFill>
            </a:endParaRPr>
          </a:p>
          <a:p>
            <a:pPr lvl="1"/>
            <a:r>
              <a:rPr lang="zh-CN" altLang="en-US" dirty="0"/>
              <a:t>仅使用</a:t>
            </a:r>
            <a:r>
              <a:rPr lang="en-US" altLang="zh-CN" dirty="0" err="1"/>
              <a:t>cout</a:t>
            </a:r>
            <a:r>
              <a:rPr lang="zh-CN" altLang="en-US" dirty="0"/>
              <a:t>一个全局对象</a:t>
            </a:r>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不能复制的</a:t>
            </a:r>
            <a:r>
              <a:rPr lang="en-US" altLang="zh-CN" dirty="0" err="1"/>
              <a:t>cout</a:t>
            </a:r>
            <a:endParaRPr lang="zh-CN" altLang="en-US" dirty="0"/>
          </a:p>
        </p:txBody>
      </p:sp>
      <p:sp>
        <p:nvSpPr>
          <p:cNvPr id="3" name="内容占位符 2"/>
          <p:cNvSpPr>
            <a:spLocks noGrp="1"/>
          </p:cNvSpPr>
          <p:nvPr>
            <p:ph idx="1"/>
          </p:nvPr>
        </p:nvSpPr>
        <p:spPr/>
        <p:txBody>
          <a:bodyPr/>
          <a:lstStyle/>
          <a:p>
            <a:r>
              <a:rPr lang="zh-CN" altLang="en-US" dirty="0"/>
              <a:t>为什么只能使用一个对象？</a:t>
            </a:r>
            <a:endParaRPr lang="en-US" altLang="zh-CN" dirty="0"/>
          </a:p>
          <a:p>
            <a:pPr lvl="1"/>
            <a:r>
              <a:rPr lang="zh-CN" altLang="en-US" dirty="0"/>
              <a:t>减少复制开销</a:t>
            </a:r>
            <a:endParaRPr lang="en-US" altLang="zh-CN" dirty="0"/>
          </a:p>
          <a:p>
            <a:pPr lvl="1"/>
            <a:r>
              <a:rPr lang="zh-CN" altLang="en-US" dirty="0"/>
              <a:t>一个对象对应一个标准输出，符合</a:t>
            </a:r>
            <a:r>
              <a:rPr lang="en-US" altLang="zh-CN" dirty="0"/>
              <a:t>OOP</a:t>
            </a:r>
            <a:r>
              <a:rPr lang="zh-CN" altLang="en-US" dirty="0"/>
              <a:t>思想</a:t>
            </a:r>
            <a:endParaRPr lang="en-US" altLang="zh-CN" dirty="0"/>
          </a:p>
          <a:p>
            <a:pPr lvl="1"/>
            <a:r>
              <a:rPr lang="zh-CN" altLang="en-US" dirty="0"/>
              <a:t>多个对象之间</a:t>
            </a:r>
            <a:r>
              <a:rPr lang="zh-CN" altLang="en-US" dirty="0">
                <a:solidFill>
                  <a:srgbClr val="FF0000"/>
                </a:solidFill>
              </a:rPr>
              <a:t>无法同步输出状态</a:t>
            </a:r>
            <a:endParaRPr lang="en-US" altLang="zh-CN" dirty="0">
              <a:solidFill>
                <a:srgbClr val="FF0000"/>
              </a:solidFill>
            </a:endParaRPr>
          </a:p>
          <a:p>
            <a:endParaRPr lang="en-US" altLang="zh-CN" dirty="0"/>
          </a:p>
          <a:p>
            <a:r>
              <a:rPr lang="zh-CN" altLang="en-US" dirty="0"/>
              <a:t>是否能做得更好？</a:t>
            </a:r>
            <a:endParaRPr lang="en-US" altLang="zh-CN" dirty="0"/>
          </a:p>
          <a:p>
            <a:pPr lvl="1"/>
            <a:r>
              <a:rPr lang="zh-CN" altLang="en-US" dirty="0"/>
              <a:t>全局对象往往引入初始化顺序问题</a:t>
            </a:r>
            <a:endParaRPr lang="en-US" altLang="zh-CN" dirty="0"/>
          </a:p>
          <a:p>
            <a:pPr lvl="1"/>
            <a:r>
              <a:rPr lang="zh-CN" altLang="en-US" dirty="0"/>
              <a:t>单件模式（</a:t>
            </a:r>
            <a:r>
              <a:rPr lang="en-US" altLang="zh-CN" dirty="0"/>
              <a:t>Singleton Pattern</a:t>
            </a:r>
            <a:r>
              <a:rPr lang="zh-CN" altLang="en-US" dirty="0"/>
              <a:t>）</a:t>
            </a:r>
            <a:endParaRPr lang="en-US" altLang="zh-CN" dirty="0"/>
          </a:p>
          <a:p>
            <a:pPr lvl="1"/>
            <a:r>
              <a:rPr lang="zh-CN" altLang="en-US" dirty="0"/>
              <a:t>在之后的设计模式中会介绍</a:t>
            </a:r>
            <a:endParaRPr lang="en-US" altLang="zh-CN" dirty="0"/>
          </a:p>
          <a:p>
            <a:pPr lvl="1"/>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15</a:t>
            </a:fld>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FD7BE51-03DD-4CCA-8227-D775462981B4}" type="slidenum">
              <a:rPr lang="en-US" altLang="zh-CN"/>
              <a:t>16</a:t>
            </a:fld>
            <a:endParaRPr lang="en-US" altLang="zh-CN"/>
          </a:p>
        </p:txBody>
      </p:sp>
      <p:sp>
        <p:nvSpPr>
          <p:cNvPr id="6" name="文本框 5"/>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zh-CN" sz="2600" b="1" dirty="0">
                <a:solidFill>
                  <a:srgbClr val="000000"/>
                </a:solidFill>
                <a:latin typeface="微软雅黑" panose="020B0503020204020204" pitchFamily="34" charset="-122"/>
                <a:ea typeface="微软雅黑" panose="020B0503020204020204" pitchFamily="34" charset="-122"/>
              </a:rPr>
              <a:t>下列说法正确的是</a:t>
            </a:r>
          </a:p>
        </p:txBody>
      </p:sp>
      <p:sp>
        <p:nvSpPr>
          <p:cNvPr id="7" name="文本框 6"/>
          <p:cNvSpPr txBox="1"/>
          <p:nvPr>
            <p:custDataLst>
              <p:tags r:id="rId3"/>
            </p:custDataLst>
          </p:nvPr>
        </p:nvSpPr>
        <p:spPr>
          <a:xfrm>
            <a:off x="1828800" y="2785745"/>
            <a:ext cx="6559624" cy="642620"/>
          </a:xfrm>
          <a:prstGeom prst="rect">
            <a:avLst/>
          </a:prstGeom>
          <a:noFill/>
        </p:spPr>
        <p:txBody>
          <a:bodyPr wrap="square" rtlCol="0" anchor="ctr" anchorCtr="0">
            <a:noAutofit/>
          </a:bodyPr>
          <a:lstStyle/>
          <a:p>
            <a:pPr lvl="0" algn="l">
              <a:buNone/>
            </a:pPr>
            <a:r>
              <a:rPr lang="zh-CN" altLang="en-US" sz="2400" b="1" dirty="0">
                <a:solidFill>
                  <a:srgbClr val="000000"/>
                </a:solidFill>
                <a:latin typeface="微软雅黑" panose="020B0503020204020204" pitchFamily="34" charset="-122"/>
                <a:ea typeface="微软雅黑" panose="020B0503020204020204" pitchFamily="34" charset="-122"/>
                <a:sym typeface="+mn-ea"/>
              </a:rPr>
              <a:t>流输出运算符</a:t>
            </a:r>
            <a:r>
              <a:rPr lang="en-US" altLang="zh-CN" sz="2400" b="1" dirty="0">
                <a:solidFill>
                  <a:srgbClr val="000000"/>
                </a:solidFill>
                <a:latin typeface="微软雅黑" panose="020B0503020204020204" pitchFamily="34" charset="-122"/>
                <a:ea typeface="微软雅黑" panose="020B0503020204020204" pitchFamily="34" charset="-122"/>
                <a:sym typeface="+mn-ea"/>
              </a:rPr>
              <a:t>&lt;&lt;</a:t>
            </a:r>
            <a:r>
              <a:rPr lang="zh-CN" altLang="en-US" sz="2400" b="1" dirty="0">
                <a:solidFill>
                  <a:srgbClr val="000000"/>
                </a:solidFill>
                <a:latin typeface="微软雅黑" panose="020B0503020204020204" pitchFamily="34" charset="-122"/>
                <a:ea typeface="微软雅黑" panose="020B0503020204020204" pitchFamily="34" charset="-122"/>
                <a:sym typeface="+mn-ea"/>
              </a:rPr>
              <a:t>的两个参数分别是</a:t>
            </a:r>
            <a:r>
              <a:rPr lang="en-US" altLang="zh-CN" sz="2400" b="1" dirty="0">
                <a:solidFill>
                  <a:srgbClr val="000000"/>
                </a:solidFill>
                <a:latin typeface="微软雅黑" panose="020B0503020204020204" pitchFamily="34" charset="-122"/>
                <a:ea typeface="微软雅黑" panose="020B0503020204020204" pitchFamily="34" charset="-122"/>
                <a:sym typeface="+mn-ea"/>
              </a:rPr>
              <a:t>o</a:t>
            </a:r>
            <a:r>
              <a:rPr lang="zh-CN" altLang="en-US" sz="2400" b="1" dirty="0">
                <a:solidFill>
                  <a:srgbClr val="000000"/>
                </a:solidFill>
                <a:latin typeface="微软雅黑" panose="020B0503020204020204" pitchFamily="34" charset="-122"/>
                <a:ea typeface="微软雅黑" panose="020B0503020204020204" pitchFamily="34" charset="-122"/>
                <a:sym typeface="+mn-ea"/>
              </a:rPr>
              <a:t>stream</a:t>
            </a:r>
            <a:r>
              <a:rPr lang="en-US" altLang="zh-CN" sz="2400" b="1" dirty="0">
                <a:solidFill>
                  <a:srgbClr val="000000"/>
                </a:solidFill>
                <a:latin typeface="微软雅黑" panose="020B0503020204020204" pitchFamily="34" charset="-122"/>
                <a:ea typeface="微软雅黑" panose="020B0503020204020204" pitchFamily="34" charset="-122"/>
                <a:sym typeface="+mn-ea"/>
              </a:rPr>
              <a:t>&amp;</a:t>
            </a:r>
            <a:r>
              <a:rPr lang="zh-CN" altLang="en-US" sz="2400" b="1" dirty="0">
                <a:solidFill>
                  <a:srgbClr val="000000"/>
                </a:solidFill>
                <a:latin typeface="微软雅黑" panose="020B0503020204020204" pitchFamily="34" charset="-122"/>
                <a:ea typeface="微软雅黑" panose="020B0503020204020204" pitchFamily="34" charset="-122"/>
                <a:sym typeface="+mn-ea"/>
              </a:rPr>
              <a:t>和</a:t>
            </a:r>
            <a:r>
              <a:rPr lang="en-US" altLang="zh-CN" sz="2400" b="1" dirty="0">
                <a:solidFill>
                  <a:srgbClr val="000000"/>
                </a:solidFill>
                <a:latin typeface="微软雅黑" panose="020B0503020204020204" pitchFamily="34" charset="-122"/>
                <a:ea typeface="微软雅黑" panose="020B0503020204020204" pitchFamily="34" charset="-122"/>
                <a:sym typeface="+mn-ea"/>
              </a:rPr>
              <a:t>T&amp;</a:t>
            </a:r>
            <a:r>
              <a:rPr lang="zh-CN" altLang="en-US" sz="2400" b="1" dirty="0">
                <a:solidFill>
                  <a:srgbClr val="000000"/>
                </a:solidFill>
                <a:latin typeface="微软雅黑" panose="020B0503020204020204" pitchFamily="34" charset="-122"/>
                <a:ea typeface="微软雅黑" panose="020B0503020204020204" pitchFamily="34" charset="-122"/>
                <a:sym typeface="+mn-ea"/>
              </a:rPr>
              <a:t>，其中第二个参数必须为引用。</a:t>
            </a:r>
            <a:endParaRPr lang="zh-CN" altLang="en-US" sz="2400" b="1" dirty="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4"/>
            </p:custDataLst>
          </p:nvPr>
        </p:nvSpPr>
        <p:spPr>
          <a:xfrm>
            <a:off x="1828800" y="3642995"/>
            <a:ext cx="6400800" cy="642620"/>
          </a:xfrm>
          <a:prstGeom prst="rect">
            <a:avLst/>
          </a:prstGeom>
          <a:noFill/>
        </p:spPr>
        <p:txBody>
          <a:bodyPr wrap="square" rtlCol="0" anchor="ctr" anchorCtr="0">
            <a:noAutofit/>
          </a:bodyPr>
          <a:lstStyle/>
          <a:p>
            <a:pPr lvl="0" algn="l">
              <a:buClrTx/>
              <a:buSzTx/>
              <a:buFontTx/>
            </a:pPr>
            <a:r>
              <a:rPr lang="en-US" altLang="zh-CN" sz="2600" b="1" dirty="0" err="1">
                <a:solidFill>
                  <a:srgbClr val="000000"/>
                </a:solidFill>
                <a:latin typeface="微软雅黑" panose="020B0503020204020204" pitchFamily="34" charset="-122"/>
                <a:ea typeface="微软雅黑" panose="020B0503020204020204" pitchFamily="34" charset="-122"/>
                <a:sym typeface="+mn-ea"/>
              </a:rPr>
              <a:t>cin</a:t>
            </a:r>
            <a:r>
              <a:rPr lang="zh-CN" altLang="en-US" sz="2600" b="1" dirty="0">
                <a:solidFill>
                  <a:srgbClr val="000000"/>
                </a:solidFill>
                <a:latin typeface="微软雅黑" panose="020B0503020204020204" pitchFamily="34" charset="-122"/>
                <a:ea typeface="微软雅黑" panose="020B0503020204020204" pitchFamily="34" charset="-122"/>
                <a:sym typeface="+mn-ea"/>
              </a:rPr>
              <a:t>和</a:t>
            </a:r>
            <a:r>
              <a:rPr lang="en-US" altLang="zh-CN" sz="2600" b="1" dirty="0" err="1">
                <a:solidFill>
                  <a:srgbClr val="000000"/>
                </a:solidFill>
                <a:latin typeface="微软雅黑" panose="020B0503020204020204" pitchFamily="34" charset="-122"/>
                <a:ea typeface="微软雅黑" panose="020B0503020204020204" pitchFamily="34" charset="-122"/>
                <a:sym typeface="+mn-ea"/>
              </a:rPr>
              <a:t>cout</a:t>
            </a:r>
            <a:r>
              <a:rPr lang="zh-CN" altLang="en-US" sz="2600" b="1" dirty="0">
                <a:solidFill>
                  <a:srgbClr val="000000"/>
                </a:solidFill>
                <a:latin typeface="微软雅黑" panose="020B0503020204020204" pitchFamily="34" charset="-122"/>
                <a:ea typeface="微软雅黑" panose="020B0503020204020204" pitchFamily="34" charset="-122"/>
                <a:sym typeface="+mn-ea"/>
              </a:rPr>
              <a:t>是类，而不是对象</a:t>
            </a:r>
          </a:p>
        </p:txBody>
      </p:sp>
      <p:sp>
        <p:nvSpPr>
          <p:cNvPr id="9" name="文本框 8"/>
          <p:cNvSpPr txBox="1"/>
          <p:nvPr>
            <p:custDataLst>
              <p:tags r:id="rId5"/>
            </p:custDataLst>
          </p:nvPr>
        </p:nvSpPr>
        <p:spPr>
          <a:xfrm>
            <a:off x="1828800" y="4500245"/>
            <a:ext cx="6686550" cy="642620"/>
          </a:xfrm>
          <a:prstGeom prst="rect">
            <a:avLst/>
          </a:prstGeom>
          <a:noFill/>
        </p:spPr>
        <p:txBody>
          <a:bodyPr wrap="square" rtlCol="0" anchor="ctr" anchorCtr="0">
            <a:noAutofit/>
          </a:bodyPr>
          <a:lstStyle/>
          <a:p>
            <a:pPr lvl="0"/>
            <a:r>
              <a:rPr lang="zh-CN" altLang="en-US" sz="2600" b="1" dirty="0">
                <a:solidFill>
                  <a:srgbClr val="000000"/>
                </a:solidFill>
                <a:latin typeface="微软雅黑" panose="020B0503020204020204" pitchFamily="34" charset="-122"/>
                <a:ea typeface="微软雅黑" panose="020B0503020204020204" pitchFamily="34" charset="-122"/>
                <a:sym typeface="+mn-ea"/>
              </a:rPr>
              <a:t>重载流运算符要返回引用的原因是避免复制</a:t>
            </a:r>
          </a:p>
        </p:txBody>
      </p:sp>
      <p:sp>
        <p:nvSpPr>
          <p:cNvPr id="10" name="文本框 9"/>
          <p:cNvSpPr txBox="1"/>
          <p:nvPr>
            <p:custDataLst>
              <p:tags r:id="rId6"/>
            </p:custDataLst>
          </p:nvPr>
        </p:nvSpPr>
        <p:spPr>
          <a:xfrm>
            <a:off x="1828800" y="5357495"/>
            <a:ext cx="6400800" cy="642620"/>
          </a:xfrm>
          <a:prstGeom prst="rect">
            <a:avLst/>
          </a:prstGeom>
          <a:noFill/>
        </p:spPr>
        <p:txBody>
          <a:bodyPr wrap="square" rtlCol="0" anchor="ctr" anchorCtr="0">
            <a:noAutofit/>
          </a:bodyPr>
          <a:lstStyle/>
          <a:p>
            <a:pPr lvl="0" algn="l">
              <a:buClrTx/>
              <a:buSzTx/>
              <a:buFontTx/>
            </a:pPr>
            <a:r>
              <a:rPr lang="zh-CN" altLang="en-US" sz="2600" b="1" dirty="0">
                <a:solidFill>
                  <a:srgbClr val="000000"/>
                </a:solidFill>
                <a:latin typeface="微软雅黑" panose="020B0503020204020204" pitchFamily="34" charset="-122"/>
                <a:ea typeface="微软雅黑" panose="020B0503020204020204" pitchFamily="34" charset="-122"/>
                <a:sym typeface="+mn-ea"/>
              </a:rPr>
              <a:t>流操纵算子endl等同于输出'\n'，没有其他作用</a:t>
            </a:r>
          </a:p>
        </p:txBody>
      </p:sp>
      <p:sp>
        <p:nvSpPr>
          <p:cNvPr id="11" name="椭圆 10"/>
          <p:cNvSpPr>
            <a:spLocks noChangeAspect="1"/>
          </p:cNvSpPr>
          <p:nvPr>
            <p:custDataLst>
              <p:tags r:id="rId7"/>
            </p:custDataLst>
          </p:nvPr>
        </p:nvSpPr>
        <p:spPr>
          <a:xfrm>
            <a:off x="1114425" y="284988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8"/>
            </p:custDataLst>
          </p:nvPr>
        </p:nvSpPr>
        <p:spPr>
          <a:xfrm>
            <a:off x="1114425" y="37071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9"/>
            </p:custDataLst>
          </p:nvPr>
        </p:nvSpPr>
        <p:spPr>
          <a:xfrm>
            <a:off x="1114425" y="4564380"/>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10"/>
            </p:custDataLst>
          </p:nvPr>
        </p:nvSpPr>
        <p:spPr>
          <a:xfrm>
            <a:off x="1114425" y="5421630"/>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en" altLang="zh-CN"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圆角矩形 14"/>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4" name="文本框 23"/>
          <p:cNvSpPr txBox="1"/>
          <p:nvPr>
            <p:custDataLst>
              <p:tags r:id="rId13"/>
            </p:custDataLst>
          </p:nvPr>
        </p:nvSpPr>
        <p:spPr>
          <a:xfrm>
            <a:off x="9613900" y="6219110"/>
            <a:ext cx="6692858" cy="276999"/>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wrap="none" rtlCol="0" anchor="ctr">
            <a:spAutoFit/>
          </a:bodyPr>
          <a:lstStyle/>
          <a:p>
            <a:r>
              <a:rPr lang="zh-CN" altLang="en-US" sz="1200" b="1">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b="1">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b="1">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endParaRPr lang="zh-CN" altLang="en-US" sz="1200" b="1"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文本框 24"/>
          <p:cNvSpPr txBox="1"/>
          <p:nvPr>
            <p:custDataLst>
              <p:tags r:id="rId14"/>
            </p:custDataLst>
          </p:nvPr>
        </p:nvSpPr>
        <p:spPr>
          <a:xfrm>
            <a:off x="9525000" y="1270000"/>
            <a:ext cx="3829895" cy="2862322"/>
          </a:xfrm>
          <a:prstGeom prst="rect">
            <a:avLst/>
          </a:prstGeom>
          <a:noFill/>
        </p:spPr>
        <p:txBody>
          <a:bodyPr vert="horz" wrap="none" rtlCol="0" anchor="t" anchorCtr="0">
            <a:spAutoFit/>
          </a:bodyPr>
          <a:lstStyle/>
          <a:p>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 </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第二个参数可以是，</a:t>
            </a:r>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T&amp;</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const T</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a:t>
            </a:r>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const T &amp;</a:t>
            </a:r>
          </a:p>
          <a:p>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B </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cin</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是</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istream</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类的对象</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cout</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是</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ostream</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类的对象</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D </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endl</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还会对</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cout</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调用</a:t>
            </a:r>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flush</a:t>
            </a:r>
          </a:p>
          <a:p>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函数</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3" name="组合 22"/>
          <p:cNvGrpSpPr/>
          <p:nvPr>
            <p:custDataLst>
              <p:tags r:id="rId15"/>
            </p:custDataLst>
          </p:nvPr>
        </p:nvGrpSpPr>
        <p:grpSpPr>
          <a:xfrm>
            <a:off x="9537700" y="0"/>
            <a:ext cx="3815080" cy="647700"/>
            <a:chOff x="9537700" y="0"/>
            <a:chExt cx="3815080" cy="647700"/>
          </a:xfrm>
        </p:grpSpPr>
        <p:sp>
          <p:nvSpPr>
            <p:cNvPr id="3"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0" name="组合 19"/>
          <p:cNvGrpSpPr/>
          <p:nvPr>
            <p:custDataLst>
              <p:tags r:id="rId19"/>
            </p:custDataLst>
          </p:nvPr>
        </p:nvGrpSpPr>
        <p:grpSpPr>
          <a:xfrm>
            <a:off x="0" y="0"/>
            <a:ext cx="9144000" cy="635000"/>
            <a:chOff x="0" y="0"/>
            <a:chExt cx="14400" cy="1000"/>
          </a:xfrm>
        </p:grpSpPr>
        <p:sp>
          <p:nvSpPr>
            <p:cNvPr id="16" name="TitleBackground"/>
            <p:cNvSpPr/>
            <p:nvPr>
              <p:custDataLst>
                <p:tags r:id="rId21"/>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2"/>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3"/>
              </p:custDataLst>
            </p:nvPr>
          </p:nvSpPr>
          <p:spPr>
            <a:xfrm>
              <a:off x="400" y="0"/>
              <a:ext cx="3000" cy="1000"/>
            </a:xfrm>
            <a:prstGeom prst="rect">
              <a:avLst/>
            </a:prstGeom>
            <a:noFill/>
          </p:spPr>
          <p:txBody>
            <a:bodyPr wrap="none" rtlCol="0" anchor="ctr" anchorCtr="0">
              <a:noAutofit/>
            </a:bodyPr>
            <a:lstStyle/>
            <a:p>
              <a:pPr lvl="0" algn="l">
                <a:buNone/>
              </a:pPr>
              <a:r>
                <a:rPr lang="zh-CN" altLang="en-US" sz="2600" b="1" dirty="0">
                  <a:solidFill>
                    <a:srgbClr val="000000"/>
                  </a:solidFill>
                  <a:latin typeface="微软雅黑" panose="020B0503020204020204" pitchFamily="34" charset="-122"/>
                  <a:ea typeface="微软雅黑" panose="020B0503020204020204" pitchFamily="34" charset="-122"/>
                </a:rPr>
                <a:t>单选题</a:t>
              </a:r>
            </a:p>
          </p:txBody>
        </p:sp>
        <p:sp>
          <p:nvSpPr>
            <p:cNvPr id="19" name="TipText"/>
            <p:cNvSpPr txBox="1"/>
            <p:nvPr>
              <p:custDataLst>
                <p:tags r:id="rId24"/>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b="1"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5" name="图片 4" descr="tmpB6B"/>
          <p:cNvPicPr>
            <a:picLocks noChangeAspect="1"/>
          </p:cNvPicPr>
          <p:nvPr>
            <p:custDataLst>
              <p:tags r:id="rId20"/>
            </p:custDataLst>
          </p:nvPr>
        </p:nvPicPr>
        <p:blipFill>
          <a:blip r:embed="rId29"/>
          <a:stretch>
            <a:fillRect/>
          </a:stretch>
        </p:blipFill>
        <p:spPr>
          <a:xfrm>
            <a:off x="7594600" y="63500"/>
            <a:ext cx="1422400" cy="508000"/>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文件输入输出流</a:t>
            </a:r>
          </a:p>
        </p:txBody>
      </p:sp>
      <p:sp>
        <p:nvSpPr>
          <p:cNvPr id="3" name="内容占位符 2"/>
          <p:cNvSpPr>
            <a:spLocks noGrp="1"/>
          </p:cNvSpPr>
          <p:nvPr>
            <p:ph idx="1"/>
          </p:nvPr>
        </p:nvSpPr>
        <p:spPr>
          <a:xfrm>
            <a:off x="587474" y="1432695"/>
            <a:ext cx="8377014" cy="5112568"/>
          </a:xfrm>
        </p:spPr>
        <p:txBody>
          <a:bodyPr/>
          <a:lstStyle/>
          <a:p>
            <a:r>
              <a:rPr lang="zh-CN" altLang="en-US" dirty="0"/>
              <a:t>以文件输入流作为例子</a:t>
            </a:r>
            <a:endParaRPr lang="en-US" altLang="zh-CN" dirty="0"/>
          </a:p>
          <a:p>
            <a:r>
              <a:rPr lang="en-US" altLang="zh-CN" dirty="0" err="1"/>
              <a:t>ifstream</a:t>
            </a:r>
            <a:r>
              <a:rPr lang="zh-CN" altLang="en-US" dirty="0"/>
              <a:t>是</a:t>
            </a:r>
            <a:r>
              <a:rPr lang="en-US" altLang="zh-CN" dirty="0" err="1"/>
              <a:t>istream</a:t>
            </a:r>
            <a:r>
              <a:rPr lang="zh-CN" altLang="en-US" dirty="0"/>
              <a:t>的子类</a:t>
            </a:r>
            <a:endParaRPr lang="en-US" altLang="zh-CN" dirty="0"/>
          </a:p>
          <a:p>
            <a:r>
              <a:rPr lang="zh-CN" altLang="en-US" dirty="0"/>
              <a:t>功能是从文件中读入数据</a:t>
            </a:r>
            <a:endParaRPr lang="en-US" altLang="zh-CN" dirty="0"/>
          </a:p>
          <a:p>
            <a:endParaRPr lang="en-US" altLang="zh-CN" dirty="0"/>
          </a:p>
          <a:p>
            <a:r>
              <a:rPr lang="zh-CN" altLang="en-US" dirty="0"/>
              <a:t>打开文件</a:t>
            </a:r>
            <a:endParaRPr lang="en-US" altLang="zh-CN" dirty="0"/>
          </a:p>
          <a:p>
            <a:pPr lvl="1"/>
            <a:r>
              <a:rPr lang="en-US" altLang="zh-CN" dirty="0" err="1"/>
              <a:t>ifstream</a:t>
            </a:r>
            <a:r>
              <a:rPr lang="en-US" altLang="zh-CN" dirty="0"/>
              <a:t> ifs("input.txt");</a:t>
            </a:r>
          </a:p>
          <a:p>
            <a:pPr lvl="1"/>
            <a:r>
              <a:rPr lang="en-US" altLang="zh-CN" dirty="0" err="1"/>
              <a:t>ifstream</a:t>
            </a:r>
            <a:r>
              <a:rPr lang="en-US" altLang="zh-CN" dirty="0"/>
              <a:t> ifs("</a:t>
            </a:r>
            <a:r>
              <a:rPr lang="en-US" altLang="zh-CN" dirty="0" err="1"/>
              <a:t>binary.bin</a:t>
            </a:r>
            <a:r>
              <a:rPr lang="en-US" altLang="zh-CN" dirty="0"/>
              <a:t>", </a:t>
            </a:r>
            <a:r>
              <a:rPr lang="en-US" altLang="zh-CN" dirty="0" err="1"/>
              <a:t>ifstream</a:t>
            </a:r>
            <a:r>
              <a:rPr lang="en-US" altLang="zh-CN" dirty="0"/>
              <a:t>::binary);</a:t>
            </a:r>
            <a:br>
              <a:rPr lang="en-US" altLang="zh-CN" dirty="0"/>
            </a:br>
            <a:r>
              <a:rPr lang="en-US" altLang="zh-CN" dirty="0">
                <a:solidFill>
                  <a:srgbClr val="008000"/>
                </a:solidFill>
              </a:rPr>
              <a:t>//</a:t>
            </a:r>
            <a:r>
              <a:rPr lang="zh-CN" altLang="en-US" dirty="0">
                <a:solidFill>
                  <a:srgbClr val="008000"/>
                </a:solidFill>
              </a:rPr>
              <a:t>以二进制形式打开文件</a:t>
            </a:r>
            <a:endParaRPr lang="en-US" altLang="zh-CN" dirty="0">
              <a:solidFill>
                <a:srgbClr val="008000"/>
              </a:solidFill>
            </a:endParaRPr>
          </a:p>
          <a:p>
            <a:pPr lvl="1"/>
            <a:r>
              <a:rPr lang="en-US" altLang="zh-CN" dirty="0" err="1"/>
              <a:t>ifstream</a:t>
            </a:r>
            <a:r>
              <a:rPr lang="en-US" altLang="zh-CN" dirty="0"/>
              <a:t> ifs;</a:t>
            </a:r>
            <a:br>
              <a:rPr lang="en-US" altLang="zh-CN" dirty="0"/>
            </a:br>
            <a:r>
              <a:rPr lang="en-US" altLang="zh-CN" dirty="0" err="1"/>
              <a:t>ifs.open</a:t>
            </a:r>
            <a:r>
              <a:rPr lang="en-US" altLang="zh-CN" dirty="0"/>
              <a:t>("file")</a:t>
            </a:r>
            <a:br>
              <a:rPr lang="en-US" altLang="zh-CN" dirty="0"/>
            </a:br>
            <a:r>
              <a:rPr lang="en-US" altLang="zh-CN" dirty="0">
                <a:solidFill>
                  <a:srgbClr val="008000"/>
                </a:solidFill>
              </a:rPr>
              <a:t>//do something</a:t>
            </a:r>
            <a:br>
              <a:rPr lang="en-US" altLang="zh-CN" dirty="0"/>
            </a:br>
            <a:r>
              <a:rPr lang="en-US" altLang="zh-CN" dirty="0" err="1"/>
              <a:t>ifs.close</a:t>
            </a:r>
            <a:r>
              <a:rPr lang="en-US" altLang="zh-CN" dirty="0"/>
              <a:t>()</a:t>
            </a:r>
          </a:p>
          <a:p>
            <a:pPr lvl="1"/>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79512" y="-99392"/>
            <a:ext cx="7886700" cy="1325563"/>
          </a:xfrm>
        </p:spPr>
        <p:txBody>
          <a:bodyPr/>
          <a:lstStyle/>
          <a:p>
            <a:pPr algn="r"/>
            <a:r>
              <a:rPr lang="zh-CN" altLang="en-US" dirty="0"/>
              <a:t>读入示例</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18</a:t>
            </a:fld>
            <a:endParaRPr lang="en-US" altLang="zh-CN"/>
          </a:p>
        </p:txBody>
      </p:sp>
      <p:sp>
        <p:nvSpPr>
          <p:cNvPr id="5" name="文本框 4"/>
          <p:cNvSpPr txBox="1"/>
          <p:nvPr/>
        </p:nvSpPr>
        <p:spPr>
          <a:xfrm>
            <a:off x="526864" y="563389"/>
            <a:ext cx="8424936" cy="6247864"/>
          </a:xfrm>
          <a:prstGeom prst="rect">
            <a:avLst/>
          </a:prstGeom>
          <a:noFill/>
        </p:spPr>
        <p:txBody>
          <a:bodyPr wrap="square" rtlCol="0">
            <a:spAutoFit/>
          </a:bodyPr>
          <a:lstStyle/>
          <a:p>
            <a:r>
              <a:rPr lang="en-US" altLang="zh-CN" sz="1600" b="1" dirty="0">
                <a:latin typeface="Consolas" panose="020B0609020204030204" pitchFamily="49" charset="0"/>
              </a:rPr>
              <a:t>#include &lt;iostream&gt;</a:t>
            </a:r>
          </a:p>
          <a:p>
            <a:r>
              <a:rPr lang="en-US" altLang="zh-CN" sz="1600" b="1" dirty="0">
                <a:latin typeface="Consolas" panose="020B0609020204030204" pitchFamily="49" charset="0"/>
              </a:rPr>
              <a:t>#include &lt;string&gt;</a:t>
            </a:r>
          </a:p>
          <a:p>
            <a:r>
              <a:rPr lang="en-US" altLang="zh-CN" sz="1600" b="1" dirty="0">
                <a:latin typeface="Consolas" panose="020B0609020204030204" pitchFamily="49" charset="0"/>
              </a:rPr>
              <a:t>#include &lt;</a:t>
            </a:r>
            <a:r>
              <a:rPr lang="en-US" altLang="zh-CN" sz="1600" b="1" dirty="0" err="1">
                <a:latin typeface="Consolas" panose="020B0609020204030204" pitchFamily="49" charset="0"/>
              </a:rPr>
              <a:t>cctype</a:t>
            </a:r>
            <a:r>
              <a:rPr lang="en-US" altLang="zh-CN" sz="1600" b="1" dirty="0">
                <a:latin typeface="Consolas" panose="020B0609020204030204" pitchFamily="49" charset="0"/>
              </a:rPr>
              <a:t>&gt;</a:t>
            </a:r>
          </a:p>
          <a:p>
            <a:r>
              <a:rPr lang="en-US" altLang="zh-CN" sz="1600" b="1" dirty="0">
                <a:latin typeface="Consolas" panose="020B0609020204030204" pitchFamily="49" charset="0"/>
              </a:rPr>
              <a:t>#include &lt;</a:t>
            </a:r>
            <a:r>
              <a:rPr lang="en-US" altLang="zh-CN" sz="1600" b="1" dirty="0" err="1">
                <a:latin typeface="Consolas" panose="020B0609020204030204" pitchFamily="49" charset="0"/>
              </a:rPr>
              <a:t>fstream</a:t>
            </a:r>
            <a:r>
              <a:rPr lang="en-US" altLang="zh-CN" sz="1600" b="1" dirty="0">
                <a:latin typeface="Consolas" panose="020B0609020204030204" pitchFamily="49" charset="0"/>
              </a:rPr>
              <a:t>&gt;</a:t>
            </a:r>
          </a:p>
          <a:p>
            <a:r>
              <a:rPr lang="en-US" altLang="zh-CN" sz="1600" b="1" dirty="0">
                <a:latin typeface="Consolas" panose="020B0609020204030204" pitchFamily="49" charset="0"/>
              </a:rPr>
              <a:t>using namespace std;</a:t>
            </a:r>
          </a:p>
          <a:p>
            <a:endParaRPr lang="en-US" altLang="zh-CN" sz="1600" b="1" dirty="0">
              <a:latin typeface="Consolas" panose="020B0609020204030204" pitchFamily="49" charset="0"/>
            </a:endParaRPr>
          </a:p>
          <a:p>
            <a:r>
              <a:rPr lang="en-US" altLang="zh-CN" sz="1600" b="1" dirty="0">
                <a:latin typeface="Consolas" panose="020B0609020204030204" pitchFamily="49" charset="0"/>
              </a:rPr>
              <a:t>int main() {</a:t>
            </a:r>
          </a:p>
          <a:p>
            <a:pPr lvl="1"/>
            <a:r>
              <a:rPr lang="en-US" altLang="zh-CN" sz="1600" b="1" dirty="0" err="1">
                <a:latin typeface="Consolas" panose="020B0609020204030204" pitchFamily="49" charset="0"/>
              </a:rPr>
              <a:t>ifstream</a:t>
            </a:r>
            <a:r>
              <a:rPr lang="en-US" altLang="zh-CN" sz="1600" b="1" dirty="0">
                <a:latin typeface="Consolas" panose="020B0609020204030204" pitchFamily="49" charset="0"/>
              </a:rPr>
              <a:t> ifs("input.txt");</a:t>
            </a:r>
          </a:p>
          <a:p>
            <a:pPr lvl="1"/>
            <a:r>
              <a:rPr lang="en-US" altLang="zh-CN" sz="1600" b="1" dirty="0">
                <a:latin typeface="Consolas" panose="020B0609020204030204" pitchFamily="49" charset="0"/>
              </a:rPr>
              <a:t>while(</a:t>
            </a:r>
            <a:r>
              <a:rPr lang="en-US" altLang="zh-CN" sz="1600" b="1" dirty="0">
                <a:solidFill>
                  <a:srgbClr val="FF0000"/>
                </a:solidFill>
                <a:latin typeface="Consolas" panose="020B0609020204030204" pitchFamily="49" charset="0"/>
              </a:rPr>
              <a:t>ifs</a:t>
            </a:r>
            <a:r>
              <a:rPr lang="en-US" altLang="zh-CN" sz="1600" b="1" dirty="0">
                <a:latin typeface="Consolas" panose="020B0609020204030204" pitchFamily="49" charset="0"/>
              </a:rPr>
              <a:t>) {			</a:t>
            </a:r>
            <a:r>
              <a:rPr lang="en-US" altLang="zh-CN" sz="1600" b="1" dirty="0">
                <a:solidFill>
                  <a:schemeClr val="accent1"/>
                </a:solidFill>
                <a:latin typeface="Consolas" panose="020B0609020204030204" pitchFamily="49" charset="0"/>
              </a:rPr>
              <a:t>//</a:t>
            </a:r>
            <a:r>
              <a:rPr lang="zh-CN" altLang="en-US" sz="1600" b="1" dirty="0">
                <a:solidFill>
                  <a:schemeClr val="accent1"/>
                </a:solidFill>
                <a:latin typeface="Consolas" panose="020B0609020204030204" pitchFamily="49" charset="0"/>
              </a:rPr>
              <a:t>判断文件是否到末尾 利用了重载的</a:t>
            </a:r>
            <a:r>
              <a:rPr lang="en-US" altLang="zh-CN" sz="1600" b="1" dirty="0">
                <a:solidFill>
                  <a:schemeClr val="accent1"/>
                </a:solidFill>
                <a:latin typeface="Consolas" panose="020B0609020204030204" pitchFamily="49" charset="0"/>
              </a:rPr>
              <a:t>bool</a:t>
            </a:r>
            <a:r>
              <a:rPr lang="zh-CN" altLang="en-US" sz="1600" b="1" dirty="0">
                <a:solidFill>
                  <a:schemeClr val="accent1"/>
                </a:solidFill>
                <a:latin typeface="Consolas" panose="020B0609020204030204" pitchFamily="49" charset="0"/>
              </a:rPr>
              <a:t>运算符</a:t>
            </a:r>
          </a:p>
          <a:p>
            <a:pPr lvl="1"/>
            <a:r>
              <a:rPr lang="en-US" altLang="zh-CN" sz="1600" b="1" dirty="0">
                <a:latin typeface="Consolas" panose="020B0609020204030204" pitchFamily="49" charset="0"/>
              </a:rPr>
              <a:t>	ifs &gt;&gt; </a:t>
            </a:r>
            <a:r>
              <a:rPr lang="en-US" altLang="zh-CN" sz="1600" b="1" dirty="0" err="1">
                <a:solidFill>
                  <a:srgbClr val="FF0000"/>
                </a:solidFill>
                <a:latin typeface="Consolas" panose="020B0609020204030204" pitchFamily="49" charset="0"/>
              </a:rPr>
              <a:t>ws</a:t>
            </a:r>
            <a:r>
              <a:rPr lang="en-US" altLang="zh-CN" sz="1600" b="1" dirty="0">
                <a:latin typeface="Consolas" panose="020B0609020204030204" pitchFamily="49" charset="0"/>
              </a:rPr>
              <a:t>;  		</a:t>
            </a:r>
            <a:r>
              <a:rPr lang="en-US" altLang="zh-CN" sz="1600" b="1" dirty="0">
                <a:solidFill>
                  <a:schemeClr val="accent1"/>
                </a:solidFill>
                <a:latin typeface="Consolas" panose="020B0609020204030204" pitchFamily="49" charset="0"/>
              </a:rPr>
              <a:t>//</a:t>
            </a:r>
            <a:r>
              <a:rPr lang="zh-CN" altLang="en-US" sz="1600" b="1" dirty="0">
                <a:solidFill>
                  <a:schemeClr val="accent1"/>
                </a:solidFill>
                <a:latin typeface="Consolas" panose="020B0609020204030204" pitchFamily="49" charset="0"/>
              </a:rPr>
              <a:t>除去前导空格 </a:t>
            </a:r>
            <a:r>
              <a:rPr lang="en-US" altLang="zh-CN" sz="1600" b="1" dirty="0" err="1">
                <a:solidFill>
                  <a:schemeClr val="accent1"/>
                </a:solidFill>
                <a:latin typeface="Consolas" panose="020B0609020204030204" pitchFamily="49" charset="0"/>
              </a:rPr>
              <a:t>ws</a:t>
            </a:r>
            <a:r>
              <a:rPr lang="zh-CN" altLang="en-US" sz="1600" b="1" dirty="0">
                <a:solidFill>
                  <a:schemeClr val="accent1"/>
                </a:solidFill>
                <a:latin typeface="Consolas" panose="020B0609020204030204" pitchFamily="49" charset="0"/>
              </a:rPr>
              <a:t>也是流操纵算子</a:t>
            </a:r>
          </a:p>
          <a:p>
            <a:pPr lvl="1"/>
            <a:r>
              <a:rPr lang="en-US" altLang="zh-CN" sz="1600" b="1" dirty="0">
                <a:latin typeface="Consolas" panose="020B0609020204030204" pitchFamily="49" charset="0"/>
              </a:rPr>
              <a:t>	</a:t>
            </a:r>
            <a:r>
              <a:rPr lang="en-US" altLang="zh-CN" sz="1600" b="1" dirty="0" err="1">
                <a:latin typeface="Consolas" panose="020B0609020204030204" pitchFamily="49" charset="0"/>
              </a:rPr>
              <a:t>int</a:t>
            </a:r>
            <a:r>
              <a:rPr lang="en-US" altLang="zh-CN" sz="1600" b="1" dirty="0">
                <a:latin typeface="Consolas" panose="020B0609020204030204" pitchFamily="49" charset="0"/>
              </a:rPr>
              <a:t> c = </a:t>
            </a:r>
            <a:r>
              <a:rPr lang="en-US" altLang="zh-CN" sz="1600" b="1" dirty="0" err="1">
                <a:latin typeface="Consolas" panose="020B0609020204030204" pitchFamily="49" charset="0"/>
              </a:rPr>
              <a:t>ifs.</a:t>
            </a:r>
            <a:r>
              <a:rPr lang="en-US" altLang="zh-CN" sz="1600" b="1" dirty="0" err="1">
                <a:solidFill>
                  <a:srgbClr val="FF0000"/>
                </a:solidFill>
                <a:latin typeface="Consolas" panose="020B0609020204030204" pitchFamily="49" charset="0"/>
              </a:rPr>
              <a:t>peek</a:t>
            </a:r>
            <a:r>
              <a:rPr lang="en-US" altLang="zh-CN" sz="1600" b="1" dirty="0">
                <a:latin typeface="Consolas" panose="020B0609020204030204" pitchFamily="49" charset="0"/>
              </a:rPr>
              <a:t>();		</a:t>
            </a:r>
            <a:r>
              <a:rPr lang="en-US" altLang="zh-CN" sz="1600" b="1" dirty="0">
                <a:solidFill>
                  <a:schemeClr val="accent1"/>
                </a:solidFill>
                <a:latin typeface="Consolas" panose="020B0609020204030204" pitchFamily="49" charset="0"/>
              </a:rPr>
              <a:t>//</a:t>
            </a:r>
            <a:r>
              <a:rPr lang="zh-CN" altLang="en-US" sz="1600" b="1" dirty="0">
                <a:solidFill>
                  <a:schemeClr val="accent1"/>
                </a:solidFill>
                <a:latin typeface="Consolas" panose="020B0609020204030204" pitchFamily="49" charset="0"/>
              </a:rPr>
              <a:t>检查下一个字符，但不读取</a:t>
            </a:r>
          </a:p>
          <a:p>
            <a:pPr lvl="1"/>
            <a:r>
              <a:rPr lang="en-US" altLang="zh-CN" sz="1600" b="1" dirty="0">
                <a:latin typeface="Consolas" panose="020B0609020204030204" pitchFamily="49" charset="0"/>
              </a:rPr>
              <a:t>	if (c == EOF) break;</a:t>
            </a:r>
          </a:p>
          <a:p>
            <a:pPr lvl="1"/>
            <a:r>
              <a:rPr lang="en-US" altLang="zh-CN" sz="1600" b="1" dirty="0">
                <a:latin typeface="Consolas" panose="020B0609020204030204" pitchFamily="49" charset="0"/>
              </a:rPr>
              <a:t>	if (</a:t>
            </a:r>
            <a:r>
              <a:rPr lang="en-US" altLang="zh-CN" sz="1600" b="1" dirty="0" err="1">
                <a:solidFill>
                  <a:srgbClr val="FF0000"/>
                </a:solidFill>
                <a:latin typeface="Consolas" panose="020B0609020204030204" pitchFamily="49" charset="0"/>
              </a:rPr>
              <a:t>isdigit</a:t>
            </a:r>
            <a:r>
              <a:rPr lang="en-US" altLang="zh-CN" sz="1600" b="1" dirty="0">
                <a:latin typeface="Consolas" panose="020B0609020204030204" pitchFamily="49" charset="0"/>
              </a:rPr>
              <a:t>(c))			</a:t>
            </a:r>
            <a:r>
              <a:rPr lang="en-US" altLang="zh-CN" sz="1600" b="1" dirty="0">
                <a:solidFill>
                  <a:schemeClr val="accent1"/>
                </a:solidFill>
                <a:latin typeface="Consolas" panose="020B0609020204030204" pitchFamily="49" charset="0"/>
              </a:rPr>
              <a:t>//&lt;</a:t>
            </a:r>
            <a:r>
              <a:rPr lang="en-US" altLang="zh-CN" sz="1600" b="1" dirty="0" err="1">
                <a:solidFill>
                  <a:schemeClr val="accent1"/>
                </a:solidFill>
                <a:latin typeface="Consolas" panose="020B0609020204030204" pitchFamily="49" charset="0"/>
              </a:rPr>
              <a:t>cctype</a:t>
            </a:r>
            <a:r>
              <a:rPr lang="en-US" altLang="zh-CN" sz="1600" b="1" dirty="0">
                <a:solidFill>
                  <a:schemeClr val="accent1"/>
                </a:solidFill>
                <a:latin typeface="Consolas" panose="020B0609020204030204" pitchFamily="49" charset="0"/>
              </a:rPr>
              <a:t>&gt;</a:t>
            </a:r>
            <a:r>
              <a:rPr lang="zh-CN" altLang="en-US" sz="1600" b="1" dirty="0">
                <a:solidFill>
                  <a:schemeClr val="accent1"/>
                </a:solidFill>
                <a:latin typeface="Consolas" panose="020B0609020204030204" pitchFamily="49" charset="0"/>
              </a:rPr>
              <a:t>库函数</a:t>
            </a:r>
          </a:p>
          <a:p>
            <a:pPr lvl="1"/>
            <a:r>
              <a:rPr lang="en-US" altLang="zh-CN" sz="1600" b="1" dirty="0">
                <a:latin typeface="Consolas" panose="020B0609020204030204" pitchFamily="49" charset="0"/>
              </a:rPr>
              <a:t>	{</a:t>
            </a:r>
          </a:p>
          <a:p>
            <a:pPr lvl="1"/>
            <a:r>
              <a:rPr lang="en-US" altLang="zh-CN" sz="1600" b="1" dirty="0">
                <a:latin typeface="Consolas" panose="020B0609020204030204" pitchFamily="49" charset="0"/>
              </a:rPr>
              <a:t>		</a:t>
            </a:r>
            <a:r>
              <a:rPr lang="en-US" altLang="zh-CN" sz="1600" b="1" dirty="0" err="1">
                <a:latin typeface="Consolas" panose="020B0609020204030204" pitchFamily="49" charset="0"/>
              </a:rPr>
              <a:t>int</a:t>
            </a:r>
            <a:r>
              <a:rPr lang="en-US" altLang="zh-CN" sz="1600" b="1" dirty="0">
                <a:latin typeface="Consolas" panose="020B0609020204030204" pitchFamily="49" charset="0"/>
              </a:rPr>
              <a:t> n;</a:t>
            </a:r>
          </a:p>
          <a:p>
            <a:pPr lvl="1"/>
            <a:r>
              <a:rPr lang="en-US" altLang="zh-CN" sz="1600" b="1" dirty="0">
                <a:latin typeface="Consolas" panose="020B0609020204030204" pitchFamily="49" charset="0"/>
              </a:rPr>
              <a:t>		ifs &gt;&gt; n;</a:t>
            </a:r>
          </a:p>
          <a:p>
            <a:pPr lvl="1"/>
            <a:r>
              <a:rPr lang="en-US" altLang="zh-CN" sz="1600" b="1" dirty="0">
                <a:latin typeface="Consolas" panose="020B0609020204030204" pitchFamily="49" charset="0"/>
              </a:rPr>
              <a: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"Read a number: " &lt;&lt; n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a:t>
            </a:r>
          </a:p>
          <a:p>
            <a:pPr lvl="1"/>
            <a:r>
              <a:rPr lang="en-US" altLang="zh-CN" sz="1600" b="1" dirty="0">
                <a:latin typeface="Consolas" panose="020B0609020204030204" pitchFamily="49" charset="0"/>
              </a:rPr>
              <a:t>	} else {</a:t>
            </a:r>
          </a:p>
          <a:p>
            <a:pPr lvl="1"/>
            <a:r>
              <a:rPr lang="en-US" altLang="zh-CN" sz="1600" b="1" dirty="0">
                <a:latin typeface="Consolas" panose="020B0609020204030204" pitchFamily="49" charset="0"/>
              </a:rPr>
              <a:t>		string </a:t>
            </a:r>
            <a:r>
              <a:rPr lang="en-US" altLang="zh-CN" sz="1600" b="1" dirty="0" err="1">
                <a:latin typeface="Consolas" panose="020B0609020204030204" pitchFamily="49" charset="0"/>
              </a:rPr>
              <a:t>str</a:t>
            </a:r>
            <a:r>
              <a:rPr lang="en-US" altLang="zh-CN" sz="1600" b="1" dirty="0">
                <a:latin typeface="Consolas" panose="020B0609020204030204" pitchFamily="49" charset="0"/>
              </a:rPr>
              <a:t>;</a:t>
            </a:r>
          </a:p>
          <a:p>
            <a:pPr lvl="1"/>
            <a:r>
              <a:rPr lang="en-US" altLang="zh-CN" sz="1600" b="1" dirty="0">
                <a:latin typeface="Consolas" panose="020B0609020204030204" pitchFamily="49" charset="0"/>
              </a:rPr>
              <a:t>		ifs &gt;&gt; </a:t>
            </a:r>
            <a:r>
              <a:rPr lang="en-US" altLang="zh-CN" sz="1600" b="1" dirty="0" err="1">
                <a:latin typeface="Consolas" panose="020B0609020204030204" pitchFamily="49" charset="0"/>
              </a:rPr>
              <a:t>str</a:t>
            </a:r>
            <a:r>
              <a:rPr lang="en-US" altLang="zh-CN" sz="1600" b="1" dirty="0">
                <a:latin typeface="Consolas" panose="020B0609020204030204" pitchFamily="49" charset="0"/>
              </a:rPr>
              <a:t>;</a:t>
            </a:r>
          </a:p>
          <a:p>
            <a:pPr lvl="1"/>
            <a:r>
              <a:rPr lang="en-US" altLang="zh-CN" sz="1600" b="1" dirty="0">
                <a:latin typeface="Consolas" panose="020B0609020204030204" pitchFamily="49" charset="0"/>
              </a:rPr>
              <a: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"Read a word: " &lt;&lt; </a:t>
            </a:r>
            <a:r>
              <a:rPr lang="en-US" altLang="zh-CN" sz="1600" b="1" dirty="0" err="1">
                <a:latin typeface="Consolas" panose="020B0609020204030204" pitchFamily="49" charset="0"/>
              </a:rPr>
              <a:t>str</a:t>
            </a:r>
            <a:r>
              <a:rPr lang="en-US" altLang="zh-CN" sz="1600" b="1" dirty="0">
                <a:latin typeface="Consolas" panose="020B0609020204030204" pitchFamily="49" charset="0"/>
              </a:rPr>
              <a:t>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a:t>
            </a:r>
          </a:p>
          <a:p>
            <a:pPr lvl="1"/>
            <a:r>
              <a:rPr lang="en-US" altLang="zh-CN" sz="1600" b="1" dirty="0">
                <a:latin typeface="Consolas" panose="020B0609020204030204" pitchFamily="49" charset="0"/>
              </a:rPr>
              <a:t>	}</a:t>
            </a:r>
          </a:p>
          <a:p>
            <a:pPr lvl="1"/>
            <a:r>
              <a:rPr lang="en-US" altLang="zh-CN" sz="1600" b="1" dirty="0">
                <a:latin typeface="Consolas" panose="020B0609020204030204" pitchFamily="49" charset="0"/>
              </a:rPr>
              <a:t>}</a:t>
            </a:r>
          </a:p>
          <a:p>
            <a:pPr lvl="1"/>
            <a:r>
              <a:rPr lang="en-US" altLang="zh-CN" sz="1600" b="1" dirty="0">
                <a:latin typeface="Consolas" panose="020B0609020204030204" pitchFamily="49" charset="0"/>
              </a:rPr>
              <a:t>return 0;</a:t>
            </a:r>
          </a:p>
          <a:p>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其他操作</a:t>
            </a:r>
          </a:p>
        </p:txBody>
      </p:sp>
      <p:sp>
        <p:nvSpPr>
          <p:cNvPr id="3" name="内容占位符 2"/>
          <p:cNvSpPr>
            <a:spLocks noGrp="1"/>
          </p:cNvSpPr>
          <p:nvPr>
            <p:ph idx="1"/>
          </p:nvPr>
        </p:nvSpPr>
        <p:spPr/>
        <p:txBody>
          <a:bodyPr/>
          <a:lstStyle/>
          <a:p>
            <a:r>
              <a:rPr lang="en-US" altLang="zh-CN" dirty="0" err="1"/>
              <a:t>getline</a:t>
            </a:r>
            <a:r>
              <a:rPr lang="en-US" altLang="zh-CN" dirty="0"/>
              <a:t>(</a:t>
            </a:r>
            <a:r>
              <a:rPr lang="en-US" altLang="zh-CN" dirty="0" err="1"/>
              <a:t>cin</a:t>
            </a:r>
            <a:r>
              <a:rPr lang="en-US" altLang="zh-CN" dirty="0"/>
              <a:t>, </a:t>
            </a:r>
            <a:r>
              <a:rPr lang="en-US" altLang="zh-CN" dirty="0" err="1"/>
              <a:t>str</a:t>
            </a:r>
            <a:r>
              <a:rPr lang="en-US" altLang="zh-CN" dirty="0"/>
              <a:t>)</a:t>
            </a:r>
          </a:p>
          <a:p>
            <a:pPr lvl="1"/>
            <a:r>
              <a:rPr lang="en-US" altLang="zh-CN" dirty="0" err="1"/>
              <a:t>ifstream</a:t>
            </a:r>
            <a:r>
              <a:rPr lang="zh-CN" altLang="en-US" dirty="0"/>
              <a:t>是</a:t>
            </a:r>
            <a:r>
              <a:rPr lang="en-US" altLang="zh-CN" dirty="0" err="1"/>
              <a:t>istream</a:t>
            </a:r>
            <a:r>
              <a:rPr lang="zh-CN" altLang="en-US" dirty="0"/>
              <a:t>的子类</a:t>
            </a:r>
            <a:endParaRPr lang="en-US" altLang="zh-CN" dirty="0"/>
          </a:p>
          <a:p>
            <a:pPr lvl="1"/>
            <a:r>
              <a:rPr lang="zh-CN" altLang="en-US" dirty="0"/>
              <a:t>故</a:t>
            </a:r>
            <a:r>
              <a:rPr lang="en-US" altLang="zh-CN" dirty="0" err="1"/>
              <a:t>getline</a:t>
            </a:r>
            <a:r>
              <a:rPr lang="en-US" altLang="zh-CN" dirty="0"/>
              <a:t>(ifs, </a:t>
            </a:r>
            <a:r>
              <a:rPr lang="en-US" altLang="zh-CN" dirty="0" err="1"/>
              <a:t>str</a:t>
            </a:r>
            <a:r>
              <a:rPr lang="en-US" altLang="zh-CN" dirty="0"/>
              <a:t>)</a:t>
            </a:r>
            <a:r>
              <a:rPr lang="zh-CN" altLang="en-US" dirty="0"/>
              <a:t>仍然有效</a:t>
            </a:r>
            <a:endParaRPr lang="en-US" altLang="zh-CN" dirty="0"/>
          </a:p>
          <a:p>
            <a:pPr lvl="1"/>
            <a:endParaRPr lang="en-US" altLang="zh-CN" dirty="0"/>
          </a:p>
          <a:p>
            <a:r>
              <a:rPr lang="zh-CN" altLang="en-US" dirty="0"/>
              <a:t>其他操作</a:t>
            </a:r>
            <a:endParaRPr lang="en-US" altLang="zh-CN" dirty="0"/>
          </a:p>
          <a:p>
            <a:pPr lvl="1"/>
            <a:r>
              <a:rPr lang="en-US" altLang="zh-CN" dirty="0"/>
              <a:t>get()     </a:t>
            </a:r>
            <a:r>
              <a:rPr lang="zh-CN" altLang="en-US" dirty="0"/>
              <a:t>读取一个字符</a:t>
            </a:r>
            <a:endParaRPr lang="en-US" altLang="zh-CN" dirty="0"/>
          </a:p>
          <a:p>
            <a:pPr lvl="1"/>
            <a:r>
              <a:rPr lang="en-US" altLang="zh-CN" dirty="0"/>
              <a:t>ignore(</a:t>
            </a:r>
            <a:r>
              <a:rPr lang="en-US" altLang="zh-CN" dirty="0" err="1"/>
              <a:t>int</a:t>
            </a:r>
            <a:r>
              <a:rPr lang="en-US" altLang="zh-CN" dirty="0"/>
              <a:t> n=1, </a:t>
            </a:r>
            <a:r>
              <a:rPr lang="en-US" altLang="zh-CN" dirty="0" err="1"/>
              <a:t>int</a:t>
            </a:r>
            <a:r>
              <a:rPr lang="en-US" altLang="zh-CN" dirty="0"/>
              <a:t> </a:t>
            </a:r>
            <a:r>
              <a:rPr lang="en-US" altLang="zh-CN" dirty="0" err="1"/>
              <a:t>delim</a:t>
            </a:r>
            <a:r>
              <a:rPr lang="en-US" altLang="zh-CN" dirty="0"/>
              <a:t>=EOF)</a:t>
            </a:r>
            <a:br>
              <a:rPr lang="en-US" altLang="zh-CN" dirty="0"/>
            </a:br>
            <a:r>
              <a:rPr lang="en-US" altLang="zh-CN" dirty="0"/>
              <a:t>	    </a:t>
            </a:r>
            <a:r>
              <a:rPr lang="zh-CN" altLang="en-US" dirty="0"/>
              <a:t>丢弃</a:t>
            </a:r>
            <a:r>
              <a:rPr lang="en-US" altLang="zh-CN" dirty="0"/>
              <a:t>n</a:t>
            </a:r>
            <a:r>
              <a:rPr lang="zh-CN" altLang="en-US" dirty="0"/>
              <a:t>个字符，或者直至遇到</a:t>
            </a:r>
            <a:r>
              <a:rPr lang="en-US" altLang="zh-CN" dirty="0" err="1"/>
              <a:t>delim</a:t>
            </a:r>
            <a:r>
              <a:rPr lang="zh-CN" altLang="en-US" dirty="0"/>
              <a:t>分隔符</a:t>
            </a:r>
            <a:endParaRPr lang="en-US" altLang="zh-CN" dirty="0"/>
          </a:p>
          <a:p>
            <a:pPr lvl="1"/>
            <a:r>
              <a:rPr lang="en-US" altLang="zh-CN" dirty="0"/>
              <a:t>peek()    </a:t>
            </a:r>
            <a:r>
              <a:rPr lang="zh-CN" altLang="en-US" dirty="0"/>
              <a:t>查看下一个字符</a:t>
            </a:r>
            <a:endParaRPr lang="en-US" altLang="zh-CN" dirty="0"/>
          </a:p>
          <a:p>
            <a:pPr lvl="1"/>
            <a:r>
              <a:rPr lang="en-US" altLang="zh-CN" dirty="0" err="1"/>
              <a:t>putback</a:t>
            </a:r>
            <a:r>
              <a:rPr lang="en-US" altLang="zh-CN" dirty="0"/>
              <a:t>(char c) </a:t>
            </a:r>
            <a:r>
              <a:rPr lang="zh-CN" altLang="en-US" dirty="0"/>
              <a:t>返还一个字符</a:t>
            </a:r>
            <a:endParaRPr lang="en-US" altLang="zh-CN" dirty="0"/>
          </a:p>
          <a:p>
            <a:pPr lvl="1"/>
            <a:r>
              <a:rPr lang="en-US" altLang="zh-CN" dirty="0" err="1"/>
              <a:t>unget</a:t>
            </a:r>
            <a:r>
              <a:rPr lang="en-US" altLang="zh-CN" dirty="0"/>
              <a:t>()   </a:t>
            </a:r>
            <a:r>
              <a:rPr lang="zh-CN" altLang="en-US" dirty="0"/>
              <a:t>返还一个字符</a:t>
            </a:r>
            <a:endParaRPr lang="en-US" altLang="zh-CN" dirty="0"/>
          </a:p>
          <a:p>
            <a:pPr lvl="1"/>
            <a:r>
              <a:rPr lang="en-US" altLang="zh-CN" dirty="0"/>
              <a:t>……</a:t>
            </a:r>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istream</a:t>
            </a:r>
            <a:r>
              <a:rPr lang="zh-CN" altLang="en-US" dirty="0"/>
              <a:t>与</a:t>
            </a:r>
            <a:r>
              <a:rPr lang="en-US" altLang="zh-CN" dirty="0" err="1"/>
              <a:t>scanf</a:t>
            </a:r>
            <a:endParaRPr lang="zh-CN" altLang="en-US" dirty="0"/>
          </a:p>
        </p:txBody>
      </p:sp>
      <p:sp>
        <p:nvSpPr>
          <p:cNvPr id="3" name="内容占位符 2"/>
          <p:cNvSpPr>
            <a:spLocks noGrp="1"/>
          </p:cNvSpPr>
          <p:nvPr>
            <p:ph idx="1"/>
          </p:nvPr>
        </p:nvSpPr>
        <p:spPr>
          <a:xfrm>
            <a:off x="548097" y="1262541"/>
            <a:ext cx="8047806" cy="5299173"/>
          </a:xfrm>
        </p:spPr>
        <p:txBody>
          <a:bodyPr/>
          <a:lstStyle/>
          <a:p>
            <a:r>
              <a:rPr lang="zh-CN" altLang="en-US" dirty="0"/>
              <a:t>为什么</a:t>
            </a:r>
            <a:r>
              <a:rPr lang="en-US" altLang="zh-CN" dirty="0"/>
              <a:t>C++</a:t>
            </a:r>
            <a:r>
              <a:rPr lang="zh-CN" altLang="en-US" dirty="0"/>
              <a:t>使用流输入取代了</a:t>
            </a:r>
            <a:r>
              <a:rPr lang="en-US" altLang="zh-CN" dirty="0" err="1"/>
              <a:t>scanf</a:t>
            </a:r>
            <a:endParaRPr lang="en-US" altLang="zh-CN" dirty="0"/>
          </a:p>
          <a:p>
            <a:pPr lvl="1"/>
            <a:r>
              <a:rPr lang="en-US" altLang="zh-CN" sz="2800" dirty="0" err="1"/>
              <a:t>scanf</a:t>
            </a:r>
            <a:r>
              <a:rPr lang="zh-CN" altLang="en-US" sz="2800" dirty="0"/>
              <a:t>不友好，不同类型要使用不同的标识符</a:t>
            </a:r>
            <a:endParaRPr lang="en-US" altLang="zh-CN" sz="2800" dirty="0"/>
          </a:p>
          <a:p>
            <a:pPr marL="914400" lvl="2" indent="0">
              <a:buNone/>
            </a:pPr>
            <a:r>
              <a:rPr lang="en-US" altLang="zh-CN" dirty="0" err="1"/>
              <a:t>scanf</a:t>
            </a:r>
            <a:r>
              <a:rPr lang="en-US" altLang="zh-CN" dirty="0"/>
              <a:t>("</a:t>
            </a:r>
            <a:r>
              <a:rPr lang="en-US" altLang="zh-CN" dirty="0">
                <a:solidFill>
                  <a:srgbClr val="FF0000"/>
                </a:solidFill>
              </a:rPr>
              <a:t>%d %</a:t>
            </a:r>
            <a:r>
              <a:rPr lang="en-US" altLang="zh-CN" dirty="0" err="1">
                <a:solidFill>
                  <a:srgbClr val="FF0000"/>
                </a:solidFill>
              </a:rPr>
              <a:t>hd</a:t>
            </a:r>
            <a:r>
              <a:rPr lang="en-US" altLang="zh-CN" dirty="0">
                <a:solidFill>
                  <a:srgbClr val="FF0000"/>
                </a:solidFill>
              </a:rPr>
              <a:t> %f %</a:t>
            </a:r>
            <a:r>
              <a:rPr lang="en-US" altLang="zh-CN" dirty="0" err="1">
                <a:solidFill>
                  <a:srgbClr val="FF0000"/>
                </a:solidFill>
              </a:rPr>
              <a:t>lf</a:t>
            </a:r>
            <a:r>
              <a:rPr lang="en-US" altLang="zh-CN" dirty="0">
                <a:solidFill>
                  <a:srgbClr val="FF0000"/>
                </a:solidFill>
              </a:rPr>
              <a:t> %s</a:t>
            </a:r>
            <a:r>
              <a:rPr lang="en-US" altLang="zh-CN" dirty="0"/>
              <a:t>", &amp;</a:t>
            </a:r>
            <a:r>
              <a:rPr lang="en-US" altLang="zh-CN" dirty="0" err="1"/>
              <a:t>i</a:t>
            </a:r>
            <a:r>
              <a:rPr lang="en-US" altLang="zh-CN" dirty="0"/>
              <a:t>, &amp;s, &amp;f, &amp;d, name);</a:t>
            </a:r>
          </a:p>
          <a:p>
            <a:pPr marL="914400" lvl="2" indent="0">
              <a:buNone/>
            </a:pPr>
            <a:r>
              <a:rPr lang="en-US" altLang="zh-CN" dirty="0" err="1"/>
              <a:t>cin</a:t>
            </a:r>
            <a:r>
              <a:rPr lang="en-US" altLang="zh-CN" dirty="0"/>
              <a:t> &gt;&gt; </a:t>
            </a:r>
            <a:r>
              <a:rPr lang="en-US" altLang="zh-CN" dirty="0" err="1"/>
              <a:t>i</a:t>
            </a:r>
            <a:r>
              <a:rPr lang="en-US" altLang="zh-CN" dirty="0"/>
              <a:t> &gt;&gt; s &gt;&gt; f &gt;&gt; d &gt;&gt; name;</a:t>
            </a:r>
          </a:p>
          <a:p>
            <a:pPr lvl="1"/>
            <a:r>
              <a:rPr lang="zh-CN" altLang="en-US" sz="2800" dirty="0"/>
              <a:t>安全性</a:t>
            </a:r>
            <a:endParaRPr lang="en-US" altLang="zh-CN" sz="2800" dirty="0"/>
          </a:p>
          <a:p>
            <a:pPr marL="914400" lvl="2" indent="0">
              <a:buNone/>
            </a:pPr>
            <a:r>
              <a:rPr lang="en-US" altLang="zh-CN" sz="2400" dirty="0" err="1"/>
              <a:t>scanf</a:t>
            </a:r>
            <a:r>
              <a:rPr lang="en-US" altLang="zh-CN" sz="2400" dirty="0"/>
              <a:t>("%d", &amp;a);  </a:t>
            </a:r>
            <a:r>
              <a:rPr lang="en-US" altLang="zh-CN" sz="2400" dirty="0">
                <a:solidFill>
                  <a:schemeClr val="accent1"/>
                </a:solidFill>
              </a:rPr>
              <a:t>//</a:t>
            </a:r>
            <a:r>
              <a:rPr lang="zh-CN" altLang="en-US" sz="2400" dirty="0">
                <a:solidFill>
                  <a:schemeClr val="accent1"/>
                </a:solidFill>
              </a:rPr>
              <a:t>可能写入非法内存</a:t>
            </a:r>
            <a:endParaRPr lang="en-US" altLang="zh-CN" sz="2400" dirty="0"/>
          </a:p>
          <a:p>
            <a:pPr lvl="1"/>
            <a:r>
              <a:rPr lang="zh-CN" altLang="en-US" sz="2800" dirty="0"/>
              <a:t>可拓展性</a:t>
            </a:r>
            <a:endParaRPr lang="en-US" altLang="zh-CN" sz="2800" dirty="0"/>
          </a:p>
          <a:p>
            <a:pPr marL="914400" lvl="2" indent="0">
              <a:buNone/>
            </a:pPr>
            <a:r>
              <a:rPr lang="en-US" altLang="zh-CN" sz="2400" dirty="0" err="1"/>
              <a:t>MyClass</a:t>
            </a:r>
            <a:r>
              <a:rPr lang="en-US" altLang="zh-CN" sz="2400" dirty="0"/>
              <a:t> </a:t>
            </a:r>
            <a:r>
              <a:rPr lang="en-US" altLang="zh-CN" sz="2400" dirty="0" err="1"/>
              <a:t>obj</a:t>
            </a:r>
            <a:r>
              <a:rPr lang="en-US" altLang="zh-CN" sz="2400" dirty="0"/>
              <a:t>;</a:t>
            </a:r>
          </a:p>
          <a:p>
            <a:pPr marL="914400" lvl="2" indent="0">
              <a:buNone/>
            </a:pPr>
            <a:r>
              <a:rPr lang="en-US" altLang="zh-CN" sz="2400" dirty="0" err="1"/>
              <a:t>cin</a:t>
            </a:r>
            <a:r>
              <a:rPr lang="en-US" altLang="zh-CN" sz="2400" dirty="0"/>
              <a:t> &gt;&gt; obj;</a:t>
            </a:r>
          </a:p>
          <a:p>
            <a:pPr lvl="1"/>
            <a:r>
              <a:rPr lang="zh-CN" altLang="en-US" sz="2800" dirty="0"/>
              <a:t>性能</a:t>
            </a:r>
            <a:endParaRPr lang="en-US" altLang="zh-CN" sz="2800" dirty="0"/>
          </a:p>
          <a:p>
            <a:pPr marL="914400" lvl="2" indent="0">
              <a:buNone/>
            </a:pPr>
            <a:r>
              <a:rPr lang="en-US" altLang="zh-CN" sz="2400" dirty="0" err="1"/>
              <a:t>scanf</a:t>
            </a:r>
            <a:r>
              <a:rPr lang="zh-CN" altLang="en-US" sz="2400" dirty="0"/>
              <a:t>在运行期间需要对格式字符串进行解析</a:t>
            </a:r>
            <a:endParaRPr lang="en-US" altLang="zh-CN" sz="2400" dirty="0"/>
          </a:p>
          <a:p>
            <a:pPr marL="914400" lvl="2" indent="0">
              <a:buNone/>
            </a:pPr>
            <a:r>
              <a:rPr lang="en-US" altLang="zh-CN" sz="2400" dirty="0" err="1"/>
              <a:t>istream</a:t>
            </a:r>
            <a:r>
              <a:rPr lang="zh-CN" altLang="en-US" sz="2400" dirty="0"/>
              <a:t>在编译期间已经解析完毕</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字符串输入输出流</a:t>
            </a:r>
          </a:p>
        </p:txBody>
      </p:sp>
      <p:sp>
        <p:nvSpPr>
          <p:cNvPr id="3" name="内容占位符 2"/>
          <p:cNvSpPr>
            <a:spLocks noGrp="1"/>
          </p:cNvSpPr>
          <p:nvPr>
            <p:ph idx="1"/>
          </p:nvPr>
        </p:nvSpPr>
        <p:spPr>
          <a:xfrm>
            <a:off x="683568" y="1475356"/>
            <a:ext cx="8047806" cy="4749029"/>
          </a:xfrm>
        </p:spPr>
        <p:txBody>
          <a:bodyPr/>
          <a:lstStyle/>
          <a:p>
            <a:r>
              <a:rPr lang="zh-CN" altLang="en-US" dirty="0"/>
              <a:t>以输入输出流作为例子</a:t>
            </a:r>
            <a:endParaRPr lang="en-US" altLang="zh-CN" dirty="0"/>
          </a:p>
          <a:p>
            <a:r>
              <a:rPr lang="en-US" altLang="zh-CN" dirty="0" err="1"/>
              <a:t>stringstream</a:t>
            </a:r>
            <a:r>
              <a:rPr lang="zh-CN" altLang="en-US" dirty="0"/>
              <a:t>是</a:t>
            </a:r>
            <a:r>
              <a:rPr lang="en-US" altLang="zh-CN" dirty="0"/>
              <a:t>iostream</a:t>
            </a:r>
            <a:r>
              <a:rPr lang="zh-CN" altLang="en-US" dirty="0"/>
              <a:t>的子类</a:t>
            </a:r>
            <a:endParaRPr lang="en-US" altLang="zh-CN" dirty="0"/>
          </a:p>
          <a:p>
            <a:r>
              <a:rPr lang="en-US" altLang="zh-CN" dirty="0"/>
              <a:t>iostream</a:t>
            </a:r>
            <a:r>
              <a:rPr lang="zh-CN" altLang="en-US" dirty="0"/>
              <a:t>继承于</a:t>
            </a:r>
            <a:r>
              <a:rPr lang="en-US" altLang="zh-CN" dirty="0" err="1"/>
              <a:t>istream</a:t>
            </a:r>
            <a:r>
              <a:rPr lang="zh-CN" altLang="en-US" dirty="0"/>
              <a:t>和</a:t>
            </a:r>
            <a:r>
              <a:rPr lang="en-US" altLang="zh-CN" dirty="0" err="1"/>
              <a:t>ostream</a:t>
            </a:r>
            <a:endParaRPr lang="en-US" altLang="zh-CN" dirty="0"/>
          </a:p>
          <a:p>
            <a:r>
              <a:rPr lang="en-US" altLang="zh-CN" dirty="0" err="1"/>
              <a:t>stringstream</a:t>
            </a:r>
            <a:r>
              <a:rPr lang="zh-CN" altLang="en-US" dirty="0"/>
              <a:t>实现了输入输出流双方的接口</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21</a:t>
            </a:fld>
            <a:endParaRPr lang="en-US" altLang="zh-CN"/>
          </a:p>
        </p:txBody>
      </p:sp>
      <p:grpSp>
        <p:nvGrpSpPr>
          <p:cNvPr id="18" name="组合 17"/>
          <p:cNvGrpSpPr/>
          <p:nvPr/>
        </p:nvGrpSpPr>
        <p:grpSpPr>
          <a:xfrm>
            <a:off x="2663597" y="3840748"/>
            <a:ext cx="5051034" cy="2425156"/>
            <a:chOff x="1415252" y="3665711"/>
            <a:chExt cx="4505140" cy="2260816"/>
          </a:xfrm>
        </p:grpSpPr>
        <p:sp>
          <p:nvSpPr>
            <p:cNvPr id="5" name="矩形 4"/>
            <p:cNvSpPr/>
            <p:nvPr/>
          </p:nvSpPr>
          <p:spPr>
            <a:xfrm>
              <a:off x="1419042" y="3665711"/>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rPr>
                <a:t>istream</a:t>
              </a:r>
              <a:endParaRPr lang="zh-CN" altLang="en-US" sz="2000" dirty="0">
                <a:solidFill>
                  <a:schemeClr val="tx1"/>
                </a:solidFill>
              </a:endParaRPr>
            </a:p>
          </p:txBody>
        </p:sp>
        <p:sp>
          <p:nvSpPr>
            <p:cNvPr id="6" name="矩形 5"/>
            <p:cNvSpPr/>
            <p:nvPr/>
          </p:nvSpPr>
          <p:spPr>
            <a:xfrm>
              <a:off x="1415694" y="4563333"/>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iostream</a:t>
              </a:r>
              <a:endParaRPr lang="zh-CN" altLang="en-US" sz="2000" dirty="0">
                <a:solidFill>
                  <a:schemeClr val="tx1"/>
                </a:solidFill>
              </a:endParaRPr>
            </a:p>
          </p:txBody>
        </p:sp>
        <p:sp>
          <p:nvSpPr>
            <p:cNvPr id="7" name="矩形 6"/>
            <p:cNvSpPr/>
            <p:nvPr/>
          </p:nvSpPr>
          <p:spPr>
            <a:xfrm>
              <a:off x="1415252" y="5494479"/>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rPr>
                <a:t>ostream</a:t>
              </a:r>
              <a:endParaRPr lang="zh-CN" altLang="en-US" sz="2000" dirty="0">
                <a:solidFill>
                  <a:schemeClr val="tx1"/>
                </a:solidFill>
              </a:endParaRPr>
            </a:p>
          </p:txBody>
        </p:sp>
        <p:sp>
          <p:nvSpPr>
            <p:cNvPr id="8" name="矩形 7"/>
            <p:cNvSpPr/>
            <p:nvPr/>
          </p:nvSpPr>
          <p:spPr>
            <a:xfrm>
              <a:off x="4487736" y="4567366"/>
              <a:ext cx="1432656" cy="43204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err="1">
                  <a:solidFill>
                    <a:schemeClr val="tx1"/>
                  </a:solidFill>
                </a:rPr>
                <a:t>stringstream</a:t>
              </a:r>
              <a:endParaRPr lang="zh-CN" altLang="en-US" sz="2000" dirty="0">
                <a:solidFill>
                  <a:schemeClr val="tx1"/>
                </a:solidFill>
              </a:endParaRPr>
            </a:p>
          </p:txBody>
        </p:sp>
        <p:cxnSp>
          <p:nvCxnSpPr>
            <p:cNvPr id="9" name="直接箭头连接符 8"/>
            <p:cNvCxnSpPr>
              <a:stCxn id="6" idx="3"/>
              <a:endCxn id="8" idx="1"/>
            </p:cNvCxnSpPr>
            <p:nvPr/>
          </p:nvCxnSpPr>
          <p:spPr>
            <a:xfrm>
              <a:off x="2848350" y="4779357"/>
              <a:ext cx="1639386" cy="4034"/>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6" idx="0"/>
              <a:endCxn id="5" idx="2"/>
            </p:cNvCxnSpPr>
            <p:nvPr/>
          </p:nvCxnSpPr>
          <p:spPr>
            <a:xfrm flipV="1">
              <a:off x="2132023" y="4097759"/>
              <a:ext cx="3347" cy="465574"/>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6" idx="2"/>
              <a:endCxn id="7" idx="0"/>
            </p:cNvCxnSpPr>
            <p:nvPr/>
          </p:nvCxnSpPr>
          <p:spPr>
            <a:xfrm flipH="1">
              <a:off x="2131580" y="4995381"/>
              <a:ext cx="442" cy="499098"/>
            </a:xfrm>
            <a:prstGeom prst="straightConnector1">
              <a:avLst/>
            </a:prstGeom>
            <a:ln w="1905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grpSp>
      <p:sp>
        <p:nvSpPr>
          <p:cNvPr id="10" name="文本框 9"/>
          <p:cNvSpPr txBox="1"/>
          <p:nvPr/>
        </p:nvSpPr>
        <p:spPr>
          <a:xfrm>
            <a:off x="797604" y="4710996"/>
            <a:ext cx="1980029" cy="523220"/>
          </a:xfrm>
          <a:prstGeom prst="rect">
            <a:avLst/>
          </a:prstGeom>
          <a:noFill/>
        </p:spPr>
        <p:txBody>
          <a:bodyPr wrap="none" rtlCol="0">
            <a:spAutoFit/>
          </a:bodyPr>
          <a:lstStyle/>
          <a:p>
            <a:r>
              <a:rPr lang="zh-CN" altLang="en-US" sz="2800" b="1" dirty="0"/>
              <a:t>多重继承！</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stringstream</a:t>
            </a:r>
            <a:endParaRPr lang="zh-CN" altLang="en-US" dirty="0"/>
          </a:p>
        </p:txBody>
      </p:sp>
      <p:sp>
        <p:nvSpPr>
          <p:cNvPr id="3" name="内容占位符 2"/>
          <p:cNvSpPr>
            <a:spLocks noGrp="1"/>
          </p:cNvSpPr>
          <p:nvPr>
            <p:ph idx="1"/>
          </p:nvPr>
        </p:nvSpPr>
        <p:spPr/>
        <p:txBody>
          <a:bodyPr/>
          <a:lstStyle/>
          <a:p>
            <a:r>
              <a:rPr lang="en-US" altLang="zh-CN" dirty="0" err="1"/>
              <a:t>stringstream</a:t>
            </a:r>
            <a:endParaRPr lang="en-US" altLang="zh-CN" dirty="0"/>
          </a:p>
          <a:p>
            <a:pPr lvl="1"/>
            <a:r>
              <a:rPr lang="zh-CN" altLang="en-US" dirty="0"/>
              <a:t>它在对象内部维护了一个</a:t>
            </a:r>
            <a:r>
              <a:rPr lang="en-US" altLang="zh-CN" dirty="0"/>
              <a:t>buffer</a:t>
            </a:r>
          </a:p>
          <a:p>
            <a:pPr lvl="1"/>
            <a:r>
              <a:rPr lang="zh-CN" altLang="en-US" dirty="0"/>
              <a:t>使用流输出函数可以将数据写入</a:t>
            </a:r>
            <a:r>
              <a:rPr lang="en-US" altLang="zh-CN" dirty="0"/>
              <a:t>buffer</a:t>
            </a:r>
          </a:p>
          <a:p>
            <a:pPr lvl="1"/>
            <a:r>
              <a:rPr lang="zh-CN" altLang="en-US" dirty="0"/>
              <a:t>使用流输入函数可以从</a:t>
            </a:r>
            <a:r>
              <a:rPr lang="en-US" altLang="zh-CN" dirty="0"/>
              <a:t>buffer</a:t>
            </a:r>
            <a:r>
              <a:rPr lang="zh-CN" altLang="en-US" dirty="0"/>
              <a:t>中读出数据</a:t>
            </a:r>
            <a:endParaRPr lang="en-US" altLang="zh-CN" dirty="0"/>
          </a:p>
          <a:p>
            <a:r>
              <a:rPr lang="zh-CN" altLang="en-US" dirty="0"/>
              <a:t>一般用于程序内部的字符串操作</a:t>
            </a:r>
            <a:br>
              <a:rPr lang="en-US" altLang="zh-CN" dirty="0"/>
            </a:br>
            <a:endParaRPr lang="en-US" altLang="zh-CN" dirty="0"/>
          </a:p>
          <a:p>
            <a:r>
              <a:rPr lang="zh-CN" altLang="en-US" dirty="0"/>
              <a:t>构造方式</a:t>
            </a:r>
            <a:endParaRPr lang="en-US" altLang="zh-CN" dirty="0"/>
          </a:p>
          <a:p>
            <a:pPr lvl="1"/>
            <a:r>
              <a:rPr lang="en-US" altLang="zh-CN" dirty="0" err="1"/>
              <a:t>stringstream</a:t>
            </a:r>
            <a:r>
              <a:rPr lang="en-US" altLang="zh-CN" dirty="0"/>
              <a:t> </a:t>
            </a:r>
            <a:r>
              <a:rPr lang="en-US" altLang="zh-CN" dirty="0" err="1"/>
              <a:t>ss</a:t>
            </a:r>
            <a:r>
              <a:rPr lang="en-US" altLang="zh-CN" dirty="0"/>
              <a:t>; //</a:t>
            </a:r>
            <a:r>
              <a:rPr lang="zh-CN" altLang="en-US" dirty="0"/>
              <a:t>空字符串流</a:t>
            </a:r>
            <a:endParaRPr lang="en-US" altLang="zh-CN" dirty="0"/>
          </a:p>
          <a:p>
            <a:pPr lvl="1"/>
            <a:r>
              <a:rPr lang="en-US" altLang="zh-CN" dirty="0" err="1"/>
              <a:t>stringstream</a:t>
            </a:r>
            <a:r>
              <a:rPr lang="en-US" altLang="zh-CN" dirty="0"/>
              <a:t> </a:t>
            </a:r>
            <a:r>
              <a:rPr lang="en-US" altLang="zh-CN" dirty="0" err="1"/>
              <a:t>ss</a:t>
            </a:r>
            <a:r>
              <a:rPr lang="en-US" altLang="zh-CN" dirty="0"/>
              <a:t>(</a:t>
            </a:r>
            <a:r>
              <a:rPr lang="en-US" altLang="zh-CN" dirty="0" err="1"/>
              <a:t>str</a:t>
            </a:r>
            <a:r>
              <a:rPr lang="en-US" altLang="zh-CN" dirty="0"/>
              <a:t>); //</a:t>
            </a:r>
            <a:r>
              <a:rPr lang="zh-CN" altLang="en-US" dirty="0"/>
              <a:t>以字符串初始化流</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使用示例</a:t>
            </a:r>
          </a:p>
        </p:txBody>
      </p:sp>
      <p:sp>
        <p:nvSpPr>
          <p:cNvPr id="3" name="内容占位符 2"/>
          <p:cNvSpPr>
            <a:spLocks noGrp="1"/>
          </p:cNvSpPr>
          <p:nvPr>
            <p:ph idx="1"/>
          </p:nvPr>
        </p:nvSpPr>
        <p:spPr>
          <a:xfrm>
            <a:off x="628650" y="5157192"/>
            <a:ext cx="8047806" cy="2308323"/>
          </a:xfrm>
        </p:spPr>
        <p:txBody>
          <a:bodyPr/>
          <a:lstStyle/>
          <a:p>
            <a:r>
              <a:rPr lang="zh-CN" altLang="en-US" dirty="0"/>
              <a:t>可以连接字符串</a:t>
            </a:r>
            <a:endParaRPr lang="en-US" altLang="zh-CN" dirty="0"/>
          </a:p>
          <a:p>
            <a:r>
              <a:rPr lang="zh-CN" altLang="en-US" dirty="0"/>
              <a:t>可以将字符串转换为其他类型的数据</a:t>
            </a:r>
            <a:endParaRPr lang="en-US" altLang="zh-CN" dirty="0"/>
          </a:p>
          <a:p>
            <a:r>
              <a:rPr lang="zh-CN" altLang="en-US" dirty="0"/>
              <a:t>配合流操作算子，可以达到格式化输出效果</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23</a:t>
            </a:fld>
            <a:endParaRPr lang="en-US" altLang="zh-CN"/>
          </a:p>
        </p:txBody>
      </p:sp>
      <p:sp>
        <p:nvSpPr>
          <p:cNvPr id="5" name="文本框 4"/>
          <p:cNvSpPr txBox="1"/>
          <p:nvPr/>
        </p:nvSpPr>
        <p:spPr>
          <a:xfrm>
            <a:off x="1238952" y="1268760"/>
            <a:ext cx="7246361" cy="3785652"/>
          </a:xfrm>
          <a:prstGeom prst="rect">
            <a:avLst/>
          </a:prstGeom>
          <a:noFill/>
        </p:spPr>
        <p:txBody>
          <a:bodyPr wrap="square" rtlCol="0">
            <a:spAutoFit/>
          </a:bodyPr>
          <a:lstStyle/>
          <a:p>
            <a:r>
              <a:rPr lang="en-US" altLang="zh-CN" sz="2000" dirty="0">
                <a:latin typeface="Consolas" panose="020B0609020204030204" pitchFamily="49" charset="0"/>
              </a:rPr>
              <a:t>#include &lt;</a:t>
            </a:r>
            <a:r>
              <a:rPr lang="en-US" altLang="zh-CN" sz="2000" dirty="0" err="1">
                <a:latin typeface="Consolas" panose="020B0609020204030204" pitchFamily="49" charset="0"/>
              </a:rPr>
              <a:t>sstream</a:t>
            </a:r>
            <a:r>
              <a:rPr lang="en-US" altLang="zh-CN" sz="2000" dirty="0">
                <a:latin typeface="Consolas" panose="020B0609020204030204" pitchFamily="49" charset="0"/>
              </a:rPr>
              <a:t>&gt;</a:t>
            </a:r>
          </a:p>
          <a:p>
            <a:r>
              <a:rPr lang="en-US" altLang="zh-CN" sz="2000" dirty="0">
                <a:latin typeface="Consolas" panose="020B0609020204030204" pitchFamily="49" charset="0"/>
              </a:rPr>
              <a:t>using namespace std;</a:t>
            </a:r>
          </a:p>
          <a:p>
            <a:endParaRPr lang="en-US" altLang="zh-CN" sz="2000" dirty="0">
              <a:latin typeface="Consolas" panose="020B0609020204030204" pitchFamily="49" charset="0"/>
            </a:endParaRPr>
          </a:p>
          <a:p>
            <a:r>
              <a:rPr lang="en-US" altLang="zh-CN" sz="2000" dirty="0">
                <a:latin typeface="Consolas" panose="020B0609020204030204" pitchFamily="49" charset="0"/>
              </a:rPr>
              <a:t>int main() {</a:t>
            </a:r>
          </a:p>
          <a:p>
            <a:pPr lvl="1"/>
            <a:r>
              <a:rPr lang="en-US" altLang="zh-CN" sz="2000" dirty="0" err="1">
                <a:latin typeface="Consolas" panose="020B0609020204030204" pitchFamily="49" charset="0"/>
              </a:rPr>
              <a:t>stringstream</a:t>
            </a:r>
            <a:r>
              <a:rPr lang="en-US" altLang="zh-CN" sz="2000" dirty="0">
                <a:latin typeface="Consolas" panose="020B0609020204030204" pitchFamily="49" charset="0"/>
              </a:rPr>
              <a:t> ss;</a:t>
            </a:r>
          </a:p>
          <a:p>
            <a:pPr lvl="1"/>
            <a:r>
              <a:rPr lang="en-US" altLang="zh-CN" sz="2000" dirty="0" err="1">
                <a:latin typeface="Consolas" panose="020B0609020204030204" pitchFamily="49" charset="0"/>
              </a:rPr>
              <a:t>ss</a:t>
            </a:r>
            <a:r>
              <a:rPr lang="en-US" altLang="zh-CN" sz="2000" dirty="0">
                <a:latin typeface="Consolas" panose="020B0609020204030204" pitchFamily="49" charset="0"/>
              </a:rPr>
              <a:t> &lt;&lt; "10";</a:t>
            </a:r>
          </a:p>
          <a:p>
            <a:pPr lvl="1"/>
            <a:r>
              <a:rPr lang="en-US" altLang="zh-CN" sz="2000" dirty="0" err="1">
                <a:latin typeface="Consolas" panose="020B0609020204030204" pitchFamily="49" charset="0"/>
              </a:rPr>
              <a:t>ss</a:t>
            </a:r>
            <a:r>
              <a:rPr lang="en-US" altLang="zh-CN" sz="2000" dirty="0">
                <a:latin typeface="Consolas" panose="020B0609020204030204" pitchFamily="49" charset="0"/>
              </a:rPr>
              <a:t> &lt;&lt; "0 200";</a:t>
            </a:r>
          </a:p>
          <a:p>
            <a:pPr lvl="1"/>
            <a:endParaRPr lang="zh-CN" altLang="en-US" sz="2000" dirty="0">
              <a:latin typeface="Consolas" panose="020B0609020204030204" pitchFamily="49" charset="0"/>
            </a:endParaRPr>
          </a:p>
          <a:p>
            <a:pPr lvl="1"/>
            <a:r>
              <a:rPr lang="en-US" altLang="zh-CN" sz="2000" dirty="0" err="1">
                <a:latin typeface="Consolas" panose="020B0609020204030204" pitchFamily="49" charset="0"/>
              </a:rPr>
              <a:t>int</a:t>
            </a:r>
            <a:r>
              <a:rPr lang="en-US" altLang="zh-CN" sz="2000" dirty="0">
                <a:latin typeface="Consolas" panose="020B0609020204030204" pitchFamily="49" charset="0"/>
              </a:rPr>
              <a:t> a, b;</a:t>
            </a:r>
          </a:p>
          <a:p>
            <a:pPr lvl="1"/>
            <a:r>
              <a:rPr lang="en-US" altLang="zh-CN" sz="2000" dirty="0">
                <a:latin typeface="Consolas" panose="020B0609020204030204" pitchFamily="49" charset="0"/>
              </a:rPr>
              <a:t>ss &gt;&gt; a &gt;&gt; b;		</a:t>
            </a:r>
            <a:r>
              <a:rPr lang="en-US" altLang="zh-CN" sz="2000" dirty="0">
                <a:solidFill>
                  <a:schemeClr val="accent1"/>
                </a:solidFill>
                <a:latin typeface="Consolas" panose="020B0609020204030204" pitchFamily="49" charset="0"/>
              </a:rPr>
              <a:t>//a=100 b=200</a:t>
            </a:r>
          </a:p>
          <a:p>
            <a:pPr lvl="1"/>
            <a:r>
              <a:rPr lang="en-US" altLang="zh-CN" sz="2000" dirty="0">
                <a:latin typeface="Consolas" panose="020B0609020204030204" pitchFamily="49" charset="0"/>
              </a:rPr>
              <a:t>return 0;</a:t>
            </a:r>
          </a:p>
          <a:p>
            <a:r>
              <a:rPr lang="en-US" altLang="zh-CN" sz="2000" dirty="0">
                <a:latin typeface="Consolas" panose="020B0609020204030204" pitchFamily="49" charset="0"/>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获取</a:t>
            </a:r>
            <a:r>
              <a:rPr lang="en-US" altLang="zh-CN" dirty="0" err="1"/>
              <a:t>stringstream</a:t>
            </a:r>
            <a:r>
              <a:rPr lang="zh-CN" altLang="en-US" dirty="0"/>
              <a:t>的</a:t>
            </a:r>
            <a:r>
              <a:rPr lang="en-US" altLang="zh-CN" dirty="0"/>
              <a:t>buffer</a:t>
            </a:r>
            <a:endParaRPr lang="zh-CN" altLang="en-US" dirty="0"/>
          </a:p>
        </p:txBody>
      </p:sp>
      <p:sp>
        <p:nvSpPr>
          <p:cNvPr id="3" name="内容占位符 2"/>
          <p:cNvSpPr>
            <a:spLocks noGrp="1"/>
          </p:cNvSpPr>
          <p:nvPr>
            <p:ph idx="1"/>
          </p:nvPr>
        </p:nvSpPr>
        <p:spPr>
          <a:xfrm>
            <a:off x="628650" y="1056741"/>
            <a:ext cx="8047806" cy="4749029"/>
          </a:xfrm>
        </p:spPr>
        <p:txBody>
          <a:bodyPr/>
          <a:lstStyle/>
          <a:p>
            <a:r>
              <a:rPr lang="en-US" altLang="zh-CN" dirty="0" err="1"/>
              <a:t>ss.str</a:t>
            </a:r>
            <a:r>
              <a:rPr lang="en-US" altLang="zh-CN" dirty="0"/>
              <a:t>()</a:t>
            </a:r>
          </a:p>
          <a:p>
            <a:pPr lvl="1"/>
            <a:r>
              <a:rPr lang="zh-CN" altLang="en-US" dirty="0"/>
              <a:t>返回一个</a:t>
            </a:r>
            <a:r>
              <a:rPr lang="en-US" altLang="zh-CN" dirty="0"/>
              <a:t>string</a:t>
            </a:r>
            <a:r>
              <a:rPr lang="zh-CN" altLang="en-US" dirty="0"/>
              <a:t>对象</a:t>
            </a:r>
            <a:endParaRPr lang="en-US" altLang="zh-CN" dirty="0"/>
          </a:p>
          <a:p>
            <a:pPr lvl="1"/>
            <a:r>
              <a:rPr lang="zh-CN" altLang="en-US" dirty="0"/>
              <a:t>内容为</a:t>
            </a:r>
            <a:r>
              <a:rPr lang="en-US" altLang="zh-CN" dirty="0" err="1"/>
              <a:t>stringstream</a:t>
            </a:r>
            <a:r>
              <a:rPr lang="zh-CN" altLang="en-US" dirty="0"/>
              <a:t>的</a:t>
            </a:r>
            <a:r>
              <a:rPr lang="en-US" altLang="zh-CN" dirty="0"/>
              <a:t>buffer</a:t>
            </a:r>
          </a:p>
          <a:p>
            <a:r>
              <a:rPr lang="zh-CN" altLang="en-US" dirty="0"/>
              <a:t>注意</a:t>
            </a:r>
            <a:r>
              <a:rPr lang="en-US" altLang="zh-CN" dirty="0"/>
              <a:t>buffer</a:t>
            </a:r>
            <a:r>
              <a:rPr lang="zh-CN" altLang="en-US" dirty="0"/>
              <a:t>内容并不是未读取的内容</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24</a:t>
            </a:fld>
            <a:endParaRPr lang="en-US" altLang="zh-CN"/>
          </a:p>
        </p:txBody>
      </p:sp>
      <p:sp>
        <p:nvSpPr>
          <p:cNvPr id="5" name="文本框 4"/>
          <p:cNvSpPr txBox="1"/>
          <p:nvPr/>
        </p:nvSpPr>
        <p:spPr>
          <a:xfrm>
            <a:off x="684069" y="2781384"/>
            <a:ext cx="6480720" cy="4030980"/>
          </a:xfrm>
          <a:prstGeom prst="rect">
            <a:avLst/>
          </a:prstGeom>
          <a:noFill/>
        </p:spPr>
        <p:txBody>
          <a:bodyPr wrap="square" rtlCol="0">
            <a:spAutoFit/>
          </a:bodyPr>
          <a:lstStyle/>
          <a:p>
            <a:r>
              <a:rPr lang="en-US" altLang="zh-CN" sz="1600" b="1" dirty="0">
                <a:latin typeface="Consolas" panose="020B0609020204030204" pitchFamily="49" charset="0"/>
              </a:rPr>
              <a:t>#include &lt;</a:t>
            </a:r>
            <a:r>
              <a:rPr lang="en-US" altLang="zh-CN" sz="1600" b="1" dirty="0" err="1">
                <a:latin typeface="Consolas" panose="020B0609020204030204" pitchFamily="49" charset="0"/>
              </a:rPr>
              <a:t>sstream</a:t>
            </a:r>
            <a:r>
              <a:rPr lang="en-US" altLang="zh-CN" sz="1600" b="1" dirty="0">
                <a:latin typeface="Consolas" panose="020B0609020204030204" pitchFamily="49" charset="0"/>
              </a:rPr>
              <a:t>&gt;</a:t>
            </a:r>
          </a:p>
          <a:p>
            <a:r>
              <a:rPr lang="en-US" altLang="zh-CN" sz="1600" b="1" dirty="0">
                <a:latin typeface="Consolas" panose="020B0609020204030204" pitchFamily="49" charset="0"/>
              </a:rPr>
              <a:t>#include &lt;iostream&gt;</a:t>
            </a:r>
          </a:p>
          <a:p>
            <a:r>
              <a:rPr lang="en-US" altLang="zh-CN" sz="1600" b="1" dirty="0">
                <a:latin typeface="Consolas" panose="020B0609020204030204" pitchFamily="49" charset="0"/>
              </a:rPr>
              <a:t>using namespace std;</a:t>
            </a:r>
          </a:p>
          <a:p>
            <a:endParaRPr lang="en-US" altLang="zh-CN" sz="1600" b="1" dirty="0">
              <a:latin typeface="Consolas" panose="020B0609020204030204" pitchFamily="49" charset="0"/>
            </a:endParaRPr>
          </a:p>
          <a:p>
            <a:r>
              <a:rPr lang="en-US" altLang="zh-CN" sz="1600" b="1" dirty="0">
                <a:latin typeface="Consolas" panose="020B0609020204030204" pitchFamily="49" charset="0"/>
              </a:rPr>
              <a:t>int main() {</a:t>
            </a:r>
          </a:p>
          <a:p>
            <a:r>
              <a:rPr lang="en-US" altLang="zh-CN" sz="1600" b="1" dirty="0">
                <a:latin typeface="Consolas" panose="020B0609020204030204" pitchFamily="49" charset="0"/>
              </a:rPr>
              <a:t>	</a:t>
            </a:r>
            <a:r>
              <a:rPr lang="en-US" altLang="zh-CN" sz="1600" b="1" dirty="0" err="1">
                <a:latin typeface="Consolas" panose="020B0609020204030204" pitchFamily="49" charset="0"/>
              </a:rPr>
              <a:t>stringstream</a:t>
            </a:r>
            <a:r>
              <a:rPr lang="en-US" altLang="zh-CN" sz="1600" b="1" dirty="0">
                <a:latin typeface="Consolas" panose="020B0609020204030204" pitchFamily="49" charset="0"/>
              </a:rPr>
              <a:t> </a:t>
            </a:r>
            <a:r>
              <a:rPr lang="en-US" altLang="zh-CN" sz="1600" b="1" dirty="0" err="1">
                <a:latin typeface="Consolas" panose="020B0609020204030204" pitchFamily="49" charset="0"/>
              </a:rPr>
              <a:t>ss</a:t>
            </a:r>
            <a:r>
              <a:rPr lang="en-US" altLang="zh-CN" sz="1600" b="1" dirty="0">
                <a:latin typeface="Consolas" panose="020B0609020204030204" pitchFamily="49" charset="0"/>
              </a:rPr>
              <a:t>;</a:t>
            </a:r>
          </a:p>
          <a:p>
            <a:r>
              <a:rPr lang="en-US" altLang="zh-CN" sz="1600" b="1" dirty="0">
                <a:latin typeface="Consolas" panose="020B0609020204030204" pitchFamily="49" charset="0"/>
              </a:rPr>
              <a:t>	</a:t>
            </a:r>
            <a:r>
              <a:rPr lang="en-US" altLang="zh-CN" sz="1600" b="1" dirty="0" err="1">
                <a:latin typeface="Consolas" panose="020B0609020204030204" pitchFamily="49" charset="0"/>
              </a:rPr>
              <a:t>ss</a:t>
            </a:r>
            <a:r>
              <a:rPr lang="en-US" altLang="zh-CN" sz="1600" b="1" dirty="0">
                <a:latin typeface="Consolas" panose="020B0609020204030204" pitchFamily="49" charset="0"/>
              </a:rPr>
              <a:t> &lt;&lt; "100 200";</a:t>
            </a:r>
          </a:p>
          <a:p>
            <a:r>
              <a:rPr lang="en-US" altLang="zh-CN" sz="1600" b="1" dirty="0">
                <a:latin typeface="Consolas" panose="020B0609020204030204" pitchFamily="49" charset="0"/>
              </a:rPr>
              <a: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a:t>
            </a:r>
            <a:r>
              <a:rPr lang="en-US" altLang="zh-CN" sz="1600" b="1" dirty="0" err="1">
                <a:latin typeface="Consolas" panose="020B0609020204030204" pitchFamily="49" charset="0"/>
              </a:rPr>
              <a:t>ss.str</a:t>
            </a:r>
            <a:r>
              <a:rPr lang="en-US" altLang="zh-CN" sz="1600" b="1" dirty="0">
                <a:latin typeface="Consolas" panose="020B0609020204030204" pitchFamily="49" charset="0"/>
              </a:rPr>
              <a:t>()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a:t>
            </a:r>
          </a:p>
          <a:p>
            <a:r>
              <a:rPr lang="en-US" altLang="zh-CN" sz="1600" b="1" dirty="0">
                <a:latin typeface="Consolas" panose="020B0609020204030204" pitchFamily="49" charset="0"/>
                <a:sym typeface="+mn-ea"/>
              </a:rPr>
              <a:t>	</a:t>
            </a:r>
            <a:r>
              <a:rPr lang="en-US" altLang="zh-CN" sz="1600" b="1" dirty="0">
                <a:solidFill>
                  <a:schemeClr val="accent1"/>
                </a:solidFill>
                <a:latin typeface="Consolas" panose="020B0609020204030204" pitchFamily="49" charset="0"/>
              </a:rPr>
              <a:t>//"100 200"</a:t>
            </a:r>
          </a:p>
          <a:p>
            <a:r>
              <a:rPr lang="en-US" altLang="zh-CN" sz="1600" b="1" dirty="0">
                <a:latin typeface="Consolas" panose="020B0609020204030204" pitchFamily="49" charset="0"/>
                <a:sym typeface="+mn-ea"/>
              </a:rPr>
              <a:t>	</a:t>
            </a:r>
            <a:r>
              <a:rPr lang="en-US" altLang="zh-CN" sz="1600" b="1">
                <a:latin typeface="Consolas" panose="020B0609020204030204" pitchFamily="49" charset="0"/>
              </a:rPr>
              <a:t>int a, b;</a:t>
            </a:r>
          </a:p>
          <a:p>
            <a:r>
              <a:rPr lang="en-US" altLang="zh-CN" sz="1600" b="1">
                <a:latin typeface="Consolas" panose="020B0609020204030204" pitchFamily="49" charset="0"/>
              </a:rPr>
              <a:t>	ss &gt;&gt; a;  </a:t>
            </a:r>
            <a:r>
              <a:rPr lang="en-US" altLang="zh-CN" sz="1600" b="1" dirty="0">
                <a:solidFill>
                  <a:schemeClr val="accent1"/>
                </a:solidFill>
                <a:latin typeface="Consolas" panose="020B0609020204030204" pitchFamily="49" charset="0"/>
              </a:rPr>
              <a:t>// a = 100</a:t>
            </a:r>
            <a:endParaRPr lang="en-US" altLang="zh-CN" sz="1600" b="1">
              <a:latin typeface="Consolas" panose="020B0609020204030204" pitchFamily="49" charset="0"/>
            </a:endParaRPr>
          </a:p>
          <a:p>
            <a:r>
              <a:rPr lang="en-US" altLang="zh-CN" sz="1600" b="1">
                <a:latin typeface="Consolas" panose="020B0609020204030204" pitchFamily="49" charset="0"/>
              </a:rPr>
              <a:t>	cout &lt;&lt; ss.str() &lt;&lt; endl;</a:t>
            </a:r>
          </a:p>
          <a:p>
            <a:r>
              <a:rPr lang="en-US" altLang="zh-CN" sz="1600" b="1">
                <a:latin typeface="Consolas" panose="020B0609020204030204" pitchFamily="49" charset="0"/>
              </a:rPr>
              <a:t>	</a:t>
            </a:r>
            <a:r>
              <a:rPr lang="en-US" altLang="zh-CN" sz="1600" b="1">
                <a:solidFill>
                  <a:srgbClr val="FF0000"/>
                </a:solidFill>
                <a:latin typeface="Consolas" panose="020B0609020204030204" pitchFamily="49" charset="0"/>
              </a:rPr>
              <a:t>//"100 200"</a:t>
            </a:r>
            <a:endParaRPr lang="en-US" altLang="zh-CN" sz="1600" b="1">
              <a:latin typeface="Consolas" panose="020B0609020204030204" pitchFamily="49" charset="0"/>
            </a:endParaRPr>
          </a:p>
          <a:p>
            <a:r>
              <a:rPr lang="en-US" altLang="zh-CN" sz="1600" b="1">
                <a:latin typeface="Consolas" panose="020B0609020204030204" pitchFamily="49" charset="0"/>
              </a:rPr>
              <a:t>	ss &gt;&gt; b; </a:t>
            </a:r>
            <a:r>
              <a:rPr lang="en-US" altLang="zh-CN" sz="1600" b="1" dirty="0">
                <a:solidFill>
                  <a:schemeClr val="accent1"/>
                </a:solidFill>
                <a:latin typeface="Consolas" panose="020B0609020204030204" pitchFamily="49" charset="0"/>
              </a:rPr>
              <a:t>// b = 200</a:t>
            </a:r>
            <a:endParaRPr lang="en-US" altLang="zh-CN" sz="1600" b="1">
              <a:latin typeface="Consolas" panose="020B0609020204030204" pitchFamily="49" charset="0"/>
            </a:endParaRPr>
          </a:p>
          <a:p>
            <a:r>
              <a:rPr lang="en-US" altLang="zh-CN" sz="1600" b="1">
                <a:latin typeface="Consolas" panose="020B0609020204030204" pitchFamily="49" charset="0"/>
              </a:rPr>
              <a:t>	return 0;</a:t>
            </a:r>
          </a:p>
          <a:p>
            <a:r>
              <a:rPr lang="en-US" altLang="zh-CN" sz="1600" b="1">
                <a:latin typeface="Consolas" panose="020B0609020204030204" pitchFamily="49" charset="0"/>
              </a:rPr>
              <a:t>}</a:t>
            </a:r>
          </a:p>
        </p:txBody>
      </p:sp>
      <p:grpSp>
        <p:nvGrpSpPr>
          <p:cNvPr id="6" name="组合 5"/>
          <p:cNvGrpSpPr/>
          <p:nvPr/>
        </p:nvGrpSpPr>
        <p:grpSpPr>
          <a:xfrm>
            <a:off x="4283710" y="2843794"/>
            <a:ext cx="4744185" cy="3723422"/>
            <a:chOff x="6301" y="1887"/>
            <a:chExt cx="10233" cy="7936"/>
          </a:xfrm>
        </p:grpSpPr>
        <p:grpSp>
          <p:nvGrpSpPr>
            <p:cNvPr id="29" name="组合 28"/>
            <p:cNvGrpSpPr/>
            <p:nvPr/>
          </p:nvGrpSpPr>
          <p:grpSpPr>
            <a:xfrm>
              <a:off x="8127" y="1887"/>
              <a:ext cx="4225" cy="3349"/>
              <a:chOff x="5160568" y="1198277"/>
              <a:chExt cx="2683000" cy="2126557"/>
            </a:xfrm>
          </p:grpSpPr>
          <p:grpSp>
            <p:nvGrpSpPr>
              <p:cNvPr id="14" name="组合 13"/>
              <p:cNvGrpSpPr/>
              <p:nvPr/>
            </p:nvGrpSpPr>
            <p:grpSpPr>
              <a:xfrm>
                <a:off x="5337371" y="2097601"/>
                <a:ext cx="2506197" cy="361141"/>
                <a:chOff x="1771758" y="2779827"/>
                <a:chExt cx="2506197" cy="361141"/>
              </a:xfrm>
            </p:grpSpPr>
            <p:sp>
              <p:nvSpPr>
                <p:cNvPr id="15" name="矩形 14"/>
                <p:cNvSpPr/>
                <p:nvPr>
                  <p:custDataLst>
                    <p:tags r:id="rId30"/>
                  </p:custDataLst>
                </p:nvPr>
              </p:nvSpPr>
              <p:spPr>
                <a:xfrm>
                  <a:off x="1771758" y="2780928"/>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矩形 15"/>
                <p:cNvSpPr/>
                <p:nvPr>
                  <p:custDataLst>
                    <p:tags r:id="rId31"/>
                  </p:custDataLst>
                </p:nvPr>
              </p:nvSpPr>
              <p:spPr>
                <a:xfrm>
                  <a:off x="2131798" y="2780928"/>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p:cNvSpPr/>
                <p:nvPr>
                  <p:custDataLst>
                    <p:tags r:id="rId32"/>
                  </p:custDataLst>
                </p:nvPr>
              </p:nvSpPr>
              <p:spPr>
                <a:xfrm>
                  <a:off x="2483768" y="2780928"/>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17"/>
                <p:cNvSpPr/>
                <p:nvPr>
                  <p:custDataLst>
                    <p:tags r:id="rId33"/>
                  </p:custDataLst>
                </p:nvPr>
              </p:nvSpPr>
              <p:spPr>
                <a:xfrm>
                  <a:off x="2843808" y="2780928"/>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custDataLst>
                    <p:tags r:id="rId34"/>
                  </p:custDataLst>
                </p:nvPr>
              </p:nvSpPr>
              <p:spPr>
                <a:xfrm>
                  <a:off x="3203848" y="2780928"/>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p:cNvSpPr/>
                <p:nvPr>
                  <p:custDataLst>
                    <p:tags r:id="rId35"/>
                  </p:custDataLst>
                </p:nvPr>
              </p:nvSpPr>
              <p:spPr>
                <a:xfrm>
                  <a:off x="3565945" y="2779827"/>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custDataLst>
                    <p:tags r:id="rId36"/>
                  </p:custDataLst>
                </p:nvPr>
              </p:nvSpPr>
              <p:spPr>
                <a:xfrm>
                  <a:off x="3917915" y="2779827"/>
                  <a:ext cx="360040" cy="360040"/>
                </a:xfrm>
                <a:prstGeom prst="rect">
                  <a:avLst/>
                </a:prstGeom>
                <a:solidFill>
                  <a:schemeClr val="bg1">
                    <a:lumMod val="65000"/>
                  </a:schemeClr>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cxnSp>
            <p:nvCxnSpPr>
              <p:cNvPr id="23" name="直接箭头连接符 22"/>
              <p:cNvCxnSpPr>
                <a:endCxn id="15" idx="0"/>
              </p:cNvCxnSpPr>
              <p:nvPr>
                <p:custDataLst>
                  <p:tags r:id="rId26"/>
                </p:custDataLst>
              </p:nvPr>
            </p:nvCxnSpPr>
            <p:spPr>
              <a:xfrm>
                <a:off x="5517254" y="1656466"/>
                <a:ext cx="137" cy="4422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custDataLst>
                  <p:tags r:id="rId27"/>
                </p:custDataLst>
              </p:nvPr>
            </p:nvSpPr>
            <p:spPr>
              <a:xfrm>
                <a:off x="5160568" y="1198277"/>
                <a:ext cx="1208993" cy="539668"/>
              </a:xfrm>
              <a:prstGeom prst="rect">
                <a:avLst/>
              </a:prstGeom>
              <a:noFill/>
            </p:spPr>
            <p:txBody>
              <a:bodyPr wrap="square" rtlCol="0">
                <a:spAutoFit/>
              </a:bodyPr>
              <a:lstStyle/>
              <a:p>
                <a:r>
                  <a:rPr lang="en-US" altLang="zh-CN" sz="2000" b="1" dirty="0"/>
                  <a:t>head</a:t>
                </a:r>
                <a:endParaRPr lang="zh-CN" altLang="en-US" sz="2000" b="1" dirty="0"/>
              </a:p>
            </p:txBody>
          </p:sp>
          <p:cxnSp>
            <p:nvCxnSpPr>
              <p:cNvPr id="27" name="直接箭头连接符 26"/>
              <p:cNvCxnSpPr>
                <a:endCxn id="15" idx="2"/>
              </p:cNvCxnSpPr>
              <p:nvPr>
                <p:custDataLst>
                  <p:tags r:id="rId28"/>
                </p:custDataLst>
              </p:nvPr>
            </p:nvCxnSpPr>
            <p:spPr>
              <a:xfrm flipV="1">
                <a:off x="5517254" y="2458742"/>
                <a:ext cx="137" cy="459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custDataLst>
                  <p:tags r:id="rId29"/>
                </p:custDataLst>
              </p:nvPr>
            </p:nvSpPr>
            <p:spPr>
              <a:xfrm>
                <a:off x="5256244" y="2785128"/>
                <a:ext cx="1078526" cy="539706"/>
              </a:xfrm>
              <a:prstGeom prst="rect">
                <a:avLst/>
              </a:prstGeom>
              <a:noFill/>
            </p:spPr>
            <p:txBody>
              <a:bodyPr wrap="square" rtlCol="0">
                <a:spAutoFit/>
              </a:bodyPr>
              <a:lstStyle/>
              <a:p>
                <a:r>
                  <a:rPr lang="en-US" altLang="zh-CN" sz="2000" b="1" dirty="0"/>
                  <a:t>tail</a:t>
                </a:r>
                <a:endParaRPr lang="zh-CN" altLang="en-US" sz="2000" b="1" dirty="0"/>
              </a:p>
            </p:txBody>
          </p:sp>
        </p:grpSp>
        <p:grpSp>
          <p:nvGrpSpPr>
            <p:cNvPr id="30" name="组合 29"/>
            <p:cNvGrpSpPr/>
            <p:nvPr/>
          </p:nvGrpSpPr>
          <p:grpSpPr>
            <a:xfrm>
              <a:off x="8216" y="4041"/>
              <a:ext cx="4875" cy="3331"/>
              <a:chOff x="5256253" y="1171448"/>
              <a:chExt cx="3095516" cy="2115470"/>
            </a:xfrm>
          </p:grpSpPr>
          <p:grpSp>
            <p:nvGrpSpPr>
              <p:cNvPr id="31" name="组合 30"/>
              <p:cNvGrpSpPr/>
              <p:nvPr/>
            </p:nvGrpSpPr>
            <p:grpSpPr>
              <a:xfrm>
                <a:off x="5337371" y="2097601"/>
                <a:ext cx="2506197" cy="361141"/>
                <a:chOff x="1771758" y="2779827"/>
                <a:chExt cx="2506197" cy="361141"/>
              </a:xfrm>
            </p:grpSpPr>
            <p:sp>
              <p:nvSpPr>
                <p:cNvPr id="36" name="矩形 35"/>
                <p:cNvSpPr/>
                <p:nvPr>
                  <p:custDataLst>
                    <p:tags r:id="rId19"/>
                  </p:custDataLst>
                </p:nvPr>
              </p:nvSpPr>
              <p:spPr>
                <a:xfrm>
                  <a:off x="1771758" y="2780928"/>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37" name="矩形 36"/>
                <p:cNvSpPr/>
                <p:nvPr>
                  <p:custDataLst>
                    <p:tags r:id="rId20"/>
                  </p:custDataLst>
                </p:nvPr>
              </p:nvSpPr>
              <p:spPr>
                <a:xfrm>
                  <a:off x="2131798" y="2780928"/>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38" name="矩形 37"/>
                <p:cNvSpPr/>
                <p:nvPr>
                  <p:custDataLst>
                    <p:tags r:id="rId21"/>
                  </p:custDataLst>
                </p:nvPr>
              </p:nvSpPr>
              <p:spPr>
                <a:xfrm>
                  <a:off x="2483768" y="2780928"/>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39" name="矩形 38"/>
                <p:cNvSpPr/>
                <p:nvPr>
                  <p:custDataLst>
                    <p:tags r:id="rId22"/>
                  </p:custDataLst>
                </p:nvPr>
              </p:nvSpPr>
              <p:spPr>
                <a:xfrm>
                  <a:off x="2843808" y="2780928"/>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p:cNvSpPr/>
                <p:nvPr>
                  <p:custDataLst>
                    <p:tags r:id="rId23"/>
                  </p:custDataLst>
                </p:nvPr>
              </p:nvSpPr>
              <p:spPr>
                <a:xfrm>
                  <a:off x="3203848" y="2780928"/>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41" name="矩形 40"/>
                <p:cNvSpPr/>
                <p:nvPr>
                  <p:custDataLst>
                    <p:tags r:id="rId24"/>
                  </p:custDataLst>
                </p:nvPr>
              </p:nvSpPr>
              <p:spPr>
                <a:xfrm>
                  <a:off x="3565945" y="2779827"/>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42" name="矩形 41"/>
                <p:cNvSpPr/>
                <p:nvPr>
                  <p:custDataLst>
                    <p:tags r:id="rId25"/>
                  </p:custDataLst>
                </p:nvPr>
              </p:nvSpPr>
              <p:spPr>
                <a:xfrm>
                  <a:off x="3917915" y="2779827"/>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grpSp>
          <p:cxnSp>
            <p:nvCxnSpPr>
              <p:cNvPr id="32" name="直接箭头连接符 31"/>
              <p:cNvCxnSpPr/>
              <p:nvPr>
                <p:custDataLst>
                  <p:tags r:id="rId15"/>
                </p:custDataLst>
              </p:nvPr>
            </p:nvCxnSpPr>
            <p:spPr>
              <a:xfrm>
                <a:off x="7662239" y="1642896"/>
                <a:ext cx="137" cy="4422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p:cNvSpPr txBox="1"/>
              <p:nvPr>
                <p:custDataLst>
                  <p:tags r:id="rId16"/>
                </p:custDataLst>
              </p:nvPr>
            </p:nvSpPr>
            <p:spPr>
              <a:xfrm>
                <a:off x="7305434" y="1171448"/>
                <a:ext cx="1046335" cy="956563"/>
              </a:xfrm>
              <a:prstGeom prst="rect">
                <a:avLst/>
              </a:prstGeom>
              <a:noFill/>
            </p:spPr>
            <p:txBody>
              <a:bodyPr wrap="square" rtlCol="0">
                <a:spAutoFit/>
              </a:bodyPr>
              <a:lstStyle/>
              <a:p>
                <a:r>
                  <a:rPr lang="en-US" altLang="zh-CN" sz="2000" b="1" dirty="0"/>
                  <a:t>head</a:t>
                </a:r>
                <a:endParaRPr lang="zh-CN" altLang="en-US" sz="2000" b="1" dirty="0"/>
              </a:p>
            </p:txBody>
          </p:sp>
          <p:cxnSp>
            <p:nvCxnSpPr>
              <p:cNvPr id="34" name="直接箭头连接符 33"/>
              <p:cNvCxnSpPr>
                <a:endCxn id="36" idx="2"/>
              </p:cNvCxnSpPr>
              <p:nvPr>
                <p:custDataLst>
                  <p:tags r:id="rId17"/>
                </p:custDataLst>
              </p:nvPr>
            </p:nvCxnSpPr>
            <p:spPr>
              <a:xfrm flipV="1">
                <a:off x="5517254" y="2458742"/>
                <a:ext cx="137" cy="459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custDataLst>
                  <p:tags r:id="rId18"/>
                </p:custDataLst>
              </p:nvPr>
            </p:nvSpPr>
            <p:spPr>
              <a:xfrm>
                <a:off x="5256253" y="2747302"/>
                <a:ext cx="1118526" cy="539616"/>
              </a:xfrm>
              <a:prstGeom prst="rect">
                <a:avLst/>
              </a:prstGeom>
              <a:noFill/>
            </p:spPr>
            <p:txBody>
              <a:bodyPr wrap="square" rtlCol="0">
                <a:spAutoFit/>
              </a:bodyPr>
              <a:lstStyle/>
              <a:p>
                <a:r>
                  <a:rPr lang="en-US" altLang="zh-CN" sz="2000" b="1" dirty="0"/>
                  <a:t>tail</a:t>
                </a:r>
                <a:endParaRPr lang="zh-CN" altLang="en-US" sz="2000" b="1" dirty="0"/>
              </a:p>
            </p:txBody>
          </p:sp>
        </p:grpSp>
        <p:grpSp>
          <p:nvGrpSpPr>
            <p:cNvPr id="43" name="组合 42"/>
            <p:cNvGrpSpPr/>
            <p:nvPr/>
          </p:nvGrpSpPr>
          <p:grpSpPr>
            <a:xfrm>
              <a:off x="8396" y="6479"/>
              <a:ext cx="4695" cy="3344"/>
              <a:chOff x="5337371" y="1171452"/>
              <a:chExt cx="2981759" cy="2123278"/>
            </a:xfrm>
          </p:grpSpPr>
          <p:grpSp>
            <p:nvGrpSpPr>
              <p:cNvPr id="44" name="组合 43"/>
              <p:cNvGrpSpPr/>
              <p:nvPr/>
            </p:nvGrpSpPr>
            <p:grpSpPr>
              <a:xfrm>
                <a:off x="5337371" y="2097601"/>
                <a:ext cx="2506197" cy="361141"/>
                <a:chOff x="1771758" y="2779827"/>
                <a:chExt cx="2506197" cy="361141"/>
              </a:xfrm>
            </p:grpSpPr>
            <p:sp>
              <p:nvSpPr>
                <p:cNvPr id="49" name="矩形 48"/>
                <p:cNvSpPr/>
                <p:nvPr>
                  <p:custDataLst>
                    <p:tags r:id="rId8"/>
                  </p:custDataLst>
                </p:nvPr>
              </p:nvSpPr>
              <p:spPr>
                <a:xfrm>
                  <a:off x="1771758" y="2780928"/>
                  <a:ext cx="360040" cy="360040"/>
                </a:xfrm>
                <a:prstGeom prst="rect">
                  <a:avLst/>
                </a:prstGeom>
                <a:solidFill>
                  <a:schemeClr val="accent5"/>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endParaRPr lang="zh-CN" altLang="en-US" dirty="0"/>
                </a:p>
              </p:txBody>
            </p:sp>
            <p:sp>
              <p:nvSpPr>
                <p:cNvPr id="50" name="矩形 49"/>
                <p:cNvSpPr/>
                <p:nvPr>
                  <p:custDataLst>
                    <p:tags r:id="rId9"/>
                  </p:custDataLst>
                </p:nvPr>
              </p:nvSpPr>
              <p:spPr>
                <a:xfrm>
                  <a:off x="2131798" y="2780928"/>
                  <a:ext cx="360040" cy="360040"/>
                </a:xfrm>
                <a:prstGeom prst="rect">
                  <a:avLst/>
                </a:prstGeom>
                <a:solidFill>
                  <a:schemeClr val="accent5"/>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51" name="矩形 50"/>
                <p:cNvSpPr/>
                <p:nvPr>
                  <p:custDataLst>
                    <p:tags r:id="rId10"/>
                  </p:custDataLst>
                </p:nvPr>
              </p:nvSpPr>
              <p:spPr>
                <a:xfrm>
                  <a:off x="2483768" y="2780928"/>
                  <a:ext cx="360040" cy="360040"/>
                </a:xfrm>
                <a:prstGeom prst="rect">
                  <a:avLst/>
                </a:prstGeom>
                <a:solidFill>
                  <a:schemeClr val="accent5"/>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52" name="矩形 51"/>
                <p:cNvSpPr/>
                <p:nvPr>
                  <p:custDataLst>
                    <p:tags r:id="rId11"/>
                  </p:custDataLst>
                </p:nvPr>
              </p:nvSpPr>
              <p:spPr>
                <a:xfrm>
                  <a:off x="2843808" y="2780928"/>
                  <a:ext cx="360040" cy="360040"/>
                </a:xfrm>
                <a:prstGeom prst="rect">
                  <a:avLst/>
                </a:prstGeom>
                <a:solidFill>
                  <a:schemeClr val="accent5"/>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custDataLst>
                    <p:tags r:id="rId12"/>
                  </p:custDataLst>
                </p:nvPr>
              </p:nvSpPr>
              <p:spPr>
                <a:xfrm>
                  <a:off x="3203848" y="2780928"/>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endParaRPr lang="zh-CN" altLang="en-US" dirty="0"/>
                </a:p>
              </p:txBody>
            </p:sp>
            <p:sp>
              <p:nvSpPr>
                <p:cNvPr id="54" name="矩形 53"/>
                <p:cNvSpPr/>
                <p:nvPr>
                  <p:custDataLst>
                    <p:tags r:id="rId13"/>
                  </p:custDataLst>
                </p:nvPr>
              </p:nvSpPr>
              <p:spPr>
                <a:xfrm>
                  <a:off x="3565945" y="2779827"/>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sp>
              <p:nvSpPr>
                <p:cNvPr id="55" name="矩形 54"/>
                <p:cNvSpPr/>
                <p:nvPr>
                  <p:custDataLst>
                    <p:tags r:id="rId14"/>
                  </p:custDataLst>
                </p:nvPr>
              </p:nvSpPr>
              <p:spPr>
                <a:xfrm>
                  <a:off x="3917915" y="2779827"/>
                  <a:ext cx="360040" cy="360040"/>
                </a:xfrm>
                <a:prstGeom prst="rect">
                  <a:avLst/>
                </a:prstGeom>
                <a:solidFill>
                  <a:schemeClr val="accent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a:t>
                  </a:r>
                  <a:endParaRPr lang="zh-CN" altLang="en-US" dirty="0"/>
                </a:p>
              </p:txBody>
            </p:sp>
          </p:grpSp>
          <p:cxnSp>
            <p:nvCxnSpPr>
              <p:cNvPr id="45" name="直接箭头连接符 44"/>
              <p:cNvCxnSpPr/>
              <p:nvPr>
                <p:custDataLst>
                  <p:tags r:id="rId4"/>
                </p:custDataLst>
              </p:nvPr>
            </p:nvCxnSpPr>
            <p:spPr>
              <a:xfrm>
                <a:off x="7662239" y="1642896"/>
                <a:ext cx="137" cy="44223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p:cNvSpPr txBox="1"/>
              <p:nvPr>
                <p:custDataLst>
                  <p:tags r:id="rId5"/>
                </p:custDataLst>
              </p:nvPr>
            </p:nvSpPr>
            <p:spPr>
              <a:xfrm>
                <a:off x="7305784" y="1171452"/>
                <a:ext cx="1013346" cy="956517"/>
              </a:xfrm>
              <a:prstGeom prst="rect">
                <a:avLst/>
              </a:prstGeom>
              <a:noFill/>
            </p:spPr>
            <p:txBody>
              <a:bodyPr wrap="square" rtlCol="0">
                <a:spAutoFit/>
              </a:bodyPr>
              <a:lstStyle/>
              <a:p>
                <a:r>
                  <a:rPr lang="en-US" altLang="zh-CN" sz="2000" b="1" dirty="0"/>
                  <a:t>head</a:t>
                </a:r>
                <a:endParaRPr lang="zh-CN" altLang="en-US" sz="2000" b="1" dirty="0"/>
              </a:p>
            </p:txBody>
          </p:sp>
          <p:cxnSp>
            <p:nvCxnSpPr>
              <p:cNvPr id="47" name="直接箭头连接符 46"/>
              <p:cNvCxnSpPr/>
              <p:nvPr>
                <p:custDataLst>
                  <p:tags r:id="rId6"/>
                </p:custDataLst>
              </p:nvPr>
            </p:nvCxnSpPr>
            <p:spPr>
              <a:xfrm flipV="1">
                <a:off x="6944895" y="2466267"/>
                <a:ext cx="137" cy="45952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文本框 47"/>
              <p:cNvSpPr txBox="1"/>
              <p:nvPr>
                <p:custDataLst>
                  <p:tags r:id="rId7"/>
                </p:custDataLst>
              </p:nvPr>
            </p:nvSpPr>
            <p:spPr>
              <a:xfrm>
                <a:off x="6683860" y="2755098"/>
                <a:ext cx="996819" cy="539632"/>
              </a:xfrm>
              <a:prstGeom prst="rect">
                <a:avLst/>
              </a:prstGeom>
              <a:noFill/>
            </p:spPr>
            <p:txBody>
              <a:bodyPr wrap="square" rtlCol="0">
                <a:spAutoFit/>
              </a:bodyPr>
              <a:lstStyle/>
              <a:p>
                <a:r>
                  <a:rPr lang="en-US" altLang="zh-CN" sz="2000" b="1" dirty="0"/>
                  <a:t>tail</a:t>
                </a:r>
                <a:endParaRPr lang="zh-CN" altLang="en-US" sz="2000" b="1" dirty="0"/>
              </a:p>
            </p:txBody>
          </p:sp>
        </p:grpSp>
        <p:cxnSp>
          <p:nvCxnSpPr>
            <p:cNvPr id="7" name="直接箭头连接符 6"/>
            <p:cNvCxnSpPr/>
            <p:nvPr>
              <p:custDataLst>
                <p:tags r:id="rId1"/>
              </p:custDataLst>
            </p:nvPr>
          </p:nvCxnSpPr>
          <p:spPr>
            <a:xfrm flipV="1">
              <a:off x="6301" y="5740"/>
              <a:ext cx="1826" cy="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56" name="直接箭头连接符 55"/>
            <p:cNvCxnSpPr/>
            <p:nvPr>
              <p:custDataLst>
                <p:tags r:id="rId2"/>
              </p:custDataLst>
            </p:nvPr>
          </p:nvCxnSpPr>
          <p:spPr>
            <a:xfrm>
              <a:off x="6301" y="8046"/>
              <a:ext cx="186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文本框 7"/>
            <p:cNvSpPr txBox="1"/>
            <p:nvPr>
              <p:custDataLst>
                <p:tags r:id="rId3"/>
              </p:custDataLst>
            </p:nvPr>
          </p:nvSpPr>
          <p:spPr>
            <a:xfrm>
              <a:off x="13092" y="2609"/>
              <a:ext cx="3442" cy="2163"/>
            </a:xfrm>
            <a:prstGeom prst="rect">
              <a:avLst/>
            </a:prstGeom>
            <a:noFill/>
          </p:spPr>
          <p:txBody>
            <a:bodyPr wrap="square" rtlCol="0">
              <a:spAutoFit/>
            </a:bodyPr>
            <a:lstStyle/>
            <a:p>
              <a:r>
                <a:rPr lang="en-US" altLang="zh-CN" sz="2000" b="1" dirty="0"/>
                <a:t>head</a:t>
              </a:r>
              <a:r>
                <a:rPr lang="zh-CN" altLang="en-US" sz="2000" b="1" dirty="0"/>
                <a:t>和</a:t>
              </a:r>
              <a:r>
                <a:rPr lang="en-US" altLang="zh-CN" sz="2000" b="1" dirty="0"/>
                <a:t>tail</a:t>
              </a:r>
              <a:r>
                <a:rPr lang="zh-CN" altLang="en-US" sz="2000" b="1" dirty="0"/>
                <a:t>间代表未读取的部分</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实现一个类型转换函数</a:t>
            </a:r>
          </a:p>
        </p:txBody>
      </p:sp>
      <p:sp>
        <p:nvSpPr>
          <p:cNvPr id="3" name="内容占位符 2"/>
          <p:cNvSpPr>
            <a:spLocks noGrp="1"/>
          </p:cNvSpPr>
          <p:nvPr>
            <p:ph idx="1"/>
          </p:nvPr>
        </p:nvSpPr>
        <p:spPr/>
        <p:txBody>
          <a:bodyPr/>
          <a:lstStyle/>
          <a:p>
            <a:r>
              <a:rPr lang="zh-CN" altLang="en-US" dirty="0"/>
              <a:t>如何实现字符串与整数的互相转换？</a:t>
            </a:r>
            <a:endParaRPr lang="en-US" altLang="zh-CN" dirty="0"/>
          </a:p>
          <a:p>
            <a:pPr lvl="1"/>
            <a:r>
              <a:rPr lang="en-US" altLang="zh-CN" dirty="0" err="1"/>
              <a:t>to_string</a:t>
            </a:r>
            <a:r>
              <a:rPr lang="en-US" altLang="zh-CN" dirty="0"/>
              <a:t> </a:t>
            </a:r>
            <a:r>
              <a:rPr lang="zh-CN" altLang="en-US" dirty="0"/>
              <a:t>转换为字符串</a:t>
            </a:r>
            <a:endParaRPr lang="en-US" altLang="zh-CN" dirty="0"/>
          </a:p>
          <a:p>
            <a:pPr lvl="1"/>
            <a:r>
              <a:rPr lang="en-US" altLang="zh-CN" dirty="0" err="1"/>
              <a:t>stoi</a:t>
            </a:r>
            <a:r>
              <a:rPr lang="en-US" altLang="zh-CN" dirty="0"/>
              <a:t>	   </a:t>
            </a:r>
            <a:r>
              <a:rPr lang="zh-CN" altLang="en-US" dirty="0"/>
              <a:t>转换为整数</a:t>
            </a:r>
            <a:endParaRPr lang="en-US" altLang="zh-CN" dirty="0"/>
          </a:p>
          <a:p>
            <a:r>
              <a:rPr lang="zh-CN" altLang="en-US" dirty="0"/>
              <a:t>其他类型呢？可以使用一个函数实现吗？</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25</a:t>
            </a:fld>
            <a:endParaRPr lang="en-US" altLang="zh-CN"/>
          </a:p>
        </p:txBody>
      </p:sp>
      <p:sp>
        <p:nvSpPr>
          <p:cNvPr id="7" name="文本框 6"/>
          <p:cNvSpPr txBox="1"/>
          <p:nvPr/>
        </p:nvSpPr>
        <p:spPr>
          <a:xfrm>
            <a:off x="1787877" y="3356992"/>
            <a:ext cx="5160387" cy="3908762"/>
          </a:xfrm>
          <a:prstGeom prst="rect">
            <a:avLst/>
          </a:prstGeom>
          <a:noFill/>
        </p:spPr>
        <p:txBody>
          <a:bodyPr wrap="non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a:t>
            </a:r>
            <a:r>
              <a:rPr lang="en-US" altLang="zh-CN" sz="2000" b="1" dirty="0" err="1">
                <a:latin typeface="Consolas" panose="020B0609020204030204" pitchFamily="49" charset="0"/>
              </a:rPr>
              <a:t>sstream</a:t>
            </a:r>
            <a:r>
              <a:rPr lang="en-US" altLang="zh-CN" sz="2000" b="1" dirty="0">
                <a:latin typeface="Consolas" panose="020B0609020204030204" pitchFamily="49" charset="0"/>
              </a:rPr>
              <a:t>&gt;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p>
          <a:p>
            <a:r>
              <a:rPr lang="en-US" altLang="zh-CN" sz="2000" b="1" dirty="0">
                <a:latin typeface="Consolas" panose="020B0609020204030204" pitchFamily="49" charset="0"/>
              </a:rPr>
              <a:t>	string x = convert&lt;string&gt;(123);</a:t>
            </a:r>
          </a:p>
          <a:p>
            <a:r>
              <a:rPr lang="en-US" altLang="zh-CN" sz="2000" b="1" dirty="0">
                <a:latin typeface="Consolas" panose="020B0609020204030204" pitchFamily="49" charset="0"/>
              </a:rPr>
              <a:t>	</a:t>
            </a:r>
            <a:r>
              <a:rPr lang="en-US" altLang="zh-CN" sz="2000" b="1" dirty="0" err="1">
                <a:latin typeface="Consolas" panose="020B0609020204030204" pitchFamily="49" charset="0"/>
              </a:rPr>
              <a:t>int</a:t>
            </a:r>
            <a:r>
              <a:rPr lang="en-US" altLang="zh-CN" sz="2000" b="1" dirty="0">
                <a:latin typeface="Consolas" panose="020B0609020204030204" pitchFamily="49" charset="0"/>
              </a:rPr>
              <a:t> y = convert&lt;</a:t>
            </a:r>
            <a:r>
              <a:rPr lang="en-US" altLang="zh-CN" sz="2000" b="1" dirty="0" err="1">
                <a:latin typeface="Consolas" panose="020B0609020204030204" pitchFamily="49" charset="0"/>
              </a:rPr>
              <a:t>int</a:t>
            </a:r>
            <a:r>
              <a:rPr lang="en-US" altLang="zh-CN" sz="2000" b="1" dirty="0">
                <a:latin typeface="Consolas" panose="020B0609020204030204" pitchFamily="49" charset="0"/>
              </a:rPr>
              <a:t>&gt;("456");</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x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y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r>
              <a:rPr lang="en-US" altLang="zh-CN" sz="2000" b="1" dirty="0">
                <a:latin typeface="Consolas" panose="020B0609020204030204" pitchFamily="49" charset="0"/>
              </a:rPr>
              <a:t>	return 0;</a:t>
            </a:r>
          </a:p>
          <a:p>
            <a:r>
              <a:rPr lang="en-US" altLang="zh-CN" sz="2000" b="1" dirty="0">
                <a:latin typeface="Consolas" panose="020B0609020204030204" pitchFamily="49" charset="0"/>
              </a:rPr>
              <a:t>}</a:t>
            </a:r>
            <a:endParaRPr lang="zh-CN" altLang="en-US" sz="3200" b="1" dirty="0">
              <a:latin typeface="Consolas" panose="020B0609020204030204" pitchFamily="49" charset="0"/>
            </a:endParaRPr>
          </a:p>
          <a:p>
            <a:endParaRPr lang="zh-CN" altLang="en-US" sz="2800" b="1"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实现一个类型转换函数</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26</a:t>
            </a:fld>
            <a:endParaRPr lang="en-US" altLang="zh-CN"/>
          </a:p>
        </p:txBody>
      </p:sp>
      <p:sp>
        <p:nvSpPr>
          <p:cNvPr id="5" name="文本框 4"/>
          <p:cNvSpPr txBox="1"/>
          <p:nvPr/>
        </p:nvSpPr>
        <p:spPr>
          <a:xfrm>
            <a:off x="971600" y="1709958"/>
            <a:ext cx="7295587" cy="4832092"/>
          </a:xfrm>
          <a:prstGeom prst="rect">
            <a:avLst/>
          </a:prstGeom>
          <a:noFill/>
        </p:spPr>
        <p:txBody>
          <a:bodyPr wrap="none" rtlCol="0">
            <a:spAutoFit/>
          </a:bodyPr>
          <a:lstStyle/>
          <a:p>
            <a:r>
              <a:rPr lang="en-US" altLang="zh-CN" sz="2400" b="1" dirty="0">
                <a:latin typeface="Consolas" panose="020B0609020204030204" pitchFamily="49" charset="0"/>
              </a:rPr>
              <a:t>template&lt;class </a:t>
            </a:r>
            <a:r>
              <a:rPr lang="en-US" altLang="zh-CN" sz="2400" b="1" dirty="0" err="1">
                <a:solidFill>
                  <a:srgbClr val="FF0000"/>
                </a:solidFill>
                <a:latin typeface="Consolas" panose="020B0609020204030204" pitchFamily="49" charset="0"/>
              </a:rPr>
              <a:t>outtype</a:t>
            </a:r>
            <a:r>
              <a:rPr lang="en-US" altLang="zh-CN" sz="2400" b="1" dirty="0">
                <a:latin typeface="Consolas" panose="020B0609020204030204" pitchFamily="49" charset="0"/>
              </a:rPr>
              <a:t>, class </a:t>
            </a:r>
            <a:r>
              <a:rPr lang="en-US" altLang="zh-CN" sz="2400" b="1" dirty="0" err="1">
                <a:solidFill>
                  <a:schemeClr val="accent3"/>
                </a:solidFill>
                <a:latin typeface="Consolas" panose="020B0609020204030204" pitchFamily="49" charset="0"/>
              </a:rPr>
              <a:t>intype</a:t>
            </a:r>
            <a:r>
              <a:rPr lang="en-US" altLang="zh-CN" sz="2400" b="1" dirty="0">
                <a:latin typeface="Consolas" panose="020B0609020204030204" pitchFamily="49" charset="0"/>
              </a:rPr>
              <a:t>&gt;</a:t>
            </a:r>
          </a:p>
          <a:p>
            <a:r>
              <a:rPr lang="en-US" altLang="zh-CN" sz="2400" b="1" dirty="0" err="1">
                <a:solidFill>
                  <a:srgbClr val="FF0000"/>
                </a:solidFill>
                <a:latin typeface="Consolas" panose="020B0609020204030204" pitchFamily="49" charset="0"/>
              </a:rPr>
              <a:t>outtype</a:t>
            </a:r>
            <a:r>
              <a:rPr lang="en-US" altLang="zh-CN" sz="2400" b="1" dirty="0">
                <a:latin typeface="Consolas" panose="020B0609020204030204" pitchFamily="49" charset="0"/>
              </a:rPr>
              <a:t> convert(</a:t>
            </a:r>
            <a:r>
              <a:rPr lang="en-US" altLang="zh-CN" sz="2400" b="1" dirty="0" err="1">
                <a:solidFill>
                  <a:schemeClr val="accent3"/>
                </a:solidFill>
                <a:latin typeface="Consolas" panose="020B0609020204030204" pitchFamily="49" charset="0"/>
              </a:rPr>
              <a:t>intype</a:t>
            </a:r>
            <a:r>
              <a:rPr lang="en-US" altLang="zh-CN" sz="2400" b="1" dirty="0">
                <a:latin typeface="Consolas" panose="020B0609020204030204" pitchFamily="49" charset="0"/>
              </a:rPr>
              <a:t> </a:t>
            </a:r>
            <a:r>
              <a:rPr lang="en-US" altLang="zh-CN" sz="2400" b="1" dirty="0" err="1">
                <a:latin typeface="Consolas" panose="020B0609020204030204" pitchFamily="49" charset="0"/>
              </a:rPr>
              <a:t>val</a:t>
            </a:r>
            <a:r>
              <a:rPr lang="en-US" altLang="zh-CN" sz="2400" b="1" dirty="0">
                <a:latin typeface="Consolas" panose="020B0609020204030204" pitchFamily="49" charset="0"/>
              </a:rPr>
              <a:t>)</a:t>
            </a:r>
          </a:p>
          <a:p>
            <a:r>
              <a:rPr lang="en-US" altLang="zh-CN" sz="2400" b="1" dirty="0">
                <a:latin typeface="Consolas" panose="020B0609020204030204" pitchFamily="49" charset="0"/>
              </a:rPr>
              <a:t>{</a:t>
            </a:r>
          </a:p>
          <a:p>
            <a:r>
              <a:rPr lang="en-US" altLang="zh-CN" sz="2400" b="1" dirty="0">
                <a:latin typeface="Consolas" panose="020B0609020204030204" pitchFamily="49" charset="0"/>
              </a:rPr>
              <a:t>	static </a:t>
            </a:r>
            <a:r>
              <a:rPr lang="en-US" altLang="zh-CN" sz="2400" b="1" dirty="0" err="1">
                <a:latin typeface="Consolas" panose="020B0609020204030204" pitchFamily="49" charset="0"/>
              </a:rPr>
              <a:t>stringstream</a:t>
            </a:r>
            <a:r>
              <a:rPr lang="en-US" altLang="zh-CN" sz="2400" b="1" dirty="0">
                <a:latin typeface="Consolas" panose="020B0609020204030204" pitchFamily="49" charset="0"/>
              </a:rPr>
              <a:t> </a:t>
            </a:r>
            <a:r>
              <a:rPr lang="en-US" altLang="zh-CN" sz="2400" b="1" dirty="0" err="1">
                <a:latin typeface="Consolas" panose="020B0609020204030204" pitchFamily="49" charset="0"/>
              </a:rPr>
              <a:t>ss</a:t>
            </a:r>
            <a:r>
              <a:rPr lang="en-US" altLang="zh-CN" sz="2400" b="1" dirty="0">
                <a:latin typeface="Consolas" panose="020B0609020204030204" pitchFamily="49" charset="0"/>
              </a:rPr>
              <a:t>;</a:t>
            </a:r>
          </a:p>
          <a:p>
            <a:r>
              <a:rPr lang="en-US" altLang="zh-CN" sz="2400" b="1" dirty="0">
                <a:solidFill>
                  <a:schemeClr val="accent1"/>
                </a:solidFill>
                <a:latin typeface="Consolas" panose="020B0609020204030204" pitchFamily="49" charset="0"/>
              </a:rPr>
              <a:t>						//</a:t>
            </a:r>
            <a:r>
              <a:rPr lang="zh-CN" altLang="en-US" sz="2400" b="1" dirty="0">
                <a:solidFill>
                  <a:schemeClr val="accent1"/>
                </a:solidFill>
                <a:latin typeface="Consolas" panose="020B0609020204030204" pitchFamily="49" charset="0"/>
              </a:rPr>
              <a:t>使用静态变量避免重复初始化</a:t>
            </a:r>
            <a:endParaRPr lang="en-US" altLang="zh-CN" sz="2400" b="1" dirty="0">
              <a:solidFill>
                <a:schemeClr val="accent1"/>
              </a:solidFill>
              <a:latin typeface="Consolas" panose="020B0609020204030204" pitchFamily="49" charset="0"/>
            </a:endParaRPr>
          </a:p>
          <a:p>
            <a:r>
              <a:rPr lang="en-US" altLang="zh-CN" sz="2400" b="1" dirty="0">
                <a:latin typeface="Consolas" panose="020B0609020204030204" pitchFamily="49" charset="0"/>
              </a:rPr>
              <a:t>	</a:t>
            </a:r>
            <a:r>
              <a:rPr lang="en-US" altLang="zh-CN" sz="2400" b="1" dirty="0" err="1">
                <a:latin typeface="Consolas" panose="020B0609020204030204" pitchFamily="49" charset="0"/>
              </a:rPr>
              <a:t>ss.str</a:t>
            </a:r>
            <a:r>
              <a:rPr lang="en-US" altLang="zh-CN" sz="2400" b="1" dirty="0">
                <a:latin typeface="Consolas" panose="020B0609020204030204" pitchFamily="49" charset="0"/>
              </a:rPr>
              <a:t>(""); 	</a:t>
            </a:r>
            <a:r>
              <a:rPr lang="en-US" altLang="zh-CN" sz="2400" b="1" dirty="0">
                <a:solidFill>
                  <a:schemeClr val="accent1"/>
                </a:solidFill>
                <a:latin typeface="Consolas" panose="020B0609020204030204" pitchFamily="49" charset="0"/>
              </a:rPr>
              <a:t>//</a:t>
            </a:r>
            <a:r>
              <a:rPr lang="zh-CN" altLang="en-US" sz="2400" b="1" dirty="0">
                <a:solidFill>
                  <a:schemeClr val="accent1"/>
                </a:solidFill>
                <a:latin typeface="Consolas" panose="020B0609020204030204" pitchFamily="49" charset="0"/>
              </a:rPr>
              <a:t>清空缓冲区</a:t>
            </a:r>
          </a:p>
          <a:p>
            <a:r>
              <a:rPr lang="en-US" altLang="zh-CN" sz="2400" b="1" dirty="0">
                <a:latin typeface="Consolas" panose="020B0609020204030204" pitchFamily="49" charset="0"/>
              </a:rPr>
              <a:t>	</a:t>
            </a:r>
            <a:r>
              <a:rPr lang="en-US" altLang="zh-CN" sz="2400" b="1" dirty="0" err="1">
                <a:latin typeface="Consolas" panose="020B0609020204030204" pitchFamily="49" charset="0"/>
              </a:rPr>
              <a:t>ss.clear</a:t>
            </a:r>
            <a:r>
              <a:rPr lang="en-US" altLang="zh-CN" sz="2400" b="1" dirty="0">
                <a:latin typeface="Consolas" panose="020B0609020204030204" pitchFamily="49" charset="0"/>
              </a:rPr>
              <a:t>(); 	</a:t>
            </a:r>
            <a:r>
              <a:rPr lang="en-US" altLang="zh-CN" sz="2400" b="1" dirty="0">
                <a:solidFill>
                  <a:schemeClr val="accent1"/>
                </a:solidFill>
                <a:latin typeface="Consolas" panose="020B0609020204030204" pitchFamily="49" charset="0"/>
              </a:rPr>
              <a:t>//</a:t>
            </a:r>
            <a:r>
              <a:rPr lang="zh-CN" altLang="en-US" sz="2400" b="1" dirty="0">
                <a:solidFill>
                  <a:schemeClr val="accent1"/>
                </a:solidFill>
                <a:latin typeface="Consolas" panose="020B0609020204030204" pitchFamily="49" charset="0"/>
              </a:rPr>
              <a:t>清空状态位</a:t>
            </a:r>
            <a:r>
              <a:rPr lang="zh-CN" altLang="en-US" sz="2400" b="1" dirty="0">
                <a:solidFill>
                  <a:srgbClr val="FF0000"/>
                </a:solidFill>
                <a:latin typeface="Consolas" panose="020B0609020204030204" pitchFamily="49" charset="0"/>
              </a:rPr>
              <a:t>（不是清空内容）</a:t>
            </a:r>
          </a:p>
          <a:p>
            <a:r>
              <a:rPr lang="en-US" altLang="zh-CN" sz="2400" b="1" dirty="0">
                <a:latin typeface="Consolas" panose="020B0609020204030204" pitchFamily="49" charset="0"/>
              </a:rPr>
              <a:t>	</a:t>
            </a:r>
            <a:r>
              <a:rPr lang="en-US" altLang="zh-CN" sz="2400" b="1" dirty="0" err="1">
                <a:latin typeface="Consolas" panose="020B0609020204030204" pitchFamily="49" charset="0"/>
              </a:rPr>
              <a:t>ss</a:t>
            </a:r>
            <a:r>
              <a:rPr lang="en-US" altLang="zh-CN" sz="2400" b="1" dirty="0">
                <a:latin typeface="Consolas" panose="020B0609020204030204" pitchFamily="49" charset="0"/>
              </a:rPr>
              <a:t> &lt;&lt; </a:t>
            </a:r>
            <a:r>
              <a:rPr lang="en-US" altLang="zh-CN" sz="2400" b="1" dirty="0" err="1">
                <a:latin typeface="Consolas" panose="020B0609020204030204" pitchFamily="49" charset="0"/>
              </a:rPr>
              <a:t>val</a:t>
            </a:r>
            <a:r>
              <a:rPr lang="en-US" altLang="zh-CN" sz="2400" b="1" dirty="0">
                <a:latin typeface="Consolas" panose="020B0609020204030204" pitchFamily="49" charset="0"/>
              </a:rPr>
              <a:t>;</a:t>
            </a:r>
          </a:p>
          <a:p>
            <a:r>
              <a:rPr lang="en-US" altLang="zh-CN" sz="2400" b="1" dirty="0">
                <a:latin typeface="Consolas" panose="020B0609020204030204" pitchFamily="49" charset="0"/>
              </a:rPr>
              <a:t>	</a:t>
            </a:r>
            <a:r>
              <a:rPr lang="en-US" altLang="zh-CN" sz="2400" b="1" dirty="0" err="1">
                <a:solidFill>
                  <a:srgbClr val="FF0000"/>
                </a:solidFill>
                <a:latin typeface="Consolas" panose="020B0609020204030204" pitchFamily="49" charset="0"/>
              </a:rPr>
              <a:t>outtype</a:t>
            </a:r>
            <a:r>
              <a:rPr lang="en-US" altLang="zh-CN" sz="2400" b="1" dirty="0">
                <a:latin typeface="Consolas" panose="020B0609020204030204" pitchFamily="49" charset="0"/>
              </a:rPr>
              <a:t> res;</a:t>
            </a:r>
          </a:p>
          <a:p>
            <a:r>
              <a:rPr lang="en-US" altLang="zh-CN" sz="2400" b="1" dirty="0">
                <a:latin typeface="Consolas" panose="020B0609020204030204" pitchFamily="49" charset="0"/>
              </a:rPr>
              <a:t>	</a:t>
            </a:r>
            <a:r>
              <a:rPr lang="en-US" altLang="zh-CN" sz="2400" b="1" dirty="0" err="1">
                <a:latin typeface="Consolas" panose="020B0609020204030204" pitchFamily="49" charset="0"/>
              </a:rPr>
              <a:t>ss</a:t>
            </a:r>
            <a:r>
              <a:rPr lang="en-US" altLang="zh-CN" sz="2400" b="1" dirty="0">
                <a:latin typeface="Consolas" panose="020B0609020204030204" pitchFamily="49" charset="0"/>
              </a:rPr>
              <a:t> &gt;&gt; res;</a:t>
            </a:r>
          </a:p>
          <a:p>
            <a:r>
              <a:rPr lang="en-US" altLang="zh-CN" sz="2400" b="1" dirty="0">
                <a:latin typeface="Consolas" panose="020B0609020204030204" pitchFamily="49" charset="0"/>
              </a:rPr>
              <a:t>	return res;</a:t>
            </a:r>
          </a:p>
          <a:p>
            <a:r>
              <a:rPr lang="en-US" altLang="zh-CN" sz="2400" b="1" dirty="0">
                <a:latin typeface="Consolas" panose="020B0609020204030204" pitchFamily="49" charset="0"/>
              </a:rPr>
              <a:t>}</a:t>
            </a:r>
          </a:p>
          <a:p>
            <a:endParaRPr lang="zh-CN" altLang="en-US" sz="2000" dirty="0">
              <a:latin typeface="Consolas" panose="020B0609020204030204" pitchFamily="49" charset="0"/>
            </a:endParaRPr>
          </a:p>
        </p:txBody>
      </p:sp>
      <p:sp>
        <p:nvSpPr>
          <p:cNvPr id="3" name="矩形 2"/>
          <p:cNvSpPr/>
          <p:nvPr/>
        </p:nvSpPr>
        <p:spPr>
          <a:xfrm>
            <a:off x="2051719" y="6023029"/>
            <a:ext cx="6408713" cy="646331"/>
          </a:xfrm>
          <a:prstGeom prst="rect">
            <a:avLst/>
          </a:prstGeom>
        </p:spPr>
        <p:txBody>
          <a:bodyPr wrap="square">
            <a:spAutoFit/>
          </a:bodyPr>
          <a:lstStyle/>
          <a:p>
            <a:r>
              <a:rPr lang="zh-CN" altLang="en-US" b="1" u="sng" dirty="0">
                <a:solidFill>
                  <a:srgbClr val="00A2FF"/>
                </a:solidFill>
                <a:latin typeface="Helvetica Neue" charset="0"/>
                <a:hlinkClick r:id="rId3"/>
              </a:rPr>
              <a:t>关于状态位：状态位记录流的状态，例如是否读入了非法字符</a:t>
            </a:r>
            <a:r>
              <a:rPr lang="en-US" altLang="zh-CN" b="1" dirty="0">
                <a:solidFill>
                  <a:srgbClr val="00A2FF"/>
                </a:solidFill>
                <a:latin typeface="Helvetica Neue" charset="0"/>
                <a:hlinkClick r:id="rId3"/>
              </a:rPr>
              <a:t>http://www.cplusplus.com/reference/ios/ios/setstate/</a:t>
            </a:r>
            <a:endParaRPr lang="en-US" altLang="zh-CN" b="1" dirty="0">
              <a:solidFill>
                <a:srgbClr val="00A2FF"/>
              </a:solidFill>
              <a:effectLst/>
              <a:latin typeface="Helvetica Neue"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BFD7BE51-03DD-4CCA-8227-D775462981B4}" type="slidenum">
              <a:rPr lang="en-US" altLang="zh-CN"/>
              <a:t>27</a:t>
            </a:fld>
            <a:endParaRPr lang="en-US" altLang="zh-CN"/>
          </a:p>
        </p:txBody>
      </p:sp>
      <p:sp>
        <p:nvSpPr>
          <p:cNvPr id="6" name="文本框 5"/>
          <p:cNvSpPr txBox="1"/>
          <p:nvPr>
            <p:custDataLst>
              <p:tags r:id="rId2"/>
            </p:custDataLst>
          </p:nvPr>
        </p:nvSpPr>
        <p:spPr>
          <a:xfrm>
            <a:off x="914400" y="635000"/>
            <a:ext cx="7315200" cy="2143125"/>
          </a:xfrm>
          <a:prstGeom prst="rect">
            <a:avLst/>
          </a:prstGeom>
          <a:noFill/>
        </p:spPr>
        <p:txBody>
          <a:bodyPr wrap="square" rtlCol="0" anchor="ctr" anchorCtr="0">
            <a:noAutofit/>
          </a:bodyPr>
          <a:lstStyle/>
          <a:p>
            <a:pPr lvl="0" algn="l">
              <a:buNone/>
            </a:pPr>
            <a:r>
              <a:rPr lang="zh-CN" altLang="en-US" sz="2600" b="1" dirty="0">
                <a:solidFill>
                  <a:srgbClr val="000000"/>
                </a:solidFill>
                <a:latin typeface="微软雅黑" panose="020B0503020204020204" pitchFamily="34" charset="-122"/>
                <a:ea typeface="微软雅黑" panose="020B0503020204020204" pitchFamily="34" charset="-122"/>
              </a:rPr>
              <a:t>下列说法 错误 的是</a:t>
            </a:r>
          </a:p>
        </p:txBody>
      </p:sp>
      <p:sp>
        <p:nvSpPr>
          <p:cNvPr id="7" name="文本框 6"/>
          <p:cNvSpPr txBox="1"/>
          <p:nvPr>
            <p:custDataLst>
              <p:tags r:id="rId3"/>
            </p:custDataLst>
          </p:nvPr>
        </p:nvSpPr>
        <p:spPr>
          <a:xfrm>
            <a:off x="1828800" y="2598420"/>
            <a:ext cx="6400800" cy="642620"/>
          </a:xfrm>
          <a:prstGeom prst="rect">
            <a:avLst/>
          </a:prstGeom>
          <a:noFill/>
        </p:spPr>
        <p:txBody>
          <a:bodyPr wrap="square" rtlCol="0" anchor="ctr" anchorCtr="0">
            <a:noAutofit/>
          </a:bodyPr>
          <a:lstStyle/>
          <a:p>
            <a:pPr lvl="0" algn="l">
              <a:buClrTx/>
              <a:buSzTx/>
              <a:buFontTx/>
            </a:pPr>
            <a:r>
              <a:rPr lang="zh-CN" altLang="en-US" sz="2600" b="1" dirty="0">
                <a:solidFill>
                  <a:srgbClr val="000000"/>
                </a:solidFill>
                <a:latin typeface="微软雅黑" panose="020B0503020204020204" pitchFamily="34" charset="-122"/>
                <a:ea typeface="微软雅黑" panose="020B0503020204020204" pitchFamily="34" charset="-122"/>
                <a:sym typeface="+mn-ea"/>
              </a:rPr>
              <a:t>scanf有可能写入非法内存</a:t>
            </a:r>
          </a:p>
        </p:txBody>
      </p:sp>
      <p:sp>
        <p:nvSpPr>
          <p:cNvPr id="8" name="文本框 7"/>
          <p:cNvSpPr txBox="1"/>
          <p:nvPr>
            <p:custDataLst>
              <p:tags r:id="rId4"/>
            </p:custDataLst>
          </p:nvPr>
        </p:nvSpPr>
        <p:spPr>
          <a:xfrm>
            <a:off x="1828800" y="3455670"/>
            <a:ext cx="6400800" cy="642620"/>
          </a:xfrm>
          <a:prstGeom prst="rect">
            <a:avLst/>
          </a:prstGeom>
          <a:noFill/>
        </p:spPr>
        <p:txBody>
          <a:bodyPr wrap="square" rtlCol="0" anchor="ctr" anchorCtr="0">
            <a:noAutofit/>
          </a:bodyPr>
          <a:lstStyle/>
          <a:p>
            <a:pPr lvl="0" algn="l">
              <a:buClrTx/>
              <a:buSzTx/>
              <a:buFontTx/>
            </a:pPr>
            <a:r>
              <a:rPr lang="en-US" altLang="zh-CN" sz="2600" b="1" dirty="0" err="1">
                <a:solidFill>
                  <a:srgbClr val="000000"/>
                </a:solidFill>
                <a:latin typeface="微软雅黑" panose="020B0503020204020204" pitchFamily="34" charset="-122"/>
                <a:ea typeface="微软雅黑" panose="020B0503020204020204" pitchFamily="34" charset="-122"/>
                <a:sym typeface="+mn-ea"/>
              </a:rPr>
              <a:t>stringstream</a:t>
            </a:r>
            <a:r>
              <a:rPr lang="zh-CN" altLang="en-US" sz="2600" b="1" dirty="0">
                <a:solidFill>
                  <a:srgbClr val="000000"/>
                </a:solidFill>
                <a:latin typeface="微软雅黑" panose="020B0503020204020204" pitchFamily="34" charset="-122"/>
                <a:ea typeface="微软雅黑" panose="020B0503020204020204" pitchFamily="34" charset="-122"/>
                <a:sym typeface="+mn-ea"/>
              </a:rPr>
              <a:t>是继承自iostream的子类</a:t>
            </a:r>
          </a:p>
        </p:txBody>
      </p:sp>
      <p:sp>
        <p:nvSpPr>
          <p:cNvPr id="9" name="文本框 8"/>
          <p:cNvSpPr txBox="1"/>
          <p:nvPr>
            <p:custDataLst>
              <p:tags r:id="rId5"/>
            </p:custDataLst>
          </p:nvPr>
        </p:nvSpPr>
        <p:spPr>
          <a:xfrm>
            <a:off x="1828800" y="4312920"/>
            <a:ext cx="6400800" cy="642620"/>
          </a:xfrm>
          <a:prstGeom prst="rect">
            <a:avLst/>
          </a:prstGeom>
          <a:noFill/>
        </p:spPr>
        <p:txBody>
          <a:bodyPr wrap="square" rtlCol="0" anchor="ctr" anchorCtr="0">
            <a:noAutofit/>
          </a:bodyPr>
          <a:lstStyle/>
          <a:p>
            <a:pPr lvl="0" algn="l">
              <a:buClrTx/>
              <a:buSzTx/>
              <a:buFontTx/>
            </a:pPr>
            <a:r>
              <a:rPr lang="zh-CN" altLang="en-US" sz="2600" b="1" dirty="0">
                <a:solidFill>
                  <a:srgbClr val="000000"/>
                </a:solidFill>
                <a:latin typeface="微软雅黑" panose="020B0503020204020204" pitchFamily="34" charset="-122"/>
                <a:ea typeface="微软雅黑" panose="020B0503020204020204" pitchFamily="34" charset="-122"/>
                <a:sym typeface="+mn-ea"/>
              </a:rPr>
              <a:t>stringstream既可以作为输入流，也可以作为输出流</a:t>
            </a:r>
          </a:p>
        </p:txBody>
      </p:sp>
      <p:sp>
        <p:nvSpPr>
          <p:cNvPr id="10" name="文本框 9"/>
          <p:cNvSpPr txBox="1"/>
          <p:nvPr>
            <p:custDataLst>
              <p:tags r:id="rId6"/>
            </p:custDataLst>
          </p:nvPr>
        </p:nvSpPr>
        <p:spPr>
          <a:xfrm>
            <a:off x="1828800" y="5170170"/>
            <a:ext cx="6400800" cy="642620"/>
          </a:xfrm>
          <a:prstGeom prst="rect">
            <a:avLst/>
          </a:prstGeom>
          <a:noFill/>
        </p:spPr>
        <p:txBody>
          <a:bodyPr wrap="square" rtlCol="0" anchor="ctr" anchorCtr="0">
            <a:noAutofit/>
          </a:bodyPr>
          <a:lstStyle/>
          <a:p>
            <a:pPr lvl="0" algn="l">
              <a:buClrTx/>
              <a:buSzTx/>
              <a:buFontTx/>
            </a:pPr>
            <a:r>
              <a:rPr lang="zh-CN" altLang="en-US" sz="2600" b="1" dirty="0">
                <a:solidFill>
                  <a:srgbClr val="000000"/>
                </a:solidFill>
                <a:latin typeface="微软雅黑" panose="020B0503020204020204" pitchFamily="34" charset="-122"/>
                <a:ea typeface="微软雅黑" panose="020B0503020204020204" pitchFamily="34" charset="-122"/>
                <a:sym typeface="+mn-ea"/>
              </a:rPr>
              <a:t>ifstream是</a:t>
            </a:r>
            <a:r>
              <a:rPr lang="en-US" altLang="zh-CN" sz="2600" b="1" dirty="0">
                <a:solidFill>
                  <a:srgbClr val="000000"/>
                </a:solidFill>
                <a:latin typeface="微软雅黑" panose="020B0503020204020204" pitchFamily="34" charset="-122"/>
                <a:ea typeface="微软雅黑" panose="020B0503020204020204" pitchFamily="34" charset="-122"/>
                <a:sym typeface="+mn-ea"/>
              </a:rPr>
              <a:t>iostream</a:t>
            </a:r>
            <a:r>
              <a:rPr lang="zh-CN" altLang="en-US" sz="2600" b="1" dirty="0">
                <a:solidFill>
                  <a:srgbClr val="000000"/>
                </a:solidFill>
                <a:latin typeface="微软雅黑" panose="020B0503020204020204" pitchFamily="34" charset="-122"/>
                <a:ea typeface="微软雅黑" panose="020B0503020204020204" pitchFamily="34" charset="-122"/>
                <a:sym typeface="+mn-ea"/>
              </a:rPr>
              <a:t>的子类，能同时从文件中读入数据和写出数据</a:t>
            </a:r>
          </a:p>
        </p:txBody>
      </p:sp>
      <p:sp>
        <p:nvSpPr>
          <p:cNvPr id="11" name="椭圆 10"/>
          <p:cNvSpPr>
            <a:spLocks noChangeAspect="1"/>
          </p:cNvSpPr>
          <p:nvPr>
            <p:custDataLst>
              <p:tags r:id="rId7"/>
            </p:custDataLst>
          </p:nvPr>
        </p:nvSpPr>
        <p:spPr>
          <a:xfrm>
            <a:off x="1114425" y="266255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p>
        </p:txBody>
      </p:sp>
      <p:sp>
        <p:nvSpPr>
          <p:cNvPr id="12" name="椭圆 11"/>
          <p:cNvSpPr>
            <a:spLocks noChangeAspect="1"/>
          </p:cNvSpPr>
          <p:nvPr>
            <p:custDataLst>
              <p:tags r:id="rId8"/>
            </p:custDataLst>
          </p:nvPr>
        </p:nvSpPr>
        <p:spPr>
          <a:xfrm>
            <a:off x="1114425" y="3519805"/>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p>
        </p:txBody>
      </p:sp>
      <p:sp>
        <p:nvSpPr>
          <p:cNvPr id="13" name="椭圆 12"/>
          <p:cNvSpPr>
            <a:spLocks noChangeAspect="1"/>
          </p:cNvSpPr>
          <p:nvPr>
            <p:custDataLst>
              <p:tags r:id="rId9"/>
            </p:custDataLst>
          </p:nvPr>
        </p:nvSpPr>
        <p:spPr>
          <a:xfrm>
            <a:off x="1114425" y="4377055"/>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p>
        </p:txBody>
      </p:sp>
      <p:sp>
        <p:nvSpPr>
          <p:cNvPr id="14" name="椭圆 13"/>
          <p:cNvSpPr>
            <a:spLocks noChangeAspect="1"/>
          </p:cNvSpPr>
          <p:nvPr>
            <p:custDataLst>
              <p:tags r:id="rId10"/>
            </p:custDataLst>
          </p:nvPr>
        </p:nvSpPr>
        <p:spPr>
          <a:xfrm>
            <a:off x="1114425" y="5234305"/>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p>
        </p:txBody>
      </p:sp>
      <p:sp>
        <p:nvSpPr>
          <p:cNvPr id="15" name="圆角矩形 14"/>
          <p:cNvSpPr/>
          <p:nvPr>
            <p:custDataLst>
              <p:tags r:id="rId11"/>
            </p:custDataLst>
          </p:nvPr>
        </p:nvSpPr>
        <p:spPr>
          <a:xfrm>
            <a:off x="6172200" y="6214745"/>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p>
        </p:txBody>
      </p:sp>
      <p:sp>
        <p:nvSpPr>
          <p:cNvPr id="2" name="矩形 1"/>
          <p:cNvSpPr/>
          <p:nvPr>
            <p:custDataLst>
              <p:tags r:id="rId12"/>
            </p:custDataLst>
          </p:nvPr>
        </p:nvSpPr>
        <p:spPr>
          <a:xfrm>
            <a:off x="9525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zh-CN" altLang="en-US">
              <a:solidFill>
                <a:srgbClr val="FFFFFF"/>
              </a:solidFill>
            </a:endParaRPr>
          </a:p>
        </p:txBody>
      </p:sp>
      <p:sp>
        <p:nvSpPr>
          <p:cNvPr id="24" name="文本框 23"/>
          <p:cNvSpPr txBox="1"/>
          <p:nvPr>
            <p:custDataLst>
              <p:tags r:id="rId13"/>
            </p:custDataLst>
          </p:nvPr>
        </p:nvSpPr>
        <p:spPr>
          <a:xfrm>
            <a:off x="9613900" y="6219110"/>
            <a:ext cx="6692858" cy="276999"/>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wrap="none" rtlCol="0" anchor="ctr">
            <a:spAutoFit/>
          </a:bodyPr>
          <a:lstStyle/>
          <a:p>
            <a:r>
              <a:rPr lang="zh-CN" altLang="en-US" sz="1200" b="1"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可为此题添加文本、图片、公式等解析，且需将内容全部放在本区域内。正常使用需</a:t>
            </a:r>
            <a:r>
              <a:rPr lang="en-US" altLang="zh-CN" sz="1200" b="1"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3.0</a:t>
            </a:r>
            <a:r>
              <a:rPr lang="zh-CN" altLang="en-US" sz="1200" b="1" dirty="0">
                <a:solidFill>
                  <a:srgbClr val="F84F41"/>
                </a:solidFill>
                <a:latin typeface="微软雅黑" panose="020B0503020204020204" pitchFamily="34" charset="-122"/>
                <a:ea typeface="微软雅黑" panose="020B0503020204020204" pitchFamily="34" charset="-122"/>
                <a:sym typeface="微软雅黑" panose="020B0503020204020204" pitchFamily="34" charset="-122"/>
              </a:rPr>
              <a:t>以上版本</a:t>
            </a:r>
          </a:p>
        </p:txBody>
      </p:sp>
      <p:sp>
        <p:nvSpPr>
          <p:cNvPr id="25" name="文本框 24"/>
          <p:cNvSpPr txBox="1"/>
          <p:nvPr>
            <p:custDataLst>
              <p:tags r:id="rId14"/>
            </p:custDataLst>
          </p:nvPr>
        </p:nvSpPr>
        <p:spPr>
          <a:xfrm>
            <a:off x="9779000" y="1270000"/>
            <a:ext cx="3522759" cy="707886"/>
          </a:xfrm>
          <a:prstGeom prst="rect">
            <a:avLst/>
          </a:prstGeom>
          <a:noFill/>
        </p:spPr>
        <p:txBody>
          <a:bodyPr vert="horz" wrap="none" rtlCol="0" anchor="t" anchorCtr="0">
            <a:spAutoFit/>
          </a:bodyPr>
          <a:lstStyle/>
          <a:p>
            <a:r>
              <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D </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ifstream</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是</a:t>
            </a:r>
            <a:r>
              <a:rPr lang="en-US" altLang="zh-CN" sz="2000" b="1" dirty="0" err="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istream</a:t>
            </a:r>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的子类</a:t>
            </a:r>
            <a:endParaRPr lang="en-US" altLang="zh-CN"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20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只能读入，不能写出</a:t>
            </a:r>
          </a:p>
        </p:txBody>
      </p:sp>
      <p:grpSp>
        <p:nvGrpSpPr>
          <p:cNvPr id="23" name="组合 22"/>
          <p:cNvGrpSpPr/>
          <p:nvPr>
            <p:custDataLst>
              <p:tags r:id="rId15"/>
            </p:custDataLst>
          </p:nvPr>
        </p:nvGrpSpPr>
        <p:grpSpPr>
          <a:xfrm>
            <a:off x="9537700" y="0"/>
            <a:ext cx="3815080" cy="647700"/>
            <a:chOff x="9537700" y="0"/>
            <a:chExt cx="3815080" cy="647700"/>
          </a:xfrm>
        </p:grpSpPr>
        <p:sp>
          <p:nvSpPr>
            <p:cNvPr id="3" name="RemarkBack"/>
            <p:cNvSpPr/>
            <p:nvPr>
              <p:custDataLst>
                <p:tags r:id="rId25"/>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RemarkBlock"/>
            <p:cNvSpPr/>
            <p:nvPr>
              <p:custDataLst>
                <p:tags r:id="rId26"/>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RemarkTitleText"/>
            <p:cNvSpPr txBox="1"/>
            <p:nvPr>
              <p:custDataLst>
                <p:tags r:id="rId27"/>
              </p:custDataLst>
            </p:nvPr>
          </p:nvSpPr>
          <p:spPr>
            <a:xfrm>
              <a:off x="9779000" y="0"/>
              <a:ext cx="1905000" cy="635000"/>
            </a:xfrm>
            <a:prstGeom prst="rect">
              <a:avLst/>
            </a:prstGeom>
            <a:noFill/>
          </p:spPr>
          <p:txBody>
            <a:bodyPr vert="horz" wrap="none" rtlCol="0" anchor="ctr" anchorCtr="0">
              <a:noAutofit/>
            </a:bodyPr>
            <a:lstStyle/>
            <a:p>
              <a:r>
                <a:rPr lang="zh-CN" altLang="en-US"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6" name="RemarkBack"/>
          <p:cNvSpPr/>
          <p:nvPr>
            <p:custDataLst>
              <p:tags r:id="rId16"/>
            </p:custDataLst>
          </p:nvPr>
        </p:nvSpPr>
        <p:spPr>
          <a:xfrm>
            <a:off x="9537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RemarkBlock"/>
          <p:cNvSpPr/>
          <p:nvPr>
            <p:custDataLst>
              <p:tags r:id="rId17"/>
            </p:custDataLst>
          </p:nvPr>
        </p:nvSpPr>
        <p:spPr>
          <a:xfrm>
            <a:off x="9537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RemarkTitleText"/>
          <p:cNvSpPr txBox="1"/>
          <p:nvPr>
            <p:custDataLst>
              <p:tags r:id="rId18"/>
            </p:custDataLst>
          </p:nvPr>
        </p:nvSpPr>
        <p:spPr>
          <a:xfrm>
            <a:off x="9779000" y="0"/>
            <a:ext cx="1905000" cy="635000"/>
          </a:xfrm>
          <a:prstGeom prst="rect">
            <a:avLst/>
          </a:prstGeom>
          <a:noFill/>
        </p:spPr>
        <p:txBody>
          <a:bodyPr vert="horz" wrap="none" rtlCol="0" anchor="ctr" anchorCtr="0">
            <a:noAutofit/>
          </a:bodyPr>
          <a:lstStyle/>
          <a:p>
            <a:r>
              <a:rPr lang="zh-CN" altLang="en-US" b="1">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答案解析</a:t>
            </a:r>
            <a:endParaRPr lang="zh-CN" altLang="en-US"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0" name="组合 19"/>
          <p:cNvGrpSpPr/>
          <p:nvPr>
            <p:custDataLst>
              <p:tags r:id="rId19"/>
            </p:custDataLst>
          </p:nvPr>
        </p:nvGrpSpPr>
        <p:grpSpPr>
          <a:xfrm>
            <a:off x="0" y="0"/>
            <a:ext cx="9144000" cy="635000"/>
            <a:chOff x="0" y="0"/>
            <a:chExt cx="14400" cy="1000"/>
          </a:xfrm>
        </p:grpSpPr>
        <p:sp>
          <p:nvSpPr>
            <p:cNvPr id="16" name="TitleBackground"/>
            <p:cNvSpPr/>
            <p:nvPr>
              <p:custDataLst>
                <p:tags r:id="rId21"/>
              </p:custDataLst>
            </p:nvPr>
          </p:nvSpPr>
          <p:spPr>
            <a:xfrm>
              <a:off x="0" y="0"/>
              <a:ext cx="14400" cy="1000"/>
            </a:xfrm>
            <a:prstGeom prst="rect">
              <a:avLst/>
            </a:prstGeom>
            <a:solidFill>
              <a:srgbClr val="F6F7F8"/>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22"/>
              </p:custDataLst>
            </p:nvPr>
          </p:nvSpPr>
          <p:spPr>
            <a:xfrm>
              <a:off x="0" y="0"/>
              <a:ext cx="300" cy="1000"/>
            </a:xfrm>
            <a:prstGeom prst="rect">
              <a:avLst/>
            </a:prstGeom>
            <a:solidFill>
              <a:srgbClr val="639EF4"/>
            </a:solidFill>
            <a:ln w="12700" cap="flat" cmpd="sng" algn="ctr">
              <a:noFill/>
              <a:prstDash val="solid"/>
              <a:miter lim="800000"/>
            </a:ln>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23"/>
              </p:custDataLst>
            </p:nvPr>
          </p:nvSpPr>
          <p:spPr>
            <a:xfrm>
              <a:off x="400" y="0"/>
              <a:ext cx="3000" cy="1000"/>
            </a:xfrm>
            <a:prstGeom prst="rect">
              <a:avLst/>
            </a:prstGeom>
            <a:noFill/>
          </p:spPr>
          <p:txBody>
            <a:bodyPr wrap="none" rtlCol="0" anchor="ctr" anchorCtr="0">
              <a:noAutofit/>
            </a:bodyPr>
            <a:lstStyle/>
            <a:p>
              <a:pPr lvl="0" algn="l">
                <a:buNone/>
              </a:pPr>
              <a:r>
                <a:rPr lang="zh-CN" altLang="en-US" sz="2600" b="1" dirty="0">
                  <a:solidFill>
                    <a:srgbClr val="000000"/>
                  </a:solidFill>
                  <a:latin typeface="微软雅黑" panose="020B0503020204020204" pitchFamily="34" charset="-122"/>
                  <a:ea typeface="微软雅黑" panose="020B0503020204020204" pitchFamily="34" charset="-122"/>
                </a:rPr>
                <a:t>单选题</a:t>
              </a:r>
            </a:p>
          </p:txBody>
        </p:sp>
        <p:sp>
          <p:nvSpPr>
            <p:cNvPr id="19" name="TipText"/>
            <p:cNvSpPr txBox="1"/>
            <p:nvPr>
              <p:custDataLst>
                <p:tags r:id="rId24"/>
              </p:custDataLst>
            </p:nvPr>
          </p:nvSpPr>
          <p:spPr>
            <a:xfrm>
              <a:off x="2403" y="172"/>
              <a:ext cx="3600" cy="800"/>
            </a:xfrm>
            <a:prstGeom prst="rect">
              <a:avLst/>
            </a:prstGeom>
            <a:noFill/>
          </p:spPr>
          <p:txBody>
            <a:bodyPr wrap="none" rtlCol="0" anchor="ctr" anchorCtr="0">
              <a:noAutofit/>
            </a:bodyPr>
            <a:lstStyle/>
            <a:p>
              <a:pPr lvl="0" algn="l">
                <a:buNone/>
              </a:pPr>
              <a:r>
                <a:rPr lang="zh-CN" altLang="en-US" sz="2000" b="1" dirty="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p>
          </p:txBody>
        </p:sp>
      </p:grpSp>
      <p:pic>
        <p:nvPicPr>
          <p:cNvPr id="5" name="图片 4" descr="tmpB6B"/>
          <p:cNvPicPr>
            <a:picLocks noChangeAspect="1"/>
          </p:cNvPicPr>
          <p:nvPr>
            <p:custDataLst>
              <p:tags r:id="rId20"/>
            </p:custDataLst>
          </p:nvPr>
        </p:nvPicPr>
        <p:blipFill>
          <a:blip r:embed="rId29"/>
          <a:stretch>
            <a:fillRect/>
          </a:stretch>
        </p:blipFill>
        <p:spPr>
          <a:xfrm>
            <a:off x="7594600" y="63500"/>
            <a:ext cx="1422400" cy="508000"/>
          </a:xfrm>
          <a:prstGeom prst="rect">
            <a:avLst/>
          </a:prstGeom>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idx="4294967295"/>
          </p:nvPr>
        </p:nvSpPr>
        <p:spPr>
          <a:xfrm>
            <a:off x="683568" y="2564904"/>
            <a:ext cx="7772400" cy="1470025"/>
          </a:xfrm>
        </p:spPr>
        <p:txBody>
          <a:bodyPr/>
          <a:lstStyle/>
          <a:p>
            <a:pPr algn="ctr" eaLnBrk="1" hangingPunct="1"/>
            <a:r>
              <a:rPr lang="zh-CN" altLang="en-US" sz="5400" dirty="0">
                <a:solidFill>
                  <a:srgbClr val="003366"/>
                </a:solidFill>
                <a:latin typeface="Microsoft YaHei" charset="-122"/>
                <a:ea typeface="Microsoft YaHei" charset="-122"/>
                <a:cs typeface="Microsoft YaHei" charset="-122"/>
              </a:rPr>
              <a:t>函数对象</a:t>
            </a:r>
            <a:endParaRPr lang="en-US" altLang="zh-CN" sz="5400" b="1" dirty="0">
              <a:solidFill>
                <a:srgbClr val="003366"/>
              </a:solidFill>
              <a:latin typeface="Microsoft YaHei" charset="-122"/>
              <a:ea typeface="Microsoft YaHei" charset="-122"/>
              <a:cs typeface="Microsoft YaHei" charset="-122"/>
            </a:endParaRPr>
          </a:p>
        </p:txBody>
      </p:sp>
      <p:sp>
        <p:nvSpPr>
          <p:cNvPr id="24579" name="灯片编号占位符 5"/>
          <p:cNvSpPr>
            <a:spLocks noGrp="1"/>
          </p:cNvSpPr>
          <p:nvPr>
            <p:ph type="sldNum" sz="quarter" idx="12"/>
          </p:nvPr>
        </p:nvSpPr>
        <p:spPr>
          <a:xfrm>
            <a:off x="6991350" y="6524625"/>
            <a:ext cx="2133600" cy="33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80604020202020204" charset="0"/>
                <a:ea typeface="华文中宋" panose="02010600040101010101" pitchFamily="2" charset="-122"/>
              </a:defRPr>
            </a:lvl1pPr>
            <a:lvl2pPr marL="742950" indent="-285750">
              <a:spcBef>
                <a:spcPct val="20000"/>
              </a:spcBef>
              <a:buChar char="–"/>
              <a:defRPr sz="2800">
                <a:solidFill>
                  <a:schemeClr val="tx1"/>
                </a:solidFill>
                <a:latin typeface="Arial" panose="02080604020202020204" charset="0"/>
                <a:ea typeface="华文中宋" panose="02010600040101010101" pitchFamily="2" charset="-122"/>
              </a:defRPr>
            </a:lvl2pPr>
            <a:lvl3pPr marL="1143000" indent="-228600">
              <a:spcBef>
                <a:spcPct val="20000"/>
              </a:spcBef>
              <a:buChar char="•"/>
              <a:defRPr sz="2400">
                <a:solidFill>
                  <a:schemeClr val="tx1"/>
                </a:solidFill>
                <a:latin typeface="Arial" panose="02080604020202020204" charset="0"/>
                <a:ea typeface="华文中宋" panose="02010600040101010101" pitchFamily="2" charset="-122"/>
              </a:defRPr>
            </a:lvl3pPr>
            <a:lvl4pPr marL="1600200" indent="-228600">
              <a:spcBef>
                <a:spcPct val="20000"/>
              </a:spcBef>
              <a:buChar char="–"/>
              <a:defRPr sz="2000">
                <a:solidFill>
                  <a:schemeClr val="tx1"/>
                </a:solidFill>
                <a:latin typeface="Arial" panose="02080604020202020204" charset="0"/>
                <a:ea typeface="华文中宋" panose="02010600040101010101" pitchFamily="2" charset="-122"/>
              </a:defRPr>
            </a:lvl4pPr>
            <a:lvl5pPr marL="2057400" indent="-228600">
              <a:spcBef>
                <a:spcPct val="20000"/>
              </a:spcBef>
              <a:buChar char="»"/>
              <a:defRPr sz="2000">
                <a:solidFill>
                  <a:schemeClr val="tx1"/>
                </a:solidFill>
                <a:latin typeface="Arial" panose="02080604020202020204" charset="0"/>
                <a:ea typeface="华文中宋"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9pPr>
          </a:lstStyle>
          <a:p>
            <a:pPr>
              <a:spcBef>
                <a:spcPct val="0"/>
              </a:spcBef>
              <a:buFontTx/>
              <a:buNone/>
            </a:pPr>
            <a:fld id="{B6D092EB-5C25-4AA2-B2CD-B9A2BCD4DB8F}" type="slidenum">
              <a:rPr lang="en-US" altLang="zh-CN" sz="1400">
                <a:solidFill>
                  <a:schemeClr val="hlink"/>
                </a:solidFill>
                <a:ea typeface="SimSun" charset="-122"/>
              </a:rPr>
              <a:t>28</a:t>
            </a:fld>
            <a:endParaRPr lang="en-US" altLang="zh-CN" sz="1400">
              <a:solidFill>
                <a:schemeClr val="hlink"/>
              </a:solidFill>
              <a:ea typeface="SimSun" charset="-122"/>
            </a:endParaRPr>
          </a:p>
        </p:txBody>
      </p:sp>
    </p:spTree>
    <p:extLst>
      <p:ext uri="{BB962C8B-B14F-4D97-AF65-F5344CB8AC3E}">
        <p14:creationId xmlns:p14="http://schemas.microsoft.com/office/powerpoint/2010/main" val="30165117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9F7E94A5-F2E1-47C7-95EF-1BC819282AA5}"/>
              </a:ext>
            </a:extLst>
          </p:cNvPr>
          <p:cNvSpPr>
            <a:spLocks noGrp="1"/>
          </p:cNvSpPr>
          <p:nvPr>
            <p:ph type="title"/>
          </p:nvPr>
        </p:nvSpPr>
        <p:spPr/>
        <p:txBody>
          <a:bodyPr/>
          <a:lstStyle/>
          <a:p>
            <a:r>
              <a:rPr lang="zh-CN" altLang="en-US" dirty="0"/>
              <a:t>回忆：什么是函数</a:t>
            </a:r>
          </a:p>
        </p:txBody>
      </p:sp>
      <p:sp>
        <p:nvSpPr>
          <p:cNvPr id="4" name="内容占位符 3">
            <a:extLst>
              <a:ext uri="{FF2B5EF4-FFF2-40B4-BE49-F238E27FC236}">
                <a16:creationId xmlns:a16="http://schemas.microsoft.com/office/drawing/2014/main" id="{43BDF3A6-74B7-4891-B7A7-54D534AF75D0}"/>
              </a:ext>
            </a:extLst>
          </p:cNvPr>
          <p:cNvSpPr>
            <a:spLocks noGrp="1"/>
          </p:cNvSpPr>
          <p:nvPr>
            <p:ph idx="1"/>
          </p:nvPr>
        </p:nvSpPr>
        <p:spPr>
          <a:xfrm>
            <a:off x="548097" y="1118315"/>
            <a:ext cx="8047806" cy="5632310"/>
          </a:xfrm>
        </p:spPr>
        <p:txBody>
          <a:bodyPr/>
          <a:lstStyle/>
          <a:p>
            <a:r>
              <a:rPr lang="zh-CN" altLang="en-US" dirty="0"/>
              <a:t>看一个例子</a:t>
            </a:r>
            <a:endParaRPr lang="en-US" altLang="zh-CN" dirty="0"/>
          </a:p>
          <a:p>
            <a:pPr lvl="1"/>
            <a:r>
              <a:rPr lang="zh-CN" altLang="en-US" dirty="0"/>
              <a:t>如果</a:t>
            </a:r>
            <a:r>
              <a:rPr lang="en-US" altLang="zh-CN" dirty="0"/>
              <a:t>flag</a:t>
            </a:r>
            <a:r>
              <a:rPr lang="zh-CN" altLang="en-US" dirty="0"/>
              <a:t>是</a:t>
            </a:r>
            <a:r>
              <a:rPr lang="en-US" altLang="zh-CN" dirty="0"/>
              <a:t>1</a:t>
            </a:r>
            <a:r>
              <a:rPr lang="zh-CN" altLang="en-US" dirty="0"/>
              <a:t>，则对每个元素调用</a:t>
            </a:r>
            <a:r>
              <a:rPr lang="en-US" altLang="zh-CN" dirty="0" err="1"/>
              <a:t>inc</a:t>
            </a:r>
            <a:r>
              <a:rPr lang="zh-CN" altLang="en-US" dirty="0"/>
              <a:t>；否则调用</a:t>
            </a:r>
            <a:r>
              <a:rPr lang="en-US" altLang="zh-CN" dirty="0" err="1"/>
              <a:t>dec</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仅仅只有调用的函数不同，如何减少重复的逻辑？</a:t>
            </a:r>
          </a:p>
        </p:txBody>
      </p:sp>
      <p:sp>
        <p:nvSpPr>
          <p:cNvPr id="2" name="灯片编号占位符 1">
            <a:extLst>
              <a:ext uri="{FF2B5EF4-FFF2-40B4-BE49-F238E27FC236}">
                <a16:creationId xmlns:a16="http://schemas.microsoft.com/office/drawing/2014/main" id="{F033F2D9-B10B-4913-9320-283E686B50D6}"/>
              </a:ext>
            </a:extLst>
          </p:cNvPr>
          <p:cNvSpPr>
            <a:spLocks noGrp="1"/>
          </p:cNvSpPr>
          <p:nvPr>
            <p:ph type="sldNum" sz="quarter" idx="12"/>
          </p:nvPr>
        </p:nvSpPr>
        <p:spPr>
          <a:xfrm>
            <a:off x="6948264" y="6377830"/>
            <a:ext cx="2057400" cy="365125"/>
          </a:xfrm>
        </p:spPr>
        <p:txBody>
          <a:bodyPr/>
          <a:lstStyle/>
          <a:p>
            <a:pPr>
              <a:defRPr/>
            </a:pPr>
            <a:fld id="{C34C3BD7-260C-4BC9-9C17-940D7F59C4D1}" type="slidenum">
              <a:rPr lang="en-US" altLang="zh-CN" smtClean="0"/>
              <a:pPr>
                <a:defRPr/>
              </a:pPr>
              <a:t>29</a:t>
            </a:fld>
            <a:endParaRPr lang="en-US" altLang="zh-CN"/>
          </a:p>
        </p:txBody>
      </p:sp>
      <p:sp>
        <p:nvSpPr>
          <p:cNvPr id="5" name="文本框 4">
            <a:extLst>
              <a:ext uri="{FF2B5EF4-FFF2-40B4-BE49-F238E27FC236}">
                <a16:creationId xmlns:a16="http://schemas.microsoft.com/office/drawing/2014/main" id="{ED76F8C3-3DBB-4C46-A7ED-EE1102ED50DE}"/>
              </a:ext>
            </a:extLst>
          </p:cNvPr>
          <p:cNvSpPr txBox="1"/>
          <p:nvPr/>
        </p:nvSpPr>
        <p:spPr>
          <a:xfrm>
            <a:off x="1132706" y="1916832"/>
            <a:ext cx="7615758" cy="4401205"/>
          </a:xfrm>
          <a:prstGeom prst="rect">
            <a:avLst/>
          </a:prstGeom>
          <a:noFill/>
        </p:spPr>
        <p:txBody>
          <a:bodyPr wrap="squar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int </a:t>
            </a:r>
            <a:r>
              <a:rPr lang="en-US" altLang="zh-CN" sz="2000" b="1" dirty="0" err="1">
                <a:latin typeface="Consolas" panose="020B0609020204030204" pitchFamily="49" charset="0"/>
              </a:rPr>
              <a:t>arr</a:t>
            </a:r>
            <a:r>
              <a:rPr lang="en-US" altLang="zh-CN" sz="2000" b="1" dirty="0">
                <a:latin typeface="Consolas" panose="020B0609020204030204" pitchFamily="49" charset="0"/>
              </a:rPr>
              <a:t>[5] = { 5, 2, 3, 1, 7 };</a:t>
            </a:r>
          </a:p>
          <a:p>
            <a:r>
              <a:rPr lang="en-US" altLang="zh-CN" sz="2000" b="1" dirty="0">
                <a:latin typeface="Consolas" panose="020B0609020204030204" pitchFamily="49" charset="0"/>
              </a:rPr>
              <a:t>void increase(int &amp;x){x++;}</a:t>
            </a:r>
          </a:p>
          <a:p>
            <a:r>
              <a:rPr lang="en-US" altLang="zh-CN" sz="2000" b="1" dirty="0">
                <a:latin typeface="Consolas" panose="020B0609020204030204" pitchFamily="49" charset="0"/>
              </a:rPr>
              <a:t>void decrease(int &amp;x){x--;}</a:t>
            </a:r>
          </a:p>
          <a:p>
            <a:r>
              <a:rPr lang="en-US" altLang="zh-CN" sz="2000" b="1" dirty="0">
                <a:latin typeface="Consolas" panose="020B0609020204030204" pitchFamily="49" charset="0"/>
              </a:rPr>
              <a:t>int main()</a:t>
            </a:r>
          </a:p>
          <a:p>
            <a:r>
              <a:rPr lang="en-US" altLang="zh-CN" sz="2000" b="1" dirty="0">
                <a:latin typeface="Consolas" panose="020B0609020204030204" pitchFamily="49" charset="0"/>
              </a:rPr>
              <a:t>{</a:t>
            </a:r>
          </a:p>
          <a:p>
            <a:r>
              <a:rPr lang="en-US" altLang="zh-CN" sz="2000" b="1" dirty="0">
                <a:latin typeface="Consolas" panose="020B0609020204030204" pitchFamily="49" charset="0"/>
              </a:rPr>
              <a:t>	int flag; std::</a:t>
            </a:r>
            <a:r>
              <a:rPr lang="en-US" altLang="zh-CN" sz="2000" b="1" dirty="0" err="1">
                <a:latin typeface="Consolas" panose="020B0609020204030204" pitchFamily="49" charset="0"/>
              </a:rPr>
              <a:t>cin</a:t>
            </a:r>
            <a:r>
              <a:rPr lang="en-US" altLang="zh-CN" sz="2000" b="1" dirty="0">
                <a:latin typeface="Consolas" panose="020B0609020204030204" pitchFamily="49" charset="0"/>
              </a:rPr>
              <a:t> &gt;&gt; flag;</a:t>
            </a:r>
          </a:p>
          <a:p>
            <a:r>
              <a:rPr lang="en-US" altLang="zh-CN" sz="2000" b="1" dirty="0">
                <a:latin typeface="Consolas" panose="020B0609020204030204" pitchFamily="49" charset="0"/>
              </a:rPr>
              <a:t>	if (flag == 1) {</a:t>
            </a:r>
          </a:p>
          <a:p>
            <a:r>
              <a:rPr lang="en-US" altLang="zh-CN" sz="2000" b="1" dirty="0">
                <a:latin typeface="Consolas" panose="020B0609020204030204" pitchFamily="49" charset="0"/>
              </a:rPr>
              <a:t>		for (int &amp;x : </a:t>
            </a:r>
            <a:r>
              <a:rPr lang="en-US" altLang="zh-CN" sz="2000" b="1" dirty="0" err="1">
                <a:latin typeface="Consolas" panose="020B0609020204030204" pitchFamily="49" charset="0"/>
              </a:rPr>
              <a:t>arr</a:t>
            </a:r>
            <a:r>
              <a:rPr lang="en-US" altLang="zh-CN" sz="2000" b="1" dirty="0">
                <a:latin typeface="Consolas" panose="020B0609020204030204" pitchFamily="49" charset="0"/>
              </a:rPr>
              <a:t>) { 	increase(x);}</a:t>
            </a:r>
          </a:p>
          <a:p>
            <a:r>
              <a:rPr lang="en-US" altLang="zh-CN" sz="2000" b="1" dirty="0">
                <a:latin typeface="Consolas" panose="020B0609020204030204" pitchFamily="49" charset="0"/>
              </a:rPr>
              <a:t>	}else{</a:t>
            </a:r>
          </a:p>
          <a:p>
            <a:r>
              <a:rPr lang="en-US" altLang="zh-CN" sz="2000" b="1" dirty="0">
                <a:latin typeface="Consolas" panose="020B0609020204030204" pitchFamily="49" charset="0"/>
              </a:rPr>
              <a:t>		for (int &amp;x : </a:t>
            </a:r>
            <a:r>
              <a:rPr lang="en-US" altLang="zh-CN" sz="2000" b="1" dirty="0" err="1">
                <a:latin typeface="Consolas" panose="020B0609020204030204" pitchFamily="49" charset="0"/>
              </a:rPr>
              <a:t>arr</a:t>
            </a:r>
            <a:r>
              <a:rPr lang="en-US" altLang="zh-CN" sz="2000" b="1" dirty="0">
                <a:latin typeface="Consolas" panose="020B0609020204030204" pitchFamily="49" charset="0"/>
              </a:rPr>
              <a:t>) { 	decrease(x);}</a:t>
            </a:r>
          </a:p>
          <a:p>
            <a:r>
              <a:rPr lang="en-US" altLang="zh-CN" sz="2000" b="1" dirty="0">
                <a:latin typeface="Consolas" panose="020B0609020204030204" pitchFamily="49" charset="0"/>
              </a:rPr>
              <a:t>	}</a:t>
            </a:r>
          </a:p>
          <a:p>
            <a:r>
              <a:rPr lang="en-US" altLang="zh-CN" sz="2000" b="1" dirty="0">
                <a:latin typeface="Consolas" panose="020B0609020204030204" pitchFamily="49" charset="0"/>
              </a:rPr>
              <a:t>	return 0;</a:t>
            </a:r>
          </a:p>
          <a:p>
            <a:r>
              <a:rPr lang="en-US" altLang="zh-CN" sz="2000" b="1" dirty="0">
                <a:latin typeface="Consolas" panose="020B0609020204030204" pitchFamily="49" charset="0"/>
              </a:rPr>
              <a:t>}</a:t>
            </a:r>
          </a:p>
        </p:txBody>
      </p:sp>
      <p:sp>
        <p:nvSpPr>
          <p:cNvPr id="13" name="矩形 12">
            <a:extLst>
              <a:ext uri="{FF2B5EF4-FFF2-40B4-BE49-F238E27FC236}">
                <a16:creationId xmlns:a16="http://schemas.microsoft.com/office/drawing/2014/main" id="{943003DB-805D-4C67-8259-52A30203FED0}"/>
              </a:ext>
            </a:extLst>
          </p:cNvPr>
          <p:cNvSpPr/>
          <p:nvPr/>
        </p:nvSpPr>
        <p:spPr>
          <a:xfrm>
            <a:off x="1988257" y="4393565"/>
            <a:ext cx="5536071" cy="36512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20A285EE-F202-4D9B-91EF-109CA4B81142}"/>
              </a:ext>
            </a:extLst>
          </p:cNvPr>
          <p:cNvSpPr/>
          <p:nvPr/>
        </p:nvSpPr>
        <p:spPr>
          <a:xfrm>
            <a:off x="1998195" y="4983758"/>
            <a:ext cx="5526975" cy="365125"/>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2027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092289-04AD-4F85-BD08-4A4BB7376C06}"/>
              </a:ext>
            </a:extLst>
          </p:cNvPr>
          <p:cNvSpPr>
            <a:spLocks noGrp="1"/>
          </p:cNvSpPr>
          <p:nvPr>
            <p:ph type="title"/>
          </p:nvPr>
        </p:nvSpPr>
        <p:spPr/>
        <p:txBody>
          <a:bodyPr/>
          <a:lstStyle/>
          <a:p>
            <a:r>
              <a:rPr lang="zh-CN" altLang="en-US" dirty="0"/>
              <a:t>回忆：什么是函数</a:t>
            </a:r>
          </a:p>
        </p:txBody>
      </p:sp>
      <p:sp>
        <p:nvSpPr>
          <p:cNvPr id="3" name="内容占位符 2">
            <a:extLst>
              <a:ext uri="{FF2B5EF4-FFF2-40B4-BE49-F238E27FC236}">
                <a16:creationId xmlns:a16="http://schemas.microsoft.com/office/drawing/2014/main" id="{4C3DE044-43D4-4EA3-8F3C-949DC5C196FF}"/>
              </a:ext>
            </a:extLst>
          </p:cNvPr>
          <p:cNvSpPr>
            <a:spLocks noGrp="1"/>
          </p:cNvSpPr>
          <p:nvPr>
            <p:ph idx="1"/>
          </p:nvPr>
        </p:nvSpPr>
        <p:spPr>
          <a:xfrm>
            <a:off x="628650" y="1628800"/>
            <a:ext cx="8047806" cy="4749029"/>
          </a:xfrm>
        </p:spPr>
        <p:txBody>
          <a:bodyPr/>
          <a:lstStyle/>
          <a:p>
            <a:r>
              <a:rPr lang="zh-CN" altLang="en-US" dirty="0"/>
              <a:t>可以使用变量表示函数吗？</a:t>
            </a:r>
            <a:endParaRPr lang="en-US" altLang="zh-CN" dirty="0"/>
          </a:p>
          <a:p>
            <a:endParaRPr lang="en-US" altLang="zh-CN" dirty="0"/>
          </a:p>
          <a:p>
            <a:endParaRPr lang="en-US" altLang="zh-CN" dirty="0"/>
          </a:p>
          <a:p>
            <a:endParaRPr lang="en-US" altLang="zh-CN" sz="2000" dirty="0"/>
          </a:p>
          <a:p>
            <a:pPr marL="0" indent="0">
              <a:buNone/>
            </a:pPr>
            <a:br>
              <a:rPr lang="en-US" altLang="zh-CN" sz="2000" dirty="0"/>
            </a:br>
            <a:endParaRPr lang="en-US" altLang="zh-CN" sz="2000" dirty="0"/>
          </a:p>
          <a:p>
            <a:r>
              <a:rPr lang="zh-CN" altLang="en-US" dirty="0"/>
              <a:t>当然可以。在</a:t>
            </a:r>
            <a:r>
              <a:rPr lang="en-US" altLang="zh-CN" dirty="0"/>
              <a:t>C</a:t>
            </a:r>
            <a:r>
              <a:rPr lang="zh-CN" altLang="en-US" dirty="0"/>
              <a:t>中，</a:t>
            </a:r>
            <a:r>
              <a:rPr lang="en-US" altLang="zh-CN" dirty="0" err="1"/>
              <a:t>func</a:t>
            </a:r>
            <a:r>
              <a:rPr lang="zh-CN" altLang="en-US" dirty="0"/>
              <a:t>是指向函数的指针。</a:t>
            </a:r>
            <a:endParaRPr lang="en-US" altLang="zh-CN" dirty="0"/>
          </a:p>
          <a:p>
            <a:pPr lvl="1"/>
            <a:endParaRPr lang="en-US" altLang="zh-CN" b="1" dirty="0"/>
          </a:p>
          <a:p>
            <a:pPr lvl="1"/>
            <a:r>
              <a:rPr lang="en-US" altLang="zh-CN" b="1" dirty="0"/>
              <a:t>void (</a:t>
            </a:r>
            <a:r>
              <a:rPr lang="en-US" altLang="zh-CN" b="1" dirty="0">
                <a:solidFill>
                  <a:schemeClr val="accent4"/>
                </a:solidFill>
              </a:rPr>
              <a:t>*</a:t>
            </a:r>
            <a:r>
              <a:rPr lang="en-US" altLang="zh-CN" b="1" u="sng" dirty="0" err="1">
                <a:solidFill>
                  <a:schemeClr val="accent5"/>
                </a:solidFill>
              </a:rPr>
              <a:t>func</a:t>
            </a:r>
            <a:r>
              <a:rPr lang="en-US" altLang="zh-CN" b="1" dirty="0"/>
              <a:t>)</a:t>
            </a:r>
            <a:r>
              <a:rPr lang="en-US" altLang="zh-CN" b="1" dirty="0">
                <a:solidFill>
                  <a:schemeClr val="accent6"/>
                </a:solidFill>
              </a:rPr>
              <a:t>(int&amp;)</a:t>
            </a:r>
            <a:r>
              <a:rPr lang="en-US" altLang="zh-CN" b="1" dirty="0"/>
              <a:t>;   </a:t>
            </a:r>
            <a:r>
              <a:rPr lang="en-US" altLang="zh-CN" dirty="0">
                <a:solidFill>
                  <a:srgbClr val="008000"/>
                </a:solidFill>
              </a:rPr>
              <a:t>//</a:t>
            </a:r>
            <a:r>
              <a:rPr lang="zh-CN" altLang="en-US" dirty="0">
                <a:solidFill>
                  <a:srgbClr val="008000"/>
                </a:solidFill>
              </a:rPr>
              <a:t>函数指针的声明</a:t>
            </a:r>
          </a:p>
        </p:txBody>
      </p:sp>
      <p:sp>
        <p:nvSpPr>
          <p:cNvPr id="4" name="灯片编号占位符 3">
            <a:extLst>
              <a:ext uri="{FF2B5EF4-FFF2-40B4-BE49-F238E27FC236}">
                <a16:creationId xmlns:a16="http://schemas.microsoft.com/office/drawing/2014/main" id="{A786952D-843D-496C-B38B-90F389021D3C}"/>
              </a:ext>
            </a:extLst>
          </p:cNvPr>
          <p:cNvSpPr>
            <a:spLocks noGrp="1"/>
          </p:cNvSpPr>
          <p:nvPr>
            <p:ph type="sldNum" sz="quarter" idx="12"/>
          </p:nvPr>
        </p:nvSpPr>
        <p:spPr/>
        <p:txBody>
          <a:bodyPr/>
          <a:lstStyle/>
          <a:p>
            <a:pPr>
              <a:defRPr/>
            </a:pPr>
            <a:fld id="{BFD7BE51-03DD-4CCA-8227-D775462981B4}" type="slidenum">
              <a:rPr lang="en-US" altLang="zh-CN" smtClean="0"/>
              <a:pPr>
                <a:defRPr/>
              </a:pPr>
              <a:t>30</a:t>
            </a:fld>
            <a:endParaRPr lang="en-US" altLang="zh-CN"/>
          </a:p>
        </p:txBody>
      </p:sp>
      <p:sp>
        <p:nvSpPr>
          <p:cNvPr id="5" name="文本框 4">
            <a:extLst>
              <a:ext uri="{FF2B5EF4-FFF2-40B4-BE49-F238E27FC236}">
                <a16:creationId xmlns:a16="http://schemas.microsoft.com/office/drawing/2014/main" id="{3EA702DE-09B0-4D7B-888E-DE8965017925}"/>
              </a:ext>
            </a:extLst>
          </p:cNvPr>
          <p:cNvSpPr txBox="1"/>
          <p:nvPr/>
        </p:nvSpPr>
        <p:spPr>
          <a:xfrm>
            <a:off x="1187624" y="2128179"/>
            <a:ext cx="6192688" cy="1938992"/>
          </a:xfrm>
          <a:prstGeom prst="rect">
            <a:avLst/>
          </a:prstGeom>
          <a:noFill/>
        </p:spPr>
        <p:txBody>
          <a:bodyPr wrap="square" rtlCol="0">
            <a:spAutoFit/>
          </a:bodyPr>
          <a:lstStyle/>
          <a:p>
            <a:r>
              <a:rPr lang="en-US" altLang="zh-CN" sz="2400" b="1" dirty="0">
                <a:latin typeface="Consolas" panose="020B0609020204030204" pitchFamily="49" charset="0"/>
              </a:rPr>
              <a:t>if (flag == 1)</a:t>
            </a:r>
          </a:p>
          <a:p>
            <a:r>
              <a:rPr lang="en-US" altLang="zh-CN" sz="2400" b="1" dirty="0">
                <a:latin typeface="Consolas" panose="020B0609020204030204" pitchFamily="49" charset="0"/>
              </a:rPr>
              <a:t>	</a:t>
            </a:r>
            <a:r>
              <a:rPr lang="en-US" altLang="zh-CN" sz="2400" b="1" dirty="0" err="1">
                <a:solidFill>
                  <a:srgbClr val="C00000"/>
                </a:solidFill>
                <a:latin typeface="Consolas" panose="020B0609020204030204" pitchFamily="49" charset="0"/>
              </a:rPr>
              <a:t>func</a:t>
            </a:r>
            <a:r>
              <a:rPr lang="en-US" altLang="zh-CN" sz="2400" b="1" dirty="0">
                <a:latin typeface="Consolas" panose="020B0609020204030204" pitchFamily="49" charset="0"/>
              </a:rPr>
              <a:t> = increase;</a:t>
            </a:r>
          </a:p>
          <a:p>
            <a:r>
              <a:rPr lang="en-US" altLang="zh-CN" sz="2400" b="1" dirty="0">
                <a:latin typeface="Consolas" panose="020B0609020204030204" pitchFamily="49" charset="0"/>
              </a:rPr>
              <a:t>else</a:t>
            </a:r>
          </a:p>
          <a:p>
            <a:r>
              <a:rPr lang="en-US" altLang="zh-CN" sz="2400" b="1" dirty="0">
                <a:latin typeface="Consolas" panose="020B0609020204030204" pitchFamily="49" charset="0"/>
              </a:rPr>
              <a:t>	</a:t>
            </a:r>
            <a:r>
              <a:rPr lang="en-US" altLang="zh-CN" sz="2400" b="1" dirty="0" err="1">
                <a:solidFill>
                  <a:srgbClr val="C00000"/>
                </a:solidFill>
                <a:latin typeface="Consolas" panose="020B0609020204030204" pitchFamily="49" charset="0"/>
              </a:rPr>
              <a:t>func</a:t>
            </a:r>
            <a:r>
              <a:rPr lang="en-US" altLang="zh-CN" sz="2400" b="1" dirty="0">
                <a:latin typeface="Consolas" panose="020B0609020204030204" pitchFamily="49" charset="0"/>
              </a:rPr>
              <a:t> = decrease;</a:t>
            </a:r>
            <a:endParaRPr lang="en-US" altLang="zh-CN" sz="2400" b="1" dirty="0">
              <a:solidFill>
                <a:schemeClr val="accent4"/>
              </a:solidFill>
              <a:latin typeface="Consolas" panose="020B0609020204030204" pitchFamily="49" charset="0"/>
            </a:endParaRPr>
          </a:p>
          <a:p>
            <a:pPr marL="0" lvl="1"/>
            <a:r>
              <a:rPr lang="en-US" altLang="zh-CN" sz="2400" b="1" dirty="0">
                <a:latin typeface="Consolas" panose="020B0609020204030204" pitchFamily="49" charset="0"/>
              </a:rPr>
              <a:t>for (int &amp;x : </a:t>
            </a:r>
            <a:r>
              <a:rPr lang="en-US" altLang="zh-CN" sz="2400" b="1" dirty="0" err="1">
                <a:latin typeface="Consolas" panose="020B0609020204030204" pitchFamily="49" charset="0"/>
              </a:rPr>
              <a:t>arr</a:t>
            </a:r>
            <a:r>
              <a:rPr lang="en-US" altLang="zh-CN" sz="2400" b="1" dirty="0">
                <a:latin typeface="Consolas" panose="020B0609020204030204" pitchFamily="49" charset="0"/>
              </a:rPr>
              <a:t>) { </a:t>
            </a:r>
            <a:r>
              <a:rPr lang="en-US" altLang="zh-CN" sz="2400" b="1" dirty="0" err="1">
                <a:solidFill>
                  <a:srgbClr val="C00000"/>
                </a:solidFill>
                <a:latin typeface="Consolas" panose="020B0609020204030204" pitchFamily="49" charset="0"/>
              </a:rPr>
              <a:t>func</a:t>
            </a:r>
            <a:r>
              <a:rPr lang="en-US" altLang="zh-CN" sz="2400" b="1" dirty="0">
                <a:latin typeface="Consolas" panose="020B0609020204030204" pitchFamily="49" charset="0"/>
              </a:rPr>
              <a:t>(x);}</a:t>
            </a:r>
          </a:p>
        </p:txBody>
      </p:sp>
      <p:sp>
        <p:nvSpPr>
          <p:cNvPr id="8" name="文本框 7">
            <a:extLst>
              <a:ext uri="{FF2B5EF4-FFF2-40B4-BE49-F238E27FC236}">
                <a16:creationId xmlns:a16="http://schemas.microsoft.com/office/drawing/2014/main" id="{DF8BBB3F-C0F0-4CCF-87E0-2C0D14C6B781}"/>
              </a:ext>
            </a:extLst>
          </p:cNvPr>
          <p:cNvSpPr txBox="1"/>
          <p:nvPr/>
        </p:nvSpPr>
        <p:spPr>
          <a:xfrm>
            <a:off x="904128" y="5590743"/>
            <a:ext cx="1261884" cy="523220"/>
          </a:xfrm>
          <a:prstGeom prst="rect">
            <a:avLst/>
          </a:prstGeom>
          <a:noFill/>
        </p:spPr>
        <p:txBody>
          <a:bodyPr wrap="none" rtlCol="0">
            <a:spAutoFit/>
          </a:bodyPr>
          <a:lstStyle/>
          <a:p>
            <a:r>
              <a:rPr lang="zh-CN" altLang="en-US" sz="2800" b="1" dirty="0"/>
              <a:t>返回值</a:t>
            </a:r>
          </a:p>
        </p:txBody>
      </p:sp>
      <p:sp>
        <p:nvSpPr>
          <p:cNvPr id="9" name="文本框 8">
            <a:extLst>
              <a:ext uri="{FF2B5EF4-FFF2-40B4-BE49-F238E27FC236}">
                <a16:creationId xmlns:a16="http://schemas.microsoft.com/office/drawing/2014/main" id="{77483B3A-E23E-4FCE-8A3D-2AE0E379E537}"/>
              </a:ext>
            </a:extLst>
          </p:cNvPr>
          <p:cNvSpPr txBox="1"/>
          <p:nvPr/>
        </p:nvSpPr>
        <p:spPr>
          <a:xfrm>
            <a:off x="3995936" y="5590743"/>
            <a:ext cx="1620957" cy="523220"/>
          </a:xfrm>
          <a:prstGeom prst="rect">
            <a:avLst/>
          </a:prstGeom>
          <a:noFill/>
        </p:spPr>
        <p:txBody>
          <a:bodyPr wrap="none" rtlCol="0">
            <a:spAutoFit/>
          </a:bodyPr>
          <a:lstStyle/>
          <a:p>
            <a:r>
              <a:rPr lang="zh-CN" altLang="en-US" sz="2800" b="1" dirty="0">
                <a:solidFill>
                  <a:schemeClr val="accent6"/>
                </a:solidFill>
              </a:rPr>
              <a:t>参数列表</a:t>
            </a:r>
          </a:p>
        </p:txBody>
      </p:sp>
      <p:sp>
        <p:nvSpPr>
          <p:cNvPr id="10" name="文本框 9">
            <a:extLst>
              <a:ext uri="{FF2B5EF4-FFF2-40B4-BE49-F238E27FC236}">
                <a16:creationId xmlns:a16="http://schemas.microsoft.com/office/drawing/2014/main" id="{EF0E6D29-554D-44A0-82DB-9DBF13213429}"/>
              </a:ext>
            </a:extLst>
          </p:cNvPr>
          <p:cNvSpPr txBox="1"/>
          <p:nvPr/>
        </p:nvSpPr>
        <p:spPr>
          <a:xfrm>
            <a:off x="1355534" y="6203216"/>
            <a:ext cx="1620957" cy="523220"/>
          </a:xfrm>
          <a:prstGeom prst="rect">
            <a:avLst/>
          </a:prstGeom>
          <a:noFill/>
        </p:spPr>
        <p:txBody>
          <a:bodyPr wrap="none" rtlCol="0">
            <a:spAutoFit/>
          </a:bodyPr>
          <a:lstStyle/>
          <a:p>
            <a:r>
              <a:rPr lang="zh-CN" altLang="en-US" sz="2800" b="1" dirty="0">
                <a:solidFill>
                  <a:schemeClr val="accent4"/>
                </a:solidFill>
              </a:rPr>
              <a:t>指针符号</a:t>
            </a:r>
          </a:p>
        </p:txBody>
      </p:sp>
      <p:sp>
        <p:nvSpPr>
          <p:cNvPr id="11" name="文本框 10">
            <a:extLst>
              <a:ext uri="{FF2B5EF4-FFF2-40B4-BE49-F238E27FC236}">
                <a16:creationId xmlns:a16="http://schemas.microsoft.com/office/drawing/2014/main" id="{3E08C7C1-7905-42D8-81CA-3E015422F9FD}"/>
              </a:ext>
            </a:extLst>
          </p:cNvPr>
          <p:cNvSpPr txBox="1"/>
          <p:nvPr/>
        </p:nvSpPr>
        <p:spPr>
          <a:xfrm>
            <a:off x="2976491" y="6203216"/>
            <a:ext cx="2339102" cy="523220"/>
          </a:xfrm>
          <a:prstGeom prst="rect">
            <a:avLst/>
          </a:prstGeom>
          <a:noFill/>
        </p:spPr>
        <p:txBody>
          <a:bodyPr wrap="none" rtlCol="0">
            <a:spAutoFit/>
          </a:bodyPr>
          <a:lstStyle/>
          <a:p>
            <a:r>
              <a:rPr lang="zh-CN" altLang="en-US" sz="2800" b="1" dirty="0">
                <a:solidFill>
                  <a:schemeClr val="accent5"/>
                </a:solidFill>
              </a:rPr>
              <a:t>声明的变量名</a:t>
            </a:r>
          </a:p>
        </p:txBody>
      </p:sp>
      <p:cxnSp>
        <p:nvCxnSpPr>
          <p:cNvPr id="13" name="直接箭头连接符 12">
            <a:extLst>
              <a:ext uri="{FF2B5EF4-FFF2-40B4-BE49-F238E27FC236}">
                <a16:creationId xmlns:a16="http://schemas.microsoft.com/office/drawing/2014/main" id="{3AB4CA6D-1853-42EB-AD5E-5A88AB010EDB}"/>
              </a:ext>
            </a:extLst>
          </p:cNvPr>
          <p:cNvCxnSpPr>
            <a:stCxn id="10" idx="0"/>
          </p:cNvCxnSpPr>
          <p:nvPr/>
        </p:nvCxnSpPr>
        <p:spPr>
          <a:xfrm flipV="1">
            <a:off x="2166013" y="5517232"/>
            <a:ext cx="317755" cy="685984"/>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cxnSp>
        <p:nvCxnSpPr>
          <p:cNvPr id="15" name="直接箭头连接符 14">
            <a:extLst>
              <a:ext uri="{FF2B5EF4-FFF2-40B4-BE49-F238E27FC236}">
                <a16:creationId xmlns:a16="http://schemas.microsoft.com/office/drawing/2014/main" id="{266DADFB-7B13-4CC6-A56D-8237082B8E24}"/>
              </a:ext>
            </a:extLst>
          </p:cNvPr>
          <p:cNvCxnSpPr>
            <a:cxnSpLocks/>
            <a:stCxn id="11" idx="0"/>
          </p:cNvCxnSpPr>
          <p:nvPr/>
        </p:nvCxnSpPr>
        <p:spPr>
          <a:xfrm flipH="1" flipV="1">
            <a:off x="3211115" y="5590743"/>
            <a:ext cx="934927" cy="612473"/>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4654665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BF932A-2B9A-4741-BC63-90DB3C33396F}"/>
              </a:ext>
            </a:extLst>
          </p:cNvPr>
          <p:cNvSpPr>
            <a:spLocks noGrp="1"/>
          </p:cNvSpPr>
          <p:nvPr>
            <p:ph type="title"/>
          </p:nvPr>
        </p:nvSpPr>
        <p:spPr/>
        <p:txBody>
          <a:bodyPr/>
          <a:lstStyle/>
          <a:p>
            <a:r>
              <a:rPr lang="zh-CN" altLang="en-US" dirty="0"/>
              <a:t>回忆：什么是函数</a:t>
            </a:r>
          </a:p>
        </p:txBody>
      </p:sp>
      <p:sp>
        <p:nvSpPr>
          <p:cNvPr id="3" name="内容占位符 2">
            <a:extLst>
              <a:ext uri="{FF2B5EF4-FFF2-40B4-BE49-F238E27FC236}">
                <a16:creationId xmlns:a16="http://schemas.microsoft.com/office/drawing/2014/main" id="{4CE8BFED-8AD1-4BA0-AC2C-BC4F89EBB818}"/>
              </a:ext>
            </a:extLst>
          </p:cNvPr>
          <p:cNvSpPr>
            <a:spLocks noGrp="1"/>
          </p:cNvSpPr>
          <p:nvPr>
            <p:ph idx="1"/>
          </p:nvPr>
        </p:nvSpPr>
        <p:spPr/>
        <p:txBody>
          <a:bodyPr/>
          <a:lstStyle/>
          <a:p>
            <a:r>
              <a:rPr lang="zh-CN" altLang="en-US" dirty="0"/>
              <a:t>函数的类型比较难写，使用</a:t>
            </a:r>
            <a:r>
              <a:rPr lang="en-US" altLang="zh-CN" dirty="0"/>
              <a:t>auto</a:t>
            </a:r>
            <a:r>
              <a:rPr lang="zh-CN" altLang="en-US" dirty="0"/>
              <a:t>可以自动推断</a:t>
            </a:r>
            <a:endParaRPr lang="en-US" altLang="zh-CN" dirty="0"/>
          </a:p>
          <a:p>
            <a:endParaRPr lang="en-US" altLang="zh-CN" dirty="0"/>
          </a:p>
          <a:p>
            <a:endParaRPr lang="en-US" altLang="zh-CN" dirty="0"/>
          </a:p>
          <a:p>
            <a:endParaRPr lang="en-US" altLang="zh-CN" dirty="0"/>
          </a:p>
          <a:p>
            <a:pPr lvl="1"/>
            <a:r>
              <a:rPr lang="en-US" altLang="zh-CN" dirty="0"/>
              <a:t>auto</a:t>
            </a:r>
            <a:r>
              <a:rPr lang="zh-CN" altLang="en-US" dirty="0"/>
              <a:t>自动推断出</a:t>
            </a:r>
            <a:r>
              <a:rPr lang="en-US" altLang="zh-CN" dirty="0" err="1"/>
              <a:t>func</a:t>
            </a:r>
            <a:r>
              <a:rPr lang="zh-CN" altLang="en-US" dirty="0"/>
              <a:t>的类型为</a:t>
            </a:r>
            <a:r>
              <a:rPr lang="en-US" altLang="zh-CN" dirty="0"/>
              <a:t>void (*)(int&amp;); </a:t>
            </a:r>
          </a:p>
          <a:p>
            <a:pPr lvl="1"/>
            <a:endParaRPr lang="en-US" altLang="zh-CN" dirty="0"/>
          </a:p>
          <a:p>
            <a:r>
              <a:rPr lang="zh-CN" altLang="en-US" dirty="0"/>
              <a:t>和数组类似：</a:t>
            </a:r>
            <a:endParaRPr lang="en-US" altLang="zh-CN" dirty="0"/>
          </a:p>
          <a:p>
            <a:pPr lvl="1"/>
            <a:r>
              <a:rPr lang="zh-CN" altLang="en-US" dirty="0"/>
              <a:t>数组名 </a:t>
            </a:r>
            <a:r>
              <a:rPr lang="en-US" altLang="zh-CN" dirty="0"/>
              <a:t>= </a:t>
            </a:r>
            <a:r>
              <a:rPr lang="zh-CN" altLang="en-US" dirty="0"/>
              <a:t>指向数组第一个元素的指针</a:t>
            </a:r>
            <a:endParaRPr lang="en-US" altLang="zh-CN" dirty="0"/>
          </a:p>
          <a:p>
            <a:pPr lvl="1"/>
            <a:r>
              <a:rPr lang="zh-CN" altLang="en-US" dirty="0"/>
              <a:t>函数名 </a:t>
            </a:r>
            <a:r>
              <a:rPr lang="en-US" altLang="zh-CN" dirty="0"/>
              <a:t>= </a:t>
            </a:r>
            <a:r>
              <a:rPr lang="zh-CN" altLang="en-US" dirty="0"/>
              <a:t>指向函数的指针</a:t>
            </a:r>
          </a:p>
        </p:txBody>
      </p:sp>
      <p:sp>
        <p:nvSpPr>
          <p:cNvPr id="4" name="灯片编号占位符 3">
            <a:extLst>
              <a:ext uri="{FF2B5EF4-FFF2-40B4-BE49-F238E27FC236}">
                <a16:creationId xmlns:a16="http://schemas.microsoft.com/office/drawing/2014/main" id="{2FDD68CA-04EB-417A-B314-B580E5252F74}"/>
              </a:ext>
            </a:extLst>
          </p:cNvPr>
          <p:cNvSpPr>
            <a:spLocks noGrp="1"/>
          </p:cNvSpPr>
          <p:nvPr>
            <p:ph type="sldNum" sz="quarter" idx="12"/>
          </p:nvPr>
        </p:nvSpPr>
        <p:spPr/>
        <p:txBody>
          <a:bodyPr/>
          <a:lstStyle/>
          <a:p>
            <a:pPr>
              <a:defRPr/>
            </a:pPr>
            <a:fld id="{BFD7BE51-03DD-4CCA-8227-D775462981B4}" type="slidenum">
              <a:rPr lang="en-US" altLang="zh-CN" smtClean="0"/>
              <a:pPr>
                <a:defRPr/>
              </a:pPr>
              <a:t>31</a:t>
            </a:fld>
            <a:endParaRPr lang="en-US" altLang="zh-CN"/>
          </a:p>
        </p:txBody>
      </p:sp>
      <p:sp>
        <p:nvSpPr>
          <p:cNvPr id="5" name="文本框 4">
            <a:extLst>
              <a:ext uri="{FF2B5EF4-FFF2-40B4-BE49-F238E27FC236}">
                <a16:creationId xmlns:a16="http://schemas.microsoft.com/office/drawing/2014/main" id="{6469EAE5-4CA7-431C-9CBC-83336286EC33}"/>
              </a:ext>
            </a:extLst>
          </p:cNvPr>
          <p:cNvSpPr txBox="1"/>
          <p:nvPr/>
        </p:nvSpPr>
        <p:spPr>
          <a:xfrm>
            <a:off x="1115616" y="2204864"/>
            <a:ext cx="7344816" cy="1200329"/>
          </a:xfrm>
          <a:prstGeom prst="rect">
            <a:avLst/>
          </a:prstGeom>
          <a:noFill/>
        </p:spPr>
        <p:txBody>
          <a:bodyPr wrap="square" rtlCol="0">
            <a:spAutoFit/>
          </a:bodyPr>
          <a:lstStyle/>
          <a:p>
            <a:r>
              <a:rPr lang="en-US" altLang="zh-CN" sz="2400" b="1" dirty="0">
                <a:solidFill>
                  <a:srgbClr val="008000"/>
                </a:solidFill>
                <a:latin typeface="Consolas" panose="020B0609020204030204" pitchFamily="49" charset="0"/>
              </a:rPr>
              <a:t>//</a:t>
            </a:r>
            <a:r>
              <a:rPr lang="zh-CN" altLang="en-US" sz="2400" b="1" dirty="0">
                <a:solidFill>
                  <a:srgbClr val="008000"/>
                </a:solidFill>
                <a:latin typeface="Consolas" panose="020B0609020204030204" pitchFamily="49" charset="0"/>
              </a:rPr>
              <a:t>使用</a:t>
            </a:r>
            <a:r>
              <a:rPr lang="en-US" altLang="zh-CN" sz="2400" b="1" dirty="0">
                <a:solidFill>
                  <a:srgbClr val="008000"/>
                </a:solidFill>
                <a:latin typeface="Consolas" panose="020B0609020204030204" pitchFamily="49" charset="0"/>
              </a:rPr>
              <a:t>auto</a:t>
            </a:r>
            <a:r>
              <a:rPr lang="zh-CN" altLang="en-US" sz="2400" b="1" dirty="0">
                <a:solidFill>
                  <a:srgbClr val="008000"/>
                </a:solidFill>
                <a:latin typeface="Consolas" panose="020B0609020204030204" pitchFamily="49" charset="0"/>
              </a:rPr>
              <a:t>时必须要初始化</a:t>
            </a:r>
            <a:endParaRPr lang="en-US" altLang="zh-CN" sz="2400" b="1" dirty="0">
              <a:solidFill>
                <a:srgbClr val="008000"/>
              </a:solidFill>
              <a:latin typeface="Consolas" panose="020B0609020204030204" pitchFamily="49" charset="0"/>
            </a:endParaRPr>
          </a:p>
          <a:p>
            <a:r>
              <a:rPr lang="en-US" altLang="zh-CN" sz="2400" b="1" dirty="0">
                <a:latin typeface="Consolas" panose="020B0609020204030204" pitchFamily="49" charset="0"/>
              </a:rPr>
              <a:t>auto </a:t>
            </a:r>
            <a:r>
              <a:rPr lang="en-US" altLang="zh-CN" sz="2400" b="1" dirty="0" err="1">
                <a:latin typeface="Consolas" panose="020B0609020204030204" pitchFamily="49" charset="0"/>
              </a:rPr>
              <a:t>func</a:t>
            </a:r>
            <a:r>
              <a:rPr lang="en-US" altLang="zh-CN" sz="2400" b="1" dirty="0">
                <a:latin typeface="Consolas" panose="020B0609020204030204" pitchFamily="49" charset="0"/>
              </a:rPr>
              <a:t> = flag==1?increase:decrease;</a:t>
            </a:r>
          </a:p>
          <a:p>
            <a:pPr marL="0" lvl="1"/>
            <a:r>
              <a:rPr lang="en-US" altLang="zh-CN" sz="2400" b="1" dirty="0">
                <a:latin typeface="Consolas" panose="020B0609020204030204" pitchFamily="49" charset="0"/>
              </a:rPr>
              <a:t>for (int &amp;x : </a:t>
            </a:r>
            <a:r>
              <a:rPr lang="en-US" altLang="zh-CN" sz="2400" b="1" dirty="0" err="1">
                <a:latin typeface="Consolas" panose="020B0609020204030204" pitchFamily="49" charset="0"/>
              </a:rPr>
              <a:t>arr</a:t>
            </a:r>
            <a:r>
              <a:rPr lang="en-US" altLang="zh-CN" sz="2400" b="1" dirty="0">
                <a:latin typeface="Consolas" panose="020B0609020204030204" pitchFamily="49" charset="0"/>
              </a:rPr>
              <a:t>) { </a:t>
            </a:r>
            <a:r>
              <a:rPr lang="en-US" altLang="zh-CN" sz="2400" b="1" dirty="0" err="1">
                <a:solidFill>
                  <a:srgbClr val="C00000"/>
                </a:solidFill>
                <a:latin typeface="Consolas" panose="020B0609020204030204" pitchFamily="49" charset="0"/>
              </a:rPr>
              <a:t>func</a:t>
            </a:r>
            <a:r>
              <a:rPr lang="en-US" altLang="zh-CN" sz="2400" b="1" dirty="0">
                <a:latin typeface="Consolas" panose="020B0609020204030204" pitchFamily="49" charset="0"/>
              </a:rPr>
              <a:t>(x);}</a:t>
            </a:r>
          </a:p>
        </p:txBody>
      </p:sp>
    </p:spTree>
    <p:extLst>
      <p:ext uri="{BB962C8B-B14F-4D97-AF65-F5344CB8AC3E}">
        <p14:creationId xmlns:p14="http://schemas.microsoft.com/office/powerpoint/2010/main" val="3376064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5E0105-1E3B-40DE-BD09-4FF10DC33EF3}"/>
              </a:ext>
            </a:extLst>
          </p:cNvPr>
          <p:cNvSpPr>
            <a:spLocks noGrp="1"/>
          </p:cNvSpPr>
          <p:nvPr>
            <p:ph type="title"/>
          </p:nvPr>
        </p:nvSpPr>
        <p:spPr/>
        <p:txBody>
          <a:bodyPr/>
          <a:lstStyle/>
          <a:p>
            <a:r>
              <a:rPr lang="zh-CN" altLang="en-US" dirty="0"/>
              <a:t>回忆：什么是函数</a:t>
            </a:r>
          </a:p>
        </p:txBody>
      </p:sp>
      <p:sp>
        <p:nvSpPr>
          <p:cNvPr id="3" name="内容占位符 2">
            <a:extLst>
              <a:ext uri="{FF2B5EF4-FFF2-40B4-BE49-F238E27FC236}">
                <a16:creationId xmlns:a16="http://schemas.microsoft.com/office/drawing/2014/main" id="{73F5BC33-6C76-4887-977D-631D76741311}"/>
              </a:ext>
            </a:extLst>
          </p:cNvPr>
          <p:cNvSpPr>
            <a:spLocks noGrp="1"/>
          </p:cNvSpPr>
          <p:nvPr>
            <p:ph idx="1"/>
          </p:nvPr>
        </p:nvSpPr>
        <p:spPr>
          <a:xfrm>
            <a:off x="548097" y="1442195"/>
            <a:ext cx="8047806" cy="5155157"/>
          </a:xfrm>
        </p:spPr>
        <p:txBody>
          <a:bodyPr numCol="1"/>
          <a:lstStyle/>
          <a:p>
            <a:pPr marL="0" indent="0">
              <a:lnSpc>
                <a:spcPct val="70000"/>
              </a:lnSpc>
              <a:buNone/>
            </a:pPr>
            <a:r>
              <a:rPr lang="en-US" altLang="zh-CN" sz="1800" dirty="0">
                <a:solidFill>
                  <a:schemeClr val="tx1"/>
                </a:solidFill>
                <a:ea typeface="宋体" panose="02010600030101010101" pitchFamily="2" charset="-122"/>
              </a:rPr>
              <a:t>#include &lt;iostream&gt;</a:t>
            </a:r>
          </a:p>
          <a:p>
            <a:pPr marL="0" indent="0">
              <a:lnSpc>
                <a:spcPct val="70000"/>
              </a:lnSpc>
              <a:buNone/>
            </a:pPr>
            <a:r>
              <a:rPr lang="en-US" altLang="zh-CN" sz="1800" dirty="0">
                <a:solidFill>
                  <a:schemeClr val="tx1"/>
                </a:solidFill>
                <a:ea typeface="宋体" panose="02010600030101010101" pitchFamily="2" charset="-122"/>
              </a:rPr>
              <a:t>using namespace std;</a:t>
            </a:r>
          </a:p>
          <a:p>
            <a:pPr marL="0" indent="0">
              <a:lnSpc>
                <a:spcPct val="70000"/>
              </a:lnSpc>
              <a:buNone/>
            </a:pPr>
            <a:r>
              <a:rPr lang="en-US" altLang="zh-CN" sz="1800" dirty="0">
                <a:solidFill>
                  <a:schemeClr val="tx1"/>
                </a:solidFill>
                <a:ea typeface="宋体" panose="02010600030101010101" pitchFamily="2" charset="-122"/>
              </a:rPr>
              <a:t>void increase(int &amp;x){x++;}  void decrease(int &amp;x){x--;}</a:t>
            </a:r>
          </a:p>
          <a:p>
            <a:pPr marL="0" indent="0">
              <a:lnSpc>
                <a:spcPct val="70000"/>
              </a:lnSpc>
              <a:buNone/>
            </a:pPr>
            <a:r>
              <a:rPr lang="en-US" altLang="zh-CN" sz="1800" dirty="0">
                <a:solidFill>
                  <a:schemeClr val="tx1"/>
                </a:solidFill>
                <a:ea typeface="宋体" panose="02010600030101010101" pitchFamily="2" charset="-122"/>
              </a:rPr>
              <a:t>int main()</a:t>
            </a:r>
          </a:p>
          <a:p>
            <a:pPr marL="0" indent="0">
              <a:lnSpc>
                <a:spcPct val="70000"/>
              </a:lnSpc>
              <a:buNone/>
            </a:pPr>
            <a:r>
              <a:rPr lang="en-US" altLang="zh-CN" sz="1800" dirty="0">
                <a:solidFill>
                  <a:schemeClr val="tx1"/>
                </a:solidFill>
                <a:ea typeface="宋体" panose="02010600030101010101" pitchFamily="2" charset="-122"/>
              </a:rPr>
              <a:t>{</a:t>
            </a:r>
          </a:p>
          <a:p>
            <a:pPr marL="0" indent="0">
              <a:lnSpc>
                <a:spcPct val="70000"/>
              </a:lnSpc>
              <a:buNone/>
            </a:pPr>
            <a:r>
              <a:rPr lang="en-US" altLang="zh-CN" sz="1800" dirty="0">
                <a:solidFill>
                  <a:schemeClr val="tx1"/>
                </a:solidFill>
                <a:ea typeface="宋体" panose="02010600030101010101" pitchFamily="2" charset="-122"/>
              </a:rPr>
              <a:t>    int flag; </a:t>
            </a:r>
            <a:r>
              <a:rPr lang="en-US" altLang="zh-CN" sz="1800" dirty="0" err="1">
                <a:solidFill>
                  <a:schemeClr val="tx1"/>
                </a:solidFill>
                <a:ea typeface="宋体" panose="02010600030101010101" pitchFamily="2" charset="-122"/>
              </a:rPr>
              <a:t>cin</a:t>
            </a:r>
            <a:r>
              <a:rPr lang="en-US" altLang="zh-CN" sz="1800" dirty="0">
                <a:solidFill>
                  <a:schemeClr val="tx1"/>
                </a:solidFill>
                <a:ea typeface="宋体" panose="02010600030101010101" pitchFamily="2" charset="-122"/>
              </a:rPr>
              <a:t> &gt;&gt;flag;</a:t>
            </a:r>
          </a:p>
          <a:p>
            <a:pPr marL="0" indent="0">
              <a:lnSpc>
                <a:spcPct val="70000"/>
              </a:lnSpc>
              <a:buNone/>
            </a:pPr>
            <a:br>
              <a:rPr lang="en-US" altLang="zh-CN" sz="1800" dirty="0">
                <a:solidFill>
                  <a:schemeClr val="tx1"/>
                </a:solidFill>
                <a:ea typeface="宋体" panose="02010600030101010101" pitchFamily="2" charset="-122"/>
              </a:rPr>
            </a:br>
            <a:r>
              <a:rPr lang="en-US" altLang="zh-CN" sz="1800" dirty="0">
                <a:solidFill>
                  <a:schemeClr val="tx1"/>
                </a:solidFill>
                <a:ea typeface="宋体" panose="02010600030101010101" pitchFamily="2" charset="-122"/>
              </a:rPr>
              <a:t>    int </a:t>
            </a:r>
            <a:r>
              <a:rPr lang="en-US" altLang="zh-CN" sz="1800" dirty="0" err="1">
                <a:solidFill>
                  <a:schemeClr val="tx1"/>
                </a:solidFill>
                <a:ea typeface="宋体" panose="02010600030101010101" pitchFamily="2" charset="-122"/>
              </a:rPr>
              <a:t>arr</a:t>
            </a:r>
            <a:r>
              <a:rPr lang="en-US" altLang="zh-CN" sz="1800" dirty="0">
                <a:solidFill>
                  <a:schemeClr val="tx1"/>
                </a:solidFill>
                <a:ea typeface="宋体" panose="02010600030101010101" pitchFamily="2" charset="-122"/>
              </a:rPr>
              <a:t>[] = {1,2,3,4,5};</a:t>
            </a:r>
          </a:p>
          <a:p>
            <a:pPr marL="0" indent="0">
              <a:lnSpc>
                <a:spcPct val="70000"/>
              </a:lnSpc>
              <a:buNone/>
            </a:pPr>
            <a:r>
              <a:rPr lang="en-US" altLang="zh-CN" sz="1800" dirty="0">
                <a:solidFill>
                  <a:schemeClr val="tx1"/>
                </a:solidFill>
                <a:ea typeface="宋体" panose="02010600030101010101" pitchFamily="2" charset="-122"/>
              </a:rPr>
              <a:t>    </a:t>
            </a:r>
            <a:r>
              <a:rPr lang="en-US" altLang="zh-CN" sz="1800" dirty="0">
                <a:solidFill>
                  <a:srgbClr val="C00000"/>
                </a:solidFill>
                <a:ea typeface="宋体" panose="02010600030101010101" pitchFamily="2" charset="-122"/>
              </a:rPr>
              <a:t>void (*</a:t>
            </a:r>
            <a:r>
              <a:rPr lang="en-US" altLang="zh-CN" sz="1800" dirty="0" err="1">
                <a:solidFill>
                  <a:srgbClr val="C00000"/>
                </a:solidFill>
                <a:ea typeface="宋体" panose="02010600030101010101" pitchFamily="2" charset="-122"/>
              </a:rPr>
              <a:t>func</a:t>
            </a:r>
            <a:r>
              <a:rPr lang="en-US" altLang="zh-CN" sz="1800" dirty="0">
                <a:solidFill>
                  <a:srgbClr val="C00000"/>
                </a:solidFill>
                <a:ea typeface="宋体" panose="02010600030101010101" pitchFamily="2" charset="-122"/>
              </a:rPr>
              <a:t>)(int&amp;); //</a:t>
            </a:r>
            <a:r>
              <a:rPr lang="zh-CN" altLang="en-US" sz="1800" dirty="0">
                <a:solidFill>
                  <a:srgbClr val="C00000"/>
                </a:solidFill>
                <a:ea typeface="宋体" panose="02010600030101010101" pitchFamily="2" charset="-122"/>
              </a:rPr>
              <a:t>声明函数指针</a:t>
            </a:r>
            <a:endParaRPr lang="en-US" altLang="zh-CN" sz="1800" dirty="0">
              <a:solidFill>
                <a:srgbClr val="C00000"/>
              </a:solidFill>
              <a:ea typeface="宋体" panose="02010600030101010101" pitchFamily="2" charset="-122"/>
            </a:endParaRPr>
          </a:p>
          <a:p>
            <a:pPr marL="0" indent="0">
              <a:lnSpc>
                <a:spcPct val="70000"/>
              </a:lnSpc>
              <a:buNone/>
            </a:pPr>
            <a:r>
              <a:rPr lang="en-US" altLang="zh-CN" sz="1800" dirty="0">
                <a:solidFill>
                  <a:schemeClr val="tx1"/>
                </a:solidFill>
                <a:ea typeface="宋体" panose="02010600030101010101" pitchFamily="2" charset="-122"/>
              </a:rPr>
              <a:t>    if(flag==1) {</a:t>
            </a:r>
            <a:r>
              <a:rPr lang="en-US" altLang="zh-CN" sz="1800" dirty="0" err="1">
                <a:solidFill>
                  <a:srgbClr val="C00000"/>
                </a:solidFill>
                <a:ea typeface="宋体" panose="02010600030101010101" pitchFamily="2" charset="-122"/>
              </a:rPr>
              <a:t>func</a:t>
            </a:r>
            <a:r>
              <a:rPr lang="en-US" altLang="zh-CN" sz="1800" dirty="0">
                <a:solidFill>
                  <a:srgbClr val="C00000"/>
                </a:solidFill>
                <a:ea typeface="宋体" panose="02010600030101010101" pitchFamily="2" charset="-122"/>
              </a:rPr>
              <a:t>=increase</a:t>
            </a:r>
            <a:r>
              <a:rPr lang="en-US" altLang="zh-CN" sz="1800" dirty="0">
                <a:solidFill>
                  <a:schemeClr val="tx1"/>
                </a:solidFill>
                <a:ea typeface="宋体" panose="02010600030101010101" pitchFamily="2" charset="-122"/>
              </a:rPr>
              <a:t>; } else {</a:t>
            </a:r>
            <a:r>
              <a:rPr lang="en-US" altLang="zh-CN" sz="1800" dirty="0" err="1">
                <a:solidFill>
                  <a:srgbClr val="C00000"/>
                </a:solidFill>
                <a:ea typeface="宋体" panose="02010600030101010101" pitchFamily="2" charset="-122"/>
              </a:rPr>
              <a:t>func</a:t>
            </a:r>
            <a:r>
              <a:rPr lang="en-US" altLang="zh-CN" sz="1800" dirty="0">
                <a:solidFill>
                  <a:srgbClr val="C00000"/>
                </a:solidFill>
                <a:ea typeface="宋体" panose="02010600030101010101" pitchFamily="2" charset="-122"/>
              </a:rPr>
              <a:t>=decrease</a:t>
            </a:r>
            <a:r>
              <a:rPr lang="en-US" altLang="zh-CN" sz="1800" dirty="0">
                <a:solidFill>
                  <a:schemeClr val="tx1"/>
                </a:solidFill>
                <a:ea typeface="宋体" panose="02010600030101010101" pitchFamily="2" charset="-122"/>
              </a:rPr>
              <a:t>;}</a:t>
            </a:r>
          </a:p>
          <a:p>
            <a:pPr marL="0" indent="0">
              <a:lnSpc>
                <a:spcPct val="70000"/>
              </a:lnSpc>
              <a:buNone/>
            </a:pPr>
            <a:r>
              <a:rPr lang="en-US" altLang="zh-CN" sz="1800" dirty="0">
                <a:solidFill>
                  <a:schemeClr val="tx1"/>
                </a:solidFill>
                <a:ea typeface="宋体" panose="02010600030101010101" pitchFamily="2" charset="-122"/>
              </a:rPr>
              <a:t>    </a:t>
            </a:r>
            <a:r>
              <a:rPr lang="en-US" altLang="zh-CN" sz="1800" dirty="0">
                <a:solidFill>
                  <a:srgbClr val="1D9A78"/>
                </a:solidFill>
                <a:ea typeface="宋体" panose="02010600030101010101" pitchFamily="2" charset="-122"/>
              </a:rPr>
              <a:t>//</a:t>
            </a:r>
            <a:r>
              <a:rPr lang="en-US" altLang="zh-CN" sz="1800" dirty="0">
                <a:solidFill>
                  <a:srgbClr val="1D9A78"/>
                </a:solidFill>
              </a:rPr>
              <a:t>auto </a:t>
            </a:r>
            <a:r>
              <a:rPr lang="en-US" altLang="zh-CN" sz="1800" dirty="0" err="1">
                <a:solidFill>
                  <a:srgbClr val="1D9A78"/>
                </a:solidFill>
              </a:rPr>
              <a:t>func</a:t>
            </a:r>
            <a:r>
              <a:rPr lang="en-US" altLang="zh-CN" sz="1800" dirty="0">
                <a:solidFill>
                  <a:srgbClr val="1D9A78"/>
                </a:solidFill>
              </a:rPr>
              <a:t> = flag==1?increase:decrease; //</a:t>
            </a:r>
            <a:r>
              <a:rPr lang="zh-CN" altLang="en-US" sz="1800" dirty="0">
                <a:solidFill>
                  <a:srgbClr val="1D9A78"/>
                </a:solidFill>
              </a:rPr>
              <a:t>和上两行效果相同</a:t>
            </a:r>
            <a:endParaRPr lang="en-US" altLang="zh-CN" sz="1800" dirty="0">
              <a:solidFill>
                <a:srgbClr val="1D9A78"/>
              </a:solidFill>
            </a:endParaRPr>
          </a:p>
          <a:p>
            <a:pPr marL="0" indent="0">
              <a:lnSpc>
                <a:spcPct val="70000"/>
              </a:lnSpc>
              <a:buNone/>
            </a:pPr>
            <a:endParaRPr lang="en-US" altLang="zh-CN" sz="1800" dirty="0">
              <a:solidFill>
                <a:schemeClr val="tx1"/>
              </a:solidFill>
              <a:ea typeface="宋体" panose="02010600030101010101" pitchFamily="2" charset="-122"/>
            </a:endParaRPr>
          </a:p>
          <a:p>
            <a:pPr marL="0" indent="0">
              <a:lnSpc>
                <a:spcPct val="70000"/>
              </a:lnSpc>
              <a:buNone/>
            </a:pPr>
            <a:r>
              <a:rPr lang="en-US" altLang="zh-CN" sz="1800" dirty="0">
                <a:solidFill>
                  <a:schemeClr val="tx1"/>
                </a:solidFill>
                <a:ea typeface="宋体" panose="02010600030101010101" pitchFamily="2" charset="-122"/>
              </a:rPr>
              <a:t>    for (int &amp;</a:t>
            </a:r>
            <a:r>
              <a:rPr lang="en-US" altLang="zh-CN" sz="1800" dirty="0" err="1">
                <a:solidFill>
                  <a:schemeClr val="tx1"/>
                </a:solidFill>
                <a:ea typeface="宋体" panose="02010600030101010101" pitchFamily="2" charset="-122"/>
              </a:rPr>
              <a:t>x:arr</a:t>
            </a:r>
            <a:r>
              <a:rPr lang="en-US" altLang="zh-CN" sz="1800" dirty="0">
                <a:solidFill>
                  <a:schemeClr val="tx1"/>
                </a:solidFill>
                <a:ea typeface="宋体" panose="02010600030101010101" pitchFamily="2" charset="-122"/>
              </a:rPr>
              <a:t>) { </a:t>
            </a:r>
            <a:r>
              <a:rPr lang="en-US" altLang="zh-CN" sz="1800" dirty="0" err="1">
                <a:solidFill>
                  <a:schemeClr val="tx1"/>
                </a:solidFill>
                <a:ea typeface="宋体" panose="02010600030101010101" pitchFamily="2" charset="-122"/>
              </a:rPr>
              <a:t>func</a:t>
            </a:r>
            <a:r>
              <a:rPr lang="en-US" altLang="zh-CN" sz="1800" dirty="0">
                <a:solidFill>
                  <a:schemeClr val="tx1"/>
                </a:solidFill>
                <a:ea typeface="宋体" panose="02010600030101010101" pitchFamily="2" charset="-122"/>
              </a:rPr>
              <a:t>(x); </a:t>
            </a:r>
            <a:r>
              <a:rPr lang="en-US" altLang="zh-CN" sz="1800" dirty="0" err="1">
                <a:solidFill>
                  <a:schemeClr val="tx1"/>
                </a:solidFill>
                <a:ea typeface="宋体" panose="02010600030101010101" pitchFamily="2" charset="-122"/>
              </a:rPr>
              <a:t>cout</a:t>
            </a:r>
            <a:r>
              <a:rPr lang="en-US" altLang="zh-CN" sz="1800" dirty="0">
                <a:solidFill>
                  <a:schemeClr val="tx1"/>
                </a:solidFill>
                <a:ea typeface="宋体" panose="02010600030101010101" pitchFamily="2" charset="-122"/>
              </a:rPr>
              <a:t> &lt;&lt; x;}</a:t>
            </a:r>
          </a:p>
          <a:p>
            <a:pPr marL="0" indent="0">
              <a:lnSpc>
                <a:spcPct val="70000"/>
              </a:lnSpc>
              <a:buNone/>
            </a:pPr>
            <a:endParaRPr lang="en-US" altLang="zh-CN" sz="1800" dirty="0">
              <a:solidFill>
                <a:schemeClr val="tx1"/>
              </a:solidFill>
              <a:ea typeface="宋体" panose="02010600030101010101" pitchFamily="2" charset="-122"/>
            </a:endParaRPr>
          </a:p>
          <a:p>
            <a:pPr marL="0" indent="0">
              <a:lnSpc>
                <a:spcPct val="70000"/>
              </a:lnSpc>
              <a:buNone/>
            </a:pPr>
            <a:r>
              <a:rPr lang="en-US" altLang="zh-CN" sz="1800" dirty="0">
                <a:solidFill>
                  <a:schemeClr val="tx1"/>
                </a:solidFill>
                <a:ea typeface="宋体" panose="02010600030101010101" pitchFamily="2" charset="-122"/>
              </a:rPr>
              <a:t>    return 0;</a:t>
            </a:r>
          </a:p>
          <a:p>
            <a:pPr marL="0" indent="0">
              <a:lnSpc>
                <a:spcPct val="70000"/>
              </a:lnSpc>
              <a:buNone/>
            </a:pPr>
            <a:r>
              <a:rPr lang="en-US" altLang="zh-CN" sz="1800" dirty="0">
                <a:solidFill>
                  <a:schemeClr val="tx1"/>
                </a:solidFill>
                <a:ea typeface="宋体" panose="02010600030101010101" pitchFamily="2" charset="-122"/>
              </a:rPr>
              <a:t>}</a:t>
            </a:r>
          </a:p>
        </p:txBody>
      </p:sp>
      <p:sp>
        <p:nvSpPr>
          <p:cNvPr id="4" name="灯片编号占位符 3">
            <a:extLst>
              <a:ext uri="{FF2B5EF4-FFF2-40B4-BE49-F238E27FC236}">
                <a16:creationId xmlns:a16="http://schemas.microsoft.com/office/drawing/2014/main" id="{7B0C604D-08C4-4A65-9BC1-1022BFAE7891}"/>
              </a:ext>
            </a:extLst>
          </p:cNvPr>
          <p:cNvSpPr>
            <a:spLocks noGrp="1"/>
          </p:cNvSpPr>
          <p:nvPr>
            <p:ph type="sldNum" sz="quarter" idx="12"/>
          </p:nvPr>
        </p:nvSpPr>
        <p:spPr/>
        <p:txBody>
          <a:bodyPr/>
          <a:lstStyle/>
          <a:p>
            <a:pPr>
              <a:defRPr/>
            </a:pPr>
            <a:fld id="{BFD7BE51-03DD-4CCA-8227-D775462981B4}" type="slidenum">
              <a:rPr lang="en-US" altLang="zh-CN" smtClean="0"/>
              <a:pPr>
                <a:defRPr/>
              </a:pPr>
              <a:t>32</a:t>
            </a:fld>
            <a:endParaRPr lang="en-US" altLang="zh-CN"/>
          </a:p>
        </p:txBody>
      </p:sp>
    </p:spTree>
    <p:extLst>
      <p:ext uri="{BB962C8B-B14F-4D97-AF65-F5344CB8AC3E}">
        <p14:creationId xmlns:p14="http://schemas.microsoft.com/office/powerpoint/2010/main" val="3647009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31DF8F-56E4-42A2-83CF-250B5E35CBC9}"/>
              </a:ext>
            </a:extLst>
          </p:cNvPr>
          <p:cNvSpPr>
            <a:spLocks noGrp="1"/>
          </p:cNvSpPr>
          <p:nvPr>
            <p:ph type="title"/>
          </p:nvPr>
        </p:nvSpPr>
        <p:spPr/>
        <p:txBody>
          <a:bodyPr/>
          <a:lstStyle/>
          <a:p>
            <a:r>
              <a:rPr lang="zh-CN" altLang="en-US" dirty="0"/>
              <a:t>函数作为变量</a:t>
            </a:r>
          </a:p>
        </p:txBody>
      </p:sp>
      <p:sp>
        <p:nvSpPr>
          <p:cNvPr id="3" name="内容占位符 2">
            <a:extLst>
              <a:ext uri="{FF2B5EF4-FFF2-40B4-BE49-F238E27FC236}">
                <a16:creationId xmlns:a16="http://schemas.microsoft.com/office/drawing/2014/main" id="{F4A22A83-F1D2-4737-8567-2E1478C04ECA}"/>
              </a:ext>
            </a:extLst>
          </p:cNvPr>
          <p:cNvSpPr>
            <a:spLocks noGrp="1"/>
          </p:cNvSpPr>
          <p:nvPr>
            <p:ph idx="1"/>
          </p:nvPr>
        </p:nvSpPr>
        <p:spPr>
          <a:xfrm>
            <a:off x="683568" y="1054485"/>
            <a:ext cx="8047806" cy="4749029"/>
          </a:xfrm>
        </p:spPr>
        <p:txBody>
          <a:bodyPr/>
          <a:lstStyle/>
          <a:p>
            <a:r>
              <a:rPr lang="zh-CN" altLang="en-US" dirty="0"/>
              <a:t>例子：给一个长度为</a:t>
            </a:r>
            <a:r>
              <a:rPr lang="en-US" altLang="zh-CN" dirty="0"/>
              <a:t>n</a:t>
            </a:r>
            <a:r>
              <a:rPr lang="zh-CN" altLang="en-US" dirty="0"/>
              <a:t>的数组，如何排序？</a:t>
            </a:r>
            <a:endParaRPr lang="en-US" altLang="zh-CN" dirty="0"/>
          </a:p>
          <a:p>
            <a:pPr lvl="1"/>
            <a:r>
              <a:rPr lang="en-US" altLang="zh-CN" b="1" dirty="0" err="1"/>
              <a:t>std</a:t>
            </a:r>
            <a:r>
              <a:rPr lang="en-US" altLang="zh-CN" b="1" dirty="0"/>
              <a:t>::sort  </a:t>
            </a:r>
            <a:r>
              <a:rPr lang="zh-CN" altLang="en-US" b="1" dirty="0"/>
              <a:t>来自</a:t>
            </a:r>
            <a:r>
              <a:rPr lang="en-US" altLang="zh-CN" b="1" dirty="0"/>
              <a:t>&lt;algorithm&gt;</a:t>
            </a:r>
          </a:p>
          <a:p>
            <a:pPr lvl="1"/>
            <a:endParaRPr lang="en-US" altLang="zh-CN" sz="1050" b="1" dirty="0"/>
          </a:p>
          <a:p>
            <a:pPr lvl="1"/>
            <a:r>
              <a:rPr lang="en-US" altLang="zh-CN" b="1" dirty="0"/>
              <a:t>template&lt;class Iterator&gt;</a:t>
            </a:r>
            <a:br>
              <a:rPr lang="en-US" altLang="zh-CN" b="1" dirty="0"/>
            </a:br>
            <a:r>
              <a:rPr lang="en-US" altLang="zh-CN" b="1" dirty="0"/>
              <a:t>void sort (Iterator first, Iterator last);</a:t>
            </a:r>
          </a:p>
          <a:p>
            <a:pPr lvl="1"/>
            <a:endParaRPr lang="en-US" altLang="zh-CN" sz="1800" dirty="0"/>
          </a:p>
          <a:p>
            <a:pPr lvl="1"/>
            <a:endParaRPr lang="en-US" altLang="zh-CN" sz="1800" dirty="0"/>
          </a:p>
        </p:txBody>
      </p:sp>
      <p:sp>
        <p:nvSpPr>
          <p:cNvPr id="4" name="灯片编号占位符 3">
            <a:extLst>
              <a:ext uri="{FF2B5EF4-FFF2-40B4-BE49-F238E27FC236}">
                <a16:creationId xmlns:a16="http://schemas.microsoft.com/office/drawing/2014/main" id="{44734B71-089B-4146-B783-2B68BE71A339}"/>
              </a:ext>
            </a:extLst>
          </p:cNvPr>
          <p:cNvSpPr>
            <a:spLocks noGrp="1"/>
          </p:cNvSpPr>
          <p:nvPr>
            <p:ph type="sldNum" sz="quarter" idx="12"/>
          </p:nvPr>
        </p:nvSpPr>
        <p:spPr/>
        <p:txBody>
          <a:bodyPr/>
          <a:lstStyle/>
          <a:p>
            <a:pPr>
              <a:defRPr/>
            </a:pPr>
            <a:fld id="{BFD7BE51-03DD-4CCA-8227-D775462981B4}" type="slidenum">
              <a:rPr lang="en-US" altLang="zh-CN" smtClean="0"/>
              <a:pPr>
                <a:defRPr/>
              </a:pPr>
              <a:t>33</a:t>
            </a:fld>
            <a:endParaRPr lang="en-US" altLang="zh-CN"/>
          </a:p>
        </p:txBody>
      </p:sp>
      <p:sp>
        <p:nvSpPr>
          <p:cNvPr id="6" name="文本框 5">
            <a:extLst>
              <a:ext uri="{FF2B5EF4-FFF2-40B4-BE49-F238E27FC236}">
                <a16:creationId xmlns:a16="http://schemas.microsoft.com/office/drawing/2014/main" id="{2C87EBB9-8762-4966-8DAD-9B64EDBA56A5}"/>
              </a:ext>
            </a:extLst>
          </p:cNvPr>
          <p:cNvSpPr txBox="1"/>
          <p:nvPr/>
        </p:nvSpPr>
        <p:spPr>
          <a:xfrm>
            <a:off x="1331640" y="2980867"/>
            <a:ext cx="6936514" cy="3785652"/>
          </a:xfrm>
          <a:prstGeom prst="rect">
            <a:avLst/>
          </a:prstGeom>
          <a:noFill/>
        </p:spPr>
        <p:txBody>
          <a:bodyPr wrap="none" rtlCol="0">
            <a:spAutoFit/>
          </a:bodyPr>
          <a:lstStyle/>
          <a:p>
            <a:r>
              <a:rPr lang="en-US" altLang="zh-CN" sz="2400" b="1" dirty="0">
                <a:solidFill>
                  <a:srgbClr val="C00000"/>
                </a:solidFill>
                <a:latin typeface="Consolas" panose="020B0609020204030204" pitchFamily="49" charset="0"/>
              </a:rPr>
              <a:t>#include &lt;algorithm&gt;</a:t>
            </a:r>
          </a:p>
          <a:p>
            <a:r>
              <a:rPr lang="en-US" altLang="zh-CN" sz="2400" b="1" dirty="0">
                <a:solidFill>
                  <a:srgbClr val="C00000"/>
                </a:solidFill>
                <a:latin typeface="Consolas" panose="020B0609020204030204" pitchFamily="49" charset="0"/>
              </a:rPr>
              <a:t>#include &lt;iostream&gt;</a:t>
            </a:r>
          </a:p>
          <a:p>
            <a:r>
              <a:rPr lang="en-US" altLang="zh-CN" sz="2400" b="1" dirty="0">
                <a:latin typeface="Consolas" panose="020B0609020204030204" pitchFamily="49" charset="0"/>
              </a:rPr>
              <a:t>using namespace std;</a:t>
            </a:r>
          </a:p>
          <a:p>
            <a:r>
              <a:rPr lang="en-US" altLang="zh-CN" sz="2400" b="1" dirty="0">
                <a:latin typeface="Consolas" panose="020B0609020204030204" pitchFamily="49" charset="0"/>
              </a:rPr>
              <a:t>int</a:t>
            </a:r>
            <a:r>
              <a:rPr lang="zh-CN" altLang="en-US" sz="2400" b="1" dirty="0">
                <a:latin typeface="Consolas" panose="020B0609020204030204" pitchFamily="49" charset="0"/>
              </a:rPr>
              <a:t> </a:t>
            </a:r>
            <a:r>
              <a:rPr lang="en-US" altLang="zh-CN" sz="2400" b="1" dirty="0">
                <a:latin typeface="Consolas" panose="020B0609020204030204" pitchFamily="49" charset="0"/>
              </a:rPr>
              <a:t>main(){</a:t>
            </a:r>
          </a:p>
          <a:p>
            <a:pPr lvl="1"/>
            <a:r>
              <a:rPr lang="en-US" altLang="zh-CN" sz="2400" b="1" dirty="0">
                <a:latin typeface="Consolas" panose="020B0609020204030204" pitchFamily="49" charset="0"/>
              </a:rPr>
              <a:t>int </a:t>
            </a:r>
            <a:r>
              <a:rPr lang="en-US" altLang="zh-CN" sz="2400" b="1" dirty="0" err="1">
                <a:latin typeface="Consolas" panose="020B0609020204030204" pitchFamily="49" charset="0"/>
              </a:rPr>
              <a:t>arr</a:t>
            </a:r>
            <a:r>
              <a:rPr lang="en-US" altLang="zh-CN" sz="2400" b="1" dirty="0">
                <a:latin typeface="Consolas" panose="020B0609020204030204" pitchFamily="49" charset="0"/>
              </a:rPr>
              <a:t>[5] = { 5, 2, 3, 1, 7 };</a:t>
            </a:r>
          </a:p>
          <a:p>
            <a:pPr lvl="1"/>
            <a:r>
              <a:rPr lang="en-US" altLang="zh-CN" sz="2400" b="1" dirty="0">
                <a:solidFill>
                  <a:schemeClr val="accent4"/>
                </a:solidFill>
                <a:latin typeface="Consolas" panose="020B0609020204030204" pitchFamily="49" charset="0"/>
              </a:rPr>
              <a:t>std::sort(</a:t>
            </a:r>
            <a:r>
              <a:rPr lang="en-US" altLang="zh-CN" sz="2400" b="1" dirty="0" err="1">
                <a:solidFill>
                  <a:schemeClr val="accent4"/>
                </a:solidFill>
                <a:latin typeface="Consolas" panose="020B0609020204030204" pitchFamily="49" charset="0"/>
              </a:rPr>
              <a:t>arr</a:t>
            </a:r>
            <a:r>
              <a:rPr lang="en-US" altLang="zh-CN" sz="2400" b="1" dirty="0">
                <a:solidFill>
                  <a:schemeClr val="accent4"/>
                </a:solidFill>
                <a:latin typeface="Consolas" panose="020B0609020204030204" pitchFamily="49" charset="0"/>
              </a:rPr>
              <a:t>, </a:t>
            </a:r>
            <a:r>
              <a:rPr lang="en-US" altLang="zh-CN" sz="2400" b="1" dirty="0" err="1">
                <a:solidFill>
                  <a:schemeClr val="accent4"/>
                </a:solidFill>
                <a:latin typeface="Consolas" panose="020B0609020204030204" pitchFamily="49" charset="0"/>
              </a:rPr>
              <a:t>arr</a:t>
            </a:r>
            <a:r>
              <a:rPr lang="en-US" altLang="zh-CN" sz="2400" b="1" dirty="0">
                <a:solidFill>
                  <a:schemeClr val="accent4"/>
                </a:solidFill>
                <a:latin typeface="Consolas" panose="020B0609020204030204" pitchFamily="49" charset="0"/>
              </a:rPr>
              <a:t> + 5);</a:t>
            </a:r>
          </a:p>
          <a:p>
            <a:pPr lvl="1"/>
            <a:r>
              <a:rPr lang="en-US" altLang="zh-CN" sz="2400" b="1" dirty="0">
                <a:latin typeface="Consolas" panose="020B0609020204030204" pitchFamily="49" charset="0"/>
              </a:rPr>
              <a:t>for (int x : </a:t>
            </a:r>
            <a:r>
              <a:rPr lang="en-US" altLang="zh-CN" sz="2400" b="1" dirty="0" err="1">
                <a:latin typeface="Consolas" panose="020B0609020204030204" pitchFamily="49" charset="0"/>
              </a:rPr>
              <a:t>arr</a:t>
            </a:r>
            <a:r>
              <a:rPr lang="en-US" altLang="zh-CN" sz="2400" b="1" dirty="0">
                <a:latin typeface="Consolas" panose="020B0609020204030204" pitchFamily="49" charset="0"/>
              </a:rPr>
              <a:t>) {	</a:t>
            </a:r>
            <a:r>
              <a:rPr lang="en-US" altLang="zh-CN" sz="2400" b="1" dirty="0" err="1">
                <a:latin typeface="Consolas" panose="020B0609020204030204" pitchFamily="49" charset="0"/>
              </a:rPr>
              <a:t>cout</a:t>
            </a:r>
            <a:r>
              <a:rPr lang="en-US" altLang="zh-CN" sz="2400" b="1" dirty="0">
                <a:latin typeface="Consolas" panose="020B0609020204030204" pitchFamily="49" charset="0"/>
              </a:rPr>
              <a:t> &lt;&lt; x &lt;&lt; " ";}</a:t>
            </a:r>
          </a:p>
          <a:p>
            <a:pPr lvl="1"/>
            <a:r>
              <a:rPr lang="en-US" altLang="zh-CN" sz="2400" b="1" dirty="0">
                <a:solidFill>
                  <a:schemeClr val="accent1"/>
                </a:solidFill>
                <a:latin typeface="Consolas" panose="020B0609020204030204" pitchFamily="49" charset="0"/>
              </a:rPr>
              <a:t>// 1 2 3 5 7</a:t>
            </a:r>
          </a:p>
          <a:p>
            <a:pPr lvl="1"/>
            <a:r>
              <a:rPr lang="en-US" altLang="zh-CN" sz="2400" b="1" dirty="0">
                <a:latin typeface="Consolas" panose="020B0609020204030204" pitchFamily="49" charset="0"/>
              </a:rPr>
              <a:t>return 0;</a:t>
            </a:r>
          </a:p>
          <a:p>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Tree>
    <p:extLst>
      <p:ext uri="{BB962C8B-B14F-4D97-AF65-F5344CB8AC3E}">
        <p14:creationId xmlns:p14="http://schemas.microsoft.com/office/powerpoint/2010/main" val="567626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414B66-CDB0-4078-8ADB-38E30F6CFBBE}"/>
              </a:ext>
            </a:extLst>
          </p:cNvPr>
          <p:cNvSpPr>
            <a:spLocks noGrp="1"/>
          </p:cNvSpPr>
          <p:nvPr>
            <p:ph type="title"/>
          </p:nvPr>
        </p:nvSpPr>
        <p:spPr/>
        <p:txBody>
          <a:bodyPr/>
          <a:lstStyle/>
          <a:p>
            <a:r>
              <a:rPr lang="zh-CN" altLang="en-US" dirty="0"/>
              <a:t>函数作为变量</a:t>
            </a:r>
          </a:p>
        </p:txBody>
      </p:sp>
      <p:sp>
        <p:nvSpPr>
          <p:cNvPr id="3" name="内容占位符 2">
            <a:extLst>
              <a:ext uri="{FF2B5EF4-FFF2-40B4-BE49-F238E27FC236}">
                <a16:creationId xmlns:a16="http://schemas.microsoft.com/office/drawing/2014/main" id="{14EA0276-113E-491B-BE09-A5FE1B6D7FEB}"/>
              </a:ext>
            </a:extLst>
          </p:cNvPr>
          <p:cNvSpPr>
            <a:spLocks noGrp="1"/>
          </p:cNvSpPr>
          <p:nvPr>
            <p:ph idx="1"/>
          </p:nvPr>
        </p:nvSpPr>
        <p:spPr>
          <a:xfrm>
            <a:off x="683568" y="1435378"/>
            <a:ext cx="8047806" cy="4749029"/>
          </a:xfrm>
        </p:spPr>
        <p:txBody>
          <a:bodyPr/>
          <a:lstStyle/>
          <a:p>
            <a:r>
              <a:rPr lang="zh-CN" altLang="en-US" dirty="0"/>
              <a:t>如果想倒转排序？</a:t>
            </a:r>
            <a:endParaRPr lang="en-US" altLang="zh-CN" dirty="0"/>
          </a:p>
          <a:p>
            <a:r>
              <a:rPr lang="zh-CN" altLang="en-US" dirty="0"/>
              <a:t>注意到</a:t>
            </a:r>
            <a:r>
              <a:rPr lang="en-US" altLang="zh-CN" dirty="0"/>
              <a:t>sort</a:t>
            </a:r>
            <a:r>
              <a:rPr lang="zh-CN" altLang="en-US" dirty="0"/>
              <a:t>还重载了另一套参数</a:t>
            </a:r>
            <a:endParaRPr lang="en-US" altLang="zh-CN" dirty="0"/>
          </a:p>
          <a:p>
            <a:pPr marL="457200" lvl="1" indent="0">
              <a:buNone/>
            </a:pPr>
            <a:r>
              <a:rPr lang="en-US" altLang="zh-CN" b="1" dirty="0"/>
              <a:t>template &lt;class Iterator, class </a:t>
            </a:r>
            <a:r>
              <a:rPr lang="en-US" altLang="zh-CN" b="1" dirty="0">
                <a:solidFill>
                  <a:srgbClr val="FF0000"/>
                </a:solidFill>
              </a:rPr>
              <a:t>Compare</a:t>
            </a:r>
            <a:r>
              <a:rPr lang="en-US" altLang="zh-CN" b="1" dirty="0"/>
              <a:t>&gt;</a:t>
            </a:r>
          </a:p>
          <a:p>
            <a:pPr marL="457200" lvl="1" indent="0">
              <a:buNone/>
            </a:pPr>
            <a:r>
              <a:rPr lang="en-US" altLang="zh-CN" b="1" dirty="0"/>
              <a:t>void sort (Iterator first, </a:t>
            </a:r>
          </a:p>
          <a:p>
            <a:pPr marL="457200" lvl="1" indent="0">
              <a:buNone/>
            </a:pPr>
            <a:r>
              <a:rPr lang="en-US" altLang="zh-CN" b="1" dirty="0"/>
              <a:t>			Iterator last, </a:t>
            </a:r>
            <a:r>
              <a:rPr lang="en-US" altLang="zh-CN" b="1" dirty="0">
                <a:solidFill>
                  <a:srgbClr val="FF0000"/>
                </a:solidFill>
              </a:rPr>
              <a:t>Compare</a:t>
            </a:r>
            <a:r>
              <a:rPr lang="en-US" altLang="zh-CN" b="1" dirty="0"/>
              <a:t> comp);</a:t>
            </a:r>
          </a:p>
          <a:p>
            <a:pPr lvl="1"/>
            <a:endParaRPr lang="en-US" altLang="zh-CN" sz="1800" b="1" dirty="0"/>
          </a:p>
          <a:p>
            <a:endParaRPr lang="en-US" altLang="zh-CN" sz="2200" dirty="0"/>
          </a:p>
          <a:p>
            <a:endParaRPr lang="en-US" altLang="zh-CN" sz="2200" b="1" dirty="0"/>
          </a:p>
          <a:p>
            <a:endParaRPr lang="en-US" altLang="zh-CN" sz="2200" dirty="0"/>
          </a:p>
          <a:p>
            <a:endParaRPr lang="en-US" altLang="zh-CN" sz="2200" dirty="0"/>
          </a:p>
          <a:p>
            <a:endParaRPr lang="en-US" altLang="zh-CN" sz="2200" dirty="0"/>
          </a:p>
          <a:p>
            <a:pPr lvl="1"/>
            <a:endParaRPr lang="en-US" altLang="zh-CN" sz="1800" b="1" dirty="0"/>
          </a:p>
          <a:p>
            <a:pPr lvl="1"/>
            <a:endParaRPr lang="zh-CN" altLang="en-US" sz="1800" b="1" dirty="0"/>
          </a:p>
        </p:txBody>
      </p:sp>
      <p:sp>
        <p:nvSpPr>
          <p:cNvPr id="4" name="灯片编号占位符 3">
            <a:extLst>
              <a:ext uri="{FF2B5EF4-FFF2-40B4-BE49-F238E27FC236}">
                <a16:creationId xmlns:a16="http://schemas.microsoft.com/office/drawing/2014/main" id="{9DD28EF1-0512-4CE9-8567-0C241002E12F}"/>
              </a:ext>
            </a:extLst>
          </p:cNvPr>
          <p:cNvSpPr>
            <a:spLocks noGrp="1"/>
          </p:cNvSpPr>
          <p:nvPr>
            <p:ph type="sldNum" sz="quarter" idx="12"/>
          </p:nvPr>
        </p:nvSpPr>
        <p:spPr/>
        <p:txBody>
          <a:bodyPr/>
          <a:lstStyle/>
          <a:p>
            <a:pPr>
              <a:defRPr/>
            </a:pPr>
            <a:fld id="{BFD7BE51-03DD-4CCA-8227-D775462981B4}" type="slidenum">
              <a:rPr lang="en-US" altLang="zh-CN" smtClean="0"/>
              <a:pPr>
                <a:defRPr/>
              </a:pPr>
              <a:t>34</a:t>
            </a:fld>
            <a:endParaRPr lang="en-US" altLang="zh-CN"/>
          </a:p>
        </p:txBody>
      </p:sp>
      <p:sp>
        <p:nvSpPr>
          <p:cNvPr id="5" name="文本框 4">
            <a:extLst>
              <a:ext uri="{FF2B5EF4-FFF2-40B4-BE49-F238E27FC236}">
                <a16:creationId xmlns:a16="http://schemas.microsoft.com/office/drawing/2014/main" id="{FC1B1756-4177-46F2-8B07-7D6C0C02D6C0}"/>
              </a:ext>
            </a:extLst>
          </p:cNvPr>
          <p:cNvSpPr txBox="1"/>
          <p:nvPr/>
        </p:nvSpPr>
        <p:spPr>
          <a:xfrm>
            <a:off x="1115616" y="3698070"/>
            <a:ext cx="6552728" cy="2862322"/>
          </a:xfrm>
          <a:prstGeom prst="rect">
            <a:avLst/>
          </a:prstGeom>
          <a:noFill/>
        </p:spPr>
        <p:txBody>
          <a:bodyPr wrap="square" rtlCol="0">
            <a:spAutoFit/>
          </a:bodyPr>
          <a:lstStyle/>
          <a:p>
            <a:r>
              <a:rPr lang="zh-CN" altLang="en-US" sz="2000" b="1" dirty="0">
                <a:latin typeface="Consolas" panose="020B0609020204030204" pitchFamily="49" charset="0"/>
              </a:rPr>
              <a:t>比较函数</a:t>
            </a:r>
            <a:r>
              <a:rPr lang="en-US" altLang="zh-CN" sz="2000" b="1" dirty="0">
                <a:latin typeface="Consolas" panose="020B0609020204030204" pitchFamily="49" charset="0"/>
              </a:rPr>
              <a:t>comp</a:t>
            </a:r>
            <a:r>
              <a:rPr lang="zh-CN" altLang="en-US" sz="2000" b="1" dirty="0">
                <a:latin typeface="Consolas" panose="020B0609020204030204" pitchFamily="49" charset="0"/>
              </a:rPr>
              <a:t>：</a:t>
            </a:r>
            <a:endParaRPr lang="en-US" altLang="zh-CN" sz="2000" b="1" dirty="0">
              <a:latin typeface="Consolas" panose="020B0609020204030204" pitchFamily="49" charset="0"/>
            </a:endParaRPr>
          </a:p>
          <a:p>
            <a:endParaRPr lang="en-US" altLang="zh-CN" sz="2000" b="1" dirty="0">
              <a:latin typeface="Consolas" panose="020B0609020204030204" pitchFamily="49" charset="0"/>
            </a:endParaRPr>
          </a:p>
          <a:p>
            <a:r>
              <a:rPr lang="en-US" altLang="zh-CN" sz="2000" b="1" dirty="0">
                <a:latin typeface="Consolas" panose="020B0609020204030204" pitchFamily="49" charset="0"/>
              </a:rPr>
              <a:t>bool comp(int a, int b)</a:t>
            </a:r>
          </a:p>
          <a:p>
            <a:r>
              <a:rPr lang="en-US" altLang="zh-CN" sz="2000" b="1" dirty="0">
                <a:latin typeface="Consolas" panose="020B0609020204030204" pitchFamily="49" charset="0"/>
              </a:rPr>
              <a:t>{</a:t>
            </a:r>
          </a:p>
          <a:p>
            <a:r>
              <a:rPr lang="en-US" altLang="zh-CN" sz="2000" b="1" dirty="0">
                <a:latin typeface="Consolas" panose="020B0609020204030204" pitchFamily="49" charset="0"/>
              </a:rPr>
              <a:t>	return a &gt; b;</a:t>
            </a:r>
          </a:p>
          <a:p>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//comp</a:t>
            </a:r>
            <a:r>
              <a:rPr lang="zh-CN" altLang="en-US" sz="2000" b="1" dirty="0">
                <a:solidFill>
                  <a:schemeClr val="accent1"/>
                </a:solidFill>
                <a:latin typeface="Consolas" panose="020B0609020204030204" pitchFamily="49" charset="0"/>
              </a:rPr>
              <a:t>函数传入两个值</a:t>
            </a:r>
            <a:endParaRPr lang="en-US" altLang="zh-CN" sz="2000" b="1" dirty="0">
              <a:solidFill>
                <a:schemeClr val="accent1"/>
              </a:solidFill>
              <a:latin typeface="Consolas" panose="020B0609020204030204" pitchFamily="49" charset="0"/>
            </a:endParaRP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若</a:t>
            </a:r>
            <a:r>
              <a:rPr lang="en-US" altLang="zh-CN" sz="2000" b="1" dirty="0">
                <a:solidFill>
                  <a:schemeClr val="accent1"/>
                </a:solidFill>
                <a:latin typeface="Consolas" panose="020B0609020204030204" pitchFamily="49" charset="0"/>
              </a:rPr>
              <a:t>a</a:t>
            </a:r>
            <a:r>
              <a:rPr lang="zh-CN" altLang="en-US" sz="2000" b="1" dirty="0">
                <a:solidFill>
                  <a:schemeClr val="accent1"/>
                </a:solidFill>
                <a:latin typeface="Consolas" panose="020B0609020204030204" pitchFamily="49" charset="0"/>
              </a:rPr>
              <a:t>在</a:t>
            </a:r>
            <a:r>
              <a:rPr lang="en-US" altLang="zh-CN" sz="2000" b="1" dirty="0">
                <a:solidFill>
                  <a:schemeClr val="accent1"/>
                </a:solidFill>
                <a:latin typeface="Consolas" panose="020B0609020204030204" pitchFamily="49" charset="0"/>
              </a:rPr>
              <a:t>b</a:t>
            </a:r>
            <a:r>
              <a:rPr lang="zh-CN" altLang="en-US" sz="2000" b="1" dirty="0">
                <a:solidFill>
                  <a:schemeClr val="accent1"/>
                </a:solidFill>
                <a:latin typeface="Consolas" panose="020B0609020204030204" pitchFamily="49" charset="0"/>
              </a:rPr>
              <a:t>前，则返回</a:t>
            </a:r>
            <a:r>
              <a:rPr lang="en-US" altLang="zh-CN" sz="2000" b="1" dirty="0">
                <a:solidFill>
                  <a:schemeClr val="accent1"/>
                </a:solidFill>
                <a:latin typeface="Consolas" panose="020B0609020204030204" pitchFamily="49" charset="0"/>
              </a:rPr>
              <a:t>true</a:t>
            </a:r>
          </a:p>
          <a:p>
            <a:r>
              <a:rPr lang="en-US" altLang="zh-CN" sz="2000" b="1" dirty="0">
                <a:solidFill>
                  <a:schemeClr val="accent1"/>
                </a:solidFill>
                <a:latin typeface="Consolas" panose="020B0609020204030204" pitchFamily="49" charset="0"/>
              </a:rPr>
              <a:t>	//</a:t>
            </a:r>
            <a:r>
              <a:rPr lang="zh-CN" altLang="en-US" sz="2000" b="1" dirty="0">
                <a:solidFill>
                  <a:schemeClr val="accent1"/>
                </a:solidFill>
                <a:latin typeface="Consolas" panose="020B0609020204030204" pitchFamily="49" charset="0"/>
              </a:rPr>
              <a:t>若</a:t>
            </a:r>
            <a:r>
              <a:rPr lang="en-US" altLang="zh-CN" sz="2000" b="1" dirty="0">
                <a:solidFill>
                  <a:schemeClr val="accent1"/>
                </a:solidFill>
                <a:latin typeface="Consolas" panose="020B0609020204030204" pitchFamily="49" charset="0"/>
              </a:rPr>
              <a:t>a</a:t>
            </a:r>
            <a:r>
              <a:rPr lang="zh-CN" altLang="en-US" sz="2000" b="1" dirty="0">
                <a:solidFill>
                  <a:schemeClr val="accent1"/>
                </a:solidFill>
                <a:latin typeface="Consolas" panose="020B0609020204030204" pitchFamily="49" charset="0"/>
              </a:rPr>
              <a:t>在</a:t>
            </a:r>
            <a:r>
              <a:rPr lang="en-US" altLang="zh-CN" sz="2000" b="1" dirty="0">
                <a:solidFill>
                  <a:schemeClr val="accent1"/>
                </a:solidFill>
                <a:latin typeface="Consolas" panose="020B0609020204030204" pitchFamily="49" charset="0"/>
              </a:rPr>
              <a:t>b</a:t>
            </a:r>
            <a:r>
              <a:rPr lang="zh-CN" altLang="en-US" sz="2000" b="1" dirty="0">
                <a:solidFill>
                  <a:schemeClr val="accent1"/>
                </a:solidFill>
                <a:latin typeface="Consolas" panose="020B0609020204030204" pitchFamily="49" charset="0"/>
              </a:rPr>
              <a:t>后 或 </a:t>
            </a:r>
            <a:r>
              <a:rPr lang="en-US" altLang="zh-CN" sz="2000" b="1" u="sng" dirty="0">
                <a:solidFill>
                  <a:schemeClr val="accent1"/>
                </a:solidFill>
                <a:latin typeface="Consolas" panose="020B0609020204030204" pitchFamily="49" charset="0"/>
              </a:rPr>
              <a:t>a</a:t>
            </a:r>
            <a:r>
              <a:rPr lang="zh-CN" altLang="en-US" sz="2000" b="1" u="sng" dirty="0">
                <a:solidFill>
                  <a:schemeClr val="accent1"/>
                </a:solidFill>
                <a:latin typeface="Consolas" panose="020B0609020204030204" pitchFamily="49" charset="0"/>
              </a:rPr>
              <a:t>等于</a:t>
            </a:r>
            <a:r>
              <a:rPr lang="en-US" altLang="zh-CN" sz="2000" b="1" u="sng" dirty="0">
                <a:solidFill>
                  <a:schemeClr val="accent1"/>
                </a:solidFill>
                <a:latin typeface="Consolas" panose="020B0609020204030204" pitchFamily="49" charset="0"/>
              </a:rPr>
              <a:t>b</a:t>
            </a:r>
            <a:r>
              <a:rPr lang="zh-CN" altLang="en-US" sz="2000" b="1" dirty="0">
                <a:solidFill>
                  <a:schemeClr val="accent1"/>
                </a:solidFill>
                <a:latin typeface="Consolas" panose="020B0609020204030204" pitchFamily="49" charset="0"/>
              </a:rPr>
              <a:t>，则返回</a:t>
            </a:r>
            <a:r>
              <a:rPr lang="en-US" altLang="zh-CN" sz="2000" b="1" dirty="0">
                <a:solidFill>
                  <a:schemeClr val="accent1"/>
                </a:solidFill>
                <a:latin typeface="Consolas" panose="020B0609020204030204" pitchFamily="49" charset="0"/>
              </a:rPr>
              <a:t>false</a:t>
            </a:r>
          </a:p>
          <a:p>
            <a:r>
              <a:rPr lang="en-US" altLang="zh-CN" sz="2000" b="1" dirty="0">
                <a:latin typeface="Consolas" panose="020B0609020204030204" pitchFamily="49" charset="0"/>
              </a:rPr>
              <a:t>}</a:t>
            </a:r>
          </a:p>
        </p:txBody>
      </p:sp>
    </p:spTree>
    <p:extLst>
      <p:ext uri="{BB962C8B-B14F-4D97-AF65-F5344CB8AC3E}">
        <p14:creationId xmlns:p14="http://schemas.microsoft.com/office/powerpoint/2010/main" val="12894024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E732D-67EE-4176-AA36-96716E93D560}"/>
              </a:ext>
            </a:extLst>
          </p:cNvPr>
          <p:cNvSpPr>
            <a:spLocks noGrp="1"/>
          </p:cNvSpPr>
          <p:nvPr>
            <p:ph type="title"/>
          </p:nvPr>
        </p:nvSpPr>
        <p:spPr/>
        <p:txBody>
          <a:bodyPr/>
          <a:lstStyle/>
          <a:p>
            <a:r>
              <a:rPr lang="zh-CN" altLang="en-US" dirty="0"/>
              <a:t>函数作为变量</a:t>
            </a:r>
          </a:p>
        </p:txBody>
      </p:sp>
      <p:sp>
        <p:nvSpPr>
          <p:cNvPr id="4" name="灯片编号占位符 3">
            <a:extLst>
              <a:ext uri="{FF2B5EF4-FFF2-40B4-BE49-F238E27FC236}">
                <a16:creationId xmlns:a16="http://schemas.microsoft.com/office/drawing/2014/main" id="{0F8B2B1B-3202-4540-9EF2-221EA721AEE2}"/>
              </a:ext>
            </a:extLst>
          </p:cNvPr>
          <p:cNvSpPr>
            <a:spLocks noGrp="1"/>
          </p:cNvSpPr>
          <p:nvPr>
            <p:ph type="sldNum" sz="quarter" idx="12"/>
          </p:nvPr>
        </p:nvSpPr>
        <p:spPr/>
        <p:txBody>
          <a:bodyPr/>
          <a:lstStyle/>
          <a:p>
            <a:pPr>
              <a:defRPr/>
            </a:pPr>
            <a:fld id="{BFD7BE51-03DD-4CCA-8227-D775462981B4}" type="slidenum">
              <a:rPr lang="en-US" altLang="zh-CN" smtClean="0"/>
              <a:pPr>
                <a:defRPr/>
              </a:pPr>
              <a:t>35</a:t>
            </a:fld>
            <a:endParaRPr lang="en-US" altLang="zh-CN"/>
          </a:p>
        </p:txBody>
      </p:sp>
      <p:sp>
        <p:nvSpPr>
          <p:cNvPr id="5" name="文本框 4">
            <a:extLst>
              <a:ext uri="{FF2B5EF4-FFF2-40B4-BE49-F238E27FC236}">
                <a16:creationId xmlns:a16="http://schemas.microsoft.com/office/drawing/2014/main" id="{EB3360B6-3961-4F4D-B416-31BDA49B828D}"/>
              </a:ext>
            </a:extLst>
          </p:cNvPr>
          <p:cNvSpPr txBox="1"/>
          <p:nvPr/>
        </p:nvSpPr>
        <p:spPr>
          <a:xfrm>
            <a:off x="974874" y="1406360"/>
            <a:ext cx="6765478" cy="5262979"/>
          </a:xfrm>
          <a:prstGeom prst="rect">
            <a:avLst/>
          </a:prstGeom>
          <a:noFill/>
        </p:spPr>
        <p:txBody>
          <a:bodyPr wrap="square" rtlCol="0">
            <a:spAutoFit/>
          </a:bodyPr>
          <a:lstStyle/>
          <a:p>
            <a:r>
              <a:rPr lang="en-US" altLang="zh-CN" sz="2400" b="1" dirty="0">
                <a:latin typeface="Consolas" panose="020B0609020204030204" pitchFamily="49" charset="0"/>
              </a:rPr>
              <a:t>#include &lt;algorithm&gt;</a:t>
            </a:r>
          </a:p>
          <a:p>
            <a:r>
              <a:rPr lang="en-US" altLang="zh-CN" sz="2400" b="1" dirty="0">
                <a:latin typeface="Consolas" panose="020B0609020204030204" pitchFamily="49" charset="0"/>
              </a:rPr>
              <a:t>#include &lt;iostream&gt;</a:t>
            </a:r>
          </a:p>
          <a:p>
            <a:r>
              <a:rPr lang="en-US" altLang="zh-CN" sz="2400" b="1" dirty="0">
                <a:latin typeface="Consolas" panose="020B0609020204030204" pitchFamily="49" charset="0"/>
              </a:rPr>
              <a:t>using namespace std;</a:t>
            </a:r>
          </a:p>
          <a:p>
            <a:endParaRPr lang="en-US" altLang="zh-CN" sz="2400" b="1" dirty="0">
              <a:latin typeface="Consolas" panose="020B0609020204030204" pitchFamily="49" charset="0"/>
            </a:endParaRPr>
          </a:p>
          <a:p>
            <a:r>
              <a:rPr lang="en-US" altLang="zh-CN" sz="2400" b="1" dirty="0">
                <a:latin typeface="Consolas" panose="020B0609020204030204" pitchFamily="49" charset="0"/>
              </a:rPr>
              <a:t>bool comp(int a, int b)</a:t>
            </a:r>
          </a:p>
          <a:p>
            <a:r>
              <a:rPr lang="en-US" altLang="zh-CN" sz="2400" b="1" dirty="0">
                <a:latin typeface="Consolas" panose="020B0609020204030204" pitchFamily="49" charset="0"/>
              </a:rPr>
              <a:t>	{ 	return a &gt; b;  }</a:t>
            </a:r>
          </a:p>
          <a:p>
            <a:r>
              <a:rPr lang="en-US" altLang="zh-CN" sz="2400" b="1" dirty="0">
                <a:latin typeface="Consolas" panose="020B0609020204030204" pitchFamily="49" charset="0"/>
              </a:rPr>
              <a:t>int main(){</a:t>
            </a:r>
          </a:p>
          <a:p>
            <a:r>
              <a:rPr lang="en-US" altLang="zh-CN" sz="2400" b="1" dirty="0">
                <a:latin typeface="Consolas" panose="020B0609020204030204" pitchFamily="49" charset="0"/>
              </a:rPr>
              <a:t>	int </a:t>
            </a:r>
            <a:r>
              <a:rPr lang="en-US" altLang="zh-CN" sz="2400" b="1" dirty="0" err="1">
                <a:latin typeface="Consolas" panose="020B0609020204030204" pitchFamily="49" charset="0"/>
              </a:rPr>
              <a:t>arr</a:t>
            </a:r>
            <a:r>
              <a:rPr lang="en-US" altLang="zh-CN" sz="2400" b="1" dirty="0">
                <a:latin typeface="Consolas" panose="020B0609020204030204" pitchFamily="49" charset="0"/>
              </a:rPr>
              <a:t>[5] = { 5, 2, 3, 1, 7 };</a:t>
            </a:r>
          </a:p>
          <a:p>
            <a:r>
              <a:rPr lang="en-US" altLang="zh-CN" sz="2400" b="1" dirty="0">
                <a:latin typeface="Consolas" panose="020B0609020204030204" pitchFamily="49" charset="0"/>
              </a:rPr>
              <a:t>	</a:t>
            </a:r>
            <a:r>
              <a:rPr lang="en-US" altLang="zh-CN" sz="2400" b="1" dirty="0">
                <a:solidFill>
                  <a:srgbClr val="C00000"/>
                </a:solidFill>
                <a:latin typeface="Consolas" panose="020B0609020204030204" pitchFamily="49" charset="0"/>
              </a:rPr>
              <a:t>std::sort(</a:t>
            </a:r>
            <a:r>
              <a:rPr lang="en-US" altLang="zh-CN" sz="2400" b="1" dirty="0" err="1">
                <a:solidFill>
                  <a:srgbClr val="C00000"/>
                </a:solidFill>
                <a:latin typeface="Consolas" panose="020B0609020204030204" pitchFamily="49" charset="0"/>
              </a:rPr>
              <a:t>arr</a:t>
            </a:r>
            <a:r>
              <a:rPr lang="en-US" altLang="zh-CN" sz="2400" b="1" dirty="0">
                <a:solidFill>
                  <a:srgbClr val="C00000"/>
                </a:solidFill>
                <a:latin typeface="Consolas" panose="020B0609020204030204" pitchFamily="49" charset="0"/>
              </a:rPr>
              <a:t>, </a:t>
            </a:r>
            <a:r>
              <a:rPr lang="en-US" altLang="zh-CN" sz="2400" b="1" dirty="0" err="1">
                <a:solidFill>
                  <a:srgbClr val="C00000"/>
                </a:solidFill>
                <a:latin typeface="Consolas" panose="020B0609020204030204" pitchFamily="49" charset="0"/>
              </a:rPr>
              <a:t>arr</a:t>
            </a:r>
            <a:r>
              <a:rPr lang="en-US" altLang="zh-CN" sz="2400" b="1" dirty="0">
                <a:solidFill>
                  <a:srgbClr val="C00000"/>
                </a:solidFill>
                <a:latin typeface="Consolas" panose="020B0609020204030204" pitchFamily="49" charset="0"/>
              </a:rPr>
              <a:t> + 5, comp);</a:t>
            </a:r>
          </a:p>
          <a:p>
            <a:r>
              <a:rPr lang="en-US" altLang="zh-CN" sz="2400" b="1" dirty="0">
                <a:latin typeface="Consolas" panose="020B0609020204030204" pitchFamily="49" charset="0"/>
              </a:rPr>
              <a:t>	for (int x : </a:t>
            </a:r>
            <a:r>
              <a:rPr lang="en-US" altLang="zh-CN" sz="2400" b="1" dirty="0" err="1">
                <a:latin typeface="Consolas" panose="020B0609020204030204" pitchFamily="49" charset="0"/>
              </a:rPr>
              <a:t>arr</a:t>
            </a:r>
            <a:r>
              <a:rPr lang="en-US" altLang="zh-CN" sz="2400" b="1" dirty="0">
                <a:latin typeface="Consolas" panose="020B0609020204030204" pitchFamily="49" charset="0"/>
              </a:rPr>
              <a:t>) {</a:t>
            </a:r>
          </a:p>
          <a:p>
            <a:r>
              <a:rPr lang="en-US" altLang="zh-CN" sz="2400" b="1" dirty="0">
                <a:latin typeface="Consolas" panose="020B0609020204030204" pitchFamily="49" charset="0"/>
              </a:rPr>
              <a:t>		</a:t>
            </a:r>
            <a:r>
              <a:rPr lang="en-US" altLang="zh-CN" sz="2400" b="1" dirty="0" err="1">
                <a:latin typeface="Consolas" panose="020B0609020204030204" pitchFamily="49" charset="0"/>
              </a:rPr>
              <a:t>cout</a:t>
            </a:r>
            <a:r>
              <a:rPr lang="en-US" altLang="zh-CN" sz="2400" b="1" dirty="0">
                <a:latin typeface="Consolas" panose="020B0609020204030204" pitchFamily="49" charset="0"/>
              </a:rPr>
              <a:t> &lt;&lt; x &lt;&lt; " ";</a:t>
            </a:r>
          </a:p>
          <a:p>
            <a:r>
              <a:rPr lang="en-US" altLang="zh-CN" sz="2400" b="1" dirty="0">
                <a:latin typeface="Consolas" panose="020B0609020204030204" pitchFamily="49" charset="0"/>
              </a:rPr>
              <a:t>	}  </a:t>
            </a:r>
            <a:r>
              <a:rPr lang="en-US" altLang="zh-CN" sz="2400" b="1" dirty="0">
                <a:solidFill>
                  <a:srgbClr val="1D9A78"/>
                </a:solidFill>
                <a:latin typeface="Consolas" panose="020B0609020204030204" pitchFamily="49" charset="0"/>
              </a:rPr>
              <a:t>// 7 5 3 2 1</a:t>
            </a:r>
          </a:p>
          <a:p>
            <a:r>
              <a:rPr lang="en-US" altLang="zh-CN" sz="2400" b="1" dirty="0">
                <a:latin typeface="Consolas" panose="020B0609020204030204" pitchFamily="49" charset="0"/>
              </a:rPr>
              <a:t>	return 0;</a:t>
            </a:r>
          </a:p>
          <a:p>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Tree>
    <p:extLst>
      <p:ext uri="{BB962C8B-B14F-4D97-AF65-F5344CB8AC3E}">
        <p14:creationId xmlns:p14="http://schemas.microsoft.com/office/powerpoint/2010/main" val="3080738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78F5EF-7D02-412A-A39F-3A8E6FBB0C71}"/>
              </a:ext>
            </a:extLst>
          </p:cNvPr>
          <p:cNvSpPr>
            <a:spLocks noGrp="1"/>
          </p:cNvSpPr>
          <p:nvPr>
            <p:ph type="title"/>
          </p:nvPr>
        </p:nvSpPr>
        <p:spPr/>
        <p:txBody>
          <a:bodyPr/>
          <a:lstStyle/>
          <a:p>
            <a:r>
              <a:rPr lang="zh-CN" altLang="en-US" dirty="0"/>
              <a:t>函数作为变量</a:t>
            </a:r>
          </a:p>
        </p:txBody>
      </p:sp>
      <p:sp>
        <p:nvSpPr>
          <p:cNvPr id="3" name="内容占位符 2">
            <a:extLst>
              <a:ext uri="{FF2B5EF4-FFF2-40B4-BE49-F238E27FC236}">
                <a16:creationId xmlns:a16="http://schemas.microsoft.com/office/drawing/2014/main" id="{6506EA13-23B2-4034-A287-CCC05EC66E07}"/>
              </a:ext>
            </a:extLst>
          </p:cNvPr>
          <p:cNvSpPr>
            <a:spLocks noGrp="1"/>
          </p:cNvSpPr>
          <p:nvPr>
            <p:ph idx="1"/>
          </p:nvPr>
        </p:nvSpPr>
        <p:spPr/>
        <p:txBody>
          <a:bodyPr/>
          <a:lstStyle/>
          <a:p>
            <a:r>
              <a:rPr lang="zh-CN" altLang="en-US" dirty="0"/>
              <a:t>实际上，</a:t>
            </a:r>
            <a:r>
              <a:rPr lang="en-US" altLang="zh-CN" dirty="0"/>
              <a:t>Compare</a:t>
            </a:r>
            <a:r>
              <a:rPr lang="zh-CN" altLang="en-US" dirty="0"/>
              <a:t>就是</a:t>
            </a:r>
            <a:r>
              <a:rPr lang="en-US" altLang="zh-CN" dirty="0"/>
              <a:t>comp</a:t>
            </a:r>
            <a:r>
              <a:rPr lang="zh-CN" altLang="en-US" dirty="0"/>
              <a:t>的类型</a:t>
            </a:r>
            <a:endParaRPr lang="en-US" altLang="zh-CN" dirty="0"/>
          </a:p>
          <a:p>
            <a:pPr lvl="1"/>
            <a:r>
              <a:rPr lang="zh-CN" altLang="en-US" dirty="0"/>
              <a:t>函数指针：</a:t>
            </a:r>
            <a:r>
              <a:rPr lang="en-US" altLang="zh-CN" dirty="0"/>
              <a:t>bool (*)(</a:t>
            </a:r>
            <a:r>
              <a:rPr lang="en-US" altLang="zh-CN" dirty="0" err="1"/>
              <a:t>int,int</a:t>
            </a:r>
            <a:r>
              <a:rPr lang="en-US" altLang="zh-CN" dirty="0"/>
              <a:t>)</a:t>
            </a:r>
          </a:p>
          <a:p>
            <a:pPr lvl="1"/>
            <a:endParaRPr lang="en-US" altLang="zh-CN" dirty="0"/>
          </a:p>
          <a:p>
            <a:r>
              <a:rPr lang="en-US" altLang="zh-CN" dirty="0"/>
              <a:t>STL</a:t>
            </a:r>
            <a:r>
              <a:rPr lang="zh-CN" altLang="en-US" dirty="0"/>
              <a:t>提供了预定义的比较函数</a:t>
            </a:r>
            <a:r>
              <a:rPr lang="en-US" altLang="zh-CN" sz="2000" dirty="0"/>
              <a:t>(#include &lt;functional&gt;)</a:t>
            </a:r>
            <a:endParaRPr lang="en-US" altLang="zh-CN" dirty="0"/>
          </a:p>
          <a:p>
            <a:pPr lvl="1"/>
            <a:r>
              <a:rPr lang="zh-CN" altLang="en-US" dirty="0"/>
              <a:t>从小到大</a:t>
            </a:r>
            <a:endParaRPr lang="en-US" altLang="zh-CN" dirty="0"/>
          </a:p>
          <a:p>
            <a:pPr marL="914400" lvl="2" indent="0">
              <a:buNone/>
            </a:pPr>
            <a:r>
              <a:rPr lang="en-US" altLang="zh-CN" sz="2400" b="1" dirty="0"/>
              <a:t>sort(</a:t>
            </a:r>
            <a:r>
              <a:rPr lang="en-US" altLang="zh-CN" sz="2400" b="1" dirty="0" err="1"/>
              <a:t>arr</a:t>
            </a:r>
            <a:r>
              <a:rPr lang="en-US" altLang="zh-CN" sz="2400" b="1" dirty="0"/>
              <a:t>,</a:t>
            </a:r>
            <a:r>
              <a:rPr lang="zh-CN" altLang="en-US" sz="2400" b="1" dirty="0"/>
              <a:t> </a:t>
            </a:r>
            <a:r>
              <a:rPr lang="en-US" altLang="zh-CN" sz="2400" b="1" dirty="0"/>
              <a:t>arr+5, </a:t>
            </a:r>
            <a:r>
              <a:rPr lang="en-US" altLang="zh-CN" sz="2400" b="1" dirty="0">
                <a:solidFill>
                  <a:srgbClr val="FF0000"/>
                </a:solidFill>
              </a:rPr>
              <a:t>less&lt;int&gt;()</a:t>
            </a:r>
            <a:r>
              <a:rPr lang="en-US" altLang="zh-CN" sz="2400" b="1" dirty="0"/>
              <a:t>)</a:t>
            </a:r>
            <a:endParaRPr lang="zh-CN" altLang="en-US" sz="2400" b="1" dirty="0"/>
          </a:p>
          <a:p>
            <a:pPr lvl="1"/>
            <a:r>
              <a:rPr lang="zh-CN" altLang="en-US" dirty="0"/>
              <a:t>从大到小</a:t>
            </a:r>
            <a:endParaRPr lang="en-US" altLang="zh-CN" dirty="0"/>
          </a:p>
          <a:p>
            <a:pPr marL="914400" lvl="2" indent="0">
              <a:buNone/>
            </a:pPr>
            <a:r>
              <a:rPr lang="en-US" altLang="zh-CN" sz="2400" b="1" dirty="0"/>
              <a:t>sort(</a:t>
            </a:r>
            <a:r>
              <a:rPr lang="en-US" altLang="zh-CN" sz="2400" b="1" dirty="0" err="1"/>
              <a:t>arr</a:t>
            </a:r>
            <a:r>
              <a:rPr lang="en-US" altLang="zh-CN" sz="2400" b="1" dirty="0"/>
              <a:t>,</a:t>
            </a:r>
            <a:r>
              <a:rPr lang="zh-CN" altLang="en-US" sz="2400" b="1" dirty="0"/>
              <a:t> </a:t>
            </a:r>
            <a:r>
              <a:rPr lang="en-US" altLang="zh-CN" sz="2400" b="1" dirty="0"/>
              <a:t>arr+5, </a:t>
            </a:r>
            <a:r>
              <a:rPr lang="en-US" altLang="zh-CN" sz="2400" b="1" dirty="0">
                <a:solidFill>
                  <a:srgbClr val="FF0000"/>
                </a:solidFill>
              </a:rPr>
              <a:t>greater&lt;int&gt;()</a:t>
            </a:r>
            <a:r>
              <a:rPr lang="en-US" altLang="zh-CN" sz="2400" b="1" dirty="0"/>
              <a:t>)</a:t>
            </a:r>
          </a:p>
          <a:p>
            <a:r>
              <a:rPr lang="zh-CN" altLang="en-US" dirty="0"/>
              <a:t>疑问：</a:t>
            </a:r>
            <a:endParaRPr lang="en-US" altLang="zh-CN" dirty="0"/>
          </a:p>
          <a:p>
            <a:pPr lvl="1"/>
            <a:r>
              <a:rPr lang="zh-CN" altLang="en-US" dirty="0"/>
              <a:t>对比 </a:t>
            </a:r>
            <a:r>
              <a:rPr lang="en-US" altLang="zh-CN" dirty="0"/>
              <a:t>sort(</a:t>
            </a:r>
            <a:r>
              <a:rPr lang="en-US" altLang="zh-CN" dirty="0" err="1"/>
              <a:t>arr</a:t>
            </a:r>
            <a:r>
              <a:rPr lang="en-US" altLang="zh-CN" dirty="0"/>
              <a:t>, </a:t>
            </a:r>
            <a:r>
              <a:rPr lang="en-US" altLang="zh-CN" dirty="0" err="1"/>
              <a:t>arr</a:t>
            </a:r>
            <a:r>
              <a:rPr lang="en-US" altLang="zh-CN" dirty="0"/>
              <a:t> + 5, comp)</a:t>
            </a:r>
          </a:p>
          <a:p>
            <a:pPr lvl="1"/>
            <a:r>
              <a:rPr lang="en-US" altLang="zh-CN" dirty="0"/>
              <a:t>greater&lt;int&gt;</a:t>
            </a:r>
            <a:r>
              <a:rPr lang="en-US" altLang="zh-CN" dirty="0">
                <a:solidFill>
                  <a:srgbClr val="0066CC"/>
                </a:solidFill>
              </a:rPr>
              <a:t>()</a:t>
            </a:r>
            <a:r>
              <a:rPr lang="zh-CN" altLang="en-US" dirty="0"/>
              <a:t>为什么带括号？是什么？</a:t>
            </a:r>
          </a:p>
        </p:txBody>
      </p:sp>
      <p:sp>
        <p:nvSpPr>
          <p:cNvPr id="4" name="灯片编号占位符 3">
            <a:extLst>
              <a:ext uri="{FF2B5EF4-FFF2-40B4-BE49-F238E27FC236}">
                <a16:creationId xmlns:a16="http://schemas.microsoft.com/office/drawing/2014/main" id="{B742E797-5FF2-4606-BD93-7DE9652F436D}"/>
              </a:ext>
            </a:extLst>
          </p:cNvPr>
          <p:cNvSpPr>
            <a:spLocks noGrp="1"/>
          </p:cNvSpPr>
          <p:nvPr>
            <p:ph type="sldNum" sz="quarter" idx="12"/>
          </p:nvPr>
        </p:nvSpPr>
        <p:spPr/>
        <p:txBody>
          <a:bodyPr/>
          <a:lstStyle/>
          <a:p>
            <a:pPr>
              <a:defRPr/>
            </a:pPr>
            <a:fld id="{BFD7BE51-03DD-4CCA-8227-D775462981B4}" type="slidenum">
              <a:rPr lang="en-US" altLang="zh-CN" smtClean="0"/>
              <a:pPr>
                <a:defRPr/>
              </a:pPr>
              <a:t>36</a:t>
            </a:fld>
            <a:endParaRPr lang="en-US" altLang="zh-CN"/>
          </a:p>
        </p:txBody>
      </p:sp>
    </p:spTree>
    <p:extLst>
      <p:ext uri="{BB962C8B-B14F-4D97-AF65-F5344CB8AC3E}">
        <p14:creationId xmlns:p14="http://schemas.microsoft.com/office/powerpoint/2010/main" val="2525048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C47BDA-335E-4EDE-A27D-A3955D2422AE}"/>
              </a:ext>
            </a:extLst>
          </p:cNvPr>
          <p:cNvSpPr>
            <a:spLocks noGrp="1"/>
          </p:cNvSpPr>
          <p:nvPr>
            <p:ph type="title"/>
          </p:nvPr>
        </p:nvSpPr>
        <p:spPr/>
        <p:txBody>
          <a:bodyPr/>
          <a:lstStyle/>
          <a:p>
            <a:r>
              <a:rPr lang="zh-CN" altLang="en-US" dirty="0"/>
              <a:t>函数对象</a:t>
            </a:r>
          </a:p>
        </p:txBody>
      </p:sp>
      <p:sp>
        <p:nvSpPr>
          <p:cNvPr id="3" name="内容占位符 2">
            <a:extLst>
              <a:ext uri="{FF2B5EF4-FFF2-40B4-BE49-F238E27FC236}">
                <a16:creationId xmlns:a16="http://schemas.microsoft.com/office/drawing/2014/main" id="{DBA1A1B4-AEB9-47BB-A0C9-CAB2897B4CE1}"/>
              </a:ext>
            </a:extLst>
          </p:cNvPr>
          <p:cNvSpPr>
            <a:spLocks noGrp="1"/>
          </p:cNvSpPr>
          <p:nvPr>
            <p:ph idx="1"/>
          </p:nvPr>
        </p:nvSpPr>
        <p:spPr>
          <a:xfrm>
            <a:off x="596939" y="1054485"/>
            <a:ext cx="8047806" cy="5803515"/>
          </a:xfrm>
        </p:spPr>
        <p:txBody>
          <a:bodyPr/>
          <a:lstStyle/>
          <a:p>
            <a:r>
              <a:rPr lang="zh-CN" altLang="en-US" dirty="0"/>
              <a:t>实际上，</a:t>
            </a:r>
            <a:r>
              <a:rPr lang="en-US" altLang="zh-CN" dirty="0"/>
              <a:t>greater&lt;int&gt;()</a:t>
            </a:r>
            <a:r>
              <a:rPr lang="zh-CN" altLang="en-US" dirty="0"/>
              <a:t>是一个对象</a:t>
            </a:r>
            <a:endParaRPr lang="en-US" altLang="zh-CN" dirty="0"/>
          </a:p>
          <a:p>
            <a:pPr lvl="1"/>
            <a:r>
              <a:rPr lang="en-US" altLang="zh-CN" dirty="0"/>
              <a:t>greater</a:t>
            </a:r>
            <a:r>
              <a:rPr lang="zh-CN" altLang="en-US" dirty="0"/>
              <a:t>是一个模板类</a:t>
            </a:r>
            <a:endParaRPr lang="en-US" altLang="zh-CN" dirty="0"/>
          </a:p>
          <a:p>
            <a:pPr lvl="1"/>
            <a:r>
              <a:rPr lang="en-US" altLang="zh-CN" dirty="0"/>
              <a:t>greater&lt;int&gt;  </a:t>
            </a:r>
            <a:r>
              <a:rPr lang="zh-CN" altLang="en-US" dirty="0"/>
              <a:t>用</a:t>
            </a:r>
            <a:r>
              <a:rPr lang="en-US" altLang="zh-CN" dirty="0"/>
              <a:t>int</a:t>
            </a:r>
            <a:r>
              <a:rPr lang="zh-CN" altLang="en-US" dirty="0"/>
              <a:t>实例化的类</a:t>
            </a:r>
            <a:endParaRPr lang="en-US" altLang="zh-CN" dirty="0"/>
          </a:p>
          <a:p>
            <a:pPr lvl="1"/>
            <a:r>
              <a:rPr lang="en-US" altLang="zh-CN" dirty="0"/>
              <a:t>greater&lt;int&gt;()  </a:t>
            </a:r>
            <a:r>
              <a:rPr lang="zh-CN" altLang="en-US" dirty="0"/>
              <a:t>该类的一个对象</a:t>
            </a:r>
            <a:endParaRPr lang="en-US" altLang="zh-CN" dirty="0"/>
          </a:p>
          <a:p>
            <a:r>
              <a:rPr lang="zh-CN" altLang="en-US" dirty="0"/>
              <a:t>同时，它表现的像一个函数</a:t>
            </a:r>
            <a:endParaRPr lang="en-US" altLang="zh-CN" b="1" dirty="0"/>
          </a:p>
          <a:p>
            <a:endParaRPr lang="en-US" altLang="zh-CN" dirty="0"/>
          </a:p>
          <a:p>
            <a:endParaRPr lang="en-US" altLang="zh-CN" b="1" dirty="0"/>
          </a:p>
          <a:p>
            <a:endParaRPr lang="en-US" altLang="zh-CN" dirty="0"/>
          </a:p>
          <a:p>
            <a:endParaRPr lang="en-US" altLang="zh-CN" dirty="0"/>
          </a:p>
          <a:p>
            <a:endParaRPr lang="en-US" altLang="zh-CN" dirty="0"/>
          </a:p>
          <a:p>
            <a:endParaRPr lang="en-US" altLang="zh-CN" dirty="0"/>
          </a:p>
          <a:p>
            <a:r>
              <a:rPr lang="zh-CN" altLang="en-US" dirty="0"/>
              <a:t>因此，这种对象被称为函数对象</a:t>
            </a:r>
            <a:endParaRPr lang="en-US" altLang="zh-CN" dirty="0"/>
          </a:p>
        </p:txBody>
      </p:sp>
      <p:sp>
        <p:nvSpPr>
          <p:cNvPr id="4" name="灯片编号占位符 3">
            <a:extLst>
              <a:ext uri="{FF2B5EF4-FFF2-40B4-BE49-F238E27FC236}">
                <a16:creationId xmlns:a16="http://schemas.microsoft.com/office/drawing/2014/main" id="{0D4DE1B0-9973-40F1-ACCE-456809AF3098}"/>
              </a:ext>
            </a:extLst>
          </p:cNvPr>
          <p:cNvSpPr>
            <a:spLocks noGrp="1"/>
          </p:cNvSpPr>
          <p:nvPr>
            <p:ph type="sldNum" sz="quarter" idx="12"/>
          </p:nvPr>
        </p:nvSpPr>
        <p:spPr/>
        <p:txBody>
          <a:bodyPr/>
          <a:lstStyle/>
          <a:p>
            <a:pPr>
              <a:defRPr/>
            </a:pPr>
            <a:fld id="{BFD7BE51-03DD-4CCA-8227-D775462981B4}" type="slidenum">
              <a:rPr lang="en-US" altLang="zh-CN" smtClean="0"/>
              <a:pPr>
                <a:defRPr/>
              </a:pPr>
              <a:t>37</a:t>
            </a:fld>
            <a:endParaRPr lang="en-US" altLang="zh-CN"/>
          </a:p>
        </p:txBody>
      </p:sp>
      <p:sp>
        <p:nvSpPr>
          <p:cNvPr id="5" name="文本框 4">
            <a:extLst>
              <a:ext uri="{FF2B5EF4-FFF2-40B4-BE49-F238E27FC236}">
                <a16:creationId xmlns:a16="http://schemas.microsoft.com/office/drawing/2014/main" id="{9471E107-DE71-4689-8FD5-BB6528FBB755}"/>
              </a:ext>
            </a:extLst>
          </p:cNvPr>
          <p:cNvSpPr txBox="1"/>
          <p:nvPr/>
        </p:nvSpPr>
        <p:spPr>
          <a:xfrm>
            <a:off x="1345796" y="3208292"/>
            <a:ext cx="6466564" cy="3170099"/>
          </a:xfrm>
          <a:prstGeom prst="rect">
            <a:avLst/>
          </a:prstGeom>
          <a:noFill/>
        </p:spPr>
        <p:txBody>
          <a:bodyPr wrap="square" rtlCol="0">
            <a:spAutoFit/>
          </a:bodyPr>
          <a:lstStyle/>
          <a:p>
            <a:r>
              <a:rPr lang="en-US" altLang="zh-CN" sz="2000" b="1" dirty="0">
                <a:latin typeface="Consolas" panose="020B0609020204030204" pitchFamily="49" charset="0"/>
              </a:rPr>
              <a:t>#include &lt;functional&gt;</a:t>
            </a:r>
          </a:p>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using namespace std;</a:t>
            </a:r>
          </a:p>
          <a:p>
            <a:r>
              <a:rPr lang="en-US" altLang="zh-CN" sz="2000" b="1" dirty="0">
                <a:latin typeface="Consolas" panose="020B0609020204030204" pitchFamily="49" charset="0"/>
              </a:rPr>
              <a:t>int main() {</a:t>
            </a:r>
          </a:p>
          <a:p>
            <a:pPr lvl="1"/>
            <a:r>
              <a:rPr lang="en-US" altLang="zh-CN" sz="2000" b="1" dirty="0">
                <a:latin typeface="Consolas" panose="020B0609020204030204" pitchFamily="49" charset="0"/>
              </a:rPr>
              <a:t>auto </a:t>
            </a:r>
            <a:r>
              <a:rPr lang="en-US" altLang="zh-CN" sz="2000" b="1" dirty="0" err="1">
                <a:latin typeface="Consolas" panose="020B0609020204030204" pitchFamily="49" charset="0"/>
              </a:rPr>
              <a:t>func</a:t>
            </a:r>
            <a:r>
              <a:rPr lang="en-US" altLang="zh-CN" sz="2000" b="1" dirty="0">
                <a:latin typeface="Consolas" panose="020B0609020204030204" pitchFamily="49" charset="0"/>
              </a:rPr>
              <a:t> = greater&lt;int&gt;();</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func</a:t>
            </a:r>
            <a:r>
              <a:rPr lang="en-US" altLang="zh-CN" sz="2000" b="1" dirty="0">
                <a:latin typeface="Consolas" panose="020B0609020204030204" pitchFamily="49" charset="0"/>
              </a:rPr>
              <a:t>(2, 1)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//True</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func</a:t>
            </a:r>
            <a:r>
              <a:rPr lang="en-US" altLang="zh-CN" sz="2000" b="1" dirty="0">
                <a:latin typeface="Consolas" panose="020B0609020204030204" pitchFamily="49" charset="0"/>
              </a:rPr>
              <a:t>(1, 1)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//False</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func</a:t>
            </a:r>
            <a:r>
              <a:rPr lang="en-US" altLang="zh-CN" sz="2000" b="1" dirty="0">
                <a:latin typeface="Consolas" panose="020B0609020204030204" pitchFamily="49" charset="0"/>
              </a:rPr>
              <a:t>(1, 2)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//False</a:t>
            </a:r>
          </a:p>
          <a:p>
            <a:pPr lvl="1"/>
            <a:r>
              <a:rPr lang="en-US" altLang="zh-CN" sz="2000" b="1" dirty="0">
                <a:latin typeface="Consolas" panose="020B0609020204030204" pitchFamily="49" charset="0"/>
              </a:rPr>
              <a:t>return 0;</a:t>
            </a:r>
          </a:p>
          <a:p>
            <a:pPr marL="0" lvl="1"/>
            <a:r>
              <a:rPr lang="en-US" altLang="zh-CN" sz="2000" b="1" dirty="0">
                <a:latin typeface="Consolas" panose="020B0609020204030204" pitchFamily="49" charset="0"/>
              </a:rPr>
              <a:t>}</a:t>
            </a:r>
          </a:p>
        </p:txBody>
      </p:sp>
    </p:spTree>
    <p:extLst>
      <p:ext uri="{BB962C8B-B14F-4D97-AF65-F5344CB8AC3E}">
        <p14:creationId xmlns:p14="http://schemas.microsoft.com/office/powerpoint/2010/main" val="24151284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F2446F90-3012-41DF-8310-E58D41F04316}"/>
              </a:ext>
            </a:extLst>
          </p:cNvPr>
          <p:cNvSpPr txBox="1"/>
          <p:nvPr/>
        </p:nvSpPr>
        <p:spPr>
          <a:xfrm>
            <a:off x="323528" y="1641760"/>
            <a:ext cx="7250703" cy="5447645"/>
          </a:xfrm>
          <a:prstGeom prst="rect">
            <a:avLst/>
          </a:prstGeom>
          <a:noFill/>
        </p:spPr>
        <p:txBody>
          <a:bodyPr wrap="non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using namespace std;</a:t>
            </a:r>
          </a:p>
          <a:p>
            <a:r>
              <a:rPr lang="en-US" altLang="zh-CN" sz="2000" b="1" dirty="0">
                <a:latin typeface="Consolas" panose="020B0609020204030204" pitchFamily="49" charset="0"/>
              </a:rPr>
              <a:t>template&lt;class T&gt;</a:t>
            </a:r>
          </a:p>
          <a:p>
            <a:r>
              <a:rPr lang="en-US" altLang="zh-CN" sz="2000" b="1" dirty="0">
                <a:latin typeface="Consolas" panose="020B0609020204030204" pitchFamily="49" charset="0"/>
              </a:rPr>
              <a:t>class Greater {</a:t>
            </a:r>
          </a:p>
          <a:p>
            <a:r>
              <a:rPr lang="en-US" altLang="zh-CN" sz="2000" b="1" dirty="0">
                <a:latin typeface="Consolas" panose="020B0609020204030204" pitchFamily="49" charset="0"/>
              </a:rPr>
              <a:t>public:</a:t>
            </a:r>
          </a:p>
          <a:p>
            <a:r>
              <a:rPr lang="en-US" altLang="zh-CN" sz="2000" b="1" dirty="0">
                <a:latin typeface="Consolas" panose="020B0609020204030204" pitchFamily="49" charset="0"/>
              </a:rPr>
              <a:t>	bool </a:t>
            </a:r>
            <a:r>
              <a:rPr lang="en-US" altLang="zh-CN" sz="2000" b="1" dirty="0">
                <a:solidFill>
                  <a:srgbClr val="FF0000"/>
                </a:solidFill>
                <a:latin typeface="Consolas" panose="020B0609020204030204" pitchFamily="49" charset="0"/>
              </a:rPr>
              <a:t>operator</a:t>
            </a:r>
            <a:r>
              <a:rPr lang="en-US" altLang="zh-CN" sz="2000" b="1" dirty="0">
                <a:latin typeface="Consolas" panose="020B0609020204030204" pitchFamily="49" charset="0"/>
              </a:rPr>
              <a:t>()(</a:t>
            </a:r>
            <a:r>
              <a:rPr lang="en-US" altLang="zh-CN" sz="2000" b="1" dirty="0">
                <a:solidFill>
                  <a:srgbClr val="FF0000"/>
                </a:solidFill>
                <a:latin typeface="Consolas" panose="020B0609020204030204" pitchFamily="49" charset="0"/>
              </a:rPr>
              <a:t>const</a:t>
            </a:r>
            <a:r>
              <a:rPr lang="en-US" altLang="zh-CN" sz="2000" b="1" dirty="0">
                <a:latin typeface="Consolas" panose="020B0609020204030204" pitchFamily="49" charset="0"/>
              </a:rPr>
              <a:t> T &amp;a, </a:t>
            </a:r>
            <a:r>
              <a:rPr lang="en-US" altLang="zh-CN" sz="2000" b="1" dirty="0">
                <a:solidFill>
                  <a:srgbClr val="FF0000"/>
                </a:solidFill>
                <a:latin typeface="Consolas" panose="020B0609020204030204" pitchFamily="49" charset="0"/>
              </a:rPr>
              <a:t>const</a:t>
            </a:r>
            <a:r>
              <a:rPr lang="en-US" altLang="zh-CN" sz="2000" b="1" dirty="0">
                <a:latin typeface="Consolas" panose="020B0609020204030204" pitchFamily="49" charset="0"/>
              </a:rPr>
              <a:t> T &amp;b) </a:t>
            </a:r>
            <a:r>
              <a:rPr lang="en-US" altLang="zh-CN" sz="2000" b="1" dirty="0">
                <a:solidFill>
                  <a:srgbClr val="FF0000"/>
                </a:solidFill>
                <a:latin typeface="Consolas" panose="020B0609020204030204" pitchFamily="49" charset="0"/>
              </a:rPr>
              <a:t>const</a:t>
            </a:r>
            <a:r>
              <a:rPr lang="en-US" altLang="zh-CN" sz="2000" b="1" dirty="0">
                <a:latin typeface="Consolas" panose="020B0609020204030204" pitchFamily="49" charset="0"/>
              </a:rPr>
              <a:t>	{</a:t>
            </a:r>
          </a:p>
          <a:p>
            <a:r>
              <a:rPr lang="en-US" altLang="zh-CN" sz="2000" b="1" dirty="0">
                <a:latin typeface="Consolas" panose="020B0609020204030204" pitchFamily="49" charset="0"/>
              </a:rPr>
              <a:t>		return a &gt; b;</a:t>
            </a:r>
          </a:p>
          <a:p>
            <a:r>
              <a:rPr lang="en-US" altLang="zh-CN" sz="2000" b="1" dirty="0">
                <a:latin typeface="Consolas" panose="020B0609020204030204" pitchFamily="49" charset="0"/>
              </a:rPr>
              <a:t>	}</a:t>
            </a:r>
          </a:p>
          <a:p>
            <a:r>
              <a:rPr lang="en-US" altLang="zh-CN" sz="2000" b="1" dirty="0">
                <a:latin typeface="Consolas" panose="020B0609020204030204" pitchFamily="49" charset="0"/>
              </a:rPr>
              <a:t>};</a:t>
            </a:r>
          </a:p>
          <a:p>
            <a:r>
              <a:rPr lang="en-US" altLang="zh-CN" sz="2000" b="1" dirty="0">
                <a:latin typeface="Consolas" panose="020B0609020204030204" pitchFamily="49" charset="0"/>
              </a:rPr>
              <a:t>int main(){</a:t>
            </a:r>
          </a:p>
          <a:p>
            <a:pPr lvl="1"/>
            <a:r>
              <a:rPr lang="en-US" altLang="zh-CN" sz="2000" b="1" dirty="0">
                <a:latin typeface="Consolas" panose="020B0609020204030204" pitchFamily="49" charset="0"/>
              </a:rPr>
              <a:t>auto </a:t>
            </a:r>
            <a:r>
              <a:rPr lang="en-US" altLang="zh-CN" sz="2000" b="1" dirty="0" err="1">
                <a:latin typeface="Consolas" panose="020B0609020204030204" pitchFamily="49" charset="0"/>
              </a:rPr>
              <a:t>func</a:t>
            </a:r>
            <a:r>
              <a:rPr lang="en-US" altLang="zh-CN" sz="2000" b="1" dirty="0">
                <a:latin typeface="Consolas" panose="020B0609020204030204" pitchFamily="49" charset="0"/>
              </a:rPr>
              <a:t> = Greater&lt;int&gt;();</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func</a:t>
            </a:r>
            <a:r>
              <a:rPr lang="en-US" altLang="zh-CN" sz="2000" b="1" dirty="0">
                <a:latin typeface="Consolas" panose="020B0609020204030204" pitchFamily="49" charset="0"/>
              </a:rPr>
              <a:t>(2, 1)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//True</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func</a:t>
            </a:r>
            <a:r>
              <a:rPr lang="en-US" altLang="zh-CN" sz="2000" b="1" dirty="0">
                <a:latin typeface="Consolas" panose="020B0609020204030204" pitchFamily="49" charset="0"/>
              </a:rPr>
              <a:t>(1, 1)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//False</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func</a:t>
            </a:r>
            <a:r>
              <a:rPr lang="en-US" altLang="zh-CN" sz="2000" b="1" dirty="0">
                <a:latin typeface="Consolas" panose="020B0609020204030204" pitchFamily="49" charset="0"/>
              </a:rPr>
              <a:t>(1, 2)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chemeClr val="accent1"/>
                </a:solidFill>
                <a:latin typeface="Consolas" panose="020B0609020204030204" pitchFamily="49" charset="0"/>
              </a:rPr>
              <a:t>//False</a:t>
            </a:r>
          </a:p>
          <a:p>
            <a:pPr lvl="1"/>
            <a:r>
              <a:rPr lang="en-US" altLang="zh-CN" sz="2000" b="1" dirty="0">
                <a:latin typeface="Consolas" panose="020B0609020204030204" pitchFamily="49" charset="0"/>
              </a:rPr>
              <a:t>return 0;</a:t>
            </a:r>
          </a:p>
          <a:p>
            <a:pPr marL="0" lvl="1"/>
            <a:r>
              <a:rPr lang="en-US" altLang="zh-CN" sz="2000" b="1" dirty="0">
                <a:latin typeface="Consolas" panose="020B0609020204030204" pitchFamily="49" charset="0"/>
              </a:rPr>
              <a:t>}</a:t>
            </a:r>
          </a:p>
          <a:p>
            <a:endParaRPr lang="zh-CN" altLang="en-US" sz="2800" b="1" dirty="0">
              <a:latin typeface="Consolas" panose="020B0609020204030204" pitchFamily="49" charset="0"/>
            </a:endParaRPr>
          </a:p>
        </p:txBody>
      </p:sp>
      <p:sp>
        <p:nvSpPr>
          <p:cNvPr id="2" name="标题 1">
            <a:extLst>
              <a:ext uri="{FF2B5EF4-FFF2-40B4-BE49-F238E27FC236}">
                <a16:creationId xmlns:a16="http://schemas.microsoft.com/office/drawing/2014/main" id="{8E9B0F68-5259-4ABA-BCF0-D192470B30B6}"/>
              </a:ext>
            </a:extLst>
          </p:cNvPr>
          <p:cNvSpPr>
            <a:spLocks noGrp="1"/>
          </p:cNvSpPr>
          <p:nvPr>
            <p:ph type="title"/>
          </p:nvPr>
        </p:nvSpPr>
        <p:spPr/>
        <p:txBody>
          <a:bodyPr/>
          <a:lstStyle/>
          <a:p>
            <a:r>
              <a:rPr lang="zh-CN" altLang="en-US" dirty="0"/>
              <a:t>如何实现函数对象</a:t>
            </a:r>
          </a:p>
        </p:txBody>
      </p:sp>
      <p:sp>
        <p:nvSpPr>
          <p:cNvPr id="3" name="内容占位符 2">
            <a:extLst>
              <a:ext uri="{FF2B5EF4-FFF2-40B4-BE49-F238E27FC236}">
                <a16:creationId xmlns:a16="http://schemas.microsoft.com/office/drawing/2014/main" id="{AB24E5A4-19E0-482E-9453-43883EA820A9}"/>
              </a:ext>
            </a:extLst>
          </p:cNvPr>
          <p:cNvSpPr>
            <a:spLocks noGrp="1"/>
          </p:cNvSpPr>
          <p:nvPr>
            <p:ph idx="1"/>
          </p:nvPr>
        </p:nvSpPr>
        <p:spPr>
          <a:xfrm>
            <a:off x="3347864" y="1641760"/>
            <a:ext cx="8047806" cy="1512168"/>
          </a:xfrm>
        </p:spPr>
        <p:txBody>
          <a:bodyPr/>
          <a:lstStyle/>
          <a:p>
            <a:r>
              <a:rPr lang="zh-CN" altLang="en-US" dirty="0"/>
              <a:t>注意三个</a:t>
            </a:r>
            <a:r>
              <a:rPr lang="en-US" altLang="zh-CN" dirty="0"/>
              <a:t>const</a:t>
            </a:r>
          </a:p>
          <a:p>
            <a:pPr lvl="1"/>
            <a:r>
              <a:rPr lang="zh-CN" altLang="en-US" dirty="0"/>
              <a:t>排序中，</a:t>
            </a:r>
            <a:r>
              <a:rPr lang="en-US" altLang="zh-CN" dirty="0"/>
              <a:t>comp</a:t>
            </a:r>
            <a:r>
              <a:rPr lang="zh-CN" altLang="en-US" dirty="0"/>
              <a:t>不能修改数据</a:t>
            </a:r>
            <a:endParaRPr lang="en-US" altLang="zh-CN" dirty="0"/>
          </a:p>
          <a:p>
            <a:pPr lvl="1"/>
            <a:r>
              <a:rPr lang="zh-CN" altLang="en-US" dirty="0"/>
              <a:t>一般情况下，</a:t>
            </a:r>
            <a:r>
              <a:rPr lang="en-US" altLang="zh-CN" dirty="0"/>
              <a:t>comp</a:t>
            </a:r>
            <a:r>
              <a:rPr lang="zh-CN" altLang="en-US" dirty="0"/>
              <a:t>也不应该修改自身</a:t>
            </a:r>
          </a:p>
        </p:txBody>
      </p:sp>
      <p:sp>
        <p:nvSpPr>
          <p:cNvPr id="4" name="灯片编号占位符 3">
            <a:extLst>
              <a:ext uri="{FF2B5EF4-FFF2-40B4-BE49-F238E27FC236}">
                <a16:creationId xmlns:a16="http://schemas.microsoft.com/office/drawing/2014/main" id="{880A7BF9-12A9-4457-B600-C921ED061530}"/>
              </a:ext>
            </a:extLst>
          </p:cNvPr>
          <p:cNvSpPr>
            <a:spLocks noGrp="1"/>
          </p:cNvSpPr>
          <p:nvPr>
            <p:ph type="sldNum" sz="quarter" idx="12"/>
          </p:nvPr>
        </p:nvSpPr>
        <p:spPr/>
        <p:txBody>
          <a:bodyPr/>
          <a:lstStyle/>
          <a:p>
            <a:pPr>
              <a:defRPr/>
            </a:pPr>
            <a:fld id="{BFD7BE51-03DD-4CCA-8227-D775462981B4}" type="slidenum">
              <a:rPr lang="en-US" altLang="zh-CN" smtClean="0"/>
              <a:pPr>
                <a:defRPr/>
              </a:pPr>
              <a:t>38</a:t>
            </a:fld>
            <a:endParaRPr lang="en-US" altLang="zh-CN"/>
          </a:p>
        </p:txBody>
      </p:sp>
    </p:spTree>
    <p:extLst>
      <p:ext uri="{BB962C8B-B14F-4D97-AF65-F5344CB8AC3E}">
        <p14:creationId xmlns:p14="http://schemas.microsoft.com/office/powerpoint/2010/main" val="1976605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42153D-F76A-4671-888C-0F8B350057A7}"/>
              </a:ext>
            </a:extLst>
          </p:cNvPr>
          <p:cNvSpPr>
            <a:spLocks noGrp="1"/>
          </p:cNvSpPr>
          <p:nvPr>
            <p:ph type="title"/>
          </p:nvPr>
        </p:nvSpPr>
        <p:spPr/>
        <p:txBody>
          <a:bodyPr/>
          <a:lstStyle/>
          <a:p>
            <a:r>
              <a:rPr lang="zh-CN" altLang="en-US" dirty="0"/>
              <a:t>如何实现函数对象</a:t>
            </a:r>
          </a:p>
        </p:txBody>
      </p:sp>
      <p:sp>
        <p:nvSpPr>
          <p:cNvPr id="3" name="内容占位符 2">
            <a:extLst>
              <a:ext uri="{FF2B5EF4-FFF2-40B4-BE49-F238E27FC236}">
                <a16:creationId xmlns:a16="http://schemas.microsoft.com/office/drawing/2014/main" id="{1916456D-70A1-4B92-9BAD-3694FCBD4786}"/>
              </a:ext>
            </a:extLst>
          </p:cNvPr>
          <p:cNvSpPr>
            <a:spLocks noGrp="1"/>
          </p:cNvSpPr>
          <p:nvPr>
            <p:ph idx="1"/>
          </p:nvPr>
        </p:nvSpPr>
        <p:spPr/>
        <p:txBody>
          <a:bodyPr/>
          <a:lstStyle/>
          <a:p>
            <a:r>
              <a:rPr lang="zh-CN" altLang="en-US" dirty="0"/>
              <a:t>函数对象的要求有哪些？</a:t>
            </a:r>
            <a:endParaRPr lang="en-US" altLang="zh-CN" dirty="0"/>
          </a:p>
          <a:p>
            <a:pPr lvl="1"/>
            <a:r>
              <a:rPr lang="zh-CN" altLang="en-US" dirty="0"/>
              <a:t>需要重载</a:t>
            </a:r>
            <a:r>
              <a:rPr lang="en-US" altLang="zh-CN" dirty="0"/>
              <a:t>operator()</a:t>
            </a:r>
            <a:r>
              <a:rPr lang="zh-CN" altLang="en-US" dirty="0"/>
              <a:t>运算符</a:t>
            </a:r>
            <a:endParaRPr lang="en-US" altLang="zh-CN" dirty="0"/>
          </a:p>
          <a:p>
            <a:pPr lvl="1"/>
            <a:r>
              <a:rPr lang="zh-CN" altLang="en-US" dirty="0"/>
              <a:t>并且该函数需要是</a:t>
            </a:r>
            <a:r>
              <a:rPr lang="en-US" altLang="zh-CN" dirty="0"/>
              <a:t>public</a:t>
            </a:r>
            <a:r>
              <a:rPr lang="zh-CN" altLang="en-US" dirty="0"/>
              <a:t>访问权限</a:t>
            </a:r>
            <a:endParaRPr lang="en-US" altLang="zh-CN" dirty="0"/>
          </a:p>
          <a:p>
            <a:endParaRPr lang="en-US" altLang="zh-CN" dirty="0"/>
          </a:p>
          <a:p>
            <a:r>
              <a:rPr lang="zh-CN" altLang="en-US" dirty="0"/>
              <a:t>小知识：</a:t>
            </a:r>
            <a:r>
              <a:rPr lang="en-US" altLang="zh-CN" dirty="0"/>
              <a:t>Duck Typing </a:t>
            </a:r>
            <a:r>
              <a:rPr lang="zh-CN" altLang="en-US" dirty="0"/>
              <a:t>鸭子类型</a:t>
            </a:r>
            <a:endParaRPr lang="en-US" altLang="zh-CN" dirty="0"/>
          </a:p>
          <a:p>
            <a:pPr lvl="1"/>
            <a:r>
              <a:rPr lang="zh-CN" altLang="en-US" dirty="0"/>
              <a:t>如果一个物体，叫声像鸭子、走路像鸭子，那么它就是鸭子；</a:t>
            </a:r>
            <a:endParaRPr lang="en-US" altLang="zh-CN" dirty="0"/>
          </a:p>
          <a:p>
            <a:pPr lvl="1"/>
            <a:r>
              <a:rPr lang="zh-CN" altLang="en-US" dirty="0"/>
              <a:t>如果一个对象，用起来像函数，那么它就是函数对象！</a:t>
            </a:r>
            <a:endParaRPr lang="en-US" altLang="zh-CN" dirty="0"/>
          </a:p>
          <a:p>
            <a:pPr lvl="1"/>
            <a:endParaRPr lang="en-US" altLang="zh-CN" dirty="0"/>
          </a:p>
          <a:p>
            <a:pPr lvl="1"/>
            <a:r>
              <a:rPr lang="en-US" altLang="zh-CN" dirty="0"/>
              <a:t>C++</a:t>
            </a:r>
            <a:r>
              <a:rPr lang="zh-CN" altLang="en-US" dirty="0"/>
              <a:t>没有严格定义什么是函数对象</a:t>
            </a:r>
            <a:endParaRPr lang="en-US" altLang="zh-CN" dirty="0"/>
          </a:p>
          <a:p>
            <a:pPr lvl="1"/>
            <a:r>
              <a:rPr lang="zh-CN" altLang="en-US" dirty="0"/>
              <a:t>但是实践上按</a:t>
            </a:r>
            <a:r>
              <a:rPr lang="en-US" altLang="zh-CN" dirty="0"/>
              <a:t>Duck Typing</a:t>
            </a:r>
            <a:r>
              <a:rPr lang="zh-CN" altLang="en-US" dirty="0"/>
              <a:t>来处理</a:t>
            </a:r>
            <a:endParaRPr lang="en-US" altLang="zh-CN" dirty="0"/>
          </a:p>
        </p:txBody>
      </p:sp>
      <p:sp>
        <p:nvSpPr>
          <p:cNvPr id="4" name="灯片编号占位符 3">
            <a:extLst>
              <a:ext uri="{FF2B5EF4-FFF2-40B4-BE49-F238E27FC236}">
                <a16:creationId xmlns:a16="http://schemas.microsoft.com/office/drawing/2014/main" id="{345882C5-D85C-48D1-80AF-B86B277C2766}"/>
              </a:ext>
            </a:extLst>
          </p:cNvPr>
          <p:cNvSpPr>
            <a:spLocks noGrp="1"/>
          </p:cNvSpPr>
          <p:nvPr>
            <p:ph type="sldNum" sz="quarter" idx="12"/>
          </p:nvPr>
        </p:nvSpPr>
        <p:spPr/>
        <p:txBody>
          <a:bodyPr/>
          <a:lstStyle/>
          <a:p>
            <a:pPr>
              <a:defRPr/>
            </a:pPr>
            <a:fld id="{BFD7BE51-03DD-4CCA-8227-D775462981B4}" type="slidenum">
              <a:rPr lang="en-US" altLang="zh-CN" smtClean="0"/>
              <a:pPr>
                <a:defRPr/>
              </a:pPr>
              <a:t>39</a:t>
            </a:fld>
            <a:endParaRPr lang="en-US" altLang="zh-CN"/>
          </a:p>
        </p:txBody>
      </p:sp>
    </p:spTree>
    <p:extLst>
      <p:ext uri="{BB962C8B-B14F-4D97-AF65-F5344CB8AC3E}">
        <p14:creationId xmlns:p14="http://schemas.microsoft.com/office/powerpoint/2010/main" val="1819773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4C055-94BE-4BE5-9A49-9C0CA5E9AB6A}"/>
              </a:ext>
            </a:extLst>
          </p:cNvPr>
          <p:cNvSpPr>
            <a:spLocks noGrp="1"/>
          </p:cNvSpPr>
          <p:nvPr>
            <p:ph type="title"/>
          </p:nvPr>
        </p:nvSpPr>
        <p:spPr/>
        <p:txBody>
          <a:bodyPr/>
          <a:lstStyle/>
          <a:p>
            <a:r>
              <a:rPr lang="zh-CN" altLang="en-US" dirty="0"/>
              <a:t>实现自己的</a:t>
            </a:r>
            <a:r>
              <a:rPr lang="en-US" altLang="zh-CN" dirty="0"/>
              <a:t>sort</a:t>
            </a:r>
            <a:endParaRPr lang="zh-CN" altLang="en-US" dirty="0"/>
          </a:p>
        </p:txBody>
      </p:sp>
      <p:sp>
        <p:nvSpPr>
          <p:cNvPr id="3" name="内容占位符 2">
            <a:extLst>
              <a:ext uri="{FF2B5EF4-FFF2-40B4-BE49-F238E27FC236}">
                <a16:creationId xmlns:a16="http://schemas.microsoft.com/office/drawing/2014/main" id="{2F889CB5-9408-451C-9F75-2114B7E74E3A}"/>
              </a:ext>
            </a:extLst>
          </p:cNvPr>
          <p:cNvSpPr>
            <a:spLocks noGrp="1"/>
          </p:cNvSpPr>
          <p:nvPr>
            <p:ph idx="1"/>
          </p:nvPr>
        </p:nvSpPr>
        <p:spPr/>
        <p:txBody>
          <a:bodyPr/>
          <a:lstStyle/>
          <a:p>
            <a:endParaRPr lang="en-US" altLang="zh-CN" dirty="0"/>
          </a:p>
          <a:p>
            <a:endParaRPr lang="en-US" altLang="zh-CN" dirty="0"/>
          </a:p>
          <a:p>
            <a:endParaRPr lang="en-US" altLang="zh-CN" dirty="0"/>
          </a:p>
          <a:p>
            <a:endParaRPr lang="en-US" altLang="zh-CN" dirty="0"/>
          </a:p>
          <a:p>
            <a:endParaRPr lang="en-US" altLang="zh-CN" dirty="0"/>
          </a:p>
          <a:p>
            <a:r>
              <a:rPr lang="en-US" altLang="zh-CN" dirty="0"/>
              <a:t>sort</a:t>
            </a:r>
            <a:r>
              <a:rPr lang="zh-CN" altLang="en-US" dirty="0"/>
              <a:t>的第三个参数是什么类型？</a:t>
            </a:r>
            <a:endParaRPr lang="en-US" altLang="zh-CN" dirty="0"/>
          </a:p>
          <a:p>
            <a:pPr marL="457200" lvl="1" indent="0">
              <a:buNone/>
            </a:pPr>
            <a:r>
              <a:rPr lang="en-US" altLang="zh-CN" dirty="0"/>
              <a:t>template &lt;class Iterator, </a:t>
            </a:r>
            <a:r>
              <a:rPr lang="en-US" altLang="zh-CN" dirty="0">
                <a:solidFill>
                  <a:srgbClr val="FF0000"/>
                </a:solidFill>
              </a:rPr>
              <a:t>class Compare</a:t>
            </a:r>
            <a:r>
              <a:rPr lang="en-US" altLang="zh-CN" dirty="0"/>
              <a:t>&gt;</a:t>
            </a:r>
          </a:p>
          <a:p>
            <a:pPr marL="457200" lvl="1" indent="0">
              <a:buNone/>
            </a:pPr>
            <a:r>
              <a:rPr lang="en-US" altLang="zh-CN" dirty="0"/>
              <a:t>void sort (Iterator first, Iterator last, 			</a:t>
            </a:r>
            <a:r>
              <a:rPr lang="en-US" altLang="zh-CN" dirty="0">
                <a:solidFill>
                  <a:srgbClr val="FF0000"/>
                </a:solidFill>
              </a:rPr>
              <a:t>Compare</a:t>
            </a:r>
            <a:r>
              <a:rPr lang="en-US" altLang="zh-CN" dirty="0"/>
              <a:t> comp);</a:t>
            </a:r>
          </a:p>
          <a:p>
            <a:pPr lvl="1"/>
            <a:r>
              <a:rPr lang="zh-CN" altLang="en-US" dirty="0"/>
              <a:t>模板类型，可以接受函数指针</a:t>
            </a:r>
            <a:r>
              <a:rPr lang="en-US" altLang="zh-CN" dirty="0"/>
              <a:t>/</a:t>
            </a:r>
            <a:r>
              <a:rPr lang="zh-CN" altLang="en-US" dirty="0"/>
              <a:t>函数对象</a:t>
            </a:r>
            <a:endParaRPr lang="en-US" altLang="zh-CN" dirty="0"/>
          </a:p>
          <a:p>
            <a:endParaRPr lang="en-US" altLang="zh-CN" dirty="0"/>
          </a:p>
        </p:txBody>
      </p:sp>
      <p:sp>
        <p:nvSpPr>
          <p:cNvPr id="4" name="灯片编号占位符 3">
            <a:extLst>
              <a:ext uri="{FF2B5EF4-FFF2-40B4-BE49-F238E27FC236}">
                <a16:creationId xmlns:a16="http://schemas.microsoft.com/office/drawing/2014/main" id="{F3CEEC15-BFAA-4A6B-B5C7-D36159CFD7C2}"/>
              </a:ext>
            </a:extLst>
          </p:cNvPr>
          <p:cNvSpPr>
            <a:spLocks noGrp="1"/>
          </p:cNvSpPr>
          <p:nvPr>
            <p:ph type="sldNum" sz="quarter" idx="12"/>
          </p:nvPr>
        </p:nvSpPr>
        <p:spPr/>
        <p:txBody>
          <a:bodyPr/>
          <a:lstStyle/>
          <a:p>
            <a:pPr>
              <a:defRPr/>
            </a:pPr>
            <a:fld id="{BFD7BE51-03DD-4CCA-8227-D775462981B4}" type="slidenum">
              <a:rPr lang="en-US" altLang="zh-CN" smtClean="0"/>
              <a:pPr>
                <a:defRPr/>
              </a:pPr>
              <a:t>40</a:t>
            </a:fld>
            <a:endParaRPr lang="en-US" altLang="zh-CN"/>
          </a:p>
        </p:txBody>
      </p:sp>
      <p:sp>
        <p:nvSpPr>
          <p:cNvPr id="9" name="文本框 8">
            <a:extLst>
              <a:ext uri="{FF2B5EF4-FFF2-40B4-BE49-F238E27FC236}">
                <a16:creationId xmlns:a16="http://schemas.microsoft.com/office/drawing/2014/main" id="{D1BCFD18-06EB-4D9D-ADD4-9EA49989E7F7}"/>
              </a:ext>
            </a:extLst>
          </p:cNvPr>
          <p:cNvSpPr txBox="1"/>
          <p:nvPr/>
        </p:nvSpPr>
        <p:spPr>
          <a:xfrm>
            <a:off x="4055645" y="1442195"/>
            <a:ext cx="4980851" cy="2554545"/>
          </a:xfrm>
          <a:prstGeom prst="rect">
            <a:avLst/>
          </a:prstGeom>
          <a:noFill/>
          <a:ln>
            <a:solidFill>
              <a:schemeClr val="accent1"/>
            </a:solidFill>
          </a:ln>
        </p:spPr>
        <p:txBody>
          <a:bodyPr wrap="none" rtlCol="0">
            <a:spAutoFit/>
          </a:bodyPr>
          <a:lstStyle/>
          <a:p>
            <a:r>
              <a:rPr lang="en-US" altLang="zh-CN" sz="2000" b="1" dirty="0">
                <a:latin typeface="Consolas" panose="020B0609020204030204" pitchFamily="49" charset="0"/>
              </a:rPr>
              <a:t>template&lt;class T&gt;</a:t>
            </a:r>
          </a:p>
          <a:p>
            <a:r>
              <a:rPr lang="en-US" altLang="zh-CN" sz="2000" b="1" dirty="0">
                <a:latin typeface="Consolas" panose="020B0609020204030204" pitchFamily="49" charset="0"/>
              </a:rPr>
              <a:t>class greater</a:t>
            </a:r>
          </a:p>
          <a:p>
            <a:r>
              <a:rPr lang="en-US" altLang="zh-CN" sz="2000" b="1" dirty="0">
                <a:latin typeface="Consolas" panose="020B0609020204030204" pitchFamily="49" charset="0"/>
              </a:rPr>
              <a:t>{</a:t>
            </a:r>
          </a:p>
          <a:p>
            <a:r>
              <a:rPr lang="en-US" altLang="zh-CN" sz="2000" b="1" dirty="0">
                <a:latin typeface="Consolas" panose="020B0609020204030204" pitchFamily="49" charset="0"/>
              </a:rPr>
              <a:t>public:</a:t>
            </a:r>
          </a:p>
          <a:p>
            <a:r>
              <a:rPr lang="en-US" altLang="zh-CN" sz="2000" b="1" dirty="0">
                <a:latin typeface="Consolas" panose="020B0609020204030204" pitchFamily="49" charset="0"/>
              </a:rPr>
              <a:t>	bool operator()(</a:t>
            </a:r>
            <a:r>
              <a:rPr lang="en-US" altLang="zh-CN" sz="2000" b="1" dirty="0">
                <a:solidFill>
                  <a:srgbClr val="FF0000"/>
                </a:solidFill>
                <a:latin typeface="Consolas" panose="020B0609020204030204" pitchFamily="49" charset="0"/>
              </a:rPr>
              <a:t>……</a:t>
            </a:r>
            <a:r>
              <a:rPr lang="en-US" altLang="zh-CN" sz="2000" b="1" dirty="0">
                <a:latin typeface="Consolas" panose="020B0609020204030204" pitchFamily="49" charset="0"/>
              </a:rPr>
              <a:t>)</a:t>
            </a:r>
          </a:p>
          <a:p>
            <a:r>
              <a:rPr lang="en-US" altLang="zh-CN" sz="2000" b="1" dirty="0">
                <a:latin typeface="Consolas" panose="020B0609020204030204" pitchFamily="49" charset="0"/>
              </a:rPr>
              <a:t>};</a:t>
            </a:r>
          </a:p>
          <a:p>
            <a:endParaRPr lang="en-US" altLang="zh-CN" sz="2000" b="1" dirty="0">
              <a:latin typeface="Consolas" panose="020B0609020204030204" pitchFamily="49" charset="0"/>
            </a:endParaRPr>
          </a:p>
          <a:p>
            <a:r>
              <a:rPr lang="en-US" altLang="zh-CN" sz="2000" b="1" dirty="0">
                <a:solidFill>
                  <a:srgbClr val="1D9A78"/>
                </a:solidFill>
                <a:latin typeface="Consolas" panose="020B0609020204030204" pitchFamily="49" charset="0"/>
              </a:rPr>
              <a:t>//sort(</a:t>
            </a:r>
            <a:r>
              <a:rPr lang="en-US" altLang="zh-CN" sz="2000" b="1" dirty="0" err="1">
                <a:solidFill>
                  <a:srgbClr val="1D9A78"/>
                </a:solidFill>
                <a:latin typeface="Consolas" panose="020B0609020204030204" pitchFamily="49" charset="0"/>
              </a:rPr>
              <a:t>arr</a:t>
            </a:r>
            <a:r>
              <a:rPr lang="en-US" altLang="zh-CN" sz="2000" b="1" dirty="0">
                <a:solidFill>
                  <a:srgbClr val="1D9A78"/>
                </a:solidFill>
                <a:latin typeface="Consolas" panose="020B0609020204030204" pitchFamily="49" charset="0"/>
              </a:rPr>
              <a:t>,</a:t>
            </a:r>
            <a:r>
              <a:rPr lang="zh-CN" altLang="en-US" sz="2000" b="1" dirty="0">
                <a:solidFill>
                  <a:srgbClr val="1D9A78"/>
                </a:solidFill>
                <a:latin typeface="Consolas" panose="020B0609020204030204" pitchFamily="49" charset="0"/>
              </a:rPr>
              <a:t> </a:t>
            </a:r>
            <a:r>
              <a:rPr lang="en-US" altLang="zh-CN" sz="2000" b="1" dirty="0">
                <a:solidFill>
                  <a:srgbClr val="1D9A78"/>
                </a:solidFill>
                <a:latin typeface="Consolas" panose="020B0609020204030204" pitchFamily="49" charset="0"/>
              </a:rPr>
              <a:t>arr+5, greater&lt;</a:t>
            </a:r>
            <a:r>
              <a:rPr lang="en-US" altLang="zh-CN" sz="2000" b="1" dirty="0" err="1">
                <a:solidFill>
                  <a:srgbClr val="1D9A78"/>
                </a:solidFill>
                <a:latin typeface="Consolas" panose="020B0609020204030204" pitchFamily="49" charset="0"/>
              </a:rPr>
              <a:t>int</a:t>
            </a:r>
            <a:r>
              <a:rPr lang="en-US" altLang="zh-CN" sz="2000" b="1" dirty="0">
                <a:solidFill>
                  <a:srgbClr val="1D9A78"/>
                </a:solidFill>
                <a:latin typeface="Consolas" panose="020B0609020204030204" pitchFamily="49" charset="0"/>
              </a:rPr>
              <a:t>&gt;())</a:t>
            </a:r>
          </a:p>
        </p:txBody>
      </p:sp>
      <p:sp>
        <p:nvSpPr>
          <p:cNvPr id="10" name="文本框 9">
            <a:extLst>
              <a:ext uri="{FF2B5EF4-FFF2-40B4-BE49-F238E27FC236}">
                <a16:creationId xmlns:a16="http://schemas.microsoft.com/office/drawing/2014/main" id="{3639BD9D-0C3C-48D6-8AA5-C098F66530AA}"/>
              </a:ext>
            </a:extLst>
          </p:cNvPr>
          <p:cNvSpPr txBox="1"/>
          <p:nvPr/>
        </p:nvSpPr>
        <p:spPr>
          <a:xfrm>
            <a:off x="107504" y="1749971"/>
            <a:ext cx="3802151" cy="1938992"/>
          </a:xfrm>
          <a:prstGeom prst="rect">
            <a:avLst/>
          </a:prstGeom>
          <a:noFill/>
          <a:ln>
            <a:solidFill>
              <a:schemeClr val="accent1"/>
            </a:solidFill>
          </a:ln>
        </p:spPr>
        <p:txBody>
          <a:bodyPr wrap="square" rtlCol="0">
            <a:spAutoFit/>
          </a:bodyPr>
          <a:lstStyle/>
          <a:p>
            <a:r>
              <a:rPr lang="en-US" altLang="zh-CN" sz="2000" b="1" dirty="0">
                <a:latin typeface="Consolas" panose="020B0609020204030204" pitchFamily="49" charset="0"/>
              </a:rPr>
              <a:t>bool comp(</a:t>
            </a:r>
            <a:r>
              <a:rPr lang="en-US" altLang="zh-CN" sz="2000" b="1" dirty="0" err="1">
                <a:latin typeface="Consolas" panose="020B0609020204030204" pitchFamily="49" charset="0"/>
              </a:rPr>
              <a:t>int</a:t>
            </a:r>
            <a:r>
              <a:rPr lang="en-US" altLang="zh-CN" sz="2000" b="1" dirty="0">
                <a:latin typeface="Consolas" panose="020B0609020204030204" pitchFamily="49" charset="0"/>
              </a:rPr>
              <a:t> a, </a:t>
            </a:r>
            <a:r>
              <a:rPr lang="en-US" altLang="zh-CN" sz="2000" b="1" dirty="0" err="1">
                <a:latin typeface="Consolas" panose="020B0609020204030204" pitchFamily="49" charset="0"/>
              </a:rPr>
              <a:t>int</a:t>
            </a:r>
            <a:r>
              <a:rPr lang="en-US" altLang="zh-CN" sz="2000" b="1" dirty="0">
                <a:latin typeface="Consolas" panose="020B0609020204030204" pitchFamily="49" charset="0"/>
              </a:rPr>
              <a:t> b)</a:t>
            </a:r>
          </a:p>
          <a:p>
            <a:r>
              <a:rPr lang="en-US" altLang="zh-CN" sz="2000" b="1" dirty="0">
                <a:latin typeface="Consolas" panose="020B0609020204030204" pitchFamily="49" charset="0"/>
              </a:rPr>
              <a:t>{</a:t>
            </a:r>
          </a:p>
          <a:p>
            <a:r>
              <a:rPr lang="en-US" altLang="zh-CN" sz="2000" b="1" dirty="0">
                <a:latin typeface="Consolas" panose="020B0609020204030204" pitchFamily="49" charset="0"/>
              </a:rPr>
              <a:t>	return a &gt; b;</a:t>
            </a:r>
          </a:p>
          <a:p>
            <a:r>
              <a:rPr lang="en-US" altLang="zh-CN" sz="2000" b="1" dirty="0">
                <a:latin typeface="Consolas" panose="020B0609020204030204" pitchFamily="49" charset="0"/>
              </a:rPr>
              <a:t>}</a:t>
            </a:r>
          </a:p>
          <a:p>
            <a:endParaRPr lang="en-US" altLang="zh-CN" sz="2000" b="1" dirty="0">
              <a:latin typeface="Consolas" panose="020B0609020204030204" pitchFamily="49" charset="0"/>
            </a:endParaRPr>
          </a:p>
          <a:p>
            <a:r>
              <a:rPr lang="en-US" altLang="zh-CN" sz="2000" b="1" dirty="0">
                <a:solidFill>
                  <a:srgbClr val="1D9A78"/>
                </a:solidFill>
                <a:latin typeface="Consolas" panose="020B0609020204030204" pitchFamily="49" charset="0"/>
              </a:rPr>
              <a:t>//sort(</a:t>
            </a:r>
            <a:r>
              <a:rPr lang="en-US" altLang="zh-CN" sz="2000" b="1" dirty="0" err="1">
                <a:solidFill>
                  <a:srgbClr val="1D9A78"/>
                </a:solidFill>
                <a:latin typeface="Consolas" panose="020B0609020204030204" pitchFamily="49" charset="0"/>
              </a:rPr>
              <a:t>arr</a:t>
            </a:r>
            <a:r>
              <a:rPr lang="en-US" altLang="zh-CN" sz="2000" b="1" dirty="0">
                <a:solidFill>
                  <a:srgbClr val="1D9A78"/>
                </a:solidFill>
                <a:latin typeface="Consolas" panose="020B0609020204030204" pitchFamily="49" charset="0"/>
              </a:rPr>
              <a:t>, arr+5, comp);</a:t>
            </a:r>
          </a:p>
        </p:txBody>
      </p:sp>
    </p:spTree>
    <p:extLst>
      <p:ext uri="{BB962C8B-B14F-4D97-AF65-F5344CB8AC3E}">
        <p14:creationId xmlns:p14="http://schemas.microsoft.com/office/powerpoint/2010/main" val="6293168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54C055-94BE-4BE5-9A49-9C0CA5E9AB6A}"/>
              </a:ext>
            </a:extLst>
          </p:cNvPr>
          <p:cNvSpPr>
            <a:spLocks noGrp="1"/>
          </p:cNvSpPr>
          <p:nvPr>
            <p:ph type="title"/>
          </p:nvPr>
        </p:nvSpPr>
        <p:spPr>
          <a:xfrm>
            <a:off x="4623359" y="65654"/>
            <a:ext cx="4520641" cy="1325563"/>
          </a:xfrm>
        </p:spPr>
        <p:txBody>
          <a:bodyPr/>
          <a:lstStyle/>
          <a:p>
            <a:r>
              <a:rPr lang="zh-CN" altLang="en-US" dirty="0">
                <a:solidFill>
                  <a:schemeClr val="accent4"/>
                </a:solidFill>
              </a:rPr>
              <a:t>实现自己的</a:t>
            </a:r>
            <a:r>
              <a:rPr lang="en-US" altLang="zh-CN" dirty="0">
                <a:solidFill>
                  <a:schemeClr val="accent4"/>
                </a:solidFill>
              </a:rPr>
              <a:t>sort</a:t>
            </a:r>
            <a:endParaRPr lang="zh-CN" altLang="en-US" dirty="0">
              <a:solidFill>
                <a:schemeClr val="accent4"/>
              </a:solidFill>
            </a:endParaRPr>
          </a:p>
        </p:txBody>
      </p:sp>
      <p:sp>
        <p:nvSpPr>
          <p:cNvPr id="4" name="灯片编号占位符 3">
            <a:extLst>
              <a:ext uri="{FF2B5EF4-FFF2-40B4-BE49-F238E27FC236}">
                <a16:creationId xmlns:a16="http://schemas.microsoft.com/office/drawing/2014/main" id="{F3CEEC15-BFAA-4A6B-B5C7-D36159CFD7C2}"/>
              </a:ext>
            </a:extLst>
          </p:cNvPr>
          <p:cNvSpPr>
            <a:spLocks noGrp="1"/>
          </p:cNvSpPr>
          <p:nvPr>
            <p:ph type="sldNum" sz="quarter" idx="12"/>
          </p:nvPr>
        </p:nvSpPr>
        <p:spPr/>
        <p:txBody>
          <a:bodyPr/>
          <a:lstStyle/>
          <a:p>
            <a:pPr>
              <a:defRPr/>
            </a:pPr>
            <a:fld id="{BFD7BE51-03DD-4CCA-8227-D775462981B4}" type="slidenum">
              <a:rPr lang="en-US" altLang="zh-CN" smtClean="0"/>
              <a:pPr>
                <a:defRPr/>
              </a:pPr>
              <a:t>41</a:t>
            </a:fld>
            <a:endParaRPr lang="en-US" altLang="zh-CN"/>
          </a:p>
        </p:txBody>
      </p:sp>
      <p:sp>
        <p:nvSpPr>
          <p:cNvPr id="5" name="文本框 4">
            <a:extLst>
              <a:ext uri="{FF2B5EF4-FFF2-40B4-BE49-F238E27FC236}">
                <a16:creationId xmlns:a16="http://schemas.microsoft.com/office/drawing/2014/main" id="{9A530964-FDBF-4BAC-996B-8D0858BC3DF1}"/>
              </a:ext>
            </a:extLst>
          </p:cNvPr>
          <p:cNvSpPr txBox="1"/>
          <p:nvPr/>
        </p:nvSpPr>
        <p:spPr>
          <a:xfrm>
            <a:off x="467543" y="145077"/>
            <a:ext cx="8536589" cy="6740307"/>
          </a:xfrm>
          <a:prstGeom prst="rect">
            <a:avLst/>
          </a:prstGeom>
          <a:noFill/>
        </p:spPr>
        <p:txBody>
          <a:bodyPr wrap="square" rtlCol="0">
            <a:spAutoFit/>
          </a:bodyPr>
          <a:lstStyle/>
          <a:p>
            <a:r>
              <a:rPr lang="en-US" altLang="zh-CN" b="1" dirty="0">
                <a:latin typeface="Consolas" panose="020B0609020204030204" pitchFamily="49" charset="0"/>
              </a:rPr>
              <a:t>#include &lt;algorithm&gt;</a:t>
            </a:r>
          </a:p>
          <a:p>
            <a:r>
              <a:rPr lang="en-US" altLang="zh-CN" b="1" dirty="0">
                <a:latin typeface="Consolas" panose="020B0609020204030204" pitchFamily="49" charset="0"/>
              </a:rPr>
              <a:t>#include &lt;functional&gt;</a:t>
            </a:r>
          </a:p>
          <a:p>
            <a:r>
              <a:rPr lang="en-US" altLang="zh-CN" b="1" dirty="0">
                <a:latin typeface="Consolas" panose="020B0609020204030204" pitchFamily="49" charset="0"/>
              </a:rPr>
              <a:t>using namespace std;</a:t>
            </a:r>
          </a:p>
          <a:p>
            <a:endParaRPr lang="en-US" altLang="zh-CN" b="1" dirty="0">
              <a:latin typeface="Consolas" panose="020B0609020204030204" pitchFamily="49" charset="0"/>
            </a:endParaRPr>
          </a:p>
          <a:p>
            <a:r>
              <a:rPr lang="en-US" altLang="zh-CN" b="1" dirty="0">
                <a:latin typeface="Consolas" panose="020B0609020204030204" pitchFamily="49" charset="0"/>
              </a:rPr>
              <a:t>bool comp(int a, int b)</a:t>
            </a:r>
          </a:p>
          <a:p>
            <a:r>
              <a:rPr lang="en-US" altLang="zh-CN" b="1" dirty="0">
                <a:latin typeface="Consolas" panose="020B0609020204030204" pitchFamily="49" charset="0"/>
              </a:rPr>
              <a:t>{</a:t>
            </a:r>
          </a:p>
          <a:p>
            <a:r>
              <a:rPr lang="en-US" altLang="zh-CN" b="1" dirty="0">
                <a:latin typeface="Consolas" panose="020B0609020204030204" pitchFamily="49" charset="0"/>
              </a:rPr>
              <a:t>	return a &gt; b;</a:t>
            </a:r>
          </a:p>
          <a:p>
            <a:r>
              <a:rPr lang="en-US" altLang="zh-CN" b="1" dirty="0">
                <a:latin typeface="Consolas" panose="020B0609020204030204" pitchFamily="49" charset="0"/>
              </a:rPr>
              <a:t>}</a:t>
            </a:r>
          </a:p>
          <a:p>
            <a:r>
              <a:rPr lang="en-US" altLang="zh-CN" b="1" dirty="0">
                <a:solidFill>
                  <a:srgbClr val="C00000"/>
                </a:solidFill>
                <a:latin typeface="Consolas" panose="020B0609020204030204" pitchFamily="49" charset="0"/>
              </a:rPr>
              <a:t>template&lt;class Iterator, class Compare&gt;</a:t>
            </a:r>
          </a:p>
          <a:p>
            <a:r>
              <a:rPr lang="en-US" altLang="zh-CN" b="1" dirty="0">
                <a:latin typeface="Consolas" panose="020B0609020204030204" pitchFamily="49" charset="0"/>
              </a:rPr>
              <a:t>void </a:t>
            </a:r>
            <a:r>
              <a:rPr lang="en-US" altLang="zh-CN" b="1" dirty="0" err="1">
                <a:latin typeface="Consolas" panose="020B0609020204030204" pitchFamily="49" charset="0"/>
              </a:rPr>
              <a:t>mysort</a:t>
            </a:r>
            <a:r>
              <a:rPr lang="en-US" altLang="zh-CN" b="1" dirty="0">
                <a:latin typeface="Consolas" panose="020B0609020204030204" pitchFamily="49" charset="0"/>
              </a:rPr>
              <a:t>(Iterator first, Iterator last, Compare comp)</a:t>
            </a:r>
          </a:p>
          <a:p>
            <a:r>
              <a:rPr lang="en-US" altLang="zh-CN" b="1" dirty="0">
                <a:solidFill>
                  <a:srgbClr val="00CC00"/>
                </a:solidFill>
                <a:latin typeface="Consolas" panose="020B0609020204030204" pitchFamily="49" charset="0"/>
              </a:rPr>
              <a:t>//</a:t>
            </a:r>
            <a:r>
              <a:rPr lang="en-US" altLang="zh-CN" b="1" dirty="0" err="1">
                <a:solidFill>
                  <a:srgbClr val="00CC00"/>
                </a:solidFill>
                <a:latin typeface="Consolas" panose="020B0609020204030204" pitchFamily="49" charset="0"/>
              </a:rPr>
              <a:t>mysort</a:t>
            </a:r>
            <a:r>
              <a:rPr lang="zh-CN" altLang="en-US" b="1" dirty="0">
                <a:solidFill>
                  <a:srgbClr val="00CC00"/>
                </a:solidFill>
                <a:latin typeface="Consolas" panose="020B0609020204030204" pitchFamily="49" charset="0"/>
              </a:rPr>
              <a:t>的时间复杂度为</a:t>
            </a:r>
            <a:r>
              <a:rPr lang="en-US" altLang="zh-CN" b="1" dirty="0">
                <a:solidFill>
                  <a:srgbClr val="00CC00"/>
                </a:solidFill>
                <a:latin typeface="Consolas" panose="020B0609020204030204" pitchFamily="49" charset="0"/>
              </a:rPr>
              <a:t>O(n^2)</a:t>
            </a:r>
            <a:r>
              <a:rPr lang="zh-CN" altLang="en-US" b="1" dirty="0">
                <a:solidFill>
                  <a:srgbClr val="00CC00"/>
                </a:solidFill>
                <a:latin typeface="Consolas" panose="020B0609020204030204" pitchFamily="49" charset="0"/>
              </a:rPr>
              <a:t>，</a:t>
            </a:r>
            <a:r>
              <a:rPr lang="en-US" altLang="zh-CN" b="1" dirty="0">
                <a:solidFill>
                  <a:srgbClr val="00CC00"/>
                </a:solidFill>
                <a:latin typeface="Consolas" panose="020B0609020204030204" pitchFamily="49" charset="0"/>
              </a:rPr>
              <a:t>std::sort</a:t>
            </a:r>
            <a:r>
              <a:rPr lang="zh-CN" altLang="en-US" b="1" dirty="0">
                <a:solidFill>
                  <a:srgbClr val="00CC00"/>
                </a:solidFill>
                <a:latin typeface="Consolas" panose="020B0609020204030204" pitchFamily="49" charset="0"/>
              </a:rPr>
              <a:t>的时间复杂度为</a:t>
            </a:r>
            <a:r>
              <a:rPr lang="en-US" altLang="zh-CN" b="1" dirty="0">
                <a:solidFill>
                  <a:srgbClr val="00CC00"/>
                </a:solidFill>
                <a:latin typeface="Consolas" panose="020B0609020204030204" pitchFamily="49" charset="0"/>
              </a:rPr>
              <a:t>O(</a:t>
            </a:r>
            <a:r>
              <a:rPr lang="en-US" altLang="zh-CN" b="1" dirty="0" err="1">
                <a:solidFill>
                  <a:srgbClr val="00CC00"/>
                </a:solidFill>
                <a:latin typeface="Consolas" panose="020B0609020204030204" pitchFamily="49" charset="0"/>
              </a:rPr>
              <a:t>nlogn</a:t>
            </a:r>
            <a:r>
              <a:rPr lang="en-US" altLang="zh-CN" b="1" dirty="0">
                <a:solidFill>
                  <a:srgbClr val="00CC00"/>
                </a:solidFill>
                <a:latin typeface="Consolas" panose="020B0609020204030204" pitchFamily="49" charset="0"/>
              </a:rPr>
              <a:t>)</a:t>
            </a:r>
          </a:p>
          <a:p>
            <a:r>
              <a:rPr lang="en-US" altLang="zh-CN" b="1" dirty="0">
                <a:latin typeface="Consolas" panose="020B0609020204030204" pitchFamily="49" charset="0"/>
              </a:rPr>
              <a:t>{</a:t>
            </a:r>
          </a:p>
          <a:p>
            <a:r>
              <a:rPr lang="en-US" altLang="zh-CN" b="1" dirty="0">
                <a:latin typeface="Consolas" panose="020B0609020204030204" pitchFamily="49" charset="0"/>
              </a:rPr>
              <a:t>	for (auto </a:t>
            </a:r>
            <a:r>
              <a:rPr lang="en-US" altLang="zh-CN" b="1" dirty="0" err="1">
                <a:latin typeface="Consolas" panose="020B0609020204030204" pitchFamily="49" charset="0"/>
              </a:rPr>
              <a:t>i</a:t>
            </a:r>
            <a:r>
              <a:rPr lang="en-US" altLang="zh-CN" b="1" dirty="0">
                <a:latin typeface="Consolas" panose="020B0609020204030204" pitchFamily="49" charset="0"/>
              </a:rPr>
              <a:t> = first; </a:t>
            </a:r>
            <a:r>
              <a:rPr lang="en-US" altLang="zh-CN" b="1" dirty="0" err="1">
                <a:latin typeface="Consolas" panose="020B0609020204030204" pitchFamily="49" charset="0"/>
              </a:rPr>
              <a:t>i</a:t>
            </a:r>
            <a:r>
              <a:rPr lang="en-US" altLang="zh-CN" b="1" dirty="0">
                <a:latin typeface="Consolas" panose="020B0609020204030204" pitchFamily="49" charset="0"/>
              </a:rPr>
              <a:t> != last; </a:t>
            </a:r>
            <a:r>
              <a:rPr lang="en-US" altLang="zh-CN" b="1" dirty="0" err="1">
                <a:latin typeface="Consolas" panose="020B0609020204030204" pitchFamily="49" charset="0"/>
              </a:rPr>
              <a:t>i</a:t>
            </a:r>
            <a:r>
              <a:rPr lang="en-US" altLang="zh-CN" b="1" dirty="0">
                <a:latin typeface="Consolas" panose="020B0609020204030204" pitchFamily="49" charset="0"/>
              </a:rPr>
              <a:t>++)</a:t>
            </a:r>
          </a:p>
          <a:p>
            <a:r>
              <a:rPr lang="en-US" altLang="zh-CN" b="1" dirty="0">
                <a:latin typeface="Consolas" panose="020B0609020204030204" pitchFamily="49" charset="0"/>
              </a:rPr>
              <a:t>		for (auto j = </a:t>
            </a:r>
            <a:r>
              <a:rPr lang="en-US" altLang="zh-CN" b="1" dirty="0" err="1">
                <a:latin typeface="Consolas" panose="020B0609020204030204" pitchFamily="49" charset="0"/>
              </a:rPr>
              <a:t>i</a:t>
            </a:r>
            <a:r>
              <a:rPr lang="en-US" altLang="zh-CN" b="1" dirty="0">
                <a:latin typeface="Consolas" panose="020B0609020204030204" pitchFamily="49" charset="0"/>
              </a:rPr>
              <a:t>; j != last; </a:t>
            </a:r>
            <a:r>
              <a:rPr lang="en-US" altLang="zh-CN" b="1" dirty="0" err="1">
                <a:latin typeface="Consolas" panose="020B0609020204030204" pitchFamily="49" charset="0"/>
              </a:rPr>
              <a:t>j++</a:t>
            </a:r>
            <a:r>
              <a:rPr lang="en-US" altLang="zh-CN" b="1" dirty="0">
                <a:latin typeface="Consolas" panose="020B0609020204030204" pitchFamily="49" charset="0"/>
              </a:rPr>
              <a:t>)</a:t>
            </a:r>
          </a:p>
          <a:p>
            <a:r>
              <a:rPr lang="en-US" altLang="zh-CN" b="1" dirty="0">
                <a:latin typeface="Consolas" panose="020B0609020204030204" pitchFamily="49" charset="0"/>
              </a:rPr>
              <a:t>			if (!comp(*</a:t>
            </a:r>
            <a:r>
              <a:rPr lang="en-US" altLang="zh-CN" b="1" dirty="0" err="1">
                <a:latin typeface="Consolas" panose="020B0609020204030204" pitchFamily="49" charset="0"/>
              </a:rPr>
              <a:t>i</a:t>
            </a:r>
            <a:r>
              <a:rPr lang="en-US" altLang="zh-CN" b="1" dirty="0">
                <a:latin typeface="Consolas" panose="020B0609020204030204" pitchFamily="49" charset="0"/>
              </a:rPr>
              <a:t>, *j)) swap(*</a:t>
            </a:r>
            <a:r>
              <a:rPr lang="en-US" altLang="zh-CN" b="1" dirty="0" err="1">
                <a:latin typeface="Consolas" panose="020B0609020204030204" pitchFamily="49" charset="0"/>
              </a:rPr>
              <a:t>i</a:t>
            </a:r>
            <a:r>
              <a:rPr lang="en-US" altLang="zh-CN" b="1" dirty="0">
                <a:latin typeface="Consolas" panose="020B0609020204030204" pitchFamily="49" charset="0"/>
              </a:rPr>
              <a:t>, *j);</a:t>
            </a:r>
          </a:p>
          <a:p>
            <a:r>
              <a:rPr lang="en-US" altLang="zh-CN" b="1" dirty="0">
                <a:latin typeface="Consolas" panose="020B0609020204030204" pitchFamily="49" charset="0"/>
              </a:rPr>
              <a:t>}</a:t>
            </a:r>
          </a:p>
          <a:p>
            <a:r>
              <a:rPr lang="en-US" altLang="zh-CN" b="1" dirty="0">
                <a:latin typeface="Consolas" panose="020B0609020204030204" pitchFamily="49" charset="0"/>
              </a:rPr>
              <a:t>int main()</a:t>
            </a:r>
          </a:p>
          <a:p>
            <a:r>
              <a:rPr lang="en-US" altLang="zh-CN" b="1" dirty="0">
                <a:latin typeface="Consolas" panose="020B0609020204030204" pitchFamily="49" charset="0"/>
              </a:rPr>
              <a:t>{</a:t>
            </a:r>
          </a:p>
          <a:p>
            <a:r>
              <a:rPr lang="en-US" altLang="zh-CN" b="1" dirty="0">
                <a:latin typeface="Consolas" panose="020B0609020204030204" pitchFamily="49" charset="0"/>
              </a:rPr>
              <a:t>	int </a:t>
            </a:r>
            <a:r>
              <a:rPr lang="en-US" altLang="zh-CN" b="1" dirty="0" err="1">
                <a:latin typeface="Consolas" panose="020B0609020204030204" pitchFamily="49" charset="0"/>
              </a:rPr>
              <a:t>arr</a:t>
            </a:r>
            <a:r>
              <a:rPr lang="en-US" altLang="zh-CN" b="1" dirty="0">
                <a:latin typeface="Consolas" panose="020B0609020204030204" pitchFamily="49" charset="0"/>
              </a:rPr>
              <a:t>[5] = { 5, 2, 3, 1, 7 };</a:t>
            </a:r>
          </a:p>
          <a:p>
            <a:r>
              <a:rPr lang="en-US" altLang="zh-CN" b="1" dirty="0">
                <a:latin typeface="Consolas" panose="020B0609020204030204" pitchFamily="49" charset="0"/>
              </a:rPr>
              <a:t>	</a:t>
            </a:r>
            <a:r>
              <a:rPr lang="en-US" altLang="zh-CN" b="1" dirty="0" err="1">
                <a:latin typeface="Consolas" panose="020B0609020204030204" pitchFamily="49" charset="0"/>
              </a:rPr>
              <a:t>mysort</a:t>
            </a:r>
            <a:r>
              <a:rPr lang="en-US" altLang="zh-CN" b="1" dirty="0">
                <a:latin typeface="Consolas" panose="020B0609020204030204" pitchFamily="49" charset="0"/>
              </a:rPr>
              <a:t>(</a:t>
            </a:r>
            <a:r>
              <a:rPr lang="en-US" altLang="zh-CN" b="1" dirty="0" err="1">
                <a:latin typeface="Consolas" panose="020B0609020204030204" pitchFamily="49" charset="0"/>
              </a:rPr>
              <a:t>arr</a:t>
            </a:r>
            <a:r>
              <a:rPr lang="en-US" altLang="zh-CN" b="1" dirty="0">
                <a:latin typeface="Consolas" panose="020B0609020204030204" pitchFamily="49" charset="0"/>
              </a:rPr>
              <a:t>, </a:t>
            </a:r>
            <a:r>
              <a:rPr lang="en-US" altLang="zh-CN" b="1" dirty="0" err="1">
                <a:latin typeface="Consolas" panose="020B0609020204030204" pitchFamily="49" charset="0"/>
              </a:rPr>
              <a:t>arr</a:t>
            </a:r>
            <a:r>
              <a:rPr lang="en-US" altLang="zh-CN" b="1" dirty="0">
                <a:latin typeface="Consolas" panose="020B0609020204030204" pitchFamily="49" charset="0"/>
              </a:rPr>
              <a:t> + 5, </a:t>
            </a:r>
            <a:r>
              <a:rPr lang="en-US" altLang="zh-CN" b="1" dirty="0">
                <a:solidFill>
                  <a:srgbClr val="C00000"/>
                </a:solidFill>
                <a:latin typeface="Consolas" panose="020B0609020204030204" pitchFamily="49" charset="0"/>
              </a:rPr>
              <a:t>comp</a:t>
            </a:r>
            <a:r>
              <a:rPr lang="en-US" altLang="zh-CN" b="1" dirty="0">
                <a:latin typeface="Consolas" panose="020B0609020204030204" pitchFamily="49" charset="0"/>
              </a:rPr>
              <a:t>);</a:t>
            </a:r>
          </a:p>
          <a:p>
            <a:r>
              <a:rPr lang="en-US" altLang="zh-CN" b="1" dirty="0">
                <a:latin typeface="Consolas" panose="020B0609020204030204" pitchFamily="49" charset="0"/>
              </a:rPr>
              <a:t>	</a:t>
            </a:r>
            <a:r>
              <a:rPr lang="en-US" altLang="zh-CN" b="1" dirty="0" err="1">
                <a:latin typeface="Consolas" panose="020B0609020204030204" pitchFamily="49" charset="0"/>
              </a:rPr>
              <a:t>mysort</a:t>
            </a:r>
            <a:r>
              <a:rPr lang="en-US" altLang="zh-CN" b="1" dirty="0">
                <a:latin typeface="Consolas" panose="020B0609020204030204" pitchFamily="49" charset="0"/>
              </a:rPr>
              <a:t>(</a:t>
            </a:r>
            <a:r>
              <a:rPr lang="en-US" altLang="zh-CN" b="1" dirty="0" err="1">
                <a:latin typeface="Consolas" panose="020B0609020204030204" pitchFamily="49" charset="0"/>
              </a:rPr>
              <a:t>arr</a:t>
            </a:r>
            <a:r>
              <a:rPr lang="en-US" altLang="zh-CN" b="1" dirty="0">
                <a:latin typeface="Consolas" panose="020B0609020204030204" pitchFamily="49" charset="0"/>
              </a:rPr>
              <a:t>, </a:t>
            </a:r>
            <a:r>
              <a:rPr lang="en-US" altLang="zh-CN" b="1" dirty="0" err="1">
                <a:latin typeface="Consolas" panose="020B0609020204030204" pitchFamily="49" charset="0"/>
              </a:rPr>
              <a:t>arr</a:t>
            </a:r>
            <a:r>
              <a:rPr lang="en-US" altLang="zh-CN" b="1" dirty="0">
                <a:latin typeface="Consolas" panose="020B0609020204030204" pitchFamily="49" charset="0"/>
              </a:rPr>
              <a:t> + 5, </a:t>
            </a:r>
            <a:r>
              <a:rPr lang="en-US" altLang="zh-CN" b="1" dirty="0">
                <a:solidFill>
                  <a:srgbClr val="C00000"/>
                </a:solidFill>
                <a:latin typeface="Consolas" panose="020B0609020204030204" pitchFamily="49" charset="0"/>
              </a:rPr>
              <a:t>greater&lt;int&gt;()</a:t>
            </a:r>
            <a:r>
              <a:rPr lang="en-US" altLang="zh-CN" b="1" dirty="0">
                <a:latin typeface="Consolas" panose="020B0609020204030204" pitchFamily="49" charset="0"/>
              </a:rPr>
              <a:t>); </a:t>
            </a:r>
          </a:p>
          <a:p>
            <a:r>
              <a:rPr lang="en-US" altLang="zh-CN" b="1" dirty="0">
                <a:latin typeface="Consolas" panose="020B0609020204030204" pitchFamily="49" charset="0"/>
              </a:rPr>
              <a:t>    </a:t>
            </a:r>
            <a:r>
              <a:rPr lang="en-US" altLang="zh-CN" b="1" dirty="0">
                <a:solidFill>
                  <a:srgbClr val="00CC00"/>
                </a:solidFill>
                <a:latin typeface="Consolas" panose="020B0609020204030204" pitchFamily="49" charset="0"/>
              </a:rPr>
              <a:t>//</a:t>
            </a:r>
            <a:r>
              <a:rPr lang="zh-CN" altLang="en-US" b="1" dirty="0">
                <a:solidFill>
                  <a:srgbClr val="00CC00"/>
                </a:solidFill>
                <a:latin typeface="Consolas" panose="020B0609020204030204" pitchFamily="49" charset="0"/>
              </a:rPr>
              <a:t>既可接受函数指针，又可接受函数对象</a:t>
            </a:r>
            <a:endParaRPr lang="en-US" altLang="zh-CN" b="1" dirty="0">
              <a:solidFill>
                <a:srgbClr val="00CC00"/>
              </a:solidFill>
              <a:latin typeface="Consolas" panose="020B0609020204030204" pitchFamily="49" charset="0"/>
            </a:endParaRPr>
          </a:p>
          <a:p>
            <a:r>
              <a:rPr lang="en-US" altLang="zh-CN" b="1" dirty="0">
                <a:latin typeface="Consolas" panose="020B0609020204030204" pitchFamily="49" charset="0"/>
              </a:rPr>
              <a:t>	return 0;</a:t>
            </a:r>
          </a:p>
          <a:p>
            <a:r>
              <a:rPr lang="en-US" altLang="zh-CN" b="1" dirty="0">
                <a:latin typeface="Consolas" panose="020B0609020204030204" pitchFamily="49" charset="0"/>
              </a:rPr>
              <a:t>}</a:t>
            </a:r>
          </a:p>
        </p:txBody>
      </p:sp>
    </p:spTree>
    <p:extLst>
      <p:ext uri="{BB962C8B-B14F-4D97-AF65-F5344CB8AC3E}">
        <p14:creationId xmlns:p14="http://schemas.microsoft.com/office/powerpoint/2010/main" val="3207552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66E73C-1DB2-48B8-A8B7-FB7B6C2FF900}"/>
              </a:ext>
            </a:extLst>
          </p:cNvPr>
          <p:cNvSpPr>
            <a:spLocks noGrp="1"/>
          </p:cNvSpPr>
          <p:nvPr>
            <p:ph type="title"/>
          </p:nvPr>
        </p:nvSpPr>
        <p:spPr/>
        <p:txBody>
          <a:bodyPr/>
          <a:lstStyle/>
          <a:p>
            <a:r>
              <a:rPr lang="zh-CN" altLang="en-US" dirty="0"/>
              <a:t>自定义类型的排序</a:t>
            </a:r>
          </a:p>
        </p:txBody>
      </p:sp>
      <p:sp>
        <p:nvSpPr>
          <p:cNvPr id="3" name="内容占位符 2">
            <a:extLst>
              <a:ext uri="{FF2B5EF4-FFF2-40B4-BE49-F238E27FC236}">
                <a16:creationId xmlns:a16="http://schemas.microsoft.com/office/drawing/2014/main" id="{BBE29352-C5B4-48F8-94C2-AFA70EB7D7B8}"/>
              </a:ext>
            </a:extLst>
          </p:cNvPr>
          <p:cNvSpPr>
            <a:spLocks noGrp="1"/>
          </p:cNvSpPr>
          <p:nvPr>
            <p:ph idx="1"/>
          </p:nvPr>
        </p:nvSpPr>
        <p:spPr/>
        <p:txBody>
          <a:bodyPr/>
          <a:lstStyle/>
          <a:p>
            <a:r>
              <a:rPr lang="zh-CN" altLang="en-US" dirty="0"/>
              <a:t>假设有一个</a:t>
            </a:r>
            <a:r>
              <a:rPr lang="en-US" altLang="zh-CN" dirty="0"/>
              <a:t>class People</a:t>
            </a:r>
          </a:p>
          <a:p>
            <a:endParaRPr lang="en-US" altLang="zh-CN" dirty="0"/>
          </a:p>
          <a:p>
            <a:endParaRPr lang="en-US" altLang="zh-CN" dirty="0"/>
          </a:p>
          <a:p>
            <a:endParaRPr lang="en-US" altLang="zh-CN" dirty="0"/>
          </a:p>
          <a:p>
            <a:endParaRPr lang="en-US" altLang="zh-CN" dirty="0"/>
          </a:p>
          <a:p>
            <a:endParaRPr lang="en-US" altLang="zh-CN" dirty="0"/>
          </a:p>
          <a:p>
            <a:r>
              <a:rPr lang="zh-CN" altLang="en-US" dirty="0"/>
              <a:t>如何按照年龄从小到大排序？</a:t>
            </a:r>
          </a:p>
        </p:txBody>
      </p:sp>
      <p:sp>
        <p:nvSpPr>
          <p:cNvPr id="4" name="灯片编号占位符 3">
            <a:extLst>
              <a:ext uri="{FF2B5EF4-FFF2-40B4-BE49-F238E27FC236}">
                <a16:creationId xmlns:a16="http://schemas.microsoft.com/office/drawing/2014/main" id="{4B7ECDB3-FAE8-4974-9FB5-82FBD2B9A84D}"/>
              </a:ext>
            </a:extLst>
          </p:cNvPr>
          <p:cNvSpPr>
            <a:spLocks noGrp="1"/>
          </p:cNvSpPr>
          <p:nvPr>
            <p:ph type="sldNum" sz="quarter" idx="12"/>
          </p:nvPr>
        </p:nvSpPr>
        <p:spPr/>
        <p:txBody>
          <a:bodyPr/>
          <a:lstStyle/>
          <a:p>
            <a:pPr>
              <a:defRPr/>
            </a:pPr>
            <a:fld id="{BFD7BE51-03DD-4CCA-8227-D775462981B4}" type="slidenum">
              <a:rPr lang="en-US" altLang="zh-CN" smtClean="0"/>
              <a:pPr>
                <a:defRPr/>
              </a:pPr>
              <a:t>42</a:t>
            </a:fld>
            <a:endParaRPr lang="en-US" altLang="zh-CN"/>
          </a:p>
        </p:txBody>
      </p:sp>
      <p:sp>
        <p:nvSpPr>
          <p:cNvPr id="5" name="文本框 4">
            <a:extLst>
              <a:ext uri="{FF2B5EF4-FFF2-40B4-BE49-F238E27FC236}">
                <a16:creationId xmlns:a16="http://schemas.microsoft.com/office/drawing/2014/main" id="{28316940-AB26-4B3F-BA7C-11E184E36EC6}"/>
              </a:ext>
            </a:extLst>
          </p:cNvPr>
          <p:cNvSpPr txBox="1"/>
          <p:nvPr/>
        </p:nvSpPr>
        <p:spPr>
          <a:xfrm>
            <a:off x="1835696" y="2204864"/>
            <a:ext cx="3365024" cy="1938992"/>
          </a:xfrm>
          <a:prstGeom prst="rect">
            <a:avLst/>
          </a:prstGeom>
          <a:noFill/>
        </p:spPr>
        <p:txBody>
          <a:bodyPr wrap="none" rtlCol="0">
            <a:spAutoFit/>
          </a:bodyPr>
          <a:lstStyle/>
          <a:p>
            <a:r>
              <a:rPr lang="en-US" altLang="zh-CN" sz="2400" b="1" dirty="0">
                <a:latin typeface="Consolas" panose="020B0609020204030204" pitchFamily="49" charset="0"/>
              </a:rPr>
              <a:t>class People</a:t>
            </a:r>
          </a:p>
          <a:p>
            <a:r>
              <a:rPr lang="en-US" altLang="zh-CN" sz="2400" b="1" dirty="0">
                <a:latin typeface="Consolas" panose="020B0609020204030204" pitchFamily="49" charset="0"/>
              </a:rPr>
              <a:t>{</a:t>
            </a:r>
          </a:p>
          <a:p>
            <a:r>
              <a:rPr lang="en-US" altLang="zh-CN" sz="2400" b="1" dirty="0">
                <a:latin typeface="Consolas" panose="020B0609020204030204" pitchFamily="49" charset="0"/>
              </a:rPr>
              <a:t>public:</a:t>
            </a:r>
          </a:p>
          <a:p>
            <a:r>
              <a:rPr lang="en-US" altLang="zh-CN" sz="2400" b="1" dirty="0">
                <a:latin typeface="Consolas" panose="020B0609020204030204" pitchFamily="49" charset="0"/>
              </a:rPr>
              <a:t>	</a:t>
            </a:r>
            <a:r>
              <a:rPr lang="en-US" altLang="zh-CN" sz="2400" b="1" dirty="0" err="1">
                <a:latin typeface="Consolas" panose="020B0609020204030204" pitchFamily="49" charset="0"/>
              </a:rPr>
              <a:t>int</a:t>
            </a:r>
            <a:r>
              <a:rPr lang="en-US" altLang="zh-CN" sz="2400" b="1" dirty="0">
                <a:latin typeface="Consolas" panose="020B0609020204030204" pitchFamily="49" charset="0"/>
              </a:rPr>
              <a:t> age, weight;</a:t>
            </a:r>
          </a:p>
          <a:p>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Tree>
    <p:extLst>
      <p:ext uri="{BB962C8B-B14F-4D97-AF65-F5344CB8AC3E}">
        <p14:creationId xmlns:p14="http://schemas.microsoft.com/office/powerpoint/2010/main" val="41211583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BED97-72E7-4C3F-9D41-438F9E0C79FA}"/>
              </a:ext>
            </a:extLst>
          </p:cNvPr>
          <p:cNvSpPr>
            <a:spLocks noGrp="1"/>
          </p:cNvSpPr>
          <p:nvPr>
            <p:ph type="title"/>
          </p:nvPr>
        </p:nvSpPr>
        <p:spPr/>
        <p:txBody>
          <a:bodyPr/>
          <a:lstStyle/>
          <a:p>
            <a:r>
              <a:rPr lang="zh-CN" altLang="en-US" dirty="0"/>
              <a:t>自定义类型的排序</a:t>
            </a:r>
          </a:p>
        </p:txBody>
      </p:sp>
      <p:sp>
        <p:nvSpPr>
          <p:cNvPr id="3" name="内容占位符 2">
            <a:extLst>
              <a:ext uri="{FF2B5EF4-FFF2-40B4-BE49-F238E27FC236}">
                <a16:creationId xmlns:a16="http://schemas.microsoft.com/office/drawing/2014/main" id="{486CAC40-298C-40CC-A9B9-A1D830D001FA}"/>
              </a:ext>
            </a:extLst>
          </p:cNvPr>
          <p:cNvSpPr>
            <a:spLocks noGrp="1"/>
          </p:cNvSpPr>
          <p:nvPr>
            <p:ph idx="1"/>
          </p:nvPr>
        </p:nvSpPr>
        <p:spPr>
          <a:xfrm>
            <a:off x="548097" y="1091834"/>
            <a:ext cx="8047806" cy="4749029"/>
          </a:xfrm>
        </p:spPr>
        <p:txBody>
          <a:bodyPr/>
          <a:lstStyle/>
          <a:p>
            <a:r>
              <a:rPr lang="zh-CN" altLang="en-US" dirty="0"/>
              <a:t>方法一：重载小于运算符</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BF0CB46F-BEEA-4A86-B5CF-EE7D0A40FC95}"/>
              </a:ext>
            </a:extLst>
          </p:cNvPr>
          <p:cNvSpPr>
            <a:spLocks noGrp="1"/>
          </p:cNvSpPr>
          <p:nvPr>
            <p:ph type="sldNum" sz="quarter" idx="12"/>
          </p:nvPr>
        </p:nvSpPr>
        <p:spPr/>
        <p:txBody>
          <a:bodyPr/>
          <a:lstStyle/>
          <a:p>
            <a:pPr>
              <a:defRPr/>
            </a:pPr>
            <a:fld id="{BFD7BE51-03DD-4CCA-8227-D775462981B4}" type="slidenum">
              <a:rPr lang="en-US" altLang="zh-CN" smtClean="0"/>
              <a:pPr>
                <a:defRPr/>
              </a:pPr>
              <a:t>43</a:t>
            </a:fld>
            <a:endParaRPr lang="en-US" altLang="zh-CN" dirty="0"/>
          </a:p>
        </p:txBody>
      </p:sp>
      <p:sp>
        <p:nvSpPr>
          <p:cNvPr id="5" name="文本框 4">
            <a:extLst>
              <a:ext uri="{FF2B5EF4-FFF2-40B4-BE49-F238E27FC236}">
                <a16:creationId xmlns:a16="http://schemas.microsoft.com/office/drawing/2014/main" id="{DE752001-8F77-49C8-BFD3-19A8B4DB8D18}"/>
              </a:ext>
            </a:extLst>
          </p:cNvPr>
          <p:cNvSpPr txBox="1"/>
          <p:nvPr/>
        </p:nvSpPr>
        <p:spPr>
          <a:xfrm>
            <a:off x="683568" y="1575863"/>
            <a:ext cx="6571030" cy="5324535"/>
          </a:xfrm>
          <a:prstGeom prst="rect">
            <a:avLst/>
          </a:prstGeom>
          <a:noFill/>
        </p:spPr>
        <p:txBody>
          <a:bodyPr wrap="none" rtlCol="0">
            <a:spAutoFit/>
          </a:bodyPr>
          <a:lstStyle/>
          <a:p>
            <a:r>
              <a:rPr lang="en-US" altLang="zh-CN" sz="2000" b="1" dirty="0">
                <a:latin typeface="Consolas" panose="020B0609020204030204" pitchFamily="49" charset="0"/>
              </a:rPr>
              <a:t>#include &lt;algorithm&gt;</a:t>
            </a:r>
          </a:p>
          <a:p>
            <a:r>
              <a:rPr lang="en-US" altLang="zh-CN" sz="2000" b="1" dirty="0">
                <a:latin typeface="Consolas" panose="020B0609020204030204" pitchFamily="49" charset="0"/>
              </a:rPr>
              <a:t>#include &lt;vector&gt;</a:t>
            </a:r>
          </a:p>
          <a:p>
            <a:r>
              <a:rPr lang="en-US" altLang="zh-CN" sz="2000" b="1" dirty="0">
                <a:latin typeface="Consolas" panose="020B0609020204030204" pitchFamily="49" charset="0"/>
              </a:rPr>
              <a:t>using namespace std;</a:t>
            </a:r>
          </a:p>
          <a:p>
            <a:r>
              <a:rPr lang="en-US" altLang="zh-CN" sz="2000" b="1" dirty="0">
                <a:latin typeface="Consolas" panose="020B0609020204030204" pitchFamily="49" charset="0"/>
              </a:rPr>
              <a:t>class People</a:t>
            </a:r>
          </a:p>
          <a:p>
            <a:r>
              <a:rPr lang="en-US" altLang="zh-CN" sz="2000" b="1" dirty="0">
                <a:latin typeface="Consolas" panose="020B0609020204030204" pitchFamily="49" charset="0"/>
              </a:rPr>
              <a:t>{</a:t>
            </a:r>
          </a:p>
          <a:p>
            <a:r>
              <a:rPr lang="en-US" altLang="zh-CN" sz="2000" b="1" dirty="0">
                <a:latin typeface="Consolas" panose="020B0609020204030204" pitchFamily="49" charset="0"/>
              </a:rPr>
              <a:t>public:</a:t>
            </a:r>
          </a:p>
          <a:p>
            <a:r>
              <a:rPr lang="en-US" altLang="zh-CN" sz="2000" b="1" dirty="0">
                <a:latin typeface="Consolas" panose="020B0609020204030204" pitchFamily="49" charset="0"/>
              </a:rPr>
              <a:t>	int age, weight;</a:t>
            </a:r>
          </a:p>
          <a:p>
            <a:r>
              <a:rPr lang="en-US" altLang="zh-CN" sz="2000" b="1" dirty="0">
                <a:latin typeface="Consolas" panose="020B0609020204030204" pitchFamily="49" charset="0"/>
              </a:rPr>
              <a:t>	bool </a:t>
            </a:r>
            <a:r>
              <a:rPr lang="en-US" altLang="zh-CN" sz="2000" b="1" dirty="0">
                <a:solidFill>
                  <a:srgbClr val="FF0000"/>
                </a:solidFill>
                <a:latin typeface="Consolas" panose="020B0609020204030204" pitchFamily="49" charset="0"/>
              </a:rPr>
              <a:t>operator</a:t>
            </a:r>
            <a:r>
              <a:rPr lang="en-US" altLang="zh-CN" sz="2000" b="1" dirty="0">
                <a:latin typeface="Consolas" panose="020B0609020204030204" pitchFamily="49" charset="0"/>
              </a:rPr>
              <a:t>&lt;(</a:t>
            </a:r>
            <a:r>
              <a:rPr lang="en-US" altLang="zh-CN" sz="2000" b="1" dirty="0" err="1">
                <a:solidFill>
                  <a:srgbClr val="FF0000"/>
                </a:solidFill>
                <a:latin typeface="Consolas" panose="020B0609020204030204" pitchFamily="49" charset="0"/>
              </a:rPr>
              <a:t>const</a:t>
            </a:r>
            <a:r>
              <a:rPr lang="en-US" altLang="zh-CN" sz="2000" b="1" dirty="0">
                <a:latin typeface="Consolas" panose="020B0609020204030204" pitchFamily="49" charset="0"/>
              </a:rPr>
              <a:t> People &amp;b) </a:t>
            </a:r>
            <a:r>
              <a:rPr lang="en-US" altLang="zh-CN" sz="2000" b="1" dirty="0" err="1">
                <a:solidFill>
                  <a:srgbClr val="FF0000"/>
                </a:solidFill>
                <a:latin typeface="Consolas" panose="020B0609020204030204" pitchFamily="49" charset="0"/>
              </a:rPr>
              <a:t>const</a:t>
            </a:r>
            <a:endParaRPr lang="en-US" altLang="zh-CN" sz="2000" b="1" dirty="0">
              <a:solidFill>
                <a:srgbClr val="FF0000"/>
              </a:solidFill>
              <a:latin typeface="Consolas" panose="020B0609020204030204" pitchFamily="49" charset="0"/>
            </a:endParaRPr>
          </a:p>
          <a:p>
            <a:r>
              <a:rPr lang="en-US" altLang="zh-CN" sz="2000" b="1" dirty="0">
                <a:latin typeface="Consolas" panose="020B0609020204030204" pitchFamily="49" charset="0"/>
              </a:rPr>
              <a:t>	{</a:t>
            </a:r>
          </a:p>
          <a:p>
            <a:r>
              <a:rPr lang="en-US" altLang="zh-CN" sz="2000" b="1" dirty="0">
                <a:latin typeface="Consolas" panose="020B0609020204030204" pitchFamily="49" charset="0"/>
              </a:rPr>
              <a:t>		return </a:t>
            </a:r>
            <a:r>
              <a:rPr lang="en-US" altLang="zh-CN" sz="2000" b="1" dirty="0">
                <a:solidFill>
                  <a:srgbClr val="FF0000"/>
                </a:solidFill>
                <a:latin typeface="Consolas" panose="020B0609020204030204" pitchFamily="49" charset="0"/>
              </a:rPr>
              <a:t>age &lt; </a:t>
            </a:r>
            <a:r>
              <a:rPr lang="en-US" altLang="zh-CN" sz="2000" b="1" dirty="0" err="1">
                <a:solidFill>
                  <a:srgbClr val="FF0000"/>
                </a:solidFill>
                <a:latin typeface="Consolas" panose="020B0609020204030204" pitchFamily="49" charset="0"/>
              </a:rPr>
              <a:t>b.age</a:t>
            </a:r>
            <a:r>
              <a:rPr lang="en-US" altLang="zh-CN" sz="2000" b="1" dirty="0">
                <a:latin typeface="Consolas" panose="020B0609020204030204" pitchFamily="49" charset="0"/>
              </a:rPr>
              <a:t>;</a:t>
            </a:r>
          </a:p>
          <a:p>
            <a:r>
              <a:rPr lang="en-US" altLang="zh-CN" sz="2000" b="1" dirty="0">
                <a:latin typeface="Consolas" panose="020B0609020204030204" pitchFamily="49" charset="0"/>
              </a:rPr>
              <a:t>	}</a:t>
            </a:r>
          </a:p>
          <a:p>
            <a:r>
              <a:rPr lang="en-US" altLang="zh-CN" sz="2000" b="1" dirty="0">
                <a:latin typeface="Consolas" panose="020B0609020204030204" pitchFamily="49" charset="0"/>
              </a:rPr>
              <a:t>};</a:t>
            </a:r>
          </a:p>
          <a:p>
            <a:r>
              <a:rPr lang="en-US" altLang="zh-CN" sz="2000" b="1" dirty="0">
                <a:latin typeface="Consolas" panose="020B0609020204030204" pitchFamily="49" charset="0"/>
              </a:rPr>
              <a:t>int main() {</a:t>
            </a:r>
          </a:p>
          <a:p>
            <a:r>
              <a:rPr lang="en-US" altLang="zh-CN" sz="2000" b="1" dirty="0">
                <a:latin typeface="Consolas" panose="020B0609020204030204" pitchFamily="49" charset="0"/>
              </a:rPr>
              <a:t>	vector&lt;People&gt; </a:t>
            </a:r>
            <a:r>
              <a:rPr lang="en-US" altLang="zh-CN" sz="2000" b="1" dirty="0" err="1">
                <a:latin typeface="Consolas" panose="020B0609020204030204" pitchFamily="49" charset="0"/>
              </a:rPr>
              <a:t>vec</a:t>
            </a:r>
            <a:r>
              <a:rPr lang="en-US" altLang="zh-CN" sz="2000" b="1" dirty="0">
                <a:latin typeface="Consolas" panose="020B0609020204030204" pitchFamily="49" charset="0"/>
              </a:rPr>
              <a:t> = {{18, 50}, {16, 40}};</a:t>
            </a:r>
          </a:p>
          <a:p>
            <a:r>
              <a:rPr lang="fr-FR" altLang="zh-CN" sz="2000" b="1" dirty="0">
                <a:solidFill>
                  <a:srgbClr val="C00000"/>
                </a:solidFill>
                <a:latin typeface="Consolas" panose="020B0609020204030204" pitchFamily="49" charset="0"/>
              </a:rPr>
              <a:t>	sort(</a:t>
            </a:r>
            <a:r>
              <a:rPr lang="en-US" altLang="zh-CN" sz="2000" b="1" dirty="0" err="1">
                <a:solidFill>
                  <a:srgbClr val="C00000"/>
                </a:solidFill>
                <a:latin typeface="Consolas" panose="020B0609020204030204" pitchFamily="49" charset="0"/>
              </a:rPr>
              <a:t>vec.begin</a:t>
            </a:r>
            <a:r>
              <a:rPr lang="en-US" altLang="zh-CN" sz="2000" b="1" dirty="0">
                <a:solidFill>
                  <a:srgbClr val="C00000"/>
                </a:solidFill>
                <a:latin typeface="Consolas" panose="020B0609020204030204" pitchFamily="49" charset="0"/>
              </a:rPr>
              <a:t>()</a:t>
            </a:r>
            <a:r>
              <a:rPr lang="fr-FR" altLang="zh-CN" sz="2000" b="1" dirty="0">
                <a:solidFill>
                  <a:srgbClr val="C00000"/>
                </a:solidFill>
                <a:latin typeface="Consolas" panose="020B0609020204030204" pitchFamily="49" charset="0"/>
              </a:rPr>
              <a:t>, </a:t>
            </a:r>
            <a:r>
              <a:rPr lang="en-US" altLang="zh-CN" sz="2000" b="1" dirty="0" err="1">
                <a:solidFill>
                  <a:srgbClr val="C00000"/>
                </a:solidFill>
                <a:latin typeface="Consolas" panose="020B0609020204030204" pitchFamily="49" charset="0"/>
              </a:rPr>
              <a:t>vec.end</a:t>
            </a:r>
            <a:r>
              <a:rPr lang="en-US" altLang="zh-CN" sz="2000" b="1" dirty="0">
                <a:solidFill>
                  <a:srgbClr val="C00000"/>
                </a:solidFill>
                <a:latin typeface="Consolas" panose="020B0609020204030204" pitchFamily="49" charset="0"/>
              </a:rPr>
              <a:t>()</a:t>
            </a:r>
            <a:r>
              <a:rPr lang="fr-FR" altLang="zh-CN" sz="2000" b="1" dirty="0">
                <a:solidFill>
                  <a:srgbClr val="C00000"/>
                </a:solidFill>
                <a:latin typeface="Consolas" panose="020B0609020204030204" pitchFamily="49" charset="0"/>
              </a:rPr>
              <a:t>);</a:t>
            </a:r>
          </a:p>
          <a:p>
            <a:r>
              <a:rPr lang="fr-FR" altLang="zh-CN" sz="2000" b="1" dirty="0">
                <a:latin typeface="Consolas" panose="020B0609020204030204" pitchFamily="49" charset="0"/>
              </a:rPr>
              <a:t>	return 0;</a:t>
            </a:r>
          </a:p>
          <a:p>
            <a:r>
              <a:rPr lang="fr-FR" altLang="zh-CN" sz="2000" b="1" dirty="0">
                <a:latin typeface="Consolas" panose="020B0609020204030204" pitchFamily="49" charset="0"/>
              </a:rPr>
              <a:t>}</a:t>
            </a:r>
            <a:endParaRPr lang="zh-CN" altLang="en-US" sz="2000" b="1" dirty="0">
              <a:latin typeface="Consolas" panose="020B0609020204030204" pitchFamily="49" charset="0"/>
            </a:endParaRPr>
          </a:p>
        </p:txBody>
      </p:sp>
      <p:sp>
        <p:nvSpPr>
          <p:cNvPr id="6" name="文本框 5">
            <a:extLst>
              <a:ext uri="{FF2B5EF4-FFF2-40B4-BE49-F238E27FC236}">
                <a16:creationId xmlns:a16="http://schemas.microsoft.com/office/drawing/2014/main" id="{3FF9E770-558A-46A8-AFC4-C93BA482E9E3}"/>
              </a:ext>
            </a:extLst>
          </p:cNvPr>
          <p:cNvSpPr txBox="1"/>
          <p:nvPr/>
        </p:nvSpPr>
        <p:spPr>
          <a:xfrm>
            <a:off x="5211527" y="1825647"/>
            <a:ext cx="3752961" cy="1815882"/>
          </a:xfrm>
          <a:prstGeom prst="rect">
            <a:avLst/>
          </a:prstGeom>
          <a:noFill/>
        </p:spPr>
        <p:txBody>
          <a:bodyPr wrap="square" rtlCol="0">
            <a:spAutoFit/>
          </a:bodyPr>
          <a:lstStyle/>
          <a:p>
            <a:r>
              <a:rPr lang="en-US" altLang="zh-CN" sz="2800" dirty="0"/>
              <a:t>People</a:t>
            </a:r>
            <a:r>
              <a:rPr lang="zh-CN" altLang="en-US" sz="2800" dirty="0"/>
              <a:t>的</a:t>
            </a:r>
            <a:r>
              <a:rPr lang="en-US" altLang="zh-CN" sz="2800" dirty="0"/>
              <a:t>operator&lt;</a:t>
            </a:r>
          </a:p>
          <a:p>
            <a:r>
              <a:rPr lang="zh-CN" altLang="en-US" sz="2800" dirty="0"/>
              <a:t>一定按年龄计算吗？</a:t>
            </a:r>
            <a:endParaRPr lang="en-US" altLang="zh-CN" sz="2800" dirty="0"/>
          </a:p>
          <a:p>
            <a:r>
              <a:rPr lang="zh-CN" altLang="en-US" sz="2800" dirty="0"/>
              <a:t>体重怎么办？</a:t>
            </a:r>
          </a:p>
          <a:p>
            <a:endParaRPr lang="zh-CN" altLang="en-US" sz="2800" b="1" dirty="0"/>
          </a:p>
        </p:txBody>
      </p:sp>
    </p:spTree>
    <p:extLst>
      <p:ext uri="{BB962C8B-B14F-4D97-AF65-F5344CB8AC3E}">
        <p14:creationId xmlns:p14="http://schemas.microsoft.com/office/powerpoint/2010/main" val="6137193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BED97-72E7-4C3F-9D41-438F9E0C79FA}"/>
              </a:ext>
            </a:extLst>
          </p:cNvPr>
          <p:cNvSpPr>
            <a:spLocks noGrp="1"/>
          </p:cNvSpPr>
          <p:nvPr>
            <p:ph type="title"/>
          </p:nvPr>
        </p:nvSpPr>
        <p:spPr/>
        <p:txBody>
          <a:bodyPr/>
          <a:lstStyle/>
          <a:p>
            <a:r>
              <a:rPr lang="zh-CN" altLang="en-US" dirty="0"/>
              <a:t>自定义类型的排序</a:t>
            </a:r>
          </a:p>
        </p:txBody>
      </p:sp>
      <p:sp>
        <p:nvSpPr>
          <p:cNvPr id="3" name="内容占位符 2">
            <a:extLst>
              <a:ext uri="{FF2B5EF4-FFF2-40B4-BE49-F238E27FC236}">
                <a16:creationId xmlns:a16="http://schemas.microsoft.com/office/drawing/2014/main" id="{486CAC40-298C-40CC-A9B9-A1D830D001FA}"/>
              </a:ext>
            </a:extLst>
          </p:cNvPr>
          <p:cNvSpPr>
            <a:spLocks noGrp="1"/>
          </p:cNvSpPr>
          <p:nvPr>
            <p:ph idx="1"/>
          </p:nvPr>
        </p:nvSpPr>
        <p:spPr/>
        <p:txBody>
          <a:bodyPr/>
          <a:lstStyle/>
          <a:p>
            <a:r>
              <a:rPr lang="zh-CN" altLang="en-US" dirty="0"/>
              <a:t>方法二：定义比较函数</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BF0CB46F-BEEA-4A86-B5CF-EE7D0A40FC95}"/>
              </a:ext>
            </a:extLst>
          </p:cNvPr>
          <p:cNvSpPr>
            <a:spLocks noGrp="1"/>
          </p:cNvSpPr>
          <p:nvPr>
            <p:ph type="sldNum" sz="quarter" idx="12"/>
          </p:nvPr>
        </p:nvSpPr>
        <p:spPr/>
        <p:txBody>
          <a:bodyPr/>
          <a:lstStyle/>
          <a:p>
            <a:pPr>
              <a:defRPr/>
            </a:pPr>
            <a:fld id="{BFD7BE51-03DD-4CCA-8227-D775462981B4}" type="slidenum">
              <a:rPr lang="en-US" altLang="zh-CN" smtClean="0"/>
              <a:pPr>
                <a:defRPr/>
              </a:pPr>
              <a:t>44</a:t>
            </a:fld>
            <a:endParaRPr lang="en-US" altLang="zh-CN"/>
          </a:p>
        </p:txBody>
      </p:sp>
      <p:sp>
        <p:nvSpPr>
          <p:cNvPr id="5" name="文本框 4">
            <a:extLst>
              <a:ext uri="{FF2B5EF4-FFF2-40B4-BE49-F238E27FC236}">
                <a16:creationId xmlns:a16="http://schemas.microsoft.com/office/drawing/2014/main" id="{DE752001-8F77-49C8-BFD3-19A8B4DB8D18}"/>
              </a:ext>
            </a:extLst>
          </p:cNvPr>
          <p:cNvSpPr txBox="1"/>
          <p:nvPr/>
        </p:nvSpPr>
        <p:spPr>
          <a:xfrm>
            <a:off x="755576" y="2149019"/>
            <a:ext cx="6955750" cy="4708981"/>
          </a:xfrm>
          <a:prstGeom prst="rect">
            <a:avLst/>
          </a:prstGeom>
          <a:noFill/>
        </p:spPr>
        <p:txBody>
          <a:bodyPr wrap="none" rtlCol="0">
            <a:spAutoFit/>
          </a:bodyPr>
          <a:lstStyle/>
          <a:p>
            <a:r>
              <a:rPr lang="en-US" altLang="zh-CN" sz="2000" b="1" dirty="0">
                <a:latin typeface="Consolas" panose="020B0609020204030204" pitchFamily="49" charset="0"/>
              </a:rPr>
              <a:t>#include &lt;algorithm&gt;</a:t>
            </a:r>
          </a:p>
          <a:p>
            <a:r>
              <a:rPr lang="en-US" altLang="zh-CN" sz="2000" b="1" dirty="0">
                <a:latin typeface="Consolas" panose="020B0609020204030204" pitchFamily="49" charset="0"/>
              </a:rPr>
              <a:t>#include &lt;vector&gt;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class People</a:t>
            </a:r>
          </a:p>
          <a:p>
            <a:r>
              <a:rPr lang="en-US" altLang="zh-CN" sz="2000" b="1" dirty="0">
                <a:latin typeface="Consolas" panose="020B0609020204030204" pitchFamily="49" charset="0"/>
              </a:rPr>
              <a:t>{  public: int age, weight;  };</a:t>
            </a:r>
            <a:endParaRPr lang="zh-CN" altLang="en-US" sz="2000" b="1" dirty="0">
              <a:latin typeface="Consolas" panose="020B0609020204030204" pitchFamily="49" charset="0"/>
            </a:endParaRPr>
          </a:p>
          <a:p>
            <a:endParaRPr lang="en-US" altLang="zh-CN" sz="2000" b="1" dirty="0">
              <a:latin typeface="Consolas" panose="020B0609020204030204" pitchFamily="49" charset="0"/>
            </a:endParaRPr>
          </a:p>
          <a:p>
            <a:r>
              <a:rPr lang="en-US" altLang="zh-CN" sz="2000" b="1" dirty="0">
                <a:latin typeface="Consolas" panose="020B0609020204030204" pitchFamily="49" charset="0"/>
              </a:rPr>
              <a:t>bool </a:t>
            </a:r>
            <a:r>
              <a:rPr lang="en-US" altLang="zh-CN" sz="2000" b="1" dirty="0" err="1">
                <a:latin typeface="Consolas" panose="020B0609020204030204" pitchFamily="49" charset="0"/>
              </a:rPr>
              <a:t>compByAge</a:t>
            </a:r>
            <a:r>
              <a:rPr lang="en-US" altLang="zh-CN" sz="2000" b="1" dirty="0">
                <a:latin typeface="Consolas" panose="020B0609020204030204" pitchFamily="49" charset="0"/>
              </a:rPr>
              <a:t>(</a:t>
            </a:r>
            <a:r>
              <a:rPr lang="en-US" altLang="zh-CN" sz="2000" b="1" dirty="0">
                <a:solidFill>
                  <a:srgbClr val="FF0000"/>
                </a:solidFill>
                <a:latin typeface="Consolas" panose="020B0609020204030204" pitchFamily="49" charset="0"/>
              </a:rPr>
              <a:t>const</a:t>
            </a:r>
            <a:r>
              <a:rPr lang="en-US" altLang="zh-CN" sz="2000" b="1" dirty="0">
                <a:latin typeface="Consolas" panose="020B0609020204030204" pitchFamily="49" charset="0"/>
              </a:rPr>
              <a:t> People &amp;a, </a:t>
            </a:r>
            <a:r>
              <a:rPr lang="en-US" altLang="zh-CN" sz="2000" b="1" dirty="0">
                <a:solidFill>
                  <a:srgbClr val="FF0000"/>
                </a:solidFill>
                <a:latin typeface="Consolas" panose="020B0609020204030204" pitchFamily="49" charset="0"/>
              </a:rPr>
              <a:t>const</a:t>
            </a:r>
            <a:r>
              <a:rPr lang="en-US" altLang="zh-CN" sz="2000" b="1" dirty="0">
                <a:latin typeface="Consolas" panose="020B0609020204030204" pitchFamily="49" charset="0"/>
              </a:rPr>
              <a:t> People &amp;b)</a:t>
            </a:r>
          </a:p>
          <a:p>
            <a:r>
              <a:rPr lang="en-US" altLang="zh-CN" sz="2000" b="1" dirty="0">
                <a:latin typeface="Consolas" panose="020B0609020204030204" pitchFamily="49" charset="0"/>
              </a:rPr>
              <a:t>	{	return </a:t>
            </a:r>
            <a:r>
              <a:rPr lang="en-US" altLang="zh-CN" sz="2000" b="1" dirty="0" err="1">
                <a:solidFill>
                  <a:srgbClr val="FF0000"/>
                </a:solidFill>
                <a:latin typeface="Consolas" panose="020B0609020204030204" pitchFamily="49" charset="0"/>
              </a:rPr>
              <a:t>a.age</a:t>
            </a:r>
            <a:r>
              <a:rPr lang="en-US" altLang="zh-CN" sz="2000" b="1" dirty="0">
                <a:solidFill>
                  <a:srgbClr val="FF0000"/>
                </a:solidFill>
                <a:latin typeface="Consolas" panose="020B0609020204030204" pitchFamily="49" charset="0"/>
              </a:rPr>
              <a:t> &lt; </a:t>
            </a:r>
            <a:r>
              <a:rPr lang="en-US" altLang="zh-CN" sz="2000" b="1" dirty="0" err="1">
                <a:solidFill>
                  <a:srgbClr val="FF0000"/>
                </a:solidFill>
                <a:latin typeface="Consolas" panose="020B0609020204030204" pitchFamily="49" charset="0"/>
              </a:rPr>
              <a:t>b.age</a:t>
            </a:r>
            <a:r>
              <a:rPr lang="en-US" altLang="zh-CN" sz="2000" b="1" dirty="0">
                <a:solidFill>
                  <a:srgbClr val="FF0000"/>
                </a:solidFill>
                <a:latin typeface="Consolas" panose="020B0609020204030204" pitchFamily="49" charset="0"/>
              </a:rPr>
              <a:t>; </a:t>
            </a:r>
            <a:r>
              <a:rPr lang="en-US" altLang="zh-CN" sz="2000" b="1" dirty="0">
                <a:latin typeface="Consolas" panose="020B0609020204030204" pitchFamily="49" charset="0"/>
              </a:rPr>
              <a:t>}</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p>
          <a:p>
            <a:pPr lvl="1"/>
            <a:r>
              <a:rPr lang="en-US" altLang="zh-CN" sz="2000" b="1" dirty="0">
                <a:latin typeface="Consolas" panose="020B0609020204030204" pitchFamily="49" charset="0"/>
              </a:rPr>
              <a:t>vector&lt;People&gt; </a:t>
            </a:r>
            <a:r>
              <a:rPr lang="en-US" altLang="zh-CN" sz="2000" b="1" dirty="0" err="1">
                <a:latin typeface="Consolas" panose="020B0609020204030204" pitchFamily="49" charset="0"/>
              </a:rPr>
              <a:t>vec</a:t>
            </a:r>
            <a:r>
              <a:rPr lang="en-US" altLang="zh-CN" sz="2000" b="1" dirty="0">
                <a:latin typeface="Consolas" panose="020B0609020204030204" pitchFamily="49" charset="0"/>
              </a:rPr>
              <a:t> = {{18, 50}, {16, 40}};</a:t>
            </a:r>
          </a:p>
          <a:p>
            <a:pPr lvl="1"/>
            <a:r>
              <a:rPr lang="fr-FR" altLang="zh-CN" sz="2000" b="1" dirty="0">
                <a:solidFill>
                  <a:srgbClr val="C00000"/>
                </a:solidFill>
                <a:latin typeface="Consolas" panose="020B0609020204030204" pitchFamily="49" charset="0"/>
              </a:rPr>
              <a:t>sort(</a:t>
            </a:r>
            <a:r>
              <a:rPr lang="en-US" altLang="zh-CN" sz="2000" b="1" dirty="0" err="1">
                <a:solidFill>
                  <a:srgbClr val="C00000"/>
                </a:solidFill>
                <a:latin typeface="Consolas" panose="020B0609020204030204" pitchFamily="49" charset="0"/>
              </a:rPr>
              <a:t>vec.begin</a:t>
            </a:r>
            <a:r>
              <a:rPr lang="en-US" altLang="zh-CN" sz="2000" b="1" dirty="0">
                <a:solidFill>
                  <a:srgbClr val="C00000"/>
                </a:solidFill>
                <a:latin typeface="Consolas" panose="020B0609020204030204" pitchFamily="49" charset="0"/>
              </a:rPr>
              <a:t>()</a:t>
            </a:r>
            <a:r>
              <a:rPr lang="fr-FR" altLang="zh-CN" sz="2000" b="1" dirty="0">
                <a:solidFill>
                  <a:srgbClr val="C00000"/>
                </a:solidFill>
                <a:latin typeface="Consolas" panose="020B0609020204030204" pitchFamily="49" charset="0"/>
              </a:rPr>
              <a:t>, </a:t>
            </a:r>
            <a:r>
              <a:rPr lang="en-US" altLang="zh-CN" sz="2000" b="1" dirty="0" err="1">
                <a:solidFill>
                  <a:srgbClr val="C00000"/>
                </a:solidFill>
                <a:latin typeface="Consolas" panose="020B0609020204030204" pitchFamily="49" charset="0"/>
              </a:rPr>
              <a:t>vec.end</a:t>
            </a:r>
            <a:r>
              <a:rPr lang="en-US" altLang="zh-CN" sz="2000" b="1" dirty="0">
                <a:solidFill>
                  <a:srgbClr val="C00000"/>
                </a:solidFill>
                <a:latin typeface="Consolas" panose="020B0609020204030204" pitchFamily="49" charset="0"/>
              </a:rPr>
              <a:t>()</a:t>
            </a:r>
            <a:r>
              <a:rPr lang="fr-FR" altLang="zh-CN" sz="2000" b="1" dirty="0">
                <a:solidFill>
                  <a:srgbClr val="C00000"/>
                </a:solidFill>
                <a:latin typeface="Consolas" panose="020B0609020204030204" pitchFamily="49" charset="0"/>
              </a:rPr>
              <a:t>, comp</a:t>
            </a:r>
            <a:r>
              <a:rPr lang="en-US" altLang="zh-CN" sz="2000" b="1" dirty="0" err="1">
                <a:solidFill>
                  <a:srgbClr val="C00000"/>
                </a:solidFill>
                <a:latin typeface="Consolas" panose="020B0609020204030204" pitchFamily="49" charset="0"/>
              </a:rPr>
              <a:t>ByAge</a:t>
            </a:r>
            <a:r>
              <a:rPr lang="fr-FR" altLang="zh-CN" sz="2000" b="1" dirty="0">
                <a:solidFill>
                  <a:srgbClr val="C00000"/>
                </a:solidFill>
                <a:latin typeface="Consolas" panose="020B0609020204030204" pitchFamily="49" charset="0"/>
              </a:rPr>
              <a:t>);</a:t>
            </a:r>
          </a:p>
          <a:p>
            <a:pPr lvl="1"/>
            <a:r>
              <a:rPr lang="fr-FR" altLang="zh-CN" sz="2000" b="1" dirty="0">
                <a:latin typeface="Consolas" panose="020B0609020204030204" pitchFamily="49" charset="0"/>
              </a:rPr>
              <a:t>return 0;</a:t>
            </a:r>
          </a:p>
          <a:p>
            <a:r>
              <a:rPr lang="fr-FR" altLang="zh-CN" sz="2000" b="1" dirty="0">
                <a:latin typeface="Consolas" panose="020B0609020204030204" pitchFamily="49" charset="0"/>
              </a:rPr>
              <a:t>}</a:t>
            </a:r>
            <a:endParaRPr lang="zh-CN" altLang="en-US" sz="2000" b="1" dirty="0">
              <a:latin typeface="Consolas" panose="020B0609020204030204" pitchFamily="49" charset="0"/>
            </a:endParaRPr>
          </a:p>
        </p:txBody>
      </p:sp>
    </p:spTree>
    <p:extLst>
      <p:ext uri="{BB962C8B-B14F-4D97-AF65-F5344CB8AC3E}">
        <p14:creationId xmlns:p14="http://schemas.microsoft.com/office/powerpoint/2010/main" val="22955699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5BED97-72E7-4C3F-9D41-438F9E0C79FA}"/>
              </a:ext>
            </a:extLst>
          </p:cNvPr>
          <p:cNvSpPr>
            <a:spLocks noGrp="1"/>
          </p:cNvSpPr>
          <p:nvPr>
            <p:ph type="title"/>
          </p:nvPr>
        </p:nvSpPr>
        <p:spPr/>
        <p:txBody>
          <a:bodyPr/>
          <a:lstStyle/>
          <a:p>
            <a:r>
              <a:rPr lang="zh-CN" altLang="en-US" dirty="0"/>
              <a:t>自定义类型的排序</a:t>
            </a:r>
          </a:p>
        </p:txBody>
      </p:sp>
      <p:sp>
        <p:nvSpPr>
          <p:cNvPr id="3" name="内容占位符 2">
            <a:extLst>
              <a:ext uri="{FF2B5EF4-FFF2-40B4-BE49-F238E27FC236}">
                <a16:creationId xmlns:a16="http://schemas.microsoft.com/office/drawing/2014/main" id="{486CAC40-298C-40CC-A9B9-A1D830D001FA}"/>
              </a:ext>
            </a:extLst>
          </p:cNvPr>
          <p:cNvSpPr>
            <a:spLocks noGrp="1"/>
          </p:cNvSpPr>
          <p:nvPr>
            <p:ph idx="1"/>
          </p:nvPr>
        </p:nvSpPr>
        <p:spPr>
          <a:xfrm>
            <a:off x="521115" y="1261983"/>
            <a:ext cx="8047806" cy="4749029"/>
          </a:xfrm>
        </p:spPr>
        <p:txBody>
          <a:bodyPr/>
          <a:lstStyle/>
          <a:p>
            <a:r>
              <a:rPr lang="zh-CN" altLang="en-US" dirty="0"/>
              <a:t>方法三：定义比较函数对象</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BF0CB46F-BEEA-4A86-B5CF-EE7D0A40FC95}"/>
              </a:ext>
            </a:extLst>
          </p:cNvPr>
          <p:cNvSpPr>
            <a:spLocks noGrp="1"/>
          </p:cNvSpPr>
          <p:nvPr>
            <p:ph type="sldNum" sz="quarter" idx="12"/>
          </p:nvPr>
        </p:nvSpPr>
        <p:spPr/>
        <p:txBody>
          <a:bodyPr/>
          <a:lstStyle/>
          <a:p>
            <a:pPr>
              <a:defRPr/>
            </a:pPr>
            <a:fld id="{BFD7BE51-03DD-4CCA-8227-D775462981B4}" type="slidenum">
              <a:rPr lang="en-US" altLang="zh-CN" smtClean="0"/>
              <a:pPr>
                <a:defRPr/>
              </a:pPr>
              <a:t>45</a:t>
            </a:fld>
            <a:endParaRPr lang="en-US" altLang="zh-CN"/>
          </a:p>
        </p:txBody>
      </p:sp>
      <p:sp>
        <p:nvSpPr>
          <p:cNvPr id="5" name="文本框 4">
            <a:extLst>
              <a:ext uri="{FF2B5EF4-FFF2-40B4-BE49-F238E27FC236}">
                <a16:creationId xmlns:a16="http://schemas.microsoft.com/office/drawing/2014/main" id="{DE752001-8F77-49C8-BFD3-19A8B4DB8D18}"/>
              </a:ext>
            </a:extLst>
          </p:cNvPr>
          <p:cNvSpPr txBox="1"/>
          <p:nvPr/>
        </p:nvSpPr>
        <p:spPr>
          <a:xfrm>
            <a:off x="630986" y="1632857"/>
            <a:ext cx="8496944" cy="5324535"/>
          </a:xfrm>
          <a:prstGeom prst="rect">
            <a:avLst/>
          </a:prstGeom>
          <a:noFill/>
        </p:spPr>
        <p:txBody>
          <a:bodyPr wrap="square" rtlCol="0">
            <a:spAutoFit/>
          </a:bodyPr>
          <a:lstStyle/>
          <a:p>
            <a:r>
              <a:rPr lang="en-US" altLang="zh-CN" sz="2000" b="1" dirty="0">
                <a:latin typeface="Consolas" panose="020B0609020204030204" pitchFamily="49" charset="0"/>
              </a:rPr>
              <a:t>#include &lt;algorithm&gt;</a:t>
            </a:r>
          </a:p>
          <a:p>
            <a:r>
              <a:rPr lang="en-US" altLang="zh-CN" sz="2000" b="1" dirty="0">
                <a:latin typeface="Consolas" panose="020B0609020204030204" pitchFamily="49" charset="0"/>
              </a:rPr>
              <a:t>#include &lt;vector&gt;</a:t>
            </a:r>
          </a:p>
          <a:p>
            <a:r>
              <a:rPr lang="en-US" altLang="zh-CN" sz="2000" b="1" dirty="0">
                <a:latin typeface="Consolas" panose="020B0609020204030204" pitchFamily="49" charset="0"/>
              </a:rPr>
              <a:t>using namespace std;</a:t>
            </a:r>
          </a:p>
          <a:p>
            <a:r>
              <a:rPr lang="en-US" altLang="zh-CN" sz="2000" b="1" dirty="0">
                <a:latin typeface="Consolas" panose="020B0609020204030204" pitchFamily="49" charset="0"/>
              </a:rPr>
              <a:t>class People</a:t>
            </a:r>
          </a:p>
          <a:p>
            <a:r>
              <a:rPr lang="en-US" altLang="zh-CN" sz="2000" b="1" dirty="0">
                <a:latin typeface="Consolas" panose="020B0609020204030204" pitchFamily="49" charset="0"/>
              </a:rPr>
              <a:t>{  public:	int age, weight;  };</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class </a:t>
            </a:r>
            <a:r>
              <a:rPr lang="en-US" altLang="zh-CN" sz="2000" b="1" dirty="0" err="1">
                <a:latin typeface="Consolas" panose="020B0609020204030204" pitchFamily="49" charset="0"/>
              </a:rPr>
              <a:t>AgeComp</a:t>
            </a:r>
            <a:r>
              <a:rPr lang="en-US" altLang="zh-CN" sz="2000" b="1" dirty="0">
                <a:latin typeface="Consolas" panose="020B0609020204030204" pitchFamily="49" charset="0"/>
              </a:rPr>
              <a:t> {</a:t>
            </a:r>
          </a:p>
          <a:p>
            <a:r>
              <a:rPr lang="en-US" altLang="zh-CN" sz="2000" b="1" dirty="0">
                <a:latin typeface="Consolas" panose="020B0609020204030204" pitchFamily="49" charset="0"/>
              </a:rPr>
              <a:t>public:</a:t>
            </a:r>
          </a:p>
          <a:p>
            <a:r>
              <a:rPr lang="en-US" altLang="zh-CN" sz="2000" b="1" dirty="0">
                <a:latin typeface="Consolas" panose="020B0609020204030204" pitchFamily="49" charset="0"/>
              </a:rPr>
              <a:t>	bool operator()(const People &amp;a, const People &amp;b) const </a:t>
            </a:r>
          </a:p>
          <a:p>
            <a:r>
              <a:rPr lang="en-US" altLang="zh-CN" sz="2000" b="1" dirty="0">
                <a:latin typeface="Consolas" panose="020B0609020204030204" pitchFamily="49" charset="0"/>
              </a:rPr>
              <a:t>		{ 	return </a:t>
            </a:r>
            <a:r>
              <a:rPr lang="en-US" altLang="zh-CN" sz="2000" b="1" dirty="0" err="1">
                <a:latin typeface="Consolas" panose="020B0609020204030204" pitchFamily="49" charset="0"/>
              </a:rPr>
              <a:t>a.age</a:t>
            </a:r>
            <a:r>
              <a:rPr lang="en-US" altLang="zh-CN" sz="2000" b="1" dirty="0">
                <a:latin typeface="Consolas" panose="020B0609020204030204" pitchFamily="49" charset="0"/>
              </a:rPr>
              <a:t> &lt; </a:t>
            </a:r>
            <a:r>
              <a:rPr lang="en-US" altLang="zh-CN" sz="2000" b="1" dirty="0" err="1">
                <a:latin typeface="Consolas" panose="020B0609020204030204" pitchFamily="49" charset="0"/>
              </a:rPr>
              <a:t>b.age</a:t>
            </a:r>
            <a:r>
              <a:rPr lang="en-US" altLang="zh-CN" sz="2000" b="1" dirty="0">
                <a:latin typeface="Consolas" panose="020B0609020204030204" pitchFamily="49" charset="0"/>
              </a:rPr>
              <a:t>; 	}</a:t>
            </a:r>
          </a:p>
          <a:p>
            <a:r>
              <a:rPr lang="en-US" altLang="zh-CN" sz="2000" b="1" dirty="0">
                <a:latin typeface="Consolas" panose="020B0609020204030204" pitchFamily="49" charset="0"/>
              </a:rPr>
              <a:t>};</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p>
          <a:p>
            <a:r>
              <a:rPr lang="en-US" altLang="zh-CN" sz="2000" b="1" dirty="0">
                <a:latin typeface="Consolas" panose="020B0609020204030204" pitchFamily="49" charset="0"/>
              </a:rPr>
              <a:t>	vector&lt;People&gt; </a:t>
            </a:r>
            <a:r>
              <a:rPr lang="en-US" altLang="zh-CN" sz="2000" b="1" dirty="0" err="1">
                <a:latin typeface="Consolas" panose="020B0609020204030204" pitchFamily="49" charset="0"/>
              </a:rPr>
              <a:t>vec</a:t>
            </a:r>
            <a:r>
              <a:rPr lang="en-US" altLang="zh-CN" sz="2000" b="1" dirty="0">
                <a:latin typeface="Consolas" panose="020B0609020204030204" pitchFamily="49" charset="0"/>
              </a:rPr>
              <a:t> = {{18, 50}, {16, 40}};</a:t>
            </a:r>
          </a:p>
          <a:p>
            <a:r>
              <a:rPr lang="en-US" altLang="zh-CN" sz="2000" b="1" dirty="0">
                <a:latin typeface="Consolas" panose="020B0609020204030204" pitchFamily="49" charset="0"/>
              </a:rPr>
              <a:t>	</a:t>
            </a:r>
            <a:r>
              <a:rPr lang="en-US" altLang="zh-CN" sz="2000" b="1" dirty="0">
                <a:solidFill>
                  <a:srgbClr val="C00000"/>
                </a:solidFill>
                <a:latin typeface="Consolas" panose="020B0609020204030204" pitchFamily="49" charset="0"/>
              </a:rPr>
              <a:t>sort(</a:t>
            </a:r>
            <a:r>
              <a:rPr lang="en-US" altLang="zh-CN" sz="2000" b="1" dirty="0" err="1">
                <a:solidFill>
                  <a:srgbClr val="C00000"/>
                </a:solidFill>
                <a:latin typeface="Consolas" panose="020B0609020204030204" pitchFamily="49" charset="0"/>
              </a:rPr>
              <a:t>vec.begin</a:t>
            </a:r>
            <a:r>
              <a:rPr lang="en-US" altLang="zh-CN" sz="2000" b="1" dirty="0">
                <a:solidFill>
                  <a:srgbClr val="C00000"/>
                </a:solidFill>
                <a:latin typeface="Consolas" panose="020B0609020204030204" pitchFamily="49" charset="0"/>
              </a:rPr>
              <a:t>(), </a:t>
            </a:r>
            <a:r>
              <a:rPr lang="en-US" altLang="zh-CN" sz="2000" b="1" dirty="0" err="1">
                <a:solidFill>
                  <a:srgbClr val="C00000"/>
                </a:solidFill>
                <a:latin typeface="Consolas" panose="020B0609020204030204" pitchFamily="49" charset="0"/>
              </a:rPr>
              <a:t>vec.end</a:t>
            </a:r>
            <a:r>
              <a:rPr lang="en-US" altLang="zh-CN" sz="2000" b="1" dirty="0">
                <a:solidFill>
                  <a:srgbClr val="C00000"/>
                </a:solidFill>
                <a:latin typeface="Consolas" panose="020B0609020204030204" pitchFamily="49" charset="0"/>
              </a:rPr>
              <a:t>(), </a:t>
            </a:r>
            <a:r>
              <a:rPr lang="en-US" altLang="zh-CN" sz="2000" b="1" dirty="0" err="1">
                <a:solidFill>
                  <a:srgbClr val="C00000"/>
                </a:solidFill>
                <a:latin typeface="Consolas" panose="020B0609020204030204" pitchFamily="49" charset="0"/>
              </a:rPr>
              <a:t>AgeComp</a:t>
            </a:r>
            <a:r>
              <a:rPr lang="en-US" altLang="zh-CN" sz="2000" b="1" dirty="0">
                <a:solidFill>
                  <a:srgbClr val="C00000"/>
                </a:solidFill>
                <a:latin typeface="Consolas" panose="020B0609020204030204" pitchFamily="49" charset="0"/>
              </a:rPr>
              <a:t>());</a:t>
            </a:r>
          </a:p>
          <a:p>
            <a:r>
              <a:rPr lang="en-US" altLang="zh-CN" sz="2000" b="1" dirty="0">
                <a:latin typeface="Consolas" panose="020B0609020204030204" pitchFamily="49" charset="0"/>
              </a:rPr>
              <a:t>	return 0;</a:t>
            </a:r>
          </a:p>
          <a:p>
            <a:r>
              <a:rPr lang="en-US" altLang="zh-CN" sz="2000" b="1" dirty="0">
                <a:latin typeface="Consolas" panose="020B0609020204030204" pitchFamily="49" charset="0"/>
              </a:rPr>
              <a:t>}</a:t>
            </a:r>
          </a:p>
        </p:txBody>
      </p:sp>
    </p:spTree>
    <p:extLst>
      <p:ext uri="{BB962C8B-B14F-4D97-AF65-F5344CB8AC3E}">
        <p14:creationId xmlns:p14="http://schemas.microsoft.com/office/powerpoint/2010/main" val="3593717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BDE15-83AC-40B3-A816-913AFB6689B8}"/>
              </a:ext>
            </a:extLst>
          </p:cNvPr>
          <p:cNvSpPr>
            <a:spLocks noGrp="1"/>
          </p:cNvSpPr>
          <p:nvPr>
            <p:ph type="title"/>
          </p:nvPr>
        </p:nvSpPr>
        <p:spPr/>
        <p:txBody>
          <a:bodyPr/>
          <a:lstStyle/>
          <a:p>
            <a:r>
              <a:rPr lang="zh-CN" altLang="en-US" dirty="0"/>
              <a:t>例子：一个简单计算器</a:t>
            </a:r>
          </a:p>
        </p:txBody>
      </p:sp>
      <p:sp>
        <p:nvSpPr>
          <p:cNvPr id="3" name="内容占位符 2">
            <a:extLst>
              <a:ext uri="{FF2B5EF4-FFF2-40B4-BE49-F238E27FC236}">
                <a16:creationId xmlns:a16="http://schemas.microsoft.com/office/drawing/2014/main" id="{7F15E7A0-589E-491B-8531-D65C3F3DE15E}"/>
              </a:ext>
            </a:extLst>
          </p:cNvPr>
          <p:cNvSpPr>
            <a:spLocks noGrp="1"/>
          </p:cNvSpPr>
          <p:nvPr>
            <p:ph idx="1"/>
          </p:nvPr>
        </p:nvSpPr>
        <p:spPr>
          <a:xfrm>
            <a:off x="611560" y="1281301"/>
            <a:ext cx="8119814" cy="4749029"/>
          </a:xfrm>
        </p:spPr>
        <p:txBody>
          <a:bodyPr/>
          <a:lstStyle/>
          <a:p>
            <a:r>
              <a:rPr lang="zh-CN" altLang="en-US" dirty="0"/>
              <a:t>分为三个步骤，每个步骤都有可选的方式</a:t>
            </a:r>
          </a:p>
        </p:txBody>
      </p:sp>
      <p:sp>
        <p:nvSpPr>
          <p:cNvPr id="4" name="灯片编号占位符 3">
            <a:extLst>
              <a:ext uri="{FF2B5EF4-FFF2-40B4-BE49-F238E27FC236}">
                <a16:creationId xmlns:a16="http://schemas.microsoft.com/office/drawing/2014/main" id="{5B5F5C68-FB97-4DC9-AFA5-B787B202695B}"/>
              </a:ext>
            </a:extLst>
          </p:cNvPr>
          <p:cNvSpPr>
            <a:spLocks noGrp="1"/>
          </p:cNvSpPr>
          <p:nvPr>
            <p:ph type="sldNum" sz="quarter" idx="12"/>
          </p:nvPr>
        </p:nvSpPr>
        <p:spPr/>
        <p:txBody>
          <a:bodyPr/>
          <a:lstStyle/>
          <a:p>
            <a:pPr>
              <a:defRPr/>
            </a:pPr>
            <a:fld id="{BFD7BE51-03DD-4CCA-8227-D775462981B4}" type="slidenum">
              <a:rPr lang="en-US" altLang="zh-CN" smtClean="0"/>
              <a:pPr>
                <a:defRPr/>
              </a:pPr>
              <a:t>46</a:t>
            </a:fld>
            <a:endParaRPr lang="en-US" altLang="zh-CN"/>
          </a:p>
        </p:txBody>
      </p:sp>
      <p:sp>
        <p:nvSpPr>
          <p:cNvPr id="5" name="矩形 4">
            <a:extLst>
              <a:ext uri="{FF2B5EF4-FFF2-40B4-BE49-F238E27FC236}">
                <a16:creationId xmlns:a16="http://schemas.microsoft.com/office/drawing/2014/main" id="{369C7FDD-114C-4BFE-BC12-DDB39CACE536}"/>
              </a:ext>
            </a:extLst>
          </p:cNvPr>
          <p:cNvSpPr/>
          <p:nvPr/>
        </p:nvSpPr>
        <p:spPr>
          <a:xfrm>
            <a:off x="827584" y="2492896"/>
            <a:ext cx="1656184" cy="8593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b="1" dirty="0"/>
              <a:t>读入数据</a:t>
            </a:r>
          </a:p>
        </p:txBody>
      </p:sp>
      <p:sp>
        <p:nvSpPr>
          <p:cNvPr id="6" name="矩形 5">
            <a:extLst>
              <a:ext uri="{FF2B5EF4-FFF2-40B4-BE49-F238E27FC236}">
                <a16:creationId xmlns:a16="http://schemas.microsoft.com/office/drawing/2014/main" id="{2957847C-157C-4B9D-A1B6-3D943C1430A3}"/>
              </a:ext>
            </a:extLst>
          </p:cNvPr>
          <p:cNvSpPr/>
          <p:nvPr/>
        </p:nvSpPr>
        <p:spPr>
          <a:xfrm>
            <a:off x="827584" y="5085184"/>
            <a:ext cx="1656184" cy="8593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b="1" dirty="0"/>
              <a:t>输出数据</a:t>
            </a:r>
          </a:p>
        </p:txBody>
      </p:sp>
      <p:sp>
        <p:nvSpPr>
          <p:cNvPr id="7" name="矩形 6">
            <a:extLst>
              <a:ext uri="{FF2B5EF4-FFF2-40B4-BE49-F238E27FC236}">
                <a16:creationId xmlns:a16="http://schemas.microsoft.com/office/drawing/2014/main" id="{93E45BEB-023B-4511-BCF4-1D1F78CE163D}"/>
              </a:ext>
            </a:extLst>
          </p:cNvPr>
          <p:cNvSpPr/>
          <p:nvPr/>
        </p:nvSpPr>
        <p:spPr>
          <a:xfrm>
            <a:off x="827584" y="3784288"/>
            <a:ext cx="1656184" cy="85934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b="1" dirty="0"/>
              <a:t>处理数据</a:t>
            </a:r>
          </a:p>
        </p:txBody>
      </p:sp>
      <p:cxnSp>
        <p:nvCxnSpPr>
          <p:cNvPr id="9" name="直接箭头连接符 8">
            <a:extLst>
              <a:ext uri="{FF2B5EF4-FFF2-40B4-BE49-F238E27FC236}">
                <a16:creationId xmlns:a16="http://schemas.microsoft.com/office/drawing/2014/main" id="{0294A5E1-F1D3-44EE-BA1C-99FA5884DD47}"/>
              </a:ext>
            </a:extLst>
          </p:cNvPr>
          <p:cNvCxnSpPr>
            <a:stCxn id="5" idx="2"/>
            <a:endCxn id="7" idx="0"/>
          </p:cNvCxnSpPr>
          <p:nvPr/>
        </p:nvCxnSpPr>
        <p:spPr>
          <a:xfrm>
            <a:off x="1655676" y="3352240"/>
            <a:ext cx="0" cy="432048"/>
          </a:xfrm>
          <a:prstGeom prst="straightConnector1">
            <a:avLst/>
          </a:prstGeom>
          <a:ln w="28575">
            <a:tailEnd type="triangle"/>
          </a:ln>
        </p:spPr>
        <p:style>
          <a:lnRef idx="1">
            <a:schemeClr val="accent1"/>
          </a:lnRef>
          <a:fillRef idx="2">
            <a:schemeClr val="accent1"/>
          </a:fillRef>
          <a:effectRef idx="1">
            <a:schemeClr val="accent1"/>
          </a:effectRef>
          <a:fontRef idx="minor">
            <a:schemeClr val="dk1"/>
          </a:fontRef>
        </p:style>
      </p:cxnSp>
      <p:cxnSp>
        <p:nvCxnSpPr>
          <p:cNvPr id="11" name="直接箭头连接符 10">
            <a:extLst>
              <a:ext uri="{FF2B5EF4-FFF2-40B4-BE49-F238E27FC236}">
                <a16:creationId xmlns:a16="http://schemas.microsoft.com/office/drawing/2014/main" id="{D58ECC87-A73E-4999-BFF2-2A956A6E9E56}"/>
              </a:ext>
            </a:extLst>
          </p:cNvPr>
          <p:cNvCxnSpPr>
            <a:stCxn id="7" idx="2"/>
            <a:endCxn id="6" idx="0"/>
          </p:cNvCxnSpPr>
          <p:nvPr/>
        </p:nvCxnSpPr>
        <p:spPr>
          <a:xfrm>
            <a:off x="1655676" y="4643632"/>
            <a:ext cx="0" cy="441552"/>
          </a:xfrm>
          <a:prstGeom prst="straightConnector1">
            <a:avLst/>
          </a:prstGeom>
          <a:ln w="28575">
            <a:tailEnd type="triangle"/>
          </a:ln>
        </p:spPr>
        <p:style>
          <a:lnRef idx="1">
            <a:schemeClr val="accent1"/>
          </a:lnRef>
          <a:fillRef idx="2">
            <a:schemeClr val="accent1"/>
          </a:fillRef>
          <a:effectRef idx="1">
            <a:schemeClr val="accent1"/>
          </a:effectRef>
          <a:fontRef idx="minor">
            <a:schemeClr val="dk1"/>
          </a:fontRef>
        </p:style>
      </p:cxnSp>
      <p:sp>
        <p:nvSpPr>
          <p:cNvPr id="14" name="文本框 13">
            <a:extLst>
              <a:ext uri="{FF2B5EF4-FFF2-40B4-BE49-F238E27FC236}">
                <a16:creationId xmlns:a16="http://schemas.microsoft.com/office/drawing/2014/main" id="{65138A20-34E4-43DC-916D-EBAF4BE36BE5}"/>
              </a:ext>
            </a:extLst>
          </p:cNvPr>
          <p:cNvSpPr txBox="1"/>
          <p:nvPr/>
        </p:nvSpPr>
        <p:spPr>
          <a:xfrm>
            <a:off x="3258766" y="1853515"/>
            <a:ext cx="5472608" cy="4524315"/>
          </a:xfrm>
          <a:prstGeom prst="rect">
            <a:avLst/>
          </a:prstGeom>
          <a:noFill/>
        </p:spPr>
        <p:txBody>
          <a:bodyPr wrap="square" rtlCol="0">
            <a:spAutoFit/>
          </a:bodyPr>
          <a:lstStyle/>
          <a:p>
            <a:r>
              <a:rPr lang="en-US" altLang="zh-CN" sz="2400" b="1" dirty="0">
                <a:latin typeface="Consolas" panose="020B0609020204030204" pitchFamily="49" charset="0"/>
              </a:rPr>
              <a:t>string </a:t>
            </a:r>
            <a:r>
              <a:rPr lang="en-US" altLang="zh-CN" sz="2400" b="1" dirty="0" err="1">
                <a:latin typeface="Consolas" panose="020B0609020204030204" pitchFamily="49" charset="0"/>
              </a:rPr>
              <a:t>readFromScreen</a:t>
            </a:r>
            <a:r>
              <a:rPr lang="en-US" altLang="zh-CN" sz="2400" b="1" dirty="0">
                <a:latin typeface="Consolas" panose="020B0609020204030204" pitchFamily="49" charset="0"/>
              </a:rPr>
              <a:t>(){</a:t>
            </a:r>
          </a:p>
          <a:p>
            <a:r>
              <a:rPr lang="en-US" altLang="zh-CN" sz="2400" b="1" dirty="0">
                <a:latin typeface="Consolas" panose="020B0609020204030204" pitchFamily="49" charset="0"/>
              </a:rPr>
              <a:t>    string input;</a:t>
            </a:r>
          </a:p>
          <a:p>
            <a:r>
              <a:rPr lang="en-US" altLang="zh-CN" sz="2400" b="1" dirty="0">
                <a:latin typeface="Consolas" panose="020B0609020204030204" pitchFamily="49" charset="0"/>
              </a:rPr>
              <a:t>    </a:t>
            </a:r>
            <a:r>
              <a:rPr lang="en-US" altLang="zh-CN" sz="2400" b="1" dirty="0" err="1">
                <a:latin typeface="Consolas" panose="020B0609020204030204" pitchFamily="49" charset="0"/>
              </a:rPr>
              <a:t>getline</a:t>
            </a:r>
            <a:r>
              <a:rPr lang="en-US" altLang="zh-CN" sz="2400" b="1" dirty="0">
                <a:latin typeface="Consolas" panose="020B0609020204030204" pitchFamily="49" charset="0"/>
              </a:rPr>
              <a:t>(</a:t>
            </a:r>
            <a:r>
              <a:rPr lang="en-US" altLang="zh-CN" sz="2400" b="1" dirty="0" err="1">
                <a:latin typeface="Consolas" panose="020B0609020204030204" pitchFamily="49" charset="0"/>
              </a:rPr>
              <a:t>cin</a:t>
            </a:r>
            <a:r>
              <a:rPr lang="en-US" altLang="zh-CN" sz="2400" b="1" dirty="0">
                <a:latin typeface="Consolas" panose="020B0609020204030204" pitchFamily="49" charset="0"/>
              </a:rPr>
              <a:t>, input);</a:t>
            </a:r>
          </a:p>
          <a:p>
            <a:r>
              <a:rPr lang="en-US" altLang="zh-CN" sz="2400" b="1" dirty="0">
                <a:latin typeface="Consolas" panose="020B0609020204030204" pitchFamily="49" charset="0"/>
              </a:rPr>
              <a:t>    return input;</a:t>
            </a:r>
          </a:p>
          <a:p>
            <a:r>
              <a:rPr lang="en-US" altLang="zh-CN" sz="2400" b="1" dirty="0">
                <a:latin typeface="Consolas" panose="020B0609020204030204" pitchFamily="49" charset="0"/>
              </a:rPr>
              <a:t>}</a:t>
            </a:r>
          </a:p>
          <a:p>
            <a:r>
              <a:rPr lang="en-US" altLang="zh-CN" sz="2400" b="1" dirty="0">
                <a:latin typeface="Consolas" panose="020B0609020204030204" pitchFamily="49" charset="0"/>
              </a:rPr>
              <a:t>string </a:t>
            </a:r>
            <a:r>
              <a:rPr lang="en-US" altLang="zh-CN" sz="2400" b="1" dirty="0" err="1">
                <a:latin typeface="Consolas" panose="020B0609020204030204" pitchFamily="49" charset="0"/>
              </a:rPr>
              <a:t>readFromFile</a:t>
            </a:r>
            <a:r>
              <a:rPr lang="en-US" altLang="zh-CN" sz="2400" b="1" dirty="0">
                <a:latin typeface="Consolas" panose="020B0609020204030204" pitchFamily="49" charset="0"/>
              </a:rPr>
              <a:t>()</a:t>
            </a:r>
          </a:p>
          <a:p>
            <a:endParaRPr lang="en-US" altLang="zh-CN" sz="2400" b="1" dirty="0">
              <a:latin typeface="Consolas" panose="020B0609020204030204" pitchFamily="49" charset="0"/>
            </a:endParaRPr>
          </a:p>
          <a:p>
            <a:r>
              <a:rPr lang="en-US" altLang="zh-CN" sz="2400" b="1" dirty="0">
                <a:latin typeface="Consolas" panose="020B0609020204030204" pitchFamily="49" charset="0"/>
              </a:rPr>
              <a:t>string </a:t>
            </a:r>
            <a:r>
              <a:rPr lang="en-US" altLang="zh-CN" sz="2400" b="1" dirty="0" err="1">
                <a:latin typeface="Consolas" panose="020B0609020204030204" pitchFamily="49" charset="0"/>
              </a:rPr>
              <a:t>calculateAdd</a:t>
            </a:r>
            <a:r>
              <a:rPr lang="en-US" altLang="zh-CN" sz="2400" b="1" dirty="0">
                <a:latin typeface="Consolas" panose="020B0609020204030204" pitchFamily="49" charset="0"/>
              </a:rPr>
              <a:t>(string)</a:t>
            </a:r>
          </a:p>
          <a:p>
            <a:r>
              <a:rPr lang="en-US" altLang="zh-CN" sz="2400" b="1" dirty="0">
                <a:latin typeface="Consolas" panose="020B0609020204030204" pitchFamily="49" charset="0"/>
              </a:rPr>
              <a:t>string </a:t>
            </a:r>
            <a:r>
              <a:rPr lang="en-US" altLang="zh-CN" sz="2400" b="1" dirty="0" err="1">
                <a:latin typeface="Consolas" panose="020B0609020204030204" pitchFamily="49" charset="0"/>
              </a:rPr>
              <a:t>calculateMul</a:t>
            </a:r>
            <a:r>
              <a:rPr lang="en-US" altLang="zh-CN" sz="2400" b="1" dirty="0">
                <a:latin typeface="Consolas" panose="020B0609020204030204" pitchFamily="49" charset="0"/>
              </a:rPr>
              <a:t>(string)</a:t>
            </a:r>
          </a:p>
          <a:p>
            <a:endParaRPr lang="en-US" altLang="zh-CN" sz="2400" b="1" dirty="0">
              <a:latin typeface="Consolas" panose="020B0609020204030204" pitchFamily="49" charset="0"/>
            </a:endParaRPr>
          </a:p>
          <a:p>
            <a:r>
              <a:rPr lang="en-US" altLang="zh-CN" sz="2400" b="1" dirty="0">
                <a:latin typeface="Consolas" panose="020B0609020204030204" pitchFamily="49" charset="0"/>
              </a:rPr>
              <a:t>void </a:t>
            </a:r>
            <a:r>
              <a:rPr lang="en-US" altLang="zh-CN" sz="2400" b="1" dirty="0" err="1">
                <a:latin typeface="Consolas" panose="020B0609020204030204" pitchFamily="49" charset="0"/>
              </a:rPr>
              <a:t>writeToScreen</a:t>
            </a:r>
            <a:r>
              <a:rPr lang="en-US" altLang="zh-CN" sz="2400" b="1" dirty="0">
                <a:latin typeface="Consolas" panose="020B0609020204030204" pitchFamily="49" charset="0"/>
              </a:rPr>
              <a:t>(string)</a:t>
            </a:r>
          </a:p>
          <a:p>
            <a:r>
              <a:rPr lang="en-US" altLang="zh-CN" sz="2400" b="1" dirty="0">
                <a:latin typeface="Consolas" panose="020B0609020204030204" pitchFamily="49" charset="0"/>
              </a:rPr>
              <a:t>void </a:t>
            </a:r>
            <a:r>
              <a:rPr lang="en-US" altLang="zh-CN" sz="2400" b="1" dirty="0" err="1">
                <a:latin typeface="Consolas" panose="020B0609020204030204" pitchFamily="49" charset="0"/>
              </a:rPr>
              <a:t>writeToFile</a:t>
            </a:r>
            <a:r>
              <a:rPr lang="en-US" altLang="zh-CN" sz="2400" b="1" dirty="0">
                <a:latin typeface="Consolas" panose="020B0609020204030204" pitchFamily="49" charset="0"/>
              </a:rPr>
              <a:t>(string)</a:t>
            </a:r>
            <a:endParaRPr lang="zh-CN" altLang="en-US" sz="2400" b="1" dirty="0">
              <a:latin typeface="Consolas" panose="020B0609020204030204" pitchFamily="49" charset="0"/>
            </a:endParaRPr>
          </a:p>
        </p:txBody>
      </p:sp>
      <p:cxnSp>
        <p:nvCxnSpPr>
          <p:cNvPr id="18" name="直接箭头连接符 17">
            <a:extLst>
              <a:ext uri="{FF2B5EF4-FFF2-40B4-BE49-F238E27FC236}">
                <a16:creationId xmlns:a16="http://schemas.microsoft.com/office/drawing/2014/main" id="{22C97743-D47A-4949-85FC-96A38FC4E331}"/>
              </a:ext>
            </a:extLst>
          </p:cNvPr>
          <p:cNvCxnSpPr>
            <a:stCxn id="5" idx="3"/>
          </p:cNvCxnSpPr>
          <p:nvPr/>
        </p:nvCxnSpPr>
        <p:spPr>
          <a:xfrm flipV="1">
            <a:off x="2483768" y="2204864"/>
            <a:ext cx="774998" cy="71770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ACD71B7A-22BC-4891-921F-7F42D3467BF7}"/>
              </a:ext>
            </a:extLst>
          </p:cNvPr>
          <p:cNvCxnSpPr>
            <a:stCxn id="5" idx="3"/>
          </p:cNvCxnSpPr>
          <p:nvPr/>
        </p:nvCxnSpPr>
        <p:spPr>
          <a:xfrm>
            <a:off x="2483768" y="2922568"/>
            <a:ext cx="774998" cy="100188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70B0B78E-0E45-4BA8-97CA-907A921C997C}"/>
              </a:ext>
            </a:extLst>
          </p:cNvPr>
          <p:cNvCxnSpPr>
            <a:stCxn id="7" idx="3"/>
          </p:cNvCxnSpPr>
          <p:nvPr/>
        </p:nvCxnSpPr>
        <p:spPr>
          <a:xfrm>
            <a:off x="2483768" y="4213960"/>
            <a:ext cx="774998" cy="4296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6A0258FE-8A49-4CBB-B8F9-775BD0014F54}"/>
              </a:ext>
            </a:extLst>
          </p:cNvPr>
          <p:cNvCxnSpPr>
            <a:stCxn id="7" idx="3"/>
          </p:cNvCxnSpPr>
          <p:nvPr/>
        </p:nvCxnSpPr>
        <p:spPr>
          <a:xfrm>
            <a:off x="2483768" y="4213960"/>
            <a:ext cx="774998" cy="78542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8F447A4D-C895-434F-B264-00F6A9C2AF19}"/>
              </a:ext>
            </a:extLst>
          </p:cNvPr>
          <p:cNvCxnSpPr>
            <a:stCxn id="6" idx="3"/>
          </p:cNvCxnSpPr>
          <p:nvPr/>
        </p:nvCxnSpPr>
        <p:spPr>
          <a:xfrm>
            <a:off x="2483768" y="5514856"/>
            <a:ext cx="774998" cy="21952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CDA1B32E-B969-40D4-8F04-7F0775B697B7}"/>
              </a:ext>
            </a:extLst>
          </p:cNvPr>
          <p:cNvCxnSpPr>
            <a:stCxn id="6" idx="3"/>
          </p:cNvCxnSpPr>
          <p:nvPr/>
        </p:nvCxnSpPr>
        <p:spPr>
          <a:xfrm>
            <a:off x="2483768" y="5514856"/>
            <a:ext cx="774998" cy="62054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423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130C6B-77F4-4A16-8597-D86CF07B251A}"/>
              </a:ext>
            </a:extLst>
          </p:cNvPr>
          <p:cNvSpPr>
            <a:spLocks noGrp="1"/>
          </p:cNvSpPr>
          <p:nvPr>
            <p:ph type="title"/>
          </p:nvPr>
        </p:nvSpPr>
        <p:spPr/>
        <p:txBody>
          <a:bodyPr/>
          <a:lstStyle/>
          <a:p>
            <a:r>
              <a:rPr lang="zh-CN" altLang="en-US" dirty="0"/>
              <a:t>例子：一个简单计算器</a:t>
            </a:r>
          </a:p>
        </p:txBody>
      </p:sp>
      <p:sp>
        <p:nvSpPr>
          <p:cNvPr id="3" name="内容占位符 2">
            <a:extLst>
              <a:ext uri="{FF2B5EF4-FFF2-40B4-BE49-F238E27FC236}">
                <a16:creationId xmlns:a16="http://schemas.microsoft.com/office/drawing/2014/main" id="{3D0325EA-6B4E-4DC4-9564-65BCBC39076E}"/>
              </a:ext>
            </a:extLst>
          </p:cNvPr>
          <p:cNvSpPr>
            <a:spLocks noGrp="1"/>
          </p:cNvSpPr>
          <p:nvPr>
            <p:ph idx="1"/>
          </p:nvPr>
        </p:nvSpPr>
        <p:spPr>
          <a:xfrm>
            <a:off x="641446" y="1285442"/>
            <a:ext cx="8047806" cy="4749029"/>
          </a:xfrm>
        </p:spPr>
        <p:txBody>
          <a:bodyPr/>
          <a:lstStyle/>
          <a:p>
            <a:r>
              <a:rPr lang="zh-CN" altLang="en-US" dirty="0"/>
              <a:t>基于虚函数的模板（</a:t>
            </a:r>
            <a:r>
              <a:rPr lang="en-US" altLang="zh-CN" dirty="0"/>
              <a:t>Template</a:t>
            </a:r>
            <a:r>
              <a:rPr lang="zh-CN" altLang="en-US" dirty="0"/>
              <a:t>）设计模式</a:t>
            </a:r>
            <a:endParaRPr lang="en-US" altLang="zh-CN" dirty="0"/>
          </a:p>
          <a:p>
            <a:endParaRPr lang="zh-CN" altLang="en-US" dirty="0"/>
          </a:p>
        </p:txBody>
      </p:sp>
      <p:sp>
        <p:nvSpPr>
          <p:cNvPr id="4" name="灯片编号占位符 3">
            <a:extLst>
              <a:ext uri="{FF2B5EF4-FFF2-40B4-BE49-F238E27FC236}">
                <a16:creationId xmlns:a16="http://schemas.microsoft.com/office/drawing/2014/main" id="{5645A7E6-7B35-4D05-9F95-667F53DA56F1}"/>
              </a:ext>
            </a:extLst>
          </p:cNvPr>
          <p:cNvSpPr>
            <a:spLocks noGrp="1"/>
          </p:cNvSpPr>
          <p:nvPr>
            <p:ph type="sldNum" sz="quarter" idx="12"/>
          </p:nvPr>
        </p:nvSpPr>
        <p:spPr/>
        <p:txBody>
          <a:bodyPr/>
          <a:lstStyle/>
          <a:p>
            <a:pPr>
              <a:defRPr/>
            </a:pPr>
            <a:fld id="{BFD7BE51-03DD-4CCA-8227-D775462981B4}" type="slidenum">
              <a:rPr lang="en-US" altLang="zh-CN" smtClean="0"/>
              <a:pPr>
                <a:defRPr/>
              </a:pPr>
              <a:t>47</a:t>
            </a:fld>
            <a:endParaRPr lang="en-US" altLang="zh-CN"/>
          </a:p>
        </p:txBody>
      </p:sp>
      <p:sp>
        <p:nvSpPr>
          <p:cNvPr id="5" name="文本框 4">
            <a:extLst>
              <a:ext uri="{FF2B5EF4-FFF2-40B4-BE49-F238E27FC236}">
                <a16:creationId xmlns:a16="http://schemas.microsoft.com/office/drawing/2014/main" id="{072FB66C-761A-41F6-95B1-F636821612B3}"/>
              </a:ext>
            </a:extLst>
          </p:cNvPr>
          <p:cNvSpPr txBox="1"/>
          <p:nvPr/>
        </p:nvSpPr>
        <p:spPr>
          <a:xfrm>
            <a:off x="1013722" y="1703705"/>
            <a:ext cx="7488832" cy="4893647"/>
          </a:xfrm>
          <a:prstGeom prst="rect">
            <a:avLst/>
          </a:prstGeom>
          <a:noFill/>
        </p:spPr>
        <p:txBody>
          <a:bodyPr wrap="square" rtlCol="0">
            <a:spAutoFit/>
          </a:bodyPr>
          <a:lstStyle/>
          <a:p>
            <a:r>
              <a:rPr lang="en-US" altLang="zh-CN" sz="2400" b="1" dirty="0">
                <a:latin typeface="Consolas" panose="020B0609020204030204" pitchFamily="49" charset="0"/>
              </a:rPr>
              <a:t>class </a:t>
            </a:r>
            <a:r>
              <a:rPr lang="en-US" altLang="zh-CN" sz="2400" b="1" dirty="0" err="1">
                <a:latin typeface="Consolas" panose="020B0609020204030204" pitchFamily="49" charset="0"/>
              </a:rPr>
              <a:t>CalculatorBase</a:t>
            </a:r>
            <a:endParaRPr lang="en-US" altLang="zh-CN" sz="2400" b="1" dirty="0">
              <a:latin typeface="Consolas" panose="020B0609020204030204" pitchFamily="49" charset="0"/>
            </a:endParaRPr>
          </a:p>
          <a:p>
            <a:r>
              <a:rPr lang="en-US" altLang="zh-CN" sz="2400" b="1" dirty="0">
                <a:latin typeface="Consolas" panose="020B0609020204030204" pitchFamily="49" charset="0"/>
              </a:rPr>
              <a:t>{</a:t>
            </a:r>
          </a:p>
          <a:p>
            <a:r>
              <a:rPr lang="en-US" altLang="zh-CN" sz="2400" b="1" dirty="0">
                <a:latin typeface="Consolas" panose="020B0609020204030204" pitchFamily="49" charset="0"/>
              </a:rPr>
              <a:t>public</a:t>
            </a:r>
            <a:r>
              <a:rPr lang="zh-CN" altLang="en-US" sz="2400" b="1" dirty="0">
                <a:latin typeface="Consolas" panose="020B0609020204030204" pitchFamily="49" charset="0"/>
              </a:rPr>
              <a:t>：</a:t>
            </a:r>
            <a:endParaRPr lang="en-US" altLang="zh-CN" sz="2400" b="1" dirty="0">
              <a:latin typeface="Consolas" panose="020B0609020204030204" pitchFamily="49" charset="0"/>
            </a:endParaRPr>
          </a:p>
          <a:p>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virtual</a:t>
            </a:r>
            <a:r>
              <a:rPr lang="en-US" altLang="zh-CN" sz="2400" b="1" dirty="0">
                <a:latin typeface="Consolas" panose="020B0609020204030204" pitchFamily="49" charset="0"/>
              </a:rPr>
              <a:t> string read();</a:t>
            </a:r>
          </a:p>
          <a:p>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virtual</a:t>
            </a:r>
            <a:r>
              <a:rPr lang="en-US" altLang="zh-CN" sz="2400" b="1" dirty="0">
                <a:latin typeface="Consolas" panose="020B0609020204030204" pitchFamily="49" charset="0"/>
              </a:rPr>
              <a:t> string calculate(string);</a:t>
            </a:r>
          </a:p>
          <a:p>
            <a:r>
              <a:rPr lang="en-US" altLang="zh-CN" sz="2400" b="1" dirty="0">
                <a:latin typeface="Consolas" panose="020B0609020204030204" pitchFamily="49" charset="0"/>
              </a:rPr>
              <a:t>	</a:t>
            </a:r>
            <a:r>
              <a:rPr lang="en-US" altLang="zh-CN" sz="2400" b="1" dirty="0">
                <a:solidFill>
                  <a:srgbClr val="FF0000"/>
                </a:solidFill>
                <a:latin typeface="Consolas" panose="020B0609020204030204" pitchFamily="49" charset="0"/>
              </a:rPr>
              <a:t>virtual</a:t>
            </a:r>
            <a:r>
              <a:rPr lang="en-US" altLang="zh-CN" sz="2400" b="1" dirty="0">
                <a:latin typeface="Consolas" panose="020B0609020204030204" pitchFamily="49" charset="0"/>
              </a:rPr>
              <a:t> void write(string);</a:t>
            </a:r>
          </a:p>
          <a:p>
            <a:r>
              <a:rPr lang="en-US" altLang="zh-CN" sz="2400" b="1" dirty="0">
                <a:latin typeface="Consolas" panose="020B0609020204030204" pitchFamily="49" charset="0"/>
              </a:rPr>
              <a:t>	void process()</a:t>
            </a:r>
          </a:p>
          <a:p>
            <a:r>
              <a:rPr lang="en-US" altLang="zh-CN" sz="2400" b="1" dirty="0">
                <a:latin typeface="Consolas" panose="020B0609020204030204" pitchFamily="49" charset="0"/>
              </a:rPr>
              <a:t>	{</a:t>
            </a:r>
          </a:p>
          <a:p>
            <a:r>
              <a:rPr lang="en-US" altLang="zh-CN" sz="2400" b="1" dirty="0">
                <a:latin typeface="Consolas" panose="020B0609020204030204" pitchFamily="49" charset="0"/>
              </a:rPr>
              <a:t>		string data = read();</a:t>
            </a:r>
          </a:p>
          <a:p>
            <a:r>
              <a:rPr lang="en-US" altLang="zh-CN" sz="2400" b="1" dirty="0">
                <a:latin typeface="Consolas" panose="020B0609020204030204" pitchFamily="49" charset="0"/>
              </a:rPr>
              <a:t>		string output = calculate(data);</a:t>
            </a:r>
          </a:p>
          <a:p>
            <a:r>
              <a:rPr lang="en-US" altLang="zh-CN" sz="2400" b="1" dirty="0">
                <a:latin typeface="Consolas" panose="020B0609020204030204" pitchFamily="49" charset="0"/>
              </a:rPr>
              <a:t>		write(output);</a:t>
            </a:r>
          </a:p>
          <a:p>
            <a:r>
              <a:rPr lang="en-US" altLang="zh-CN" sz="2400" b="1" dirty="0">
                <a:latin typeface="Consolas" panose="020B0609020204030204" pitchFamily="49" charset="0"/>
              </a:rPr>
              <a:t>	}</a:t>
            </a:r>
          </a:p>
          <a:p>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
        <p:nvSpPr>
          <p:cNvPr id="6" name="文本框 5">
            <a:extLst>
              <a:ext uri="{FF2B5EF4-FFF2-40B4-BE49-F238E27FC236}">
                <a16:creationId xmlns:a16="http://schemas.microsoft.com/office/drawing/2014/main" id="{9D77CFAE-7A8E-4D70-BEAA-66507AA33F7F}"/>
              </a:ext>
            </a:extLst>
          </p:cNvPr>
          <p:cNvSpPr txBox="1"/>
          <p:nvPr/>
        </p:nvSpPr>
        <p:spPr>
          <a:xfrm>
            <a:off x="6187497" y="1771650"/>
            <a:ext cx="2315057" cy="523220"/>
          </a:xfrm>
          <a:prstGeom prst="rect">
            <a:avLst/>
          </a:prstGeom>
          <a:noFill/>
        </p:spPr>
        <p:txBody>
          <a:bodyPr wrap="none" rtlCol="0">
            <a:spAutoFit/>
          </a:bodyPr>
          <a:lstStyle/>
          <a:p>
            <a:r>
              <a:rPr lang="en-US" altLang="zh-CN" sz="2800" b="1" dirty="0"/>
              <a:t>L9</a:t>
            </a:r>
            <a:r>
              <a:rPr lang="zh-CN" altLang="en-US" sz="2800" b="1" dirty="0"/>
              <a:t>课件提到过</a:t>
            </a:r>
          </a:p>
        </p:txBody>
      </p:sp>
    </p:spTree>
    <p:extLst>
      <p:ext uri="{BB962C8B-B14F-4D97-AF65-F5344CB8AC3E}">
        <p14:creationId xmlns:p14="http://schemas.microsoft.com/office/powerpoint/2010/main" val="19209263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BDE15-83AC-40B3-A816-913AFB6689B8}"/>
              </a:ext>
            </a:extLst>
          </p:cNvPr>
          <p:cNvSpPr>
            <a:spLocks noGrp="1"/>
          </p:cNvSpPr>
          <p:nvPr>
            <p:ph type="title"/>
          </p:nvPr>
        </p:nvSpPr>
        <p:spPr/>
        <p:txBody>
          <a:bodyPr/>
          <a:lstStyle/>
          <a:p>
            <a:r>
              <a:rPr lang="zh-CN" altLang="en-US" dirty="0"/>
              <a:t>例子：一个简单计算器</a:t>
            </a:r>
          </a:p>
        </p:txBody>
      </p:sp>
      <p:sp>
        <p:nvSpPr>
          <p:cNvPr id="3" name="内容占位符 2">
            <a:extLst>
              <a:ext uri="{FF2B5EF4-FFF2-40B4-BE49-F238E27FC236}">
                <a16:creationId xmlns:a16="http://schemas.microsoft.com/office/drawing/2014/main" id="{7F15E7A0-589E-491B-8531-D65C3F3DE15E}"/>
              </a:ext>
            </a:extLst>
          </p:cNvPr>
          <p:cNvSpPr>
            <a:spLocks noGrp="1"/>
          </p:cNvSpPr>
          <p:nvPr>
            <p:ph idx="1"/>
          </p:nvPr>
        </p:nvSpPr>
        <p:spPr>
          <a:xfrm>
            <a:off x="611560" y="1427546"/>
            <a:ext cx="8119814" cy="5097798"/>
          </a:xfrm>
        </p:spPr>
        <p:txBody>
          <a:bodyPr/>
          <a:lstStyle/>
          <a:p>
            <a:r>
              <a:rPr lang="zh-CN" altLang="en-US" dirty="0"/>
              <a:t>如果使用函数对象？能不能写成</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sz="1050" dirty="0"/>
          </a:p>
          <a:p>
            <a:endParaRPr lang="en-US" altLang="zh-CN" dirty="0"/>
          </a:p>
          <a:p>
            <a:r>
              <a:rPr lang="en-US" altLang="zh-CN" dirty="0" err="1"/>
              <a:t>ReadFunc</a:t>
            </a:r>
            <a:r>
              <a:rPr lang="en-US" altLang="zh-CN" dirty="0"/>
              <a:t>, </a:t>
            </a:r>
            <a:r>
              <a:rPr lang="en-US" altLang="zh-CN" dirty="0" err="1"/>
              <a:t>CalFunc</a:t>
            </a:r>
            <a:r>
              <a:rPr lang="en-US" altLang="zh-CN" dirty="0"/>
              <a:t>, </a:t>
            </a:r>
            <a:r>
              <a:rPr lang="en-US" altLang="zh-CN" dirty="0" err="1"/>
              <a:t>WriteFunc</a:t>
            </a:r>
            <a:r>
              <a:rPr lang="zh-CN" altLang="en-US" dirty="0"/>
              <a:t>分别是什么？</a:t>
            </a:r>
            <a:endParaRPr lang="en-US" altLang="zh-CN" dirty="0"/>
          </a:p>
        </p:txBody>
      </p:sp>
      <p:sp>
        <p:nvSpPr>
          <p:cNvPr id="4" name="灯片编号占位符 3">
            <a:extLst>
              <a:ext uri="{FF2B5EF4-FFF2-40B4-BE49-F238E27FC236}">
                <a16:creationId xmlns:a16="http://schemas.microsoft.com/office/drawing/2014/main" id="{5B5F5C68-FB97-4DC9-AFA5-B787B202695B}"/>
              </a:ext>
            </a:extLst>
          </p:cNvPr>
          <p:cNvSpPr>
            <a:spLocks noGrp="1"/>
          </p:cNvSpPr>
          <p:nvPr>
            <p:ph type="sldNum" sz="quarter" idx="12"/>
          </p:nvPr>
        </p:nvSpPr>
        <p:spPr/>
        <p:txBody>
          <a:bodyPr/>
          <a:lstStyle/>
          <a:p>
            <a:pPr>
              <a:defRPr/>
            </a:pPr>
            <a:fld id="{BFD7BE51-03DD-4CCA-8227-D775462981B4}" type="slidenum">
              <a:rPr lang="en-US" altLang="zh-CN" smtClean="0"/>
              <a:pPr>
                <a:defRPr/>
              </a:pPr>
              <a:t>48</a:t>
            </a:fld>
            <a:endParaRPr lang="en-US" altLang="zh-CN"/>
          </a:p>
        </p:txBody>
      </p:sp>
      <p:sp>
        <p:nvSpPr>
          <p:cNvPr id="14" name="文本框 13">
            <a:extLst>
              <a:ext uri="{FF2B5EF4-FFF2-40B4-BE49-F238E27FC236}">
                <a16:creationId xmlns:a16="http://schemas.microsoft.com/office/drawing/2014/main" id="{65138A20-34E4-43DC-916D-EBAF4BE36BE5}"/>
              </a:ext>
            </a:extLst>
          </p:cNvPr>
          <p:cNvSpPr txBox="1"/>
          <p:nvPr/>
        </p:nvSpPr>
        <p:spPr>
          <a:xfrm>
            <a:off x="1170534" y="1859594"/>
            <a:ext cx="7488832" cy="3785652"/>
          </a:xfrm>
          <a:prstGeom prst="rect">
            <a:avLst/>
          </a:prstGeom>
          <a:noFill/>
        </p:spPr>
        <p:txBody>
          <a:bodyPr wrap="square" rtlCol="0">
            <a:spAutoFit/>
          </a:bodyPr>
          <a:lstStyle/>
          <a:p>
            <a:r>
              <a:rPr lang="en-US" altLang="zh-CN" sz="2400" b="1" dirty="0">
                <a:latin typeface="Consolas" panose="020B0609020204030204" pitchFamily="49" charset="0"/>
              </a:rPr>
              <a:t>void process(</a:t>
            </a:r>
            <a:r>
              <a:rPr lang="en-US" altLang="zh-CN" sz="2400" b="1" dirty="0" err="1">
                <a:solidFill>
                  <a:schemeClr val="accent5"/>
                </a:solidFill>
                <a:latin typeface="Consolas" panose="020B0609020204030204" pitchFamily="49" charset="0"/>
              </a:rPr>
              <a:t>ReadFunc</a:t>
            </a:r>
            <a:r>
              <a:rPr lang="en-US" altLang="zh-CN" sz="2400" b="1" dirty="0">
                <a:latin typeface="Consolas" panose="020B0609020204030204" pitchFamily="49" charset="0"/>
              </a:rPr>
              <a:t> read,</a:t>
            </a:r>
          </a:p>
          <a:p>
            <a:r>
              <a:rPr lang="en-US" altLang="zh-CN" sz="2400" b="1" dirty="0">
                <a:latin typeface="Consolas" panose="020B0609020204030204" pitchFamily="49" charset="0"/>
              </a:rPr>
              <a:t>					</a:t>
            </a:r>
            <a:r>
              <a:rPr lang="en-US" altLang="zh-CN" sz="2400" b="1" dirty="0" err="1">
                <a:solidFill>
                  <a:schemeClr val="accent5"/>
                </a:solidFill>
                <a:latin typeface="Consolas" panose="020B0609020204030204" pitchFamily="49" charset="0"/>
              </a:rPr>
              <a:t>CalFunc</a:t>
            </a:r>
            <a:r>
              <a:rPr lang="en-US" altLang="zh-CN" sz="2400" b="1" dirty="0">
                <a:latin typeface="Consolas" panose="020B0609020204030204" pitchFamily="49" charset="0"/>
              </a:rPr>
              <a:t> calculate,</a:t>
            </a:r>
          </a:p>
          <a:p>
            <a:r>
              <a:rPr lang="en-US" altLang="zh-CN" sz="2400" b="1" dirty="0">
                <a:latin typeface="Consolas" panose="020B0609020204030204" pitchFamily="49" charset="0"/>
              </a:rPr>
              <a:t>					</a:t>
            </a:r>
            <a:r>
              <a:rPr lang="en-US" altLang="zh-CN" sz="2400" b="1" dirty="0" err="1">
                <a:solidFill>
                  <a:schemeClr val="accent5"/>
                </a:solidFill>
                <a:latin typeface="Consolas" panose="020B0609020204030204" pitchFamily="49" charset="0"/>
              </a:rPr>
              <a:t>WriteFunc</a:t>
            </a:r>
            <a:r>
              <a:rPr lang="en-US" altLang="zh-CN" sz="2400" b="1" dirty="0">
                <a:latin typeface="Consolas" panose="020B0609020204030204" pitchFamily="49" charset="0"/>
              </a:rPr>
              <a:t> write)</a:t>
            </a:r>
          </a:p>
          <a:p>
            <a:r>
              <a:rPr lang="en-US" altLang="zh-CN" sz="2400" b="1" dirty="0">
                <a:latin typeface="Consolas" panose="020B0609020204030204" pitchFamily="49" charset="0"/>
              </a:rPr>
              <a:t>{</a:t>
            </a:r>
          </a:p>
          <a:p>
            <a:r>
              <a:rPr lang="en-US" altLang="zh-CN" sz="2400" b="1" dirty="0">
                <a:latin typeface="Consolas" panose="020B0609020204030204" pitchFamily="49" charset="0"/>
              </a:rPr>
              <a:t>	string data = read();</a:t>
            </a:r>
          </a:p>
          <a:p>
            <a:r>
              <a:rPr lang="en-US" altLang="zh-CN" sz="2400" b="1" dirty="0">
                <a:latin typeface="Consolas" panose="020B0609020204030204" pitchFamily="49" charset="0"/>
              </a:rPr>
              <a:t>	string output = calculate(data);</a:t>
            </a:r>
          </a:p>
          <a:p>
            <a:r>
              <a:rPr lang="en-US" altLang="zh-CN" sz="2400" b="1" dirty="0">
                <a:latin typeface="Consolas" panose="020B0609020204030204" pitchFamily="49" charset="0"/>
              </a:rPr>
              <a:t>	write(output);</a:t>
            </a:r>
          </a:p>
          <a:p>
            <a:r>
              <a:rPr lang="en-US" altLang="zh-CN" sz="2400" b="1" dirty="0">
                <a:latin typeface="Consolas" panose="020B0609020204030204" pitchFamily="49" charset="0"/>
              </a:rPr>
              <a:t>}</a:t>
            </a:r>
          </a:p>
          <a:p>
            <a:r>
              <a:rPr lang="en-US" altLang="zh-CN" sz="2400" b="1" dirty="0">
                <a:latin typeface="Consolas" panose="020B0609020204030204" pitchFamily="49" charset="0"/>
              </a:rPr>
              <a:t>process(</a:t>
            </a:r>
            <a:r>
              <a:rPr lang="en-US" altLang="zh-CN" sz="2400" b="1" dirty="0" err="1">
                <a:latin typeface="Consolas" panose="020B0609020204030204" pitchFamily="49" charset="0"/>
              </a:rPr>
              <a:t>readFromScreen</a:t>
            </a:r>
            <a:r>
              <a:rPr lang="en-US" altLang="zh-CN" sz="2400" b="1" dirty="0">
                <a:latin typeface="Consolas" panose="020B0609020204030204" pitchFamily="49" charset="0"/>
              </a:rPr>
              <a:t>, </a:t>
            </a:r>
          </a:p>
          <a:p>
            <a:r>
              <a:rPr lang="en-US" altLang="zh-CN" sz="2400" b="1" dirty="0">
                <a:latin typeface="Consolas" panose="020B0609020204030204" pitchFamily="49" charset="0"/>
              </a:rPr>
              <a:t>			</a:t>
            </a:r>
            <a:r>
              <a:rPr lang="en-US" altLang="zh-CN" sz="2400" b="1" dirty="0" err="1">
                <a:latin typeface="Consolas" panose="020B0609020204030204" pitchFamily="49" charset="0"/>
              </a:rPr>
              <a:t>calculateAdd</a:t>
            </a:r>
            <a:r>
              <a:rPr lang="en-US" altLang="zh-CN" sz="2400" b="1" dirty="0">
                <a:latin typeface="Consolas" panose="020B0609020204030204" pitchFamily="49" charset="0"/>
              </a:rPr>
              <a:t>, </a:t>
            </a:r>
            <a:r>
              <a:rPr lang="en-US" altLang="zh-CN" sz="2400" b="1" dirty="0" err="1">
                <a:latin typeface="Consolas" panose="020B0609020204030204" pitchFamily="49" charset="0"/>
              </a:rPr>
              <a:t>writeToFile</a:t>
            </a:r>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Tree>
    <p:extLst>
      <p:ext uri="{BB962C8B-B14F-4D97-AF65-F5344CB8AC3E}">
        <p14:creationId xmlns:p14="http://schemas.microsoft.com/office/powerpoint/2010/main" val="27015989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BDE15-83AC-40B3-A816-913AFB6689B8}"/>
              </a:ext>
            </a:extLst>
          </p:cNvPr>
          <p:cNvSpPr>
            <a:spLocks noGrp="1"/>
          </p:cNvSpPr>
          <p:nvPr>
            <p:ph type="title"/>
          </p:nvPr>
        </p:nvSpPr>
        <p:spPr/>
        <p:txBody>
          <a:bodyPr/>
          <a:lstStyle/>
          <a:p>
            <a:r>
              <a:rPr lang="zh-CN" altLang="en-US" dirty="0"/>
              <a:t>例子：一个简单计算器</a:t>
            </a:r>
          </a:p>
        </p:txBody>
      </p:sp>
      <p:sp>
        <p:nvSpPr>
          <p:cNvPr id="3" name="内容占位符 2">
            <a:extLst>
              <a:ext uri="{FF2B5EF4-FFF2-40B4-BE49-F238E27FC236}">
                <a16:creationId xmlns:a16="http://schemas.microsoft.com/office/drawing/2014/main" id="{7F15E7A0-589E-491B-8531-D65C3F3DE15E}"/>
              </a:ext>
            </a:extLst>
          </p:cNvPr>
          <p:cNvSpPr>
            <a:spLocks noGrp="1"/>
          </p:cNvSpPr>
          <p:nvPr>
            <p:ph idx="1"/>
          </p:nvPr>
        </p:nvSpPr>
        <p:spPr>
          <a:xfrm>
            <a:off x="611560" y="1427546"/>
            <a:ext cx="8119814" cy="5097798"/>
          </a:xfrm>
        </p:spPr>
        <p:txBody>
          <a:bodyPr/>
          <a:lstStyle/>
          <a:p>
            <a:r>
              <a:rPr lang="zh-CN" altLang="en-US" dirty="0"/>
              <a:t>如果参数只有函数指针</a:t>
            </a:r>
            <a:endParaRPr lang="en-US" altLang="zh-CN" dirty="0"/>
          </a:p>
          <a:p>
            <a:pPr lvl="1"/>
            <a:r>
              <a:rPr lang="en-US" altLang="zh-CN" dirty="0" err="1"/>
              <a:t>ReadFunc</a:t>
            </a:r>
            <a:r>
              <a:rPr lang="en-US" altLang="zh-CN" dirty="0"/>
              <a:t> = string(*)(void)</a:t>
            </a:r>
          </a:p>
          <a:p>
            <a:pPr lvl="1"/>
            <a:r>
              <a:rPr lang="en-US" altLang="zh-CN" dirty="0" err="1"/>
              <a:t>CalFunc</a:t>
            </a:r>
            <a:r>
              <a:rPr lang="en-US" altLang="zh-CN" dirty="0"/>
              <a:t> = string(*)(string)</a:t>
            </a:r>
          </a:p>
          <a:p>
            <a:pPr lvl="1"/>
            <a:r>
              <a:rPr lang="en-US" altLang="zh-CN" dirty="0" err="1"/>
              <a:t>WriteFunc</a:t>
            </a:r>
            <a:r>
              <a:rPr lang="en-US" altLang="zh-CN" dirty="0"/>
              <a:t> = void(*)(string)</a:t>
            </a:r>
          </a:p>
          <a:p>
            <a:pPr lvl="1"/>
            <a:endParaRPr lang="en-US" altLang="zh-CN" sz="1400" dirty="0"/>
          </a:p>
          <a:p>
            <a:r>
              <a:rPr lang="zh-CN" altLang="en-US" dirty="0"/>
              <a:t>但假设参数还可能有函数对象怎么办？</a:t>
            </a:r>
            <a:endParaRPr lang="en-US" altLang="zh-CN" dirty="0"/>
          </a:p>
          <a:p>
            <a:r>
              <a:rPr lang="zh-CN" altLang="en-US" dirty="0"/>
              <a:t>例如</a:t>
            </a:r>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5B5F5C68-FB97-4DC9-AFA5-B787B202695B}"/>
              </a:ext>
            </a:extLst>
          </p:cNvPr>
          <p:cNvSpPr>
            <a:spLocks noGrp="1"/>
          </p:cNvSpPr>
          <p:nvPr>
            <p:ph type="sldNum" sz="quarter" idx="12"/>
          </p:nvPr>
        </p:nvSpPr>
        <p:spPr/>
        <p:txBody>
          <a:bodyPr/>
          <a:lstStyle/>
          <a:p>
            <a:pPr>
              <a:defRPr/>
            </a:pPr>
            <a:fld id="{BFD7BE51-03DD-4CCA-8227-D775462981B4}" type="slidenum">
              <a:rPr lang="en-US" altLang="zh-CN" smtClean="0"/>
              <a:pPr>
                <a:defRPr/>
              </a:pPr>
              <a:t>49</a:t>
            </a:fld>
            <a:endParaRPr lang="en-US" altLang="zh-CN"/>
          </a:p>
        </p:txBody>
      </p:sp>
      <p:sp>
        <p:nvSpPr>
          <p:cNvPr id="6" name="文本框 5">
            <a:extLst>
              <a:ext uri="{FF2B5EF4-FFF2-40B4-BE49-F238E27FC236}">
                <a16:creationId xmlns:a16="http://schemas.microsoft.com/office/drawing/2014/main" id="{3E829C8C-DC58-4433-BB0B-2810847CE9B0}"/>
              </a:ext>
            </a:extLst>
          </p:cNvPr>
          <p:cNvSpPr txBox="1"/>
          <p:nvPr/>
        </p:nvSpPr>
        <p:spPr>
          <a:xfrm>
            <a:off x="1979712" y="4020046"/>
            <a:ext cx="6552728" cy="2554545"/>
          </a:xfrm>
          <a:prstGeom prst="rect">
            <a:avLst/>
          </a:prstGeom>
          <a:noFill/>
        </p:spPr>
        <p:txBody>
          <a:bodyPr wrap="square" rtlCol="0">
            <a:spAutoFit/>
          </a:bodyPr>
          <a:lstStyle/>
          <a:p>
            <a:r>
              <a:rPr lang="en-US" altLang="zh-CN" sz="2000" b="1" dirty="0">
                <a:latin typeface="Consolas" panose="020B0609020204030204" pitchFamily="49" charset="0"/>
              </a:rPr>
              <a:t>class </a:t>
            </a:r>
            <a:r>
              <a:rPr lang="en-US" altLang="zh-CN" sz="2000" b="1" dirty="0" err="1">
                <a:latin typeface="Consolas" panose="020B0609020204030204" pitchFamily="49" charset="0"/>
              </a:rPr>
              <a:t>ReadFromFile</a:t>
            </a:r>
            <a:r>
              <a:rPr lang="en-US" altLang="zh-CN" sz="2000" b="1" dirty="0">
                <a:latin typeface="Consolas" panose="020B0609020204030204" pitchFamily="49" charset="0"/>
              </a:rPr>
              <a:t> {</a:t>
            </a:r>
          </a:p>
          <a:p>
            <a:r>
              <a:rPr lang="en-US" altLang="zh-CN" sz="2000" b="1" dirty="0">
                <a:latin typeface="Consolas" panose="020B0609020204030204" pitchFamily="49" charset="0"/>
              </a:rPr>
              <a:t>public:</a:t>
            </a:r>
          </a:p>
          <a:p>
            <a:r>
              <a:rPr lang="en-US" altLang="zh-CN" sz="2000" b="1" dirty="0">
                <a:latin typeface="Consolas" panose="020B0609020204030204" pitchFamily="49" charset="0"/>
              </a:rPr>
              <a:t>	string operator()(){</a:t>
            </a:r>
          </a:p>
          <a:p>
            <a:r>
              <a:rPr lang="en-US" altLang="zh-CN" sz="2000" b="1" dirty="0">
                <a:latin typeface="Consolas" panose="020B0609020204030204" pitchFamily="49" charset="0"/>
              </a:rPr>
              <a:t>       string input;</a:t>
            </a:r>
          </a:p>
          <a:p>
            <a:r>
              <a:rPr lang="en-US" altLang="zh-CN" sz="2000" b="1" dirty="0">
                <a:latin typeface="Consolas" panose="020B0609020204030204" pitchFamily="49" charset="0"/>
              </a:rPr>
              <a:t>       </a:t>
            </a:r>
            <a:r>
              <a:rPr lang="en-US" altLang="zh-CN" sz="2000" b="1" dirty="0" err="1">
                <a:latin typeface="Consolas" panose="020B0609020204030204" pitchFamily="49" charset="0"/>
              </a:rPr>
              <a:t>getline</a:t>
            </a:r>
            <a:r>
              <a:rPr lang="en-US" altLang="zh-CN" sz="2000" b="1" dirty="0">
                <a:latin typeface="Consolas" panose="020B0609020204030204" pitchFamily="49" charset="0"/>
              </a:rPr>
              <a:t>(</a:t>
            </a:r>
            <a:r>
              <a:rPr lang="en-US" altLang="zh-CN" sz="2000" b="1" dirty="0" err="1">
                <a:latin typeface="Consolas" panose="020B0609020204030204" pitchFamily="49" charset="0"/>
              </a:rPr>
              <a:t>ifstream</a:t>
            </a:r>
            <a:r>
              <a:rPr lang="en-US" altLang="zh-CN" sz="2000" b="1" dirty="0">
                <a:latin typeface="Consolas" panose="020B0609020204030204" pitchFamily="49" charset="0"/>
              </a:rPr>
              <a:t>("input.txt"), input);</a:t>
            </a:r>
          </a:p>
          <a:p>
            <a:r>
              <a:rPr lang="en-US" altLang="zh-CN" sz="2000" b="1" dirty="0">
                <a:latin typeface="Consolas" panose="020B0609020204030204" pitchFamily="49" charset="0"/>
              </a:rPr>
              <a:t>       return input;</a:t>
            </a:r>
          </a:p>
          <a:p>
            <a:r>
              <a:rPr lang="en-US" altLang="zh-CN" sz="2000" b="1" dirty="0">
                <a:latin typeface="Consolas" panose="020B0609020204030204" pitchFamily="49" charset="0"/>
              </a:rPr>
              <a:t>	}</a:t>
            </a:r>
          </a:p>
          <a:p>
            <a:r>
              <a:rPr lang="en-US" altLang="zh-CN" sz="2000" b="1" dirty="0">
                <a:latin typeface="Consolas" panose="020B0609020204030204" pitchFamily="49" charset="0"/>
              </a:rPr>
              <a:t>};</a:t>
            </a:r>
          </a:p>
        </p:txBody>
      </p:sp>
    </p:spTree>
    <p:extLst>
      <p:ext uri="{BB962C8B-B14F-4D97-AF65-F5344CB8AC3E}">
        <p14:creationId xmlns:p14="http://schemas.microsoft.com/office/powerpoint/2010/main" val="2853846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BDE15-83AC-40B3-A816-913AFB6689B8}"/>
              </a:ext>
            </a:extLst>
          </p:cNvPr>
          <p:cNvSpPr>
            <a:spLocks noGrp="1"/>
          </p:cNvSpPr>
          <p:nvPr>
            <p:ph type="title"/>
          </p:nvPr>
        </p:nvSpPr>
        <p:spPr>
          <a:xfrm>
            <a:off x="4679085" y="115045"/>
            <a:ext cx="3926260" cy="1325563"/>
          </a:xfrm>
        </p:spPr>
        <p:txBody>
          <a:bodyPr/>
          <a:lstStyle/>
          <a:p>
            <a:r>
              <a:rPr lang="zh-CN" altLang="en-US" dirty="0">
                <a:solidFill>
                  <a:schemeClr val="accent4"/>
                </a:solidFill>
              </a:rPr>
              <a:t>使用模板函数</a:t>
            </a:r>
          </a:p>
        </p:txBody>
      </p:sp>
      <p:sp>
        <p:nvSpPr>
          <p:cNvPr id="4" name="灯片编号占位符 3">
            <a:extLst>
              <a:ext uri="{FF2B5EF4-FFF2-40B4-BE49-F238E27FC236}">
                <a16:creationId xmlns:a16="http://schemas.microsoft.com/office/drawing/2014/main" id="{5B5F5C68-FB97-4DC9-AFA5-B787B202695B}"/>
              </a:ext>
            </a:extLst>
          </p:cNvPr>
          <p:cNvSpPr>
            <a:spLocks noGrp="1"/>
          </p:cNvSpPr>
          <p:nvPr>
            <p:ph type="sldNum" sz="quarter" idx="12"/>
          </p:nvPr>
        </p:nvSpPr>
        <p:spPr/>
        <p:txBody>
          <a:bodyPr/>
          <a:lstStyle/>
          <a:p>
            <a:pPr>
              <a:defRPr/>
            </a:pPr>
            <a:fld id="{BFD7BE51-03DD-4CCA-8227-D775462981B4}" type="slidenum">
              <a:rPr lang="en-US" altLang="zh-CN" smtClean="0"/>
              <a:pPr>
                <a:defRPr/>
              </a:pPr>
              <a:t>50</a:t>
            </a:fld>
            <a:endParaRPr lang="en-US" altLang="zh-CN"/>
          </a:p>
        </p:txBody>
      </p:sp>
      <p:sp>
        <p:nvSpPr>
          <p:cNvPr id="8" name="文本框 7">
            <a:extLst>
              <a:ext uri="{FF2B5EF4-FFF2-40B4-BE49-F238E27FC236}">
                <a16:creationId xmlns:a16="http://schemas.microsoft.com/office/drawing/2014/main" id="{71032A11-E72C-4CFF-B6FA-BF2254530D9D}"/>
              </a:ext>
            </a:extLst>
          </p:cNvPr>
          <p:cNvSpPr txBox="1"/>
          <p:nvPr/>
        </p:nvSpPr>
        <p:spPr>
          <a:xfrm>
            <a:off x="138336" y="491665"/>
            <a:ext cx="9005664" cy="6247864"/>
          </a:xfrm>
          <a:prstGeom prst="rect">
            <a:avLst/>
          </a:prstGeom>
          <a:noFill/>
        </p:spPr>
        <p:txBody>
          <a:bodyPr wrap="squar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a:t>
            </a:r>
            <a:r>
              <a:rPr lang="en-US" altLang="zh-CN" sz="2000" b="1" dirty="0" err="1">
                <a:latin typeface="Consolas" panose="020B0609020204030204" pitchFamily="49" charset="0"/>
              </a:rPr>
              <a:t>fstream</a:t>
            </a:r>
            <a:r>
              <a:rPr lang="en-US" altLang="zh-CN" sz="2000" b="1" dirty="0">
                <a:latin typeface="Consolas" panose="020B0609020204030204" pitchFamily="49" charset="0"/>
              </a:rPr>
              <a:t>&gt;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solidFill>
                  <a:srgbClr val="1D9A78"/>
                </a:solidFill>
                <a:latin typeface="Consolas" panose="020B0609020204030204" pitchFamily="49" charset="0"/>
              </a:rPr>
              <a:t>//</a:t>
            </a:r>
            <a:r>
              <a:rPr lang="zh-CN" altLang="en-US" sz="2000" b="1" dirty="0">
                <a:solidFill>
                  <a:srgbClr val="1D9A78"/>
                </a:solidFill>
                <a:latin typeface="Consolas" panose="020B0609020204030204" pitchFamily="49" charset="0"/>
              </a:rPr>
              <a:t>省略</a:t>
            </a:r>
            <a:r>
              <a:rPr lang="en-US" altLang="zh-CN" sz="2000" b="1" dirty="0" err="1">
                <a:solidFill>
                  <a:srgbClr val="1D9A78"/>
                </a:solidFill>
                <a:latin typeface="Consolas" panose="020B0609020204030204" pitchFamily="49" charset="0"/>
              </a:rPr>
              <a:t>readFromScreen</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ReadFromFile</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calculateAdd</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writeToScreen</a:t>
            </a:r>
            <a:endParaRPr lang="en-US" altLang="zh-CN" sz="2000" b="1" dirty="0">
              <a:solidFill>
                <a:srgbClr val="1D9A78"/>
              </a:solidFill>
              <a:latin typeface="Consolas" panose="020B0609020204030204" pitchFamily="49" charset="0"/>
            </a:endParaRPr>
          </a:p>
          <a:p>
            <a:endParaRPr lang="en-US" altLang="zh-CN" sz="2000" b="1" dirty="0">
              <a:latin typeface="Consolas" panose="020B0609020204030204" pitchFamily="49" charset="0"/>
            </a:endParaRPr>
          </a:p>
          <a:p>
            <a:r>
              <a:rPr lang="en-US" altLang="zh-CN" sz="2000" b="1" dirty="0">
                <a:solidFill>
                  <a:srgbClr val="C00000"/>
                </a:solidFill>
                <a:latin typeface="Consolas" panose="020B0609020204030204" pitchFamily="49" charset="0"/>
              </a:rPr>
              <a:t>template&lt;class </a:t>
            </a:r>
            <a:r>
              <a:rPr lang="en-US" altLang="zh-CN" sz="2000" b="1" dirty="0" err="1">
                <a:solidFill>
                  <a:srgbClr val="C00000"/>
                </a:solidFill>
                <a:latin typeface="Consolas" panose="020B0609020204030204" pitchFamily="49" charset="0"/>
              </a:rPr>
              <a:t>ReadFunc</a:t>
            </a:r>
            <a:r>
              <a:rPr lang="en-US" altLang="zh-CN" sz="2000" b="1" dirty="0">
                <a:solidFill>
                  <a:srgbClr val="C00000"/>
                </a:solidFill>
                <a:latin typeface="Consolas" panose="020B0609020204030204" pitchFamily="49" charset="0"/>
              </a:rPr>
              <a:t>, class </a:t>
            </a:r>
            <a:r>
              <a:rPr lang="en-US" altLang="zh-CN" sz="2000" b="1" dirty="0" err="1">
                <a:solidFill>
                  <a:srgbClr val="C00000"/>
                </a:solidFill>
                <a:latin typeface="Consolas" panose="020B0609020204030204" pitchFamily="49" charset="0"/>
              </a:rPr>
              <a:t>CalFunc</a:t>
            </a:r>
            <a:r>
              <a:rPr lang="en-US" altLang="zh-CN" sz="2000" b="1" dirty="0">
                <a:solidFill>
                  <a:srgbClr val="C00000"/>
                </a:solidFill>
                <a:latin typeface="Consolas" panose="020B0609020204030204" pitchFamily="49" charset="0"/>
              </a:rPr>
              <a:t>, class </a:t>
            </a:r>
            <a:r>
              <a:rPr lang="en-US" altLang="zh-CN" sz="2000" b="1" dirty="0" err="1">
                <a:solidFill>
                  <a:srgbClr val="C00000"/>
                </a:solidFill>
                <a:latin typeface="Consolas" panose="020B0609020204030204" pitchFamily="49" charset="0"/>
              </a:rPr>
              <a:t>WriteFunc</a:t>
            </a:r>
            <a:r>
              <a:rPr lang="en-US" altLang="zh-CN" sz="2000" b="1" dirty="0">
                <a:solidFill>
                  <a:srgbClr val="C00000"/>
                </a:solidFill>
                <a:latin typeface="Consolas" panose="020B0609020204030204" pitchFamily="49" charset="0"/>
              </a:rPr>
              <a:t>&gt;</a:t>
            </a:r>
          </a:p>
          <a:p>
            <a:r>
              <a:rPr lang="en-US" altLang="zh-CN" sz="2000" b="1" dirty="0">
                <a:latin typeface="Consolas" panose="020B0609020204030204" pitchFamily="49" charset="0"/>
              </a:rPr>
              <a:t>void process(</a:t>
            </a:r>
            <a:r>
              <a:rPr lang="en-US" altLang="zh-CN" sz="2000" b="1" dirty="0" err="1">
                <a:solidFill>
                  <a:srgbClr val="C00000"/>
                </a:solidFill>
                <a:latin typeface="Consolas" panose="020B0609020204030204" pitchFamily="49" charset="0"/>
              </a:rPr>
              <a:t>ReadFunc</a:t>
            </a:r>
            <a:r>
              <a:rPr lang="en-US" altLang="zh-CN" sz="2000" b="1" dirty="0">
                <a:latin typeface="Consolas" panose="020B0609020204030204" pitchFamily="49" charset="0"/>
              </a:rPr>
              <a:t> read, </a:t>
            </a:r>
            <a:r>
              <a:rPr lang="en-US" altLang="zh-CN" sz="2000" b="1" dirty="0" err="1">
                <a:solidFill>
                  <a:srgbClr val="C00000"/>
                </a:solidFill>
                <a:latin typeface="Consolas" panose="020B0609020204030204" pitchFamily="49" charset="0"/>
              </a:rPr>
              <a:t>CalFunc</a:t>
            </a:r>
            <a:r>
              <a:rPr lang="en-US" altLang="zh-CN" sz="2000" b="1" dirty="0">
                <a:latin typeface="Consolas" panose="020B0609020204030204" pitchFamily="49" charset="0"/>
              </a:rPr>
              <a:t> calculate, </a:t>
            </a:r>
            <a:r>
              <a:rPr lang="en-US" altLang="zh-CN" sz="2000" b="1" dirty="0" err="1">
                <a:solidFill>
                  <a:srgbClr val="C00000"/>
                </a:solidFill>
                <a:latin typeface="Consolas" panose="020B0609020204030204" pitchFamily="49" charset="0"/>
              </a:rPr>
              <a:t>WriteFunc</a:t>
            </a:r>
            <a:r>
              <a:rPr lang="en-US" altLang="zh-CN" sz="2000" b="1" dirty="0">
                <a:latin typeface="Consolas" panose="020B0609020204030204" pitchFamily="49" charset="0"/>
              </a:rPr>
              <a:t> write)</a:t>
            </a:r>
          </a:p>
          <a:p>
            <a:r>
              <a:rPr lang="en-US" altLang="zh-CN" sz="2000" b="1" dirty="0">
                <a:latin typeface="Consolas" panose="020B0609020204030204" pitchFamily="49" charset="0"/>
              </a:rPr>
              <a:t>{</a:t>
            </a:r>
            <a:endParaRPr lang="en-US" altLang="zh-CN" sz="2000" b="1" dirty="0">
              <a:solidFill>
                <a:srgbClr val="C00000"/>
              </a:solidFill>
              <a:latin typeface="Consolas" panose="020B0609020204030204" pitchFamily="49" charset="0"/>
            </a:endParaRPr>
          </a:p>
          <a:p>
            <a:r>
              <a:rPr lang="en-US" altLang="zh-CN" sz="2000" b="1" dirty="0">
                <a:latin typeface="Consolas" panose="020B0609020204030204" pitchFamily="49" charset="0"/>
              </a:rPr>
              <a:t>	string data = read();</a:t>
            </a:r>
          </a:p>
          <a:p>
            <a:r>
              <a:rPr lang="en-US" altLang="zh-CN" sz="2000" b="1" dirty="0">
                <a:latin typeface="Consolas" panose="020B0609020204030204" pitchFamily="49" charset="0"/>
              </a:rPr>
              <a:t>	string output = calculate(data);</a:t>
            </a:r>
          </a:p>
          <a:p>
            <a:r>
              <a:rPr lang="en-US" altLang="zh-CN" sz="2000" b="1" dirty="0">
                <a:latin typeface="Consolas" panose="020B0609020204030204" pitchFamily="49" charset="0"/>
              </a:rPr>
              <a:t>	write(output);</a:t>
            </a:r>
          </a:p>
          <a:p>
            <a:r>
              <a:rPr lang="en-US" altLang="zh-CN" sz="2000" b="1" dirty="0">
                <a:latin typeface="Consolas" panose="020B0609020204030204" pitchFamily="49" charset="0"/>
              </a:rPr>
              <a:t>}</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a:t>
            </a:r>
          </a:p>
          <a:p>
            <a:r>
              <a:rPr lang="en-US" altLang="zh-CN" sz="2000" b="1" dirty="0">
                <a:latin typeface="Consolas" panose="020B0609020204030204" pitchFamily="49" charset="0"/>
              </a:rPr>
              <a:t>{</a:t>
            </a:r>
          </a:p>
          <a:p>
            <a:r>
              <a:rPr lang="en-US" altLang="zh-CN" sz="2000" b="1" dirty="0">
                <a:latin typeface="Consolas" panose="020B0609020204030204" pitchFamily="49" charset="0"/>
              </a:rPr>
              <a:t>	process(</a:t>
            </a:r>
            <a:r>
              <a:rPr lang="en-US" altLang="zh-CN" sz="2000" b="1" dirty="0" err="1">
                <a:latin typeface="Consolas" panose="020B0609020204030204" pitchFamily="49" charset="0"/>
              </a:rPr>
              <a:t>readFromScreen</a:t>
            </a:r>
            <a:r>
              <a:rPr lang="en-US" altLang="zh-CN" sz="2000" b="1" dirty="0">
                <a:latin typeface="Consolas" panose="020B0609020204030204" pitchFamily="49" charset="0"/>
              </a:rPr>
              <a:t>, </a:t>
            </a:r>
            <a:r>
              <a:rPr lang="en-US" altLang="zh-CN" sz="2000" b="1" dirty="0" err="1">
                <a:latin typeface="Consolas" panose="020B0609020204030204" pitchFamily="49" charset="0"/>
              </a:rPr>
              <a:t>calculateAdd</a:t>
            </a:r>
            <a:r>
              <a:rPr lang="en-US" altLang="zh-CN" sz="2000" b="1" dirty="0">
                <a:latin typeface="Consolas" panose="020B0609020204030204" pitchFamily="49" charset="0"/>
              </a:rPr>
              <a:t>, </a:t>
            </a:r>
            <a:r>
              <a:rPr lang="en-US" altLang="zh-CN" sz="2000" b="1" dirty="0" err="1">
                <a:latin typeface="Consolas" panose="020B0609020204030204" pitchFamily="49" charset="0"/>
              </a:rPr>
              <a:t>writeToScreen</a:t>
            </a:r>
            <a:r>
              <a:rPr lang="en-US" altLang="zh-CN" sz="2000" b="1" dirty="0">
                <a:latin typeface="Consolas" panose="020B0609020204030204" pitchFamily="49" charset="0"/>
              </a:rPr>
              <a:t>);</a:t>
            </a:r>
          </a:p>
          <a:p>
            <a:r>
              <a:rPr lang="en-US" altLang="zh-CN" sz="2000" b="1" dirty="0">
                <a:latin typeface="Consolas" panose="020B0609020204030204" pitchFamily="49" charset="0"/>
              </a:rPr>
              <a:t>	process(</a:t>
            </a:r>
            <a:r>
              <a:rPr lang="en-US" altLang="zh-CN" sz="2000" b="1" dirty="0" err="1">
                <a:latin typeface="Consolas" panose="020B0609020204030204" pitchFamily="49" charset="0"/>
              </a:rPr>
              <a:t>ReadFromFile</a:t>
            </a:r>
            <a:r>
              <a:rPr lang="en-US" altLang="zh-CN" sz="2000" b="1" dirty="0">
                <a:latin typeface="Consolas" panose="020B0609020204030204" pitchFamily="49" charset="0"/>
              </a:rPr>
              <a:t>(), </a:t>
            </a:r>
            <a:r>
              <a:rPr lang="en-US" altLang="zh-CN" sz="2000" b="1" dirty="0" err="1">
                <a:latin typeface="Consolas" panose="020B0609020204030204" pitchFamily="49" charset="0"/>
              </a:rPr>
              <a:t>calculateAdd</a:t>
            </a:r>
            <a:r>
              <a:rPr lang="en-US" altLang="zh-CN" sz="2000" b="1" dirty="0">
                <a:latin typeface="Consolas" panose="020B0609020204030204" pitchFamily="49" charset="0"/>
              </a:rPr>
              <a:t>, </a:t>
            </a:r>
            <a:r>
              <a:rPr lang="en-US" altLang="zh-CN" sz="2000" b="1" dirty="0" err="1">
                <a:latin typeface="Consolas" panose="020B0609020204030204" pitchFamily="49" charset="0"/>
              </a:rPr>
              <a:t>writeToScreen</a:t>
            </a:r>
            <a:r>
              <a:rPr lang="en-US" altLang="zh-CN" sz="2000" b="1" dirty="0">
                <a:latin typeface="Consolas" panose="020B0609020204030204" pitchFamily="49" charset="0"/>
              </a:rPr>
              <a:t>);</a:t>
            </a:r>
          </a:p>
          <a:p>
            <a:r>
              <a:rPr lang="en-US" altLang="zh-CN" sz="2000" b="1" dirty="0">
                <a:latin typeface="Consolas" panose="020B0609020204030204" pitchFamily="49" charset="0"/>
              </a:rPr>
              <a:t>	return 0;</a:t>
            </a:r>
          </a:p>
          <a:p>
            <a:r>
              <a:rPr lang="en-US" altLang="zh-CN" sz="2000" b="1" dirty="0">
                <a:latin typeface="Consolas" panose="020B0609020204030204" pitchFamily="49" charset="0"/>
              </a:rPr>
              <a:t>}</a:t>
            </a:r>
          </a:p>
        </p:txBody>
      </p:sp>
      <p:sp>
        <p:nvSpPr>
          <p:cNvPr id="7" name="文本框 6">
            <a:extLst>
              <a:ext uri="{FF2B5EF4-FFF2-40B4-BE49-F238E27FC236}">
                <a16:creationId xmlns:a16="http://schemas.microsoft.com/office/drawing/2014/main" id="{CE514898-3F70-478D-9E81-4E300C63AD06}"/>
              </a:ext>
            </a:extLst>
          </p:cNvPr>
          <p:cNvSpPr txBox="1"/>
          <p:nvPr/>
        </p:nvSpPr>
        <p:spPr>
          <a:xfrm>
            <a:off x="5139239" y="6330963"/>
            <a:ext cx="3005951" cy="400110"/>
          </a:xfrm>
          <a:prstGeom prst="rect">
            <a:avLst/>
          </a:prstGeom>
          <a:noFill/>
        </p:spPr>
        <p:txBody>
          <a:bodyPr wrap="none" rtlCol="0">
            <a:spAutoFit/>
          </a:bodyPr>
          <a:lstStyle/>
          <a:p>
            <a:r>
              <a:rPr lang="zh-CN" altLang="en-US" sz="2000" b="1" dirty="0"/>
              <a:t>完整代码上传到网络学堂</a:t>
            </a:r>
          </a:p>
        </p:txBody>
      </p:sp>
    </p:spTree>
    <p:extLst>
      <p:ext uri="{BB962C8B-B14F-4D97-AF65-F5344CB8AC3E}">
        <p14:creationId xmlns:p14="http://schemas.microsoft.com/office/powerpoint/2010/main" val="13688670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BDE15-83AC-40B3-A816-913AFB6689B8}"/>
              </a:ext>
            </a:extLst>
          </p:cNvPr>
          <p:cNvSpPr>
            <a:spLocks noGrp="1"/>
          </p:cNvSpPr>
          <p:nvPr>
            <p:ph type="title"/>
          </p:nvPr>
        </p:nvSpPr>
        <p:spPr/>
        <p:txBody>
          <a:bodyPr/>
          <a:lstStyle/>
          <a:p>
            <a:r>
              <a:rPr lang="zh-CN" altLang="en-US" dirty="0"/>
              <a:t>例子：一个简单计算器</a:t>
            </a:r>
          </a:p>
        </p:txBody>
      </p:sp>
      <p:sp>
        <p:nvSpPr>
          <p:cNvPr id="3" name="内容占位符 2">
            <a:extLst>
              <a:ext uri="{FF2B5EF4-FFF2-40B4-BE49-F238E27FC236}">
                <a16:creationId xmlns:a16="http://schemas.microsoft.com/office/drawing/2014/main" id="{7F15E7A0-589E-491B-8531-D65C3F3DE15E}"/>
              </a:ext>
            </a:extLst>
          </p:cNvPr>
          <p:cNvSpPr>
            <a:spLocks noGrp="1"/>
          </p:cNvSpPr>
          <p:nvPr>
            <p:ph idx="1"/>
          </p:nvPr>
        </p:nvSpPr>
        <p:spPr>
          <a:xfrm>
            <a:off x="611560" y="1427546"/>
            <a:ext cx="8119814" cy="5097798"/>
          </a:xfrm>
        </p:spPr>
        <p:txBody>
          <a:bodyPr/>
          <a:lstStyle/>
          <a:p>
            <a:r>
              <a:rPr lang="zh-CN" altLang="en-US" dirty="0"/>
              <a:t>想用数组储存选项</a:t>
            </a:r>
            <a:endParaRPr lang="en-US" altLang="zh-CN" dirty="0"/>
          </a:p>
          <a:p>
            <a:endParaRPr lang="en-US" altLang="zh-CN" dirty="0"/>
          </a:p>
          <a:p>
            <a:endParaRPr lang="en-US" altLang="zh-CN" dirty="0"/>
          </a:p>
          <a:p>
            <a:endParaRPr lang="en-US" altLang="zh-CN" dirty="0"/>
          </a:p>
          <a:p>
            <a:endParaRPr lang="en-US" altLang="zh-CN" dirty="0"/>
          </a:p>
          <a:p>
            <a:r>
              <a:rPr lang="en-US" altLang="zh-CN" dirty="0"/>
              <a:t>auto</a:t>
            </a:r>
            <a:r>
              <a:rPr lang="zh-CN" altLang="en-US" dirty="0"/>
              <a:t>是什么类型？</a:t>
            </a:r>
            <a:endParaRPr lang="en-US" altLang="zh-CN" dirty="0"/>
          </a:p>
          <a:p>
            <a:pPr lvl="1"/>
            <a:r>
              <a:rPr lang="zh-CN" altLang="en-US" sz="2800" dirty="0"/>
              <a:t>无法推导！</a:t>
            </a:r>
            <a:endParaRPr lang="en-US" altLang="zh-CN" sz="2800" dirty="0"/>
          </a:p>
          <a:p>
            <a:pPr lvl="1"/>
            <a:r>
              <a:rPr lang="zh-CN" altLang="en-US" sz="2800" dirty="0"/>
              <a:t>函数指针和函数对象不是同一种类型</a:t>
            </a:r>
            <a:endParaRPr lang="en-US" altLang="zh-CN" sz="2800" dirty="0"/>
          </a:p>
          <a:p>
            <a:pPr lvl="1"/>
            <a:endParaRPr lang="en-US" altLang="zh-CN" sz="2800" dirty="0"/>
          </a:p>
          <a:p>
            <a:r>
              <a:rPr lang="zh-CN" altLang="en-US" sz="3200" dirty="0"/>
              <a:t>需要一个类型能够统一两者</a:t>
            </a:r>
            <a:endParaRPr lang="en-US" altLang="zh-CN" sz="3200" dirty="0"/>
          </a:p>
          <a:p>
            <a:endParaRPr lang="en-US" altLang="zh-CN" dirty="0"/>
          </a:p>
          <a:p>
            <a:endParaRPr lang="en-US" altLang="zh-CN" dirty="0"/>
          </a:p>
          <a:p>
            <a:pPr lvl="1"/>
            <a:endParaRPr lang="en-US" altLang="zh-CN" dirty="0"/>
          </a:p>
          <a:p>
            <a:endParaRPr lang="en-US" altLang="zh-CN" dirty="0"/>
          </a:p>
        </p:txBody>
      </p:sp>
      <p:sp>
        <p:nvSpPr>
          <p:cNvPr id="4" name="灯片编号占位符 3">
            <a:extLst>
              <a:ext uri="{FF2B5EF4-FFF2-40B4-BE49-F238E27FC236}">
                <a16:creationId xmlns:a16="http://schemas.microsoft.com/office/drawing/2014/main" id="{5B5F5C68-FB97-4DC9-AFA5-B787B202695B}"/>
              </a:ext>
            </a:extLst>
          </p:cNvPr>
          <p:cNvSpPr>
            <a:spLocks noGrp="1"/>
          </p:cNvSpPr>
          <p:nvPr>
            <p:ph type="sldNum" sz="quarter" idx="12"/>
          </p:nvPr>
        </p:nvSpPr>
        <p:spPr/>
        <p:txBody>
          <a:bodyPr/>
          <a:lstStyle/>
          <a:p>
            <a:pPr>
              <a:defRPr/>
            </a:pPr>
            <a:fld id="{BFD7BE51-03DD-4CCA-8227-D775462981B4}" type="slidenum">
              <a:rPr lang="en-US" altLang="zh-CN" smtClean="0"/>
              <a:pPr>
                <a:defRPr/>
              </a:pPr>
              <a:t>51</a:t>
            </a:fld>
            <a:endParaRPr lang="en-US" altLang="zh-CN"/>
          </a:p>
        </p:txBody>
      </p:sp>
      <p:sp>
        <p:nvSpPr>
          <p:cNvPr id="7" name="文本框 6">
            <a:extLst>
              <a:ext uri="{FF2B5EF4-FFF2-40B4-BE49-F238E27FC236}">
                <a16:creationId xmlns:a16="http://schemas.microsoft.com/office/drawing/2014/main" id="{989AF824-6E5D-4AE5-8F57-9BABABDE5523}"/>
              </a:ext>
            </a:extLst>
          </p:cNvPr>
          <p:cNvSpPr txBox="1"/>
          <p:nvPr/>
        </p:nvSpPr>
        <p:spPr>
          <a:xfrm>
            <a:off x="1070918" y="2060848"/>
            <a:ext cx="8100392" cy="1569660"/>
          </a:xfrm>
          <a:prstGeom prst="rect">
            <a:avLst/>
          </a:prstGeom>
          <a:noFill/>
        </p:spPr>
        <p:txBody>
          <a:bodyPr wrap="square" rtlCol="0">
            <a:spAutoFit/>
          </a:bodyPr>
          <a:lstStyle/>
          <a:p>
            <a:r>
              <a:rPr lang="en-US" altLang="zh-CN" sz="2400" b="1" dirty="0">
                <a:latin typeface="Consolas" panose="020B0609020204030204" pitchFamily="49" charset="0"/>
              </a:rPr>
              <a:t>auto </a:t>
            </a:r>
            <a:r>
              <a:rPr lang="en-US" altLang="zh-CN" sz="2400" b="1" dirty="0" err="1">
                <a:latin typeface="Consolas" panose="020B0609020204030204" pitchFamily="49" charset="0"/>
              </a:rPr>
              <a:t>readArr</a:t>
            </a:r>
            <a:r>
              <a:rPr lang="en-US" altLang="zh-CN" sz="2400" b="1" dirty="0">
                <a:latin typeface="Consolas" panose="020B0609020204030204" pitchFamily="49" charset="0"/>
              </a:rPr>
              <a:t>[] = {</a:t>
            </a:r>
            <a:r>
              <a:rPr lang="en-US" altLang="zh-CN" sz="2400" b="1" dirty="0" err="1">
                <a:latin typeface="Consolas" panose="020B0609020204030204" pitchFamily="49" charset="0"/>
              </a:rPr>
              <a:t>readFromScreen</a:t>
            </a:r>
            <a:r>
              <a:rPr lang="en-US" altLang="zh-CN" sz="2400" b="1" dirty="0">
                <a:latin typeface="Consolas" panose="020B0609020204030204" pitchFamily="49" charset="0"/>
              </a:rPr>
              <a:t>, </a:t>
            </a:r>
          </a:p>
          <a:p>
            <a:r>
              <a:rPr lang="en-US" altLang="zh-CN" sz="2400" b="1" dirty="0">
                <a:latin typeface="Consolas" panose="020B0609020204030204" pitchFamily="49" charset="0"/>
              </a:rPr>
              <a:t>								</a:t>
            </a:r>
            <a:r>
              <a:rPr lang="en-US" altLang="zh-CN" sz="2400" b="1" dirty="0" err="1">
                <a:latin typeface="Consolas" panose="020B0609020204030204" pitchFamily="49" charset="0"/>
              </a:rPr>
              <a:t>ReadFromFile</a:t>
            </a:r>
            <a:r>
              <a:rPr lang="en-US" altLang="zh-CN" sz="2400" b="1" dirty="0">
                <a:latin typeface="Consolas" panose="020B0609020204030204" pitchFamily="49" charset="0"/>
              </a:rPr>
              <a:t>()};</a:t>
            </a:r>
          </a:p>
          <a:p>
            <a:r>
              <a:rPr lang="en-US" altLang="zh-CN" sz="2400" b="1" dirty="0">
                <a:latin typeface="Consolas" panose="020B0609020204030204" pitchFamily="49" charset="0"/>
              </a:rPr>
              <a:t>process(</a:t>
            </a:r>
            <a:r>
              <a:rPr lang="en-US" altLang="zh-CN" sz="2400" b="1" dirty="0" err="1">
                <a:latin typeface="Consolas" panose="020B0609020204030204" pitchFamily="49" charset="0"/>
              </a:rPr>
              <a:t>readArr</a:t>
            </a:r>
            <a:r>
              <a:rPr lang="en-US" altLang="zh-CN" sz="2400" b="1" dirty="0">
                <a:latin typeface="Consolas" panose="020B0609020204030204" pitchFamily="49" charset="0"/>
              </a:rPr>
              <a:t>[0], calculate, write);</a:t>
            </a:r>
          </a:p>
          <a:p>
            <a:r>
              <a:rPr lang="en-US" altLang="zh-CN" sz="2400" b="1" dirty="0">
                <a:latin typeface="Consolas" panose="020B0609020204030204" pitchFamily="49" charset="0"/>
              </a:rPr>
              <a:t>process(</a:t>
            </a:r>
            <a:r>
              <a:rPr lang="en-US" altLang="zh-CN" sz="2400" b="1" dirty="0" err="1">
                <a:latin typeface="Consolas" panose="020B0609020204030204" pitchFamily="49" charset="0"/>
              </a:rPr>
              <a:t>readArr</a:t>
            </a:r>
            <a:r>
              <a:rPr lang="en-US" altLang="zh-CN" sz="2400" b="1" dirty="0">
                <a:latin typeface="Consolas" panose="020B0609020204030204" pitchFamily="49" charset="0"/>
              </a:rPr>
              <a:t>[1], calculate, write);</a:t>
            </a:r>
          </a:p>
        </p:txBody>
      </p:sp>
    </p:spTree>
    <p:extLst>
      <p:ext uri="{BB962C8B-B14F-4D97-AF65-F5344CB8AC3E}">
        <p14:creationId xmlns:p14="http://schemas.microsoft.com/office/powerpoint/2010/main" val="35278271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C5D93-DBE5-4319-A9B1-9CF7DC9583A5}"/>
              </a:ext>
            </a:extLst>
          </p:cNvPr>
          <p:cNvSpPr>
            <a:spLocks noGrp="1"/>
          </p:cNvSpPr>
          <p:nvPr>
            <p:ph type="title"/>
          </p:nvPr>
        </p:nvSpPr>
        <p:spPr/>
        <p:txBody>
          <a:bodyPr/>
          <a:lstStyle/>
          <a:p>
            <a:r>
              <a:rPr lang="en-US" altLang="zh-CN" dirty="0"/>
              <a:t>std::function</a:t>
            </a:r>
            <a:r>
              <a:rPr lang="zh-CN" altLang="en-US" dirty="0"/>
              <a:t>类</a:t>
            </a:r>
          </a:p>
        </p:txBody>
      </p:sp>
      <p:sp>
        <p:nvSpPr>
          <p:cNvPr id="3" name="内容占位符 2">
            <a:extLst>
              <a:ext uri="{FF2B5EF4-FFF2-40B4-BE49-F238E27FC236}">
                <a16:creationId xmlns:a16="http://schemas.microsoft.com/office/drawing/2014/main" id="{DF8DFCCA-1F86-451A-BAE6-15BD43EB8C8C}"/>
              </a:ext>
            </a:extLst>
          </p:cNvPr>
          <p:cNvSpPr>
            <a:spLocks noGrp="1"/>
          </p:cNvSpPr>
          <p:nvPr>
            <p:ph idx="1"/>
          </p:nvPr>
        </p:nvSpPr>
        <p:spPr>
          <a:xfrm>
            <a:off x="548097" y="1704307"/>
            <a:ext cx="8047806" cy="4749029"/>
          </a:xfrm>
        </p:spPr>
        <p:txBody>
          <a:bodyPr/>
          <a:lstStyle/>
          <a:p>
            <a:r>
              <a:rPr lang="en-US" altLang="zh-CN" dirty="0"/>
              <a:t>std::function</a:t>
            </a:r>
            <a:r>
              <a:rPr lang="zh-CN" altLang="en-US" dirty="0"/>
              <a:t>类，来自</a:t>
            </a:r>
            <a:r>
              <a:rPr lang="en-US" altLang="zh-CN" dirty="0"/>
              <a:t>&lt;functional&gt;</a:t>
            </a:r>
            <a:r>
              <a:rPr lang="zh-CN" altLang="en-US" dirty="0"/>
              <a:t>头文件</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r>
              <a:rPr lang="en-US" altLang="zh-CN" dirty="0"/>
              <a:t>function</a:t>
            </a:r>
            <a:r>
              <a:rPr lang="zh-CN" altLang="en-US" dirty="0"/>
              <a:t>为函数指针与对象提供了统一的接口</a:t>
            </a:r>
            <a:endParaRPr lang="en-US" altLang="zh-CN" dirty="0"/>
          </a:p>
          <a:p>
            <a:endParaRPr lang="zh-CN" altLang="en-US" dirty="0"/>
          </a:p>
        </p:txBody>
      </p:sp>
      <p:sp>
        <p:nvSpPr>
          <p:cNvPr id="4" name="灯片编号占位符 3">
            <a:extLst>
              <a:ext uri="{FF2B5EF4-FFF2-40B4-BE49-F238E27FC236}">
                <a16:creationId xmlns:a16="http://schemas.microsoft.com/office/drawing/2014/main" id="{AA995143-2CC8-43E3-B773-F3833D6639C3}"/>
              </a:ext>
            </a:extLst>
          </p:cNvPr>
          <p:cNvSpPr>
            <a:spLocks noGrp="1"/>
          </p:cNvSpPr>
          <p:nvPr>
            <p:ph type="sldNum" sz="quarter" idx="12"/>
          </p:nvPr>
        </p:nvSpPr>
        <p:spPr>
          <a:xfrm>
            <a:off x="6948264" y="6377830"/>
            <a:ext cx="2057400" cy="365125"/>
          </a:xfrm>
        </p:spPr>
        <p:txBody>
          <a:bodyPr/>
          <a:lstStyle/>
          <a:p>
            <a:pPr>
              <a:defRPr/>
            </a:pPr>
            <a:fld id="{BFD7BE51-03DD-4CCA-8227-D775462981B4}" type="slidenum">
              <a:rPr lang="en-US" altLang="zh-CN" smtClean="0"/>
              <a:pPr>
                <a:defRPr/>
              </a:pPr>
              <a:t>52</a:t>
            </a:fld>
            <a:endParaRPr lang="en-US" altLang="zh-CN"/>
          </a:p>
        </p:txBody>
      </p:sp>
      <p:grpSp>
        <p:nvGrpSpPr>
          <p:cNvPr id="5" name="组合 4">
            <a:extLst>
              <a:ext uri="{FF2B5EF4-FFF2-40B4-BE49-F238E27FC236}">
                <a16:creationId xmlns:a16="http://schemas.microsoft.com/office/drawing/2014/main" id="{50458055-3691-48D6-BD68-A41B3F11DB87}"/>
              </a:ext>
            </a:extLst>
          </p:cNvPr>
          <p:cNvGrpSpPr/>
          <p:nvPr/>
        </p:nvGrpSpPr>
        <p:grpSpPr>
          <a:xfrm>
            <a:off x="905272" y="2149992"/>
            <a:ext cx="8100392" cy="3090540"/>
            <a:chOff x="891885" y="4744308"/>
            <a:chExt cx="8100392" cy="3090540"/>
          </a:xfrm>
        </p:grpSpPr>
        <p:sp>
          <p:nvSpPr>
            <p:cNvPr id="6" name="文本框 5">
              <a:extLst>
                <a:ext uri="{FF2B5EF4-FFF2-40B4-BE49-F238E27FC236}">
                  <a16:creationId xmlns:a16="http://schemas.microsoft.com/office/drawing/2014/main" id="{C7D20816-8DA7-4B69-9C08-D24B41B13C98}"/>
                </a:ext>
              </a:extLst>
            </p:cNvPr>
            <p:cNvSpPr txBox="1"/>
            <p:nvPr/>
          </p:nvSpPr>
          <p:spPr>
            <a:xfrm>
              <a:off x="891885" y="5157192"/>
              <a:ext cx="8100392" cy="2677656"/>
            </a:xfrm>
            <a:prstGeom prst="rect">
              <a:avLst/>
            </a:prstGeom>
            <a:noFill/>
          </p:spPr>
          <p:txBody>
            <a:bodyPr wrap="square" rtlCol="0">
              <a:spAutoFit/>
            </a:bodyPr>
            <a:lstStyle/>
            <a:p>
              <a:r>
                <a:rPr lang="en-US" altLang="zh-CN" sz="2400" b="1" dirty="0">
                  <a:latin typeface="Consolas" panose="020B0609020204030204" pitchFamily="49" charset="0"/>
                </a:rPr>
                <a:t>function&lt;</a:t>
              </a:r>
              <a:r>
                <a:rPr lang="en-US" altLang="zh-CN" sz="2400" b="1" dirty="0">
                  <a:solidFill>
                    <a:schemeClr val="accent1"/>
                  </a:solidFill>
                  <a:latin typeface="Consolas" panose="020B0609020204030204" pitchFamily="49" charset="0"/>
                </a:rPr>
                <a:t>string</a:t>
              </a:r>
              <a:r>
                <a:rPr lang="en-US" altLang="zh-CN" sz="2400" b="1" dirty="0">
                  <a:solidFill>
                    <a:schemeClr val="accent5"/>
                  </a:solidFill>
                  <a:latin typeface="Consolas" panose="020B0609020204030204" pitchFamily="49" charset="0"/>
                </a:rPr>
                <a:t>()</a:t>
              </a:r>
              <a:r>
                <a:rPr lang="en-US" altLang="zh-CN" sz="2400" b="1" dirty="0">
                  <a:latin typeface="Consolas" panose="020B0609020204030204" pitchFamily="49" charset="0"/>
                </a:rPr>
                <a:t>&gt; </a:t>
              </a:r>
              <a:r>
                <a:rPr lang="en-US" altLang="zh-CN" sz="2400" b="1" dirty="0" err="1">
                  <a:latin typeface="Consolas" panose="020B0609020204030204" pitchFamily="49" charset="0"/>
                </a:rPr>
                <a:t>readArr</a:t>
              </a:r>
              <a:r>
                <a:rPr lang="en-US" altLang="zh-CN" sz="2400" b="1" dirty="0">
                  <a:latin typeface="Consolas" panose="020B0609020204030204" pitchFamily="49" charset="0"/>
                </a:rPr>
                <a:t>[] = </a:t>
              </a:r>
            </a:p>
            <a:p>
              <a:r>
                <a:rPr lang="en-US" altLang="zh-CN" sz="2400" b="1" dirty="0">
                  <a:latin typeface="Consolas" panose="020B0609020204030204" pitchFamily="49" charset="0"/>
                </a:rPr>
                <a:t>			{</a:t>
              </a:r>
              <a:r>
                <a:rPr lang="en-US" altLang="zh-CN" sz="2400" b="1" dirty="0" err="1">
                  <a:latin typeface="Consolas" panose="020B0609020204030204" pitchFamily="49" charset="0"/>
                </a:rPr>
                <a:t>readFromScreen</a:t>
              </a:r>
              <a:r>
                <a:rPr lang="en-US" altLang="zh-CN" sz="2400" b="1" dirty="0">
                  <a:latin typeface="Consolas" panose="020B0609020204030204" pitchFamily="49" charset="0"/>
                </a:rPr>
                <a:t>, </a:t>
              </a:r>
              <a:r>
                <a:rPr lang="en-US" altLang="zh-CN" sz="2400" b="1" dirty="0" err="1">
                  <a:latin typeface="Consolas" panose="020B0609020204030204" pitchFamily="49" charset="0"/>
                </a:rPr>
                <a:t>ReadFromFile</a:t>
              </a:r>
              <a:r>
                <a:rPr lang="en-US" altLang="zh-CN" sz="2400" b="1" dirty="0">
                  <a:latin typeface="Consolas" panose="020B0609020204030204" pitchFamily="49" charset="0"/>
                </a:rPr>
                <a:t>()};</a:t>
              </a:r>
            </a:p>
            <a:p>
              <a:r>
                <a:rPr lang="en-US" altLang="zh-CN" sz="2400" b="1" dirty="0">
                  <a:latin typeface="Consolas" panose="020B0609020204030204" pitchFamily="49" charset="0"/>
                </a:rPr>
                <a:t>function&lt;</a:t>
              </a:r>
              <a:r>
                <a:rPr lang="en-US" altLang="zh-CN" sz="2400" b="1" dirty="0">
                  <a:solidFill>
                    <a:schemeClr val="accent1"/>
                  </a:solidFill>
                  <a:latin typeface="Consolas" panose="020B0609020204030204" pitchFamily="49" charset="0"/>
                </a:rPr>
                <a:t>string</a:t>
              </a:r>
              <a:r>
                <a:rPr lang="en-US" altLang="zh-CN" sz="2400" b="1" dirty="0">
                  <a:solidFill>
                    <a:schemeClr val="accent5"/>
                  </a:solidFill>
                  <a:latin typeface="Consolas" panose="020B0609020204030204" pitchFamily="49" charset="0"/>
                </a:rPr>
                <a:t>(string)</a:t>
              </a:r>
              <a:r>
                <a:rPr lang="en-US" altLang="zh-CN" sz="2400" b="1" dirty="0">
                  <a:latin typeface="Consolas" panose="020B0609020204030204" pitchFamily="49" charset="0"/>
                </a:rPr>
                <a:t>&gt; </a:t>
              </a:r>
              <a:r>
                <a:rPr lang="en-US" altLang="zh-CN" sz="2400" b="1" dirty="0" err="1">
                  <a:latin typeface="Consolas" panose="020B0609020204030204" pitchFamily="49" charset="0"/>
                </a:rPr>
                <a:t>calculateArr</a:t>
              </a:r>
              <a:r>
                <a:rPr lang="en-US" altLang="zh-CN" sz="2400" b="1" dirty="0">
                  <a:latin typeface="Consolas" panose="020B0609020204030204" pitchFamily="49" charset="0"/>
                </a:rPr>
                <a:t>[] = </a:t>
              </a:r>
            </a:p>
            <a:p>
              <a:r>
                <a:rPr lang="en-US" altLang="zh-CN" sz="2400" b="1" dirty="0">
                  <a:latin typeface="Consolas" panose="020B0609020204030204" pitchFamily="49" charset="0"/>
                </a:rPr>
                <a:t>			{</a:t>
              </a:r>
              <a:r>
                <a:rPr lang="en-US" altLang="zh-CN" sz="2400" b="1" dirty="0" err="1">
                  <a:latin typeface="Consolas" panose="020B0609020204030204" pitchFamily="49" charset="0"/>
                </a:rPr>
                <a:t>calculateAdd</a:t>
              </a:r>
              <a:r>
                <a:rPr lang="en-US" altLang="zh-CN" sz="2400" b="1" dirty="0">
                  <a:latin typeface="Consolas" panose="020B0609020204030204" pitchFamily="49" charset="0"/>
                </a:rPr>
                <a:t>, </a:t>
              </a:r>
              <a:r>
                <a:rPr lang="en-US" altLang="zh-CN" sz="2400" b="1" dirty="0" err="1">
                  <a:latin typeface="Consolas" panose="020B0609020204030204" pitchFamily="49" charset="0"/>
                </a:rPr>
                <a:t>CalculateMul</a:t>
              </a:r>
              <a:r>
                <a:rPr lang="en-US" altLang="zh-CN" sz="2400" b="1" dirty="0">
                  <a:latin typeface="Consolas" panose="020B0609020204030204" pitchFamily="49" charset="0"/>
                </a:rPr>
                <a:t>()};</a:t>
              </a:r>
            </a:p>
            <a:p>
              <a:r>
                <a:rPr lang="en-US" altLang="zh-CN" sz="2400" b="1" dirty="0">
                  <a:latin typeface="Consolas" panose="020B0609020204030204" pitchFamily="49" charset="0"/>
                </a:rPr>
                <a:t>function&lt;</a:t>
              </a:r>
              <a:r>
                <a:rPr lang="en-US" altLang="zh-CN" sz="2400" b="1" dirty="0">
                  <a:solidFill>
                    <a:schemeClr val="accent1"/>
                  </a:solidFill>
                  <a:latin typeface="Consolas" panose="020B0609020204030204" pitchFamily="49" charset="0"/>
                </a:rPr>
                <a:t>void</a:t>
              </a:r>
              <a:r>
                <a:rPr lang="en-US" altLang="zh-CN" sz="2400" b="1" dirty="0">
                  <a:solidFill>
                    <a:schemeClr val="accent5"/>
                  </a:solidFill>
                  <a:latin typeface="Consolas" panose="020B0609020204030204" pitchFamily="49" charset="0"/>
                </a:rPr>
                <a:t>(string)</a:t>
              </a:r>
              <a:r>
                <a:rPr lang="en-US" altLang="zh-CN" sz="2400" b="1" dirty="0">
                  <a:latin typeface="Consolas" panose="020B0609020204030204" pitchFamily="49" charset="0"/>
                </a:rPr>
                <a:t>&gt; </a:t>
              </a:r>
              <a:r>
                <a:rPr lang="en-US" altLang="zh-CN" sz="2400" b="1" dirty="0" err="1">
                  <a:latin typeface="Consolas" panose="020B0609020204030204" pitchFamily="49" charset="0"/>
                </a:rPr>
                <a:t>writeArr</a:t>
              </a:r>
              <a:r>
                <a:rPr lang="en-US" altLang="zh-CN" sz="2400" b="1" dirty="0">
                  <a:latin typeface="Consolas" panose="020B0609020204030204" pitchFamily="49" charset="0"/>
                </a:rPr>
                <a:t>[] = </a:t>
              </a:r>
            </a:p>
            <a:p>
              <a:r>
                <a:rPr lang="en-US" altLang="zh-CN" sz="2400" b="1" dirty="0">
                  <a:latin typeface="Consolas" panose="020B0609020204030204" pitchFamily="49" charset="0"/>
                </a:rPr>
                <a:t>			{</a:t>
              </a:r>
              <a:r>
                <a:rPr lang="en-US" altLang="zh-CN" sz="2400" b="1" dirty="0" err="1">
                  <a:latin typeface="Consolas" panose="020B0609020204030204" pitchFamily="49" charset="0"/>
                </a:rPr>
                <a:t>writeToScreen</a:t>
              </a:r>
              <a:r>
                <a:rPr lang="en-US" altLang="zh-CN" sz="2400" b="1" dirty="0">
                  <a:latin typeface="Consolas" panose="020B0609020204030204" pitchFamily="49" charset="0"/>
                </a:rPr>
                <a:t>, </a:t>
              </a:r>
              <a:r>
                <a:rPr lang="en-US" altLang="zh-CN" sz="2400" b="1" dirty="0" err="1">
                  <a:latin typeface="Consolas" panose="020B0609020204030204" pitchFamily="49" charset="0"/>
                </a:rPr>
                <a:t>WriteToFile</a:t>
              </a:r>
              <a:r>
                <a:rPr lang="en-US" altLang="zh-CN" sz="2400" b="1" dirty="0">
                  <a:latin typeface="Consolas" panose="020B0609020204030204" pitchFamily="49" charset="0"/>
                </a:rPr>
                <a:t>()};</a:t>
              </a:r>
            </a:p>
            <a:p>
              <a:endParaRPr lang="en-US" altLang="zh-CN" sz="2400" b="1" dirty="0">
                <a:latin typeface="Consolas" panose="020B0609020204030204" pitchFamily="49" charset="0"/>
              </a:endParaRPr>
            </a:p>
          </p:txBody>
        </p:sp>
        <p:sp>
          <p:nvSpPr>
            <p:cNvPr id="7" name="文本框 6">
              <a:extLst>
                <a:ext uri="{FF2B5EF4-FFF2-40B4-BE49-F238E27FC236}">
                  <a16:creationId xmlns:a16="http://schemas.microsoft.com/office/drawing/2014/main" id="{ED87996D-4382-4511-BD08-32E5968834BE}"/>
                </a:ext>
              </a:extLst>
            </p:cNvPr>
            <p:cNvSpPr txBox="1"/>
            <p:nvPr/>
          </p:nvSpPr>
          <p:spPr>
            <a:xfrm>
              <a:off x="2238273" y="4744308"/>
              <a:ext cx="1261884" cy="523220"/>
            </a:xfrm>
            <a:prstGeom prst="rect">
              <a:avLst/>
            </a:prstGeom>
            <a:noFill/>
          </p:spPr>
          <p:txBody>
            <a:bodyPr wrap="none" rtlCol="0">
              <a:spAutoFit/>
            </a:bodyPr>
            <a:lstStyle/>
            <a:p>
              <a:r>
                <a:rPr lang="zh-CN" altLang="en-US" sz="2800" b="1" dirty="0">
                  <a:solidFill>
                    <a:schemeClr val="accent1"/>
                  </a:solidFill>
                </a:rPr>
                <a:t>返回值</a:t>
              </a:r>
            </a:p>
          </p:txBody>
        </p:sp>
        <p:sp>
          <p:nvSpPr>
            <p:cNvPr id="8" name="文本框 7">
              <a:extLst>
                <a:ext uri="{FF2B5EF4-FFF2-40B4-BE49-F238E27FC236}">
                  <a16:creationId xmlns:a16="http://schemas.microsoft.com/office/drawing/2014/main" id="{93F465FF-F161-498E-A666-53ED4F701395}"/>
                </a:ext>
              </a:extLst>
            </p:cNvPr>
            <p:cNvSpPr txBox="1"/>
            <p:nvPr/>
          </p:nvSpPr>
          <p:spPr>
            <a:xfrm>
              <a:off x="3500157" y="4744308"/>
              <a:ext cx="1620957" cy="523220"/>
            </a:xfrm>
            <a:prstGeom prst="rect">
              <a:avLst/>
            </a:prstGeom>
            <a:noFill/>
          </p:spPr>
          <p:txBody>
            <a:bodyPr wrap="none" rtlCol="0">
              <a:spAutoFit/>
            </a:bodyPr>
            <a:lstStyle/>
            <a:p>
              <a:r>
                <a:rPr lang="zh-CN" altLang="en-US" sz="2800" b="1" dirty="0">
                  <a:solidFill>
                    <a:schemeClr val="accent5"/>
                  </a:solidFill>
                </a:rPr>
                <a:t>参数列表</a:t>
              </a:r>
            </a:p>
          </p:txBody>
        </p:sp>
      </p:grpSp>
    </p:spTree>
    <p:extLst>
      <p:ext uri="{BB962C8B-B14F-4D97-AF65-F5344CB8AC3E}">
        <p14:creationId xmlns:p14="http://schemas.microsoft.com/office/powerpoint/2010/main" val="31059792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538C2-F47F-4C41-A128-01C6BE16FFAC}"/>
              </a:ext>
            </a:extLst>
          </p:cNvPr>
          <p:cNvSpPr>
            <a:spLocks noGrp="1"/>
          </p:cNvSpPr>
          <p:nvPr>
            <p:ph type="title"/>
          </p:nvPr>
        </p:nvSpPr>
        <p:spPr/>
        <p:txBody>
          <a:bodyPr/>
          <a:lstStyle/>
          <a:p>
            <a:r>
              <a:rPr lang="en-US" altLang="zh-CN" dirty="0"/>
              <a:t>std::function</a:t>
            </a:r>
            <a:r>
              <a:rPr lang="zh-CN" altLang="en-US" dirty="0"/>
              <a:t>类</a:t>
            </a:r>
          </a:p>
        </p:txBody>
      </p:sp>
      <p:sp>
        <p:nvSpPr>
          <p:cNvPr id="4" name="灯片编号占位符 3">
            <a:extLst>
              <a:ext uri="{FF2B5EF4-FFF2-40B4-BE49-F238E27FC236}">
                <a16:creationId xmlns:a16="http://schemas.microsoft.com/office/drawing/2014/main" id="{E9E283E4-9AB9-4084-8784-5F06079FF1E6}"/>
              </a:ext>
            </a:extLst>
          </p:cNvPr>
          <p:cNvSpPr>
            <a:spLocks noGrp="1"/>
          </p:cNvSpPr>
          <p:nvPr>
            <p:ph type="sldNum" sz="quarter" idx="12"/>
          </p:nvPr>
        </p:nvSpPr>
        <p:spPr/>
        <p:txBody>
          <a:bodyPr/>
          <a:lstStyle/>
          <a:p>
            <a:pPr>
              <a:defRPr/>
            </a:pPr>
            <a:fld id="{BFD7BE51-03DD-4CCA-8227-D775462981B4}" type="slidenum">
              <a:rPr lang="en-US" altLang="zh-CN" smtClean="0"/>
              <a:pPr>
                <a:defRPr/>
              </a:pPr>
              <a:t>53</a:t>
            </a:fld>
            <a:endParaRPr lang="en-US" altLang="zh-CN"/>
          </a:p>
        </p:txBody>
      </p:sp>
      <p:sp>
        <p:nvSpPr>
          <p:cNvPr id="5" name="文本框 4">
            <a:extLst>
              <a:ext uri="{FF2B5EF4-FFF2-40B4-BE49-F238E27FC236}">
                <a16:creationId xmlns:a16="http://schemas.microsoft.com/office/drawing/2014/main" id="{0ECC8C70-2638-4C39-B03F-F85396A98D0E}"/>
              </a:ext>
            </a:extLst>
          </p:cNvPr>
          <p:cNvSpPr txBox="1"/>
          <p:nvPr/>
        </p:nvSpPr>
        <p:spPr>
          <a:xfrm>
            <a:off x="1077788" y="1124744"/>
            <a:ext cx="7212231" cy="5632311"/>
          </a:xfrm>
          <a:prstGeom prst="rect">
            <a:avLst/>
          </a:prstGeom>
          <a:noFill/>
        </p:spPr>
        <p:txBody>
          <a:bodyPr wrap="non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a:t>
            </a:r>
            <a:r>
              <a:rPr lang="en-US" altLang="zh-CN" sz="2000" b="1" dirty="0" err="1">
                <a:latin typeface="Consolas" panose="020B0609020204030204" pitchFamily="49" charset="0"/>
              </a:rPr>
              <a:t>fstream</a:t>
            </a:r>
            <a:r>
              <a:rPr lang="en-US" altLang="zh-CN" sz="2000" b="1" dirty="0">
                <a:latin typeface="Consolas" panose="020B0609020204030204" pitchFamily="49" charset="0"/>
              </a:rPr>
              <a:t>&gt;</a:t>
            </a:r>
          </a:p>
          <a:p>
            <a:r>
              <a:rPr lang="en-US" altLang="zh-CN" sz="2000" b="1" dirty="0">
                <a:latin typeface="Consolas" panose="020B0609020204030204" pitchFamily="49" charset="0"/>
              </a:rPr>
              <a:t>#include &lt;functional&gt;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solidFill>
                  <a:srgbClr val="1D9A78"/>
                </a:solidFill>
                <a:latin typeface="Consolas" panose="020B0609020204030204" pitchFamily="49" charset="0"/>
              </a:rPr>
              <a:t>//</a:t>
            </a:r>
            <a:r>
              <a:rPr lang="zh-CN" altLang="en-US" sz="2000" b="1" dirty="0">
                <a:solidFill>
                  <a:srgbClr val="1D9A78"/>
                </a:solidFill>
                <a:latin typeface="Consolas" panose="020B0609020204030204" pitchFamily="49" charset="0"/>
              </a:rPr>
              <a:t>省略</a:t>
            </a:r>
            <a:r>
              <a:rPr lang="en-US" altLang="zh-CN" sz="2000" b="1" dirty="0" err="1">
                <a:solidFill>
                  <a:srgbClr val="1D9A78"/>
                </a:solidFill>
                <a:latin typeface="Consolas" panose="020B0609020204030204" pitchFamily="49" charset="0"/>
              </a:rPr>
              <a:t>readFromScreen</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ReadFromFile</a:t>
            </a:r>
            <a:endParaRPr lang="en-US" altLang="zh-CN" sz="2000" b="1" dirty="0">
              <a:latin typeface="Consolas" panose="020B0609020204030204" pitchFamily="49" charset="0"/>
            </a:endParaRPr>
          </a:p>
          <a:p>
            <a:r>
              <a:rPr lang="en-US" altLang="zh-CN" sz="2000" b="1" dirty="0">
                <a:latin typeface="Consolas" panose="020B0609020204030204" pitchFamily="49" charset="0"/>
              </a:rPr>
              <a:t>int main()</a:t>
            </a:r>
          </a:p>
          <a:p>
            <a:r>
              <a:rPr lang="en-US" altLang="zh-CN" sz="2000" b="1" dirty="0">
                <a:latin typeface="Consolas" panose="020B0609020204030204" pitchFamily="49" charset="0"/>
              </a:rPr>
              <a:t>{</a:t>
            </a:r>
          </a:p>
          <a:p>
            <a:r>
              <a:rPr lang="en-US" altLang="zh-CN" sz="2000" b="1" dirty="0">
                <a:latin typeface="Consolas" panose="020B0609020204030204" pitchFamily="49" charset="0"/>
              </a:rPr>
              <a:t>	function&lt;</a:t>
            </a:r>
            <a:r>
              <a:rPr lang="en-US" altLang="zh-CN" sz="2000" b="1" dirty="0">
                <a:solidFill>
                  <a:schemeClr val="accent1"/>
                </a:solidFill>
                <a:latin typeface="Consolas" panose="020B0609020204030204" pitchFamily="49" charset="0"/>
              </a:rPr>
              <a:t>string</a:t>
            </a:r>
            <a:r>
              <a:rPr lang="en-US" altLang="zh-CN" sz="2000" b="1" dirty="0">
                <a:solidFill>
                  <a:schemeClr val="accent5"/>
                </a:solidFill>
                <a:latin typeface="Consolas" panose="020B0609020204030204" pitchFamily="49" charset="0"/>
              </a:rPr>
              <a:t>()</a:t>
            </a:r>
            <a:r>
              <a:rPr lang="en-US" altLang="zh-CN" sz="2000" b="1" dirty="0">
                <a:latin typeface="Consolas" panose="020B0609020204030204" pitchFamily="49" charset="0"/>
              </a:rPr>
              <a:t>&gt; </a:t>
            </a:r>
            <a:r>
              <a:rPr lang="en-US" altLang="zh-CN" sz="2000" b="1" dirty="0" err="1">
                <a:latin typeface="Consolas" panose="020B0609020204030204" pitchFamily="49" charset="0"/>
              </a:rPr>
              <a:t>readArr</a:t>
            </a:r>
            <a:r>
              <a:rPr lang="en-US" altLang="zh-CN" sz="2000" b="1" dirty="0">
                <a:latin typeface="Consolas" panose="020B0609020204030204" pitchFamily="49" charset="0"/>
              </a:rPr>
              <a:t>[] = </a:t>
            </a:r>
          </a:p>
          <a:p>
            <a:r>
              <a:rPr lang="en-US" altLang="zh-CN" sz="2000" b="1" dirty="0">
                <a:latin typeface="Consolas" panose="020B0609020204030204" pitchFamily="49" charset="0"/>
              </a:rPr>
              <a:t>			{</a:t>
            </a:r>
            <a:r>
              <a:rPr lang="en-US" altLang="zh-CN" sz="2000" b="1" dirty="0" err="1">
                <a:latin typeface="Consolas" panose="020B0609020204030204" pitchFamily="49" charset="0"/>
              </a:rPr>
              <a:t>readFromScreen</a:t>
            </a:r>
            <a:r>
              <a:rPr lang="en-US" altLang="zh-CN" sz="2000" b="1" dirty="0">
                <a:latin typeface="Consolas" panose="020B0609020204030204" pitchFamily="49" charset="0"/>
              </a:rPr>
              <a:t>, </a:t>
            </a:r>
            <a:r>
              <a:rPr lang="en-US" altLang="zh-CN" sz="2000" b="1" dirty="0" err="1">
                <a:latin typeface="Consolas" panose="020B0609020204030204" pitchFamily="49" charset="0"/>
              </a:rPr>
              <a:t>ReadFromFile</a:t>
            </a:r>
            <a:r>
              <a:rPr lang="en-US" altLang="zh-CN" sz="2000" b="1" dirty="0">
                <a:latin typeface="Consolas" panose="020B0609020204030204" pitchFamily="49" charset="0"/>
              </a:rPr>
              <a:t>()};</a:t>
            </a:r>
          </a:p>
          <a:p>
            <a:r>
              <a:rPr lang="en-US" altLang="zh-CN" sz="2000" b="1" dirty="0">
                <a:latin typeface="Consolas" panose="020B0609020204030204" pitchFamily="49" charset="0"/>
              </a:rPr>
              <a:t>	function&lt;</a:t>
            </a:r>
            <a:r>
              <a:rPr lang="en-US" altLang="zh-CN" sz="2000" b="1" dirty="0">
                <a:solidFill>
                  <a:srgbClr val="1D9A78"/>
                </a:solidFill>
                <a:latin typeface="Consolas" panose="020B0609020204030204" pitchFamily="49" charset="0"/>
              </a:rPr>
              <a:t>string</a:t>
            </a:r>
            <a:r>
              <a:rPr lang="en-US" altLang="zh-CN" sz="2000" b="1" dirty="0">
                <a:solidFill>
                  <a:schemeClr val="accent6"/>
                </a:solidFill>
                <a:latin typeface="Consolas" panose="020B0609020204030204" pitchFamily="49" charset="0"/>
              </a:rPr>
              <a:t>()</a:t>
            </a:r>
            <a:r>
              <a:rPr lang="en-US" altLang="zh-CN" sz="2000" b="1" dirty="0">
                <a:latin typeface="Consolas" panose="020B0609020204030204" pitchFamily="49" charset="0"/>
              </a:rPr>
              <a:t>&gt; </a:t>
            </a:r>
            <a:r>
              <a:rPr lang="en-US" altLang="zh-CN" sz="2000" b="1" dirty="0" err="1">
                <a:latin typeface="Consolas" panose="020B0609020204030204" pitchFamily="49" charset="0"/>
              </a:rPr>
              <a:t>readFunc</a:t>
            </a:r>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latin typeface="Consolas" panose="020B0609020204030204" pitchFamily="49" charset="0"/>
              </a:rPr>
              <a:t>readFunc</a:t>
            </a:r>
            <a:r>
              <a:rPr lang="en-US" altLang="zh-CN" sz="2000" b="1" dirty="0">
                <a:latin typeface="Consolas" panose="020B0609020204030204" pitchFamily="49" charset="0"/>
              </a:rPr>
              <a:t> = </a:t>
            </a:r>
            <a:r>
              <a:rPr lang="en-US" altLang="zh-CN" sz="2000" b="1" dirty="0" err="1">
                <a:latin typeface="Consolas" panose="020B0609020204030204" pitchFamily="49" charset="0"/>
              </a:rPr>
              <a:t>readFromScreen</a:t>
            </a:r>
            <a:r>
              <a:rPr lang="en-US" altLang="zh-CN" sz="2000" b="1" dirty="0">
                <a:latin typeface="Consolas" panose="020B0609020204030204" pitchFamily="49" charset="0"/>
              </a:rPr>
              <a:t>; </a:t>
            </a:r>
            <a:r>
              <a:rPr lang="en-US" altLang="zh-CN" sz="2000" b="1" dirty="0">
                <a:solidFill>
                  <a:srgbClr val="1D9A78"/>
                </a:solidFill>
                <a:latin typeface="Consolas" panose="020B0609020204030204" pitchFamily="49" charset="0"/>
              </a:rPr>
              <a:t>//</a:t>
            </a:r>
            <a:r>
              <a:rPr lang="zh-CN" altLang="en-US" sz="2000" b="1" dirty="0">
                <a:solidFill>
                  <a:srgbClr val="1D9A78"/>
                </a:solidFill>
              </a:rPr>
              <a:t>允许函数的赋值</a:t>
            </a:r>
            <a:endParaRPr lang="en-US" altLang="zh-CN" sz="2000" b="1" dirty="0">
              <a:solidFill>
                <a:srgbClr val="1D9A78"/>
              </a:solidFill>
              <a:latin typeface="Consolas" panose="020B0609020204030204" pitchFamily="49" charset="0"/>
            </a:endParaRPr>
          </a:p>
          <a:p>
            <a:r>
              <a:rPr lang="en-US" altLang="zh-CN" sz="2000" b="1" dirty="0">
                <a:latin typeface="Consolas" panose="020B0609020204030204" pitchFamily="49" charset="0"/>
              </a:rPr>
              <a:t>	</a:t>
            </a:r>
            <a:r>
              <a:rPr lang="en-US" altLang="zh-CN" sz="2000" b="1" dirty="0" err="1">
                <a:latin typeface="Consolas" panose="020B0609020204030204" pitchFamily="49" charset="0"/>
              </a:rPr>
              <a:t>readFunc</a:t>
            </a:r>
            <a:r>
              <a:rPr lang="en-US" altLang="zh-CN" sz="2000" b="1" dirty="0">
                <a:latin typeface="Consolas" panose="020B0609020204030204" pitchFamily="49" charset="0"/>
              </a:rPr>
              <a:t> = </a:t>
            </a:r>
            <a:r>
              <a:rPr lang="en-US" altLang="zh-CN" sz="2000" b="1" dirty="0" err="1">
                <a:latin typeface="Consolas" panose="020B0609020204030204" pitchFamily="49" charset="0"/>
              </a:rPr>
              <a:t>ReadFromFile</a:t>
            </a:r>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a:solidFill>
                  <a:srgbClr val="1D9A78"/>
                </a:solidFill>
                <a:latin typeface="Consolas" panose="020B0609020204030204" pitchFamily="49" charset="0"/>
              </a:rPr>
              <a:t>string</a:t>
            </a:r>
            <a:r>
              <a:rPr lang="en-US" altLang="zh-CN" sz="2000" b="1" dirty="0">
                <a:latin typeface="Consolas" panose="020B0609020204030204" pitchFamily="49" charset="0"/>
              </a:rPr>
              <a:t> (*readFunc2)</a:t>
            </a:r>
            <a:r>
              <a:rPr lang="en-US" altLang="zh-CN" sz="2000" b="1" dirty="0">
                <a:solidFill>
                  <a:schemeClr val="accent6"/>
                </a:solidFill>
                <a:latin typeface="Consolas" panose="020B0609020204030204" pitchFamily="49" charset="0"/>
              </a:rPr>
              <a:t>()</a:t>
            </a:r>
            <a:r>
              <a:rPr lang="en-US" altLang="zh-CN" sz="2000" b="1" dirty="0">
                <a:latin typeface="Consolas" panose="020B0609020204030204" pitchFamily="49" charset="0"/>
              </a:rPr>
              <a:t>;</a:t>
            </a:r>
          </a:p>
          <a:p>
            <a:r>
              <a:rPr lang="en-US" altLang="zh-CN" sz="2000" b="1" dirty="0">
                <a:latin typeface="Consolas" panose="020B0609020204030204" pitchFamily="49" charset="0"/>
              </a:rPr>
              <a:t>	readFunc2 = </a:t>
            </a:r>
            <a:r>
              <a:rPr lang="en-US" altLang="zh-CN" sz="2000" b="1" dirty="0" err="1">
                <a:latin typeface="Consolas" panose="020B0609020204030204" pitchFamily="49" charset="0"/>
              </a:rPr>
              <a:t>readFromScreen</a:t>
            </a:r>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a:solidFill>
                  <a:srgbClr val="FF0000"/>
                </a:solidFill>
                <a:latin typeface="Consolas" panose="020B0609020204030204" pitchFamily="49" charset="0"/>
              </a:rPr>
              <a:t>//readFunc2 = </a:t>
            </a:r>
            <a:r>
              <a:rPr lang="en-US" altLang="zh-CN" sz="2000" b="1" dirty="0" err="1">
                <a:solidFill>
                  <a:srgbClr val="FF0000"/>
                </a:solidFill>
                <a:latin typeface="Consolas" panose="020B0609020204030204" pitchFamily="49" charset="0"/>
              </a:rPr>
              <a:t>ReadFromFile</a:t>
            </a:r>
            <a:r>
              <a:rPr lang="en-US" altLang="zh-CN" sz="2000" b="1" dirty="0">
                <a:solidFill>
                  <a:srgbClr val="FF0000"/>
                </a:solidFill>
                <a:latin typeface="Consolas" panose="020B0609020204030204" pitchFamily="49" charset="0"/>
              </a:rPr>
              <a:t>(); </a:t>
            </a:r>
            <a:r>
              <a:rPr lang="en-US" altLang="zh-CN" sz="2000" b="1" dirty="0">
                <a:solidFill>
                  <a:srgbClr val="1D9A78"/>
                </a:solidFill>
                <a:latin typeface="Consolas" panose="020B0609020204030204" pitchFamily="49" charset="0"/>
              </a:rPr>
              <a:t>//</a:t>
            </a:r>
            <a:r>
              <a:rPr lang="zh-CN" altLang="en-US" sz="2000" b="1" dirty="0">
                <a:solidFill>
                  <a:srgbClr val="1D9A78"/>
                </a:solidFill>
                <a:latin typeface="Consolas" panose="020B0609020204030204" pitchFamily="49" charset="0"/>
              </a:rPr>
              <a:t>错误，类型不一致</a:t>
            </a:r>
          </a:p>
          <a:p>
            <a:r>
              <a:rPr lang="zh-CN" altLang="en-US" sz="2000" b="1" dirty="0">
                <a:latin typeface="Consolas" panose="020B0609020204030204" pitchFamily="49" charset="0"/>
              </a:rPr>
              <a:t>	</a:t>
            </a:r>
            <a:r>
              <a:rPr lang="en-US" altLang="zh-CN" sz="2000" b="1" dirty="0">
                <a:latin typeface="Consolas" panose="020B0609020204030204" pitchFamily="49" charset="0"/>
              </a:rPr>
              <a:t>return 0;</a:t>
            </a:r>
          </a:p>
          <a:p>
            <a:r>
              <a:rPr lang="en-US" altLang="zh-CN" sz="2000" b="1" dirty="0">
                <a:latin typeface="Consolas" panose="020B0609020204030204" pitchFamily="49" charset="0"/>
              </a:rPr>
              <a:t>}</a:t>
            </a:r>
            <a:endParaRPr lang="zh-CN" altLang="en-US" sz="2000" b="1" dirty="0">
              <a:latin typeface="Consolas" panose="020B0609020204030204" pitchFamily="49" charset="0"/>
            </a:endParaRPr>
          </a:p>
        </p:txBody>
      </p:sp>
    </p:spTree>
    <p:extLst>
      <p:ext uri="{BB962C8B-B14F-4D97-AF65-F5344CB8AC3E}">
        <p14:creationId xmlns:p14="http://schemas.microsoft.com/office/powerpoint/2010/main" val="29583195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15BCBC-1519-45DB-B788-3EBAA5801996}"/>
              </a:ext>
            </a:extLst>
          </p:cNvPr>
          <p:cNvSpPr>
            <a:spLocks noGrp="1"/>
          </p:cNvSpPr>
          <p:nvPr>
            <p:ph type="title"/>
          </p:nvPr>
        </p:nvSpPr>
        <p:spPr>
          <a:xfrm>
            <a:off x="1271116" y="99461"/>
            <a:ext cx="7886700" cy="1325563"/>
          </a:xfrm>
        </p:spPr>
        <p:txBody>
          <a:bodyPr/>
          <a:lstStyle/>
          <a:p>
            <a:pPr algn="r"/>
            <a:r>
              <a:rPr lang="zh-CN" altLang="en-US" dirty="0">
                <a:solidFill>
                  <a:schemeClr val="accent4"/>
                </a:solidFill>
              </a:rPr>
              <a:t>使用</a:t>
            </a:r>
            <a:r>
              <a:rPr lang="en-US" altLang="zh-CN" dirty="0">
                <a:solidFill>
                  <a:schemeClr val="accent4"/>
                </a:solidFill>
              </a:rPr>
              <a:t>function</a:t>
            </a:r>
            <a:endParaRPr lang="zh-CN" altLang="en-US" dirty="0">
              <a:solidFill>
                <a:schemeClr val="accent4"/>
              </a:solidFill>
            </a:endParaRPr>
          </a:p>
        </p:txBody>
      </p:sp>
      <p:sp>
        <p:nvSpPr>
          <p:cNvPr id="4" name="灯片编号占位符 3">
            <a:extLst>
              <a:ext uri="{FF2B5EF4-FFF2-40B4-BE49-F238E27FC236}">
                <a16:creationId xmlns:a16="http://schemas.microsoft.com/office/drawing/2014/main" id="{49BB3861-B9F0-434F-8B9E-9FE06C28DCEF}"/>
              </a:ext>
            </a:extLst>
          </p:cNvPr>
          <p:cNvSpPr>
            <a:spLocks noGrp="1"/>
          </p:cNvSpPr>
          <p:nvPr>
            <p:ph type="sldNum" sz="quarter" idx="12"/>
          </p:nvPr>
        </p:nvSpPr>
        <p:spPr/>
        <p:txBody>
          <a:bodyPr/>
          <a:lstStyle/>
          <a:p>
            <a:pPr>
              <a:defRPr/>
            </a:pPr>
            <a:fld id="{BFD7BE51-03DD-4CCA-8227-D775462981B4}" type="slidenum">
              <a:rPr lang="en-US" altLang="zh-CN" smtClean="0"/>
              <a:pPr>
                <a:defRPr/>
              </a:pPr>
              <a:t>54</a:t>
            </a:fld>
            <a:endParaRPr lang="en-US" altLang="zh-CN"/>
          </a:p>
        </p:txBody>
      </p:sp>
      <p:sp>
        <p:nvSpPr>
          <p:cNvPr id="5" name="文本框 4">
            <a:extLst>
              <a:ext uri="{FF2B5EF4-FFF2-40B4-BE49-F238E27FC236}">
                <a16:creationId xmlns:a16="http://schemas.microsoft.com/office/drawing/2014/main" id="{FD8ADE26-EE13-49B7-8222-38267BF07508}"/>
              </a:ext>
            </a:extLst>
          </p:cNvPr>
          <p:cNvSpPr txBox="1"/>
          <p:nvPr/>
        </p:nvSpPr>
        <p:spPr>
          <a:xfrm>
            <a:off x="203448" y="187314"/>
            <a:ext cx="8802216" cy="6555641"/>
          </a:xfrm>
          <a:prstGeom prst="rect">
            <a:avLst/>
          </a:prstGeom>
          <a:noFill/>
        </p:spPr>
        <p:txBody>
          <a:bodyPr wrap="squar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a:t>
            </a:r>
            <a:r>
              <a:rPr lang="en-US" altLang="zh-CN" sz="2000" b="1" dirty="0" err="1">
                <a:latin typeface="Consolas" panose="020B0609020204030204" pitchFamily="49" charset="0"/>
              </a:rPr>
              <a:t>fstream</a:t>
            </a:r>
            <a:r>
              <a:rPr lang="en-US" altLang="zh-CN" sz="2000" b="1" dirty="0">
                <a:latin typeface="Consolas" panose="020B0609020204030204" pitchFamily="49" charset="0"/>
              </a:rPr>
              <a:t>&gt;</a:t>
            </a:r>
          </a:p>
          <a:p>
            <a:r>
              <a:rPr lang="en-US" altLang="zh-CN" sz="2000" b="1" dirty="0">
                <a:latin typeface="Consolas" panose="020B0609020204030204" pitchFamily="49" charset="0"/>
              </a:rPr>
              <a:t>#include &lt;functional&gt;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solidFill>
                  <a:srgbClr val="1D9A78"/>
                </a:solidFill>
                <a:latin typeface="Consolas" panose="020B0609020204030204" pitchFamily="49" charset="0"/>
              </a:rPr>
              <a:t>//</a:t>
            </a:r>
            <a:r>
              <a:rPr lang="zh-CN" altLang="en-US" sz="2000" b="1" dirty="0">
                <a:solidFill>
                  <a:srgbClr val="1D9A78"/>
                </a:solidFill>
                <a:latin typeface="Consolas" panose="020B0609020204030204" pitchFamily="49" charset="0"/>
              </a:rPr>
              <a:t>省略</a:t>
            </a:r>
            <a:r>
              <a:rPr lang="en-US" altLang="zh-CN" sz="2000" b="1" dirty="0" err="1">
                <a:solidFill>
                  <a:srgbClr val="1D9A78"/>
                </a:solidFill>
                <a:latin typeface="Consolas" panose="020B0609020204030204" pitchFamily="49" charset="0"/>
              </a:rPr>
              <a:t>readFromScreen</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ReadFromFile</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calculateAdd</a:t>
            </a:r>
            <a:r>
              <a:rPr lang="en-US" altLang="zh-CN" sz="2000" b="1" dirty="0">
                <a:solidFill>
                  <a:srgbClr val="1D9A78"/>
                </a:solidFill>
                <a:latin typeface="Consolas" panose="020B0609020204030204" pitchFamily="49" charset="0"/>
              </a:rPr>
              <a:t>\</a:t>
            </a:r>
            <a:r>
              <a:rPr lang="en-US" altLang="zh-CN" sz="2000" b="1" dirty="0" err="1">
                <a:solidFill>
                  <a:srgbClr val="1D9A78"/>
                </a:solidFill>
                <a:latin typeface="Consolas" panose="020B0609020204030204" pitchFamily="49" charset="0"/>
              </a:rPr>
              <a:t>writeToScreen</a:t>
            </a:r>
            <a:endParaRPr lang="en-US" altLang="zh-CN" sz="2000" b="1" dirty="0">
              <a:latin typeface="Consolas" panose="020B0609020204030204" pitchFamily="49" charset="0"/>
            </a:endParaRPr>
          </a:p>
          <a:p>
            <a:r>
              <a:rPr lang="en-US" altLang="zh-CN" sz="2000" b="1" dirty="0">
                <a:latin typeface="Consolas" panose="020B0609020204030204" pitchFamily="49" charset="0"/>
              </a:rPr>
              <a:t>void process(</a:t>
            </a:r>
          </a:p>
          <a:p>
            <a:r>
              <a:rPr lang="en-US" altLang="zh-CN" sz="2000" b="1" dirty="0">
                <a:latin typeface="Consolas" panose="020B0609020204030204" pitchFamily="49" charset="0"/>
              </a:rPr>
              <a:t>		</a:t>
            </a:r>
            <a:r>
              <a:rPr lang="en-US" altLang="zh-CN" sz="2000" b="1" dirty="0">
                <a:solidFill>
                  <a:srgbClr val="C00000"/>
                </a:solidFill>
                <a:latin typeface="Consolas" panose="020B0609020204030204" pitchFamily="49" charset="0"/>
              </a:rPr>
              <a:t>function&lt;string()&gt; read, </a:t>
            </a:r>
          </a:p>
          <a:p>
            <a:r>
              <a:rPr lang="en-US" altLang="zh-CN" sz="2000" b="1" dirty="0">
                <a:solidFill>
                  <a:srgbClr val="C00000"/>
                </a:solidFill>
                <a:latin typeface="Consolas" panose="020B0609020204030204" pitchFamily="49" charset="0"/>
              </a:rPr>
              <a:t>		function&lt;string(string)&gt; calculate,</a:t>
            </a:r>
          </a:p>
          <a:p>
            <a:r>
              <a:rPr lang="en-US" altLang="zh-CN" sz="2000" b="1" dirty="0">
                <a:solidFill>
                  <a:srgbClr val="C00000"/>
                </a:solidFill>
                <a:latin typeface="Consolas" panose="020B0609020204030204" pitchFamily="49" charset="0"/>
              </a:rPr>
              <a:t>		function&lt;void(string)&gt;	write</a:t>
            </a:r>
            <a:r>
              <a:rPr lang="en-US" altLang="zh-CN" sz="2000" b="1" dirty="0">
                <a:latin typeface="Consolas" panose="020B0609020204030204" pitchFamily="49" charset="0"/>
              </a:rPr>
              <a:t>)</a:t>
            </a:r>
          </a:p>
          <a:p>
            <a:r>
              <a:rPr lang="en-US" altLang="zh-CN" sz="2000" b="1" dirty="0">
                <a:latin typeface="Consolas" panose="020B0609020204030204" pitchFamily="49" charset="0"/>
              </a:rPr>
              <a:t>{</a:t>
            </a:r>
          </a:p>
          <a:p>
            <a:r>
              <a:rPr lang="en-US" altLang="zh-CN" sz="2000" b="1" dirty="0">
                <a:latin typeface="Consolas" panose="020B0609020204030204" pitchFamily="49" charset="0"/>
              </a:rPr>
              <a:t>	string data = read();</a:t>
            </a:r>
          </a:p>
          <a:p>
            <a:r>
              <a:rPr lang="en-US" altLang="zh-CN" sz="2000" b="1" dirty="0">
                <a:latin typeface="Consolas" panose="020B0609020204030204" pitchFamily="49" charset="0"/>
              </a:rPr>
              <a:t>	string output = calculate(data);</a:t>
            </a:r>
          </a:p>
          <a:p>
            <a:r>
              <a:rPr lang="en-US" altLang="zh-CN" sz="2000" b="1" dirty="0">
                <a:latin typeface="Consolas" panose="020B0609020204030204" pitchFamily="49" charset="0"/>
              </a:rPr>
              <a:t>	write(output);</a:t>
            </a:r>
          </a:p>
          <a:p>
            <a:r>
              <a:rPr lang="en-US" altLang="zh-CN" sz="2000" b="1" dirty="0">
                <a:latin typeface="Consolas" panose="020B0609020204030204" pitchFamily="49" charset="0"/>
              </a:rPr>
              <a:t>}</a:t>
            </a:r>
          </a:p>
          <a:p>
            <a:r>
              <a:rPr lang="en-US" altLang="zh-CN" sz="2000" b="1" dirty="0">
                <a:latin typeface="Consolas" panose="020B0609020204030204" pitchFamily="49" charset="0"/>
              </a:rPr>
              <a:t>int main()</a:t>
            </a:r>
          </a:p>
          <a:p>
            <a:r>
              <a:rPr lang="en-US" altLang="zh-CN" sz="2000" b="1" dirty="0">
                <a:latin typeface="Consolas" panose="020B0609020204030204" pitchFamily="49" charset="0"/>
              </a:rPr>
              <a:t>{</a:t>
            </a:r>
          </a:p>
          <a:p>
            <a:r>
              <a:rPr lang="en-US" altLang="zh-CN" sz="2000" b="1" dirty="0">
                <a:latin typeface="Consolas" panose="020B0609020204030204" pitchFamily="49" charset="0"/>
              </a:rPr>
              <a:t>	process(</a:t>
            </a:r>
            <a:r>
              <a:rPr lang="en-US" altLang="zh-CN" sz="2000" b="1" dirty="0" err="1">
                <a:latin typeface="Consolas" panose="020B0609020204030204" pitchFamily="49" charset="0"/>
              </a:rPr>
              <a:t>readFromScreen</a:t>
            </a:r>
            <a:r>
              <a:rPr lang="en-US" altLang="zh-CN" sz="2000" b="1" dirty="0">
                <a:latin typeface="Consolas" panose="020B0609020204030204" pitchFamily="49" charset="0"/>
              </a:rPr>
              <a:t>, </a:t>
            </a:r>
            <a:r>
              <a:rPr lang="en-US" altLang="zh-CN" sz="2000" b="1" dirty="0" err="1">
                <a:latin typeface="Consolas" panose="020B0609020204030204" pitchFamily="49" charset="0"/>
              </a:rPr>
              <a:t>calculateAdd</a:t>
            </a:r>
            <a:r>
              <a:rPr lang="en-US" altLang="zh-CN" sz="2000" b="1" dirty="0">
                <a:latin typeface="Consolas" panose="020B0609020204030204" pitchFamily="49" charset="0"/>
              </a:rPr>
              <a:t>, </a:t>
            </a:r>
            <a:r>
              <a:rPr lang="en-US" altLang="zh-CN" sz="2000" b="1" dirty="0" err="1">
                <a:latin typeface="Consolas" panose="020B0609020204030204" pitchFamily="49" charset="0"/>
              </a:rPr>
              <a:t>writeToScreen</a:t>
            </a:r>
            <a:r>
              <a:rPr lang="en-US" altLang="zh-CN" sz="2000" b="1" dirty="0">
                <a:latin typeface="Consolas" panose="020B0609020204030204" pitchFamily="49" charset="0"/>
              </a:rPr>
              <a:t>);</a:t>
            </a:r>
          </a:p>
          <a:p>
            <a:r>
              <a:rPr lang="en-US" altLang="zh-CN" sz="2000" b="1" dirty="0">
                <a:latin typeface="Consolas" panose="020B0609020204030204" pitchFamily="49" charset="0"/>
              </a:rPr>
              <a:t>	process(</a:t>
            </a:r>
            <a:r>
              <a:rPr lang="en-US" altLang="zh-CN" sz="2000" b="1" dirty="0" err="1">
                <a:latin typeface="Consolas" panose="020B0609020204030204" pitchFamily="49" charset="0"/>
              </a:rPr>
              <a:t>ReadFromFile</a:t>
            </a:r>
            <a:r>
              <a:rPr lang="en-US" altLang="zh-CN" sz="2000" b="1" dirty="0">
                <a:latin typeface="Consolas" panose="020B0609020204030204" pitchFamily="49" charset="0"/>
              </a:rPr>
              <a:t>(), </a:t>
            </a:r>
            <a:r>
              <a:rPr lang="en-US" altLang="zh-CN" sz="2000" b="1" dirty="0" err="1">
                <a:latin typeface="Consolas" panose="020B0609020204030204" pitchFamily="49" charset="0"/>
              </a:rPr>
              <a:t>calculateAdd</a:t>
            </a:r>
            <a:r>
              <a:rPr lang="en-US" altLang="zh-CN" sz="2000" b="1" dirty="0">
                <a:latin typeface="Consolas" panose="020B0609020204030204" pitchFamily="49" charset="0"/>
              </a:rPr>
              <a:t>, </a:t>
            </a:r>
            <a:r>
              <a:rPr lang="en-US" altLang="zh-CN" sz="2000" b="1" dirty="0" err="1">
                <a:latin typeface="Consolas" panose="020B0609020204030204" pitchFamily="49" charset="0"/>
              </a:rPr>
              <a:t>writeToScreen</a:t>
            </a:r>
            <a:r>
              <a:rPr lang="en-US" altLang="zh-CN" sz="2000" b="1" dirty="0">
                <a:latin typeface="Consolas" panose="020B0609020204030204" pitchFamily="49" charset="0"/>
              </a:rPr>
              <a:t>);</a:t>
            </a:r>
          </a:p>
          <a:p>
            <a:r>
              <a:rPr lang="en-US" altLang="zh-CN" sz="2000" b="1" dirty="0">
                <a:latin typeface="Consolas" panose="020B0609020204030204" pitchFamily="49" charset="0"/>
              </a:rPr>
              <a:t>	return 0;</a:t>
            </a:r>
          </a:p>
          <a:p>
            <a:r>
              <a:rPr lang="en-US" altLang="zh-CN" sz="2000" b="1" dirty="0">
                <a:latin typeface="Consolas" panose="020B0609020204030204" pitchFamily="49" charset="0"/>
              </a:rPr>
              <a:t>}</a:t>
            </a:r>
          </a:p>
        </p:txBody>
      </p:sp>
    </p:spTree>
    <p:extLst>
      <p:ext uri="{BB962C8B-B14F-4D97-AF65-F5344CB8AC3E}">
        <p14:creationId xmlns:p14="http://schemas.microsoft.com/office/powerpoint/2010/main" val="11308098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592AFE-A8C0-4070-A8C4-F7D7695A3638}"/>
              </a:ext>
            </a:extLst>
          </p:cNvPr>
          <p:cNvSpPr>
            <a:spLocks noGrp="1"/>
          </p:cNvSpPr>
          <p:nvPr>
            <p:ph type="title"/>
          </p:nvPr>
        </p:nvSpPr>
        <p:spPr/>
        <p:txBody>
          <a:bodyPr/>
          <a:lstStyle/>
          <a:p>
            <a:r>
              <a:rPr lang="zh-CN" altLang="en-US" dirty="0"/>
              <a:t>对比几种实现方式</a:t>
            </a:r>
          </a:p>
        </p:txBody>
      </p:sp>
      <p:sp>
        <p:nvSpPr>
          <p:cNvPr id="3" name="内容占位符 2">
            <a:extLst>
              <a:ext uri="{FF2B5EF4-FFF2-40B4-BE49-F238E27FC236}">
                <a16:creationId xmlns:a16="http://schemas.microsoft.com/office/drawing/2014/main" id="{AFA323DE-B1FB-4287-B558-19E13B526B54}"/>
              </a:ext>
            </a:extLst>
          </p:cNvPr>
          <p:cNvSpPr>
            <a:spLocks noGrp="1"/>
          </p:cNvSpPr>
          <p:nvPr>
            <p:ph idx="1"/>
          </p:nvPr>
        </p:nvSpPr>
        <p:spPr>
          <a:xfrm>
            <a:off x="359024" y="1124744"/>
            <a:ext cx="8784976" cy="5109070"/>
          </a:xfrm>
        </p:spPr>
        <p:txBody>
          <a:bodyPr/>
          <a:lstStyle/>
          <a:p>
            <a:r>
              <a:rPr lang="zh-CN" altLang="en-US" sz="3200" dirty="0"/>
              <a:t>使用虚函数实现</a:t>
            </a:r>
            <a:endParaRPr lang="en-US" altLang="zh-CN" sz="3200" dirty="0"/>
          </a:p>
          <a:p>
            <a:pPr lvl="1"/>
            <a:r>
              <a:rPr lang="zh-CN" altLang="en-US" sz="2800" dirty="0"/>
              <a:t>需要构造基类和子类</a:t>
            </a:r>
            <a:endParaRPr lang="en-US" altLang="zh-CN" sz="2800" dirty="0"/>
          </a:p>
          <a:p>
            <a:pPr lvl="1"/>
            <a:r>
              <a:rPr lang="zh-CN" altLang="en-US" sz="2800" dirty="0"/>
              <a:t>运行时确定调用函数的地址</a:t>
            </a:r>
            <a:endParaRPr lang="en-US" altLang="zh-CN" sz="3200" dirty="0"/>
          </a:p>
          <a:p>
            <a:r>
              <a:rPr lang="zh-CN" altLang="en-US" sz="3200" dirty="0"/>
              <a:t>使用模板实现</a:t>
            </a:r>
            <a:endParaRPr lang="en-US" altLang="zh-CN" sz="3200" dirty="0"/>
          </a:p>
          <a:p>
            <a:pPr lvl="1"/>
            <a:r>
              <a:rPr lang="zh-CN" altLang="en-US" sz="2800" dirty="0"/>
              <a:t>可以支持函数指针和函数对象</a:t>
            </a:r>
            <a:br>
              <a:rPr lang="en-US" altLang="zh-CN" sz="2800" dirty="0"/>
            </a:br>
            <a:r>
              <a:rPr lang="en-US" altLang="zh-CN" sz="2800" dirty="0"/>
              <a:t>			</a:t>
            </a:r>
            <a:r>
              <a:rPr lang="zh-CN" altLang="en-US" sz="2800" dirty="0"/>
              <a:t>（通过模板，自动重载实现）</a:t>
            </a:r>
            <a:endParaRPr lang="en-US" altLang="zh-CN" sz="2800" dirty="0"/>
          </a:p>
          <a:p>
            <a:pPr lvl="1"/>
            <a:r>
              <a:rPr lang="zh-CN" altLang="en-US" sz="2800" dirty="0"/>
              <a:t>编译期确定调用函数的地址</a:t>
            </a:r>
            <a:br>
              <a:rPr lang="en-US" altLang="zh-CN" sz="2800" dirty="0"/>
            </a:br>
            <a:r>
              <a:rPr lang="zh-CN" altLang="en-US" sz="2800" dirty="0"/>
              <a:t>（当</a:t>
            </a:r>
            <a:r>
              <a:rPr lang="en-US" altLang="zh-CN" sz="2800" dirty="0"/>
              <a:t>T</a:t>
            </a:r>
            <a:r>
              <a:rPr lang="zh-CN" altLang="en-US" sz="2800" dirty="0"/>
              <a:t>不为</a:t>
            </a:r>
            <a:r>
              <a:rPr lang="en-US" altLang="zh-CN" sz="2800" dirty="0"/>
              <a:t>std::function</a:t>
            </a:r>
            <a:r>
              <a:rPr lang="zh-CN" altLang="en-US" sz="2800" dirty="0"/>
              <a:t>时）</a:t>
            </a:r>
            <a:endParaRPr lang="en-US" altLang="zh-CN" sz="2800" dirty="0"/>
          </a:p>
          <a:p>
            <a:r>
              <a:rPr lang="zh-CN" altLang="en-US" sz="3200" dirty="0"/>
              <a:t>使用</a:t>
            </a:r>
            <a:r>
              <a:rPr lang="en-US" altLang="zh-CN" sz="3200" dirty="0"/>
              <a:t>std::function</a:t>
            </a:r>
            <a:r>
              <a:rPr lang="zh-CN" altLang="en-US" sz="3200" dirty="0"/>
              <a:t>实现</a:t>
            </a:r>
            <a:endParaRPr lang="en-US" altLang="zh-CN" sz="3200" dirty="0"/>
          </a:p>
          <a:p>
            <a:pPr lvl="1"/>
            <a:r>
              <a:rPr lang="zh-CN" altLang="en-US" sz="2800" dirty="0"/>
              <a:t>也可以支持函数指针和函数对象</a:t>
            </a:r>
            <a:br>
              <a:rPr lang="en-US" altLang="zh-CN" sz="2800" dirty="0"/>
            </a:br>
            <a:r>
              <a:rPr lang="en-US" altLang="zh-CN" sz="2800" dirty="0"/>
              <a:t>			</a:t>
            </a:r>
            <a:r>
              <a:rPr lang="zh-CN" altLang="en-US" sz="2800" dirty="0"/>
              <a:t>（通过</a:t>
            </a:r>
            <a:r>
              <a:rPr lang="en-US" altLang="zh-CN" sz="2800" dirty="0"/>
              <a:t>function</a:t>
            </a:r>
            <a:r>
              <a:rPr lang="zh-CN" altLang="en-US" sz="2800" dirty="0"/>
              <a:t>的多态）</a:t>
            </a:r>
            <a:endParaRPr lang="en-US" altLang="zh-CN" sz="2800" dirty="0"/>
          </a:p>
          <a:p>
            <a:pPr lvl="1"/>
            <a:r>
              <a:rPr lang="zh-CN" altLang="en-US" sz="2800" dirty="0"/>
              <a:t>运行时确定调用函数的地址</a:t>
            </a:r>
          </a:p>
        </p:txBody>
      </p:sp>
      <p:sp>
        <p:nvSpPr>
          <p:cNvPr id="4" name="灯片编号占位符 3">
            <a:extLst>
              <a:ext uri="{FF2B5EF4-FFF2-40B4-BE49-F238E27FC236}">
                <a16:creationId xmlns:a16="http://schemas.microsoft.com/office/drawing/2014/main" id="{D2FB8691-C78A-4A3A-BC2C-7A4DD9879240}"/>
              </a:ext>
            </a:extLst>
          </p:cNvPr>
          <p:cNvSpPr>
            <a:spLocks noGrp="1"/>
          </p:cNvSpPr>
          <p:nvPr>
            <p:ph type="sldNum" sz="quarter" idx="12"/>
          </p:nvPr>
        </p:nvSpPr>
        <p:spPr/>
        <p:txBody>
          <a:bodyPr/>
          <a:lstStyle/>
          <a:p>
            <a:pPr>
              <a:defRPr/>
            </a:pPr>
            <a:fld id="{BFD7BE51-03DD-4CCA-8227-D775462981B4}" type="slidenum">
              <a:rPr lang="en-US" altLang="zh-CN" smtClean="0"/>
              <a:pPr>
                <a:defRPr/>
              </a:pPr>
              <a:t>55</a:t>
            </a:fld>
            <a:endParaRPr lang="en-US" altLang="zh-CN"/>
          </a:p>
        </p:txBody>
      </p:sp>
    </p:spTree>
    <p:extLst>
      <p:ext uri="{BB962C8B-B14F-4D97-AF65-F5344CB8AC3E}">
        <p14:creationId xmlns:p14="http://schemas.microsoft.com/office/powerpoint/2010/main" val="4217398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81F01-BCFA-4A8C-834D-432C77569101}"/>
              </a:ext>
            </a:extLst>
          </p:cNvPr>
          <p:cNvSpPr>
            <a:spLocks noGrp="1"/>
          </p:cNvSpPr>
          <p:nvPr>
            <p:ph type="title"/>
          </p:nvPr>
        </p:nvSpPr>
        <p:spPr/>
        <p:txBody>
          <a:bodyPr/>
          <a:lstStyle/>
          <a:p>
            <a:r>
              <a:rPr lang="en-US" altLang="zh-CN" dirty="0"/>
              <a:t>std::function</a:t>
            </a:r>
            <a:r>
              <a:rPr lang="zh-CN" altLang="en-US" dirty="0"/>
              <a:t>的意义</a:t>
            </a:r>
          </a:p>
        </p:txBody>
      </p:sp>
      <p:sp>
        <p:nvSpPr>
          <p:cNvPr id="3" name="内容占位符 2">
            <a:extLst>
              <a:ext uri="{FF2B5EF4-FFF2-40B4-BE49-F238E27FC236}">
                <a16:creationId xmlns:a16="http://schemas.microsoft.com/office/drawing/2014/main" id="{4003E0F8-7A2A-4927-A7FF-8B55F536EA0E}"/>
              </a:ext>
            </a:extLst>
          </p:cNvPr>
          <p:cNvSpPr>
            <a:spLocks noGrp="1"/>
          </p:cNvSpPr>
          <p:nvPr>
            <p:ph idx="1"/>
          </p:nvPr>
        </p:nvSpPr>
        <p:spPr>
          <a:xfrm>
            <a:off x="628650" y="1628800"/>
            <a:ext cx="8191822" cy="4749029"/>
          </a:xfrm>
        </p:spPr>
        <p:txBody>
          <a:bodyPr/>
          <a:lstStyle/>
          <a:p>
            <a:r>
              <a:rPr lang="zh-CN" altLang="en-US" dirty="0"/>
              <a:t>函数对象化</a:t>
            </a:r>
            <a:endParaRPr lang="en-US" altLang="zh-CN" dirty="0"/>
          </a:p>
          <a:p>
            <a:pPr lvl="1"/>
            <a:r>
              <a:rPr lang="zh-CN" altLang="en-US" dirty="0"/>
              <a:t>万物皆对象，符合</a:t>
            </a:r>
            <a:r>
              <a:rPr lang="en-US" altLang="zh-CN" dirty="0"/>
              <a:t>OOP</a:t>
            </a:r>
            <a:r>
              <a:rPr lang="zh-CN" altLang="en-US" dirty="0"/>
              <a:t>的设计理念</a:t>
            </a:r>
            <a:endParaRPr lang="en-US" altLang="zh-CN" dirty="0"/>
          </a:p>
          <a:p>
            <a:pPr lvl="1"/>
            <a:r>
              <a:rPr lang="zh-CN" altLang="en-US" dirty="0"/>
              <a:t>函数可以作为</a:t>
            </a:r>
            <a:r>
              <a:rPr lang="zh-CN" altLang="en-US" dirty="0">
                <a:solidFill>
                  <a:srgbClr val="FF0000"/>
                </a:solidFill>
              </a:rPr>
              <a:t>参数</a:t>
            </a:r>
            <a:r>
              <a:rPr lang="zh-CN" altLang="en-US" dirty="0"/>
              <a:t>传递</a:t>
            </a:r>
            <a:endParaRPr lang="en-US" altLang="zh-CN" dirty="0"/>
          </a:p>
          <a:p>
            <a:pPr lvl="1"/>
            <a:r>
              <a:rPr lang="zh-CN" altLang="en-US" dirty="0"/>
              <a:t>函数可以作为</a:t>
            </a:r>
            <a:r>
              <a:rPr lang="zh-CN" altLang="en-US" dirty="0">
                <a:solidFill>
                  <a:srgbClr val="FF0000"/>
                </a:solidFill>
              </a:rPr>
              <a:t>变量</a:t>
            </a:r>
            <a:r>
              <a:rPr lang="zh-CN" altLang="en-US" dirty="0"/>
              <a:t>储存</a:t>
            </a:r>
            <a:endParaRPr lang="en-US" altLang="zh-CN" dirty="0"/>
          </a:p>
          <a:p>
            <a:endParaRPr lang="en-US" altLang="zh-CN" sz="3200" dirty="0"/>
          </a:p>
          <a:p>
            <a:r>
              <a:rPr lang="zh-CN" altLang="en-US" dirty="0"/>
              <a:t>解决</a:t>
            </a:r>
            <a:r>
              <a:rPr lang="en-US" altLang="zh-CN" dirty="0"/>
              <a:t>Duck Typing</a:t>
            </a:r>
            <a:r>
              <a:rPr lang="zh-CN" altLang="en-US" dirty="0"/>
              <a:t>的繁琐问题</a:t>
            </a:r>
            <a:endParaRPr lang="en-US" altLang="zh-CN" dirty="0"/>
          </a:p>
          <a:p>
            <a:pPr lvl="1"/>
            <a:r>
              <a:rPr lang="zh-CN" altLang="en-US" dirty="0"/>
              <a:t>不再需要模板来调用不同的函数</a:t>
            </a:r>
            <a:endParaRPr lang="en-US" altLang="zh-CN" dirty="0"/>
          </a:p>
          <a:p>
            <a:pPr lvl="1"/>
            <a:r>
              <a:rPr lang="zh-CN" altLang="en-US" dirty="0"/>
              <a:t>简化理解，所有的函数都可以看做</a:t>
            </a:r>
            <a:r>
              <a:rPr lang="en-US" altLang="zh-CN" dirty="0"/>
              <a:t>std::function</a:t>
            </a:r>
            <a:endParaRPr lang="zh-CN" altLang="en-US" dirty="0"/>
          </a:p>
        </p:txBody>
      </p:sp>
      <p:sp>
        <p:nvSpPr>
          <p:cNvPr id="4" name="灯片编号占位符 3">
            <a:extLst>
              <a:ext uri="{FF2B5EF4-FFF2-40B4-BE49-F238E27FC236}">
                <a16:creationId xmlns:a16="http://schemas.microsoft.com/office/drawing/2014/main" id="{10699EC0-2E77-4BFA-816F-1C21BE97B553}"/>
              </a:ext>
            </a:extLst>
          </p:cNvPr>
          <p:cNvSpPr>
            <a:spLocks noGrp="1"/>
          </p:cNvSpPr>
          <p:nvPr>
            <p:ph type="sldNum" sz="quarter" idx="12"/>
          </p:nvPr>
        </p:nvSpPr>
        <p:spPr/>
        <p:txBody>
          <a:bodyPr/>
          <a:lstStyle/>
          <a:p>
            <a:pPr>
              <a:defRPr/>
            </a:pPr>
            <a:fld id="{BFD7BE51-03DD-4CCA-8227-D775462981B4}" type="slidenum">
              <a:rPr lang="en-US" altLang="zh-CN" smtClean="0"/>
              <a:pPr>
                <a:defRPr/>
              </a:pPr>
              <a:t>56</a:t>
            </a:fld>
            <a:endParaRPr lang="en-US" altLang="zh-CN"/>
          </a:p>
        </p:txBody>
      </p:sp>
    </p:spTree>
    <p:extLst>
      <p:ext uri="{BB962C8B-B14F-4D97-AF65-F5344CB8AC3E}">
        <p14:creationId xmlns:p14="http://schemas.microsoft.com/office/powerpoint/2010/main" val="17718280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A91BD1-0526-4F6B-9A92-631F4CB3805D}"/>
              </a:ext>
            </a:extLst>
          </p:cNvPr>
          <p:cNvSpPr>
            <a:spLocks noGrp="1"/>
          </p:cNvSpPr>
          <p:nvPr>
            <p:ph type="title"/>
          </p:nvPr>
        </p:nvSpPr>
        <p:spPr/>
        <p:txBody>
          <a:bodyPr/>
          <a:lstStyle/>
          <a:p>
            <a:r>
              <a:rPr lang="en-US" altLang="zh-CN" dirty="0"/>
              <a:t>STL</a:t>
            </a:r>
            <a:r>
              <a:rPr lang="zh-CN" altLang="en-US" dirty="0"/>
              <a:t>与函数对象</a:t>
            </a:r>
          </a:p>
        </p:txBody>
      </p:sp>
      <p:sp>
        <p:nvSpPr>
          <p:cNvPr id="3" name="内容占位符 2">
            <a:extLst>
              <a:ext uri="{FF2B5EF4-FFF2-40B4-BE49-F238E27FC236}">
                <a16:creationId xmlns:a16="http://schemas.microsoft.com/office/drawing/2014/main" id="{48BA1000-B7E8-47C6-BED5-686FDF09DDAA}"/>
              </a:ext>
            </a:extLst>
          </p:cNvPr>
          <p:cNvSpPr>
            <a:spLocks noGrp="1"/>
          </p:cNvSpPr>
          <p:nvPr>
            <p:ph idx="1"/>
          </p:nvPr>
        </p:nvSpPr>
        <p:spPr>
          <a:xfrm>
            <a:off x="548096" y="1235902"/>
            <a:ext cx="8416391" cy="5415805"/>
          </a:xfrm>
        </p:spPr>
        <p:txBody>
          <a:bodyPr/>
          <a:lstStyle/>
          <a:p>
            <a:r>
              <a:rPr lang="en-US" altLang="zh-CN" dirty="0"/>
              <a:t>STL</a:t>
            </a:r>
            <a:r>
              <a:rPr lang="zh-CN" altLang="en-US" dirty="0"/>
              <a:t>有大量函数用到了函数对象</a:t>
            </a:r>
            <a:r>
              <a:rPr lang="en-US" altLang="zh-CN" sz="2000" dirty="0"/>
              <a:t>(#include &lt;algorithm&gt;)</a:t>
            </a:r>
          </a:p>
          <a:p>
            <a:pPr lvl="1"/>
            <a:r>
              <a:rPr lang="en-US" altLang="zh-CN" dirty="0" err="1"/>
              <a:t>for_each</a:t>
            </a:r>
            <a:r>
              <a:rPr lang="en-US" altLang="zh-CN" dirty="0"/>
              <a:t>	</a:t>
            </a:r>
            <a:r>
              <a:rPr lang="zh-CN" altLang="en-US" dirty="0"/>
              <a:t>对序列进行指定操作</a:t>
            </a:r>
            <a:endParaRPr lang="en-US" altLang="zh-CN" dirty="0"/>
          </a:p>
          <a:p>
            <a:pPr lvl="1"/>
            <a:r>
              <a:rPr lang="en-US" altLang="zh-CN" dirty="0" err="1"/>
              <a:t>find_if</a:t>
            </a:r>
            <a:r>
              <a:rPr lang="en-US" altLang="zh-CN" dirty="0"/>
              <a:t>	</a:t>
            </a:r>
            <a:r>
              <a:rPr lang="zh-CN" altLang="en-US" dirty="0"/>
              <a:t>找到满足条件的对象</a:t>
            </a:r>
            <a:endParaRPr lang="en-US" altLang="zh-CN" dirty="0"/>
          </a:p>
          <a:p>
            <a:pPr lvl="1"/>
            <a:r>
              <a:rPr lang="en-US" altLang="zh-CN" dirty="0" err="1"/>
              <a:t>count_if</a:t>
            </a:r>
            <a:r>
              <a:rPr lang="en-US" altLang="zh-CN" dirty="0"/>
              <a:t>	</a:t>
            </a:r>
            <a:r>
              <a:rPr lang="zh-CN" altLang="en-US" dirty="0"/>
              <a:t>对满足条件的对象计数</a:t>
            </a:r>
            <a:endParaRPr lang="en-US" altLang="zh-CN" dirty="0"/>
          </a:p>
          <a:p>
            <a:pPr lvl="1"/>
            <a:r>
              <a:rPr lang="en-US" altLang="zh-CN" dirty="0" err="1"/>
              <a:t>binary_search</a:t>
            </a:r>
            <a:r>
              <a:rPr lang="en-US" altLang="zh-CN" dirty="0"/>
              <a:t>	</a:t>
            </a:r>
            <a:r>
              <a:rPr lang="zh-CN" altLang="en-US" dirty="0"/>
              <a:t>二分查找满足条件的对象</a:t>
            </a:r>
            <a:endParaRPr lang="en-US" altLang="zh-CN" dirty="0"/>
          </a:p>
          <a:p>
            <a:pPr lvl="1"/>
            <a:r>
              <a:rPr lang="en-US" altLang="zh-CN" dirty="0"/>
              <a:t>……</a:t>
            </a:r>
          </a:p>
          <a:p>
            <a:r>
              <a:rPr lang="zh-CN" altLang="en-US" dirty="0"/>
              <a:t>并且也有许多预置的函数对象</a:t>
            </a:r>
            <a:r>
              <a:rPr lang="en-US" altLang="zh-CN" sz="2000" dirty="0"/>
              <a:t>(#include</a:t>
            </a:r>
            <a:r>
              <a:rPr lang="zh-CN" altLang="en-US" sz="2000" dirty="0"/>
              <a:t> </a:t>
            </a:r>
            <a:r>
              <a:rPr lang="en-US" altLang="zh-CN" sz="2000" dirty="0"/>
              <a:t>&lt;functional&gt;)</a:t>
            </a:r>
          </a:p>
          <a:p>
            <a:pPr lvl="1"/>
            <a:r>
              <a:rPr lang="en-US" altLang="zh-CN" dirty="0"/>
              <a:t>less		</a:t>
            </a:r>
            <a:r>
              <a:rPr lang="zh-CN" altLang="en-US" dirty="0"/>
              <a:t>比较</a:t>
            </a:r>
            <a:r>
              <a:rPr lang="en-US" altLang="zh-CN" dirty="0"/>
              <a:t>a&lt;b</a:t>
            </a:r>
          </a:p>
          <a:p>
            <a:pPr lvl="1"/>
            <a:r>
              <a:rPr lang="en-US" altLang="zh-CN" dirty="0" err="1"/>
              <a:t>equal_to</a:t>
            </a:r>
            <a:r>
              <a:rPr lang="en-US" altLang="zh-CN" dirty="0"/>
              <a:t>	</a:t>
            </a:r>
            <a:r>
              <a:rPr lang="zh-CN" altLang="en-US" dirty="0"/>
              <a:t>比较</a:t>
            </a:r>
            <a:r>
              <a:rPr lang="en-US" altLang="zh-CN" dirty="0"/>
              <a:t>a==b</a:t>
            </a:r>
          </a:p>
          <a:p>
            <a:pPr lvl="1"/>
            <a:r>
              <a:rPr lang="en-US" altLang="zh-CN" dirty="0"/>
              <a:t>greater	</a:t>
            </a:r>
            <a:r>
              <a:rPr lang="zh-CN" altLang="en-US" dirty="0"/>
              <a:t>比较</a:t>
            </a:r>
            <a:r>
              <a:rPr lang="en-US" altLang="zh-CN" dirty="0"/>
              <a:t>a&gt;b</a:t>
            </a:r>
          </a:p>
          <a:p>
            <a:pPr lvl="1"/>
            <a:r>
              <a:rPr lang="en-US" altLang="zh-CN" dirty="0"/>
              <a:t>plus		</a:t>
            </a:r>
            <a:r>
              <a:rPr lang="zh-CN" altLang="en-US" dirty="0"/>
              <a:t>返回</a:t>
            </a:r>
            <a:r>
              <a:rPr lang="en-US" altLang="zh-CN" dirty="0" err="1"/>
              <a:t>a+b</a:t>
            </a:r>
            <a:endParaRPr lang="en-US" altLang="zh-CN" dirty="0"/>
          </a:p>
          <a:p>
            <a:pPr lvl="1"/>
            <a:r>
              <a:rPr lang="en-US" altLang="zh-CN" dirty="0"/>
              <a:t>……</a:t>
            </a:r>
          </a:p>
          <a:p>
            <a:r>
              <a:rPr lang="zh-CN" altLang="en-US" dirty="0"/>
              <a:t>熟练使用函数对象有助于实现复杂的功能</a:t>
            </a:r>
          </a:p>
        </p:txBody>
      </p:sp>
      <p:sp>
        <p:nvSpPr>
          <p:cNvPr id="4" name="灯片编号占位符 3">
            <a:extLst>
              <a:ext uri="{FF2B5EF4-FFF2-40B4-BE49-F238E27FC236}">
                <a16:creationId xmlns:a16="http://schemas.microsoft.com/office/drawing/2014/main" id="{1252F1C0-EE0B-43D2-AAEE-BB7F703AF5A1}"/>
              </a:ext>
            </a:extLst>
          </p:cNvPr>
          <p:cNvSpPr>
            <a:spLocks noGrp="1"/>
          </p:cNvSpPr>
          <p:nvPr>
            <p:ph type="sldNum" sz="quarter" idx="12"/>
          </p:nvPr>
        </p:nvSpPr>
        <p:spPr/>
        <p:txBody>
          <a:bodyPr/>
          <a:lstStyle/>
          <a:p>
            <a:pPr>
              <a:defRPr/>
            </a:pPr>
            <a:fld id="{BFD7BE51-03DD-4CCA-8227-D775462981B4}" type="slidenum">
              <a:rPr lang="en-US" altLang="zh-CN" smtClean="0"/>
              <a:pPr>
                <a:defRPr/>
              </a:pPr>
              <a:t>57</a:t>
            </a:fld>
            <a:endParaRPr lang="en-US" altLang="zh-CN"/>
          </a:p>
        </p:txBody>
      </p:sp>
    </p:spTree>
    <p:extLst>
      <p:ext uri="{BB962C8B-B14F-4D97-AF65-F5344CB8AC3E}">
        <p14:creationId xmlns:p14="http://schemas.microsoft.com/office/powerpoint/2010/main" val="19304808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idx="4294967295"/>
          </p:nvPr>
        </p:nvSpPr>
        <p:spPr>
          <a:xfrm>
            <a:off x="683568" y="2564904"/>
            <a:ext cx="7772400" cy="1470025"/>
          </a:xfrm>
        </p:spPr>
        <p:txBody>
          <a:bodyPr/>
          <a:lstStyle/>
          <a:p>
            <a:pPr algn="ctr" eaLnBrk="1" hangingPunct="1"/>
            <a:r>
              <a:rPr lang="zh-CN" altLang="en-US" sz="5400" dirty="0">
                <a:solidFill>
                  <a:srgbClr val="003366"/>
                </a:solidFill>
                <a:latin typeface="Microsoft YaHei" charset="-122"/>
                <a:ea typeface="Microsoft YaHei" charset="-122"/>
                <a:cs typeface="Microsoft YaHei" charset="-122"/>
              </a:rPr>
              <a:t>智能指针与</a:t>
            </a:r>
            <a:br>
              <a:rPr lang="en-US" altLang="zh-CN" sz="5400" dirty="0">
                <a:solidFill>
                  <a:srgbClr val="003366"/>
                </a:solidFill>
                <a:latin typeface="Microsoft YaHei" charset="-122"/>
                <a:ea typeface="Microsoft YaHei" charset="-122"/>
                <a:cs typeface="Microsoft YaHei" charset="-122"/>
              </a:rPr>
            </a:br>
            <a:r>
              <a:rPr lang="zh-CN" altLang="en-US" sz="5400" dirty="0">
                <a:solidFill>
                  <a:srgbClr val="003366"/>
                </a:solidFill>
                <a:latin typeface="Microsoft YaHei" charset="-122"/>
                <a:ea typeface="Microsoft YaHei" charset="-122"/>
                <a:cs typeface="Microsoft YaHei" charset="-122"/>
              </a:rPr>
              <a:t>引用计数</a:t>
            </a:r>
            <a:endParaRPr lang="en-US" altLang="zh-CN" sz="5400" b="1" dirty="0">
              <a:solidFill>
                <a:srgbClr val="003366"/>
              </a:solidFill>
              <a:latin typeface="Microsoft YaHei" charset="-122"/>
              <a:ea typeface="Microsoft YaHei" charset="-122"/>
              <a:cs typeface="Microsoft YaHei" charset="-122"/>
            </a:endParaRPr>
          </a:p>
        </p:txBody>
      </p:sp>
      <p:sp>
        <p:nvSpPr>
          <p:cNvPr id="24579" name="灯片编号占位符 5"/>
          <p:cNvSpPr>
            <a:spLocks noGrp="1"/>
          </p:cNvSpPr>
          <p:nvPr>
            <p:ph type="sldNum" sz="quarter" idx="12"/>
          </p:nvPr>
        </p:nvSpPr>
        <p:spPr>
          <a:xfrm>
            <a:off x="6991350" y="6524625"/>
            <a:ext cx="2133600" cy="33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80604020202020204" charset="0"/>
                <a:ea typeface="华文中宋" panose="02010600040101010101" pitchFamily="2" charset="-122"/>
              </a:defRPr>
            </a:lvl1pPr>
            <a:lvl2pPr marL="742950" indent="-285750">
              <a:spcBef>
                <a:spcPct val="20000"/>
              </a:spcBef>
              <a:buChar char="–"/>
              <a:defRPr sz="2800">
                <a:solidFill>
                  <a:schemeClr val="tx1"/>
                </a:solidFill>
                <a:latin typeface="Arial" panose="02080604020202020204" charset="0"/>
                <a:ea typeface="华文中宋" panose="02010600040101010101" pitchFamily="2" charset="-122"/>
              </a:defRPr>
            </a:lvl2pPr>
            <a:lvl3pPr marL="1143000" indent="-228600">
              <a:spcBef>
                <a:spcPct val="20000"/>
              </a:spcBef>
              <a:buChar char="•"/>
              <a:defRPr sz="2400">
                <a:solidFill>
                  <a:schemeClr val="tx1"/>
                </a:solidFill>
                <a:latin typeface="Arial" panose="02080604020202020204" charset="0"/>
                <a:ea typeface="华文中宋" panose="02010600040101010101" pitchFamily="2" charset="-122"/>
              </a:defRPr>
            </a:lvl3pPr>
            <a:lvl4pPr marL="1600200" indent="-228600">
              <a:spcBef>
                <a:spcPct val="20000"/>
              </a:spcBef>
              <a:buChar char="–"/>
              <a:defRPr sz="2000">
                <a:solidFill>
                  <a:schemeClr val="tx1"/>
                </a:solidFill>
                <a:latin typeface="Arial" panose="02080604020202020204" charset="0"/>
                <a:ea typeface="华文中宋" panose="02010600040101010101" pitchFamily="2" charset="-122"/>
              </a:defRPr>
            </a:lvl4pPr>
            <a:lvl5pPr marL="2057400" indent="-228600">
              <a:spcBef>
                <a:spcPct val="20000"/>
              </a:spcBef>
              <a:buChar char="»"/>
              <a:defRPr sz="2000">
                <a:solidFill>
                  <a:schemeClr val="tx1"/>
                </a:solidFill>
                <a:latin typeface="Arial" panose="02080604020202020204" charset="0"/>
                <a:ea typeface="华文中宋"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80604020202020204" charset="0"/>
                <a:ea typeface="华文中宋" panose="02010600040101010101" pitchFamily="2" charset="-122"/>
              </a:defRPr>
            </a:lvl9pPr>
          </a:lstStyle>
          <a:p>
            <a:pPr>
              <a:spcBef>
                <a:spcPct val="0"/>
              </a:spcBef>
              <a:buFontTx/>
              <a:buNone/>
            </a:pPr>
            <a:fld id="{B6D092EB-5C25-4AA2-B2CD-B9A2BCD4DB8F}" type="slidenum">
              <a:rPr lang="en-US" altLang="zh-CN" sz="1400">
                <a:solidFill>
                  <a:schemeClr val="hlink"/>
                </a:solidFill>
                <a:ea typeface="SimSun" charset="-122"/>
              </a:rPr>
              <a:t>58</a:t>
            </a:fld>
            <a:endParaRPr lang="en-US" altLang="zh-CN" sz="1400">
              <a:solidFill>
                <a:schemeClr val="hlink"/>
              </a:solidFill>
              <a:ea typeface="SimSun" charset="-122"/>
            </a:endParaRPr>
          </a:p>
        </p:txBody>
      </p:sp>
    </p:spTree>
    <p:extLst>
      <p:ext uri="{BB962C8B-B14F-4D97-AF65-F5344CB8AC3E}">
        <p14:creationId xmlns:p14="http://schemas.microsoft.com/office/powerpoint/2010/main" val="34814695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A91BD1-0526-4F6B-9A92-631F4CB3805D}"/>
              </a:ext>
            </a:extLst>
          </p:cNvPr>
          <p:cNvSpPr>
            <a:spLocks noGrp="1"/>
          </p:cNvSpPr>
          <p:nvPr>
            <p:ph type="title"/>
          </p:nvPr>
        </p:nvSpPr>
        <p:spPr/>
        <p:txBody>
          <a:bodyPr/>
          <a:lstStyle/>
          <a:p>
            <a:r>
              <a:rPr lang="zh-CN" altLang="en-US" dirty="0"/>
              <a:t>指针的销毁</a:t>
            </a:r>
          </a:p>
        </p:txBody>
      </p:sp>
      <p:sp>
        <p:nvSpPr>
          <p:cNvPr id="3" name="内容占位符 2">
            <a:extLst>
              <a:ext uri="{FF2B5EF4-FFF2-40B4-BE49-F238E27FC236}">
                <a16:creationId xmlns:a16="http://schemas.microsoft.com/office/drawing/2014/main" id="{48BA1000-B7E8-47C6-BED5-686FDF09DDAA}"/>
              </a:ext>
            </a:extLst>
          </p:cNvPr>
          <p:cNvSpPr>
            <a:spLocks noGrp="1"/>
          </p:cNvSpPr>
          <p:nvPr>
            <p:ph idx="1"/>
          </p:nvPr>
        </p:nvSpPr>
        <p:spPr>
          <a:xfrm>
            <a:off x="628650" y="1628800"/>
            <a:ext cx="8047806" cy="4896544"/>
          </a:xfrm>
        </p:spPr>
        <p:txBody>
          <a:bodyPr/>
          <a:lstStyle/>
          <a:p>
            <a:r>
              <a:rPr lang="zh-CN" altLang="en-US" dirty="0"/>
              <a:t>一个例子：</a:t>
            </a:r>
            <a:endParaRPr lang="en-US" altLang="zh-CN" dirty="0"/>
          </a:p>
          <a:p>
            <a:pPr lvl="1"/>
            <a:r>
              <a:rPr lang="en-US" altLang="zh-CN" dirty="0"/>
              <a:t>A</a:t>
            </a:r>
            <a:r>
              <a:rPr lang="zh-CN" altLang="en-US" dirty="0"/>
              <a:t>、</a:t>
            </a:r>
            <a:r>
              <a:rPr lang="en-US" altLang="zh-CN" dirty="0"/>
              <a:t>B</a:t>
            </a:r>
            <a:r>
              <a:rPr lang="zh-CN" altLang="en-US" dirty="0"/>
              <a:t>对象共享一个</a:t>
            </a:r>
            <a:r>
              <a:rPr lang="en-US" altLang="zh-CN" dirty="0"/>
              <a:t>C</a:t>
            </a:r>
            <a:r>
              <a:rPr lang="zh-CN" altLang="en-US" dirty="0"/>
              <a:t>对象</a:t>
            </a:r>
            <a:endParaRPr lang="en-US" altLang="zh-CN" dirty="0"/>
          </a:p>
          <a:p>
            <a:pPr lvl="1"/>
            <a:r>
              <a:rPr lang="en-US" altLang="zh-CN" dirty="0"/>
              <a:t>C</a:t>
            </a:r>
            <a:r>
              <a:rPr lang="zh-CN" altLang="en-US" dirty="0"/>
              <a:t>对象不想交由外部销毁</a:t>
            </a:r>
            <a:endParaRPr lang="en-US" altLang="zh-CN" dirty="0"/>
          </a:p>
          <a:p>
            <a:r>
              <a:rPr lang="en-US" altLang="zh-CN" dirty="0"/>
              <a:t>A</a:t>
            </a:r>
            <a:r>
              <a:rPr lang="zh-CN" altLang="en-US" dirty="0"/>
              <a:t>、</a:t>
            </a:r>
            <a:r>
              <a:rPr lang="en-US" altLang="zh-CN" dirty="0"/>
              <a:t>B</a:t>
            </a:r>
            <a:r>
              <a:rPr lang="zh-CN" altLang="en-US" dirty="0"/>
              <a:t>中的谁负责销毁</a:t>
            </a:r>
            <a:r>
              <a:rPr lang="en-US" altLang="zh-CN" dirty="0"/>
              <a:t>C</a:t>
            </a:r>
            <a:r>
              <a:rPr lang="zh-CN" altLang="en-US" dirty="0"/>
              <a:t>？</a:t>
            </a:r>
            <a:endParaRPr lang="en-US" altLang="zh-CN" dirty="0"/>
          </a:p>
          <a:p>
            <a:endParaRPr lang="en-US" altLang="zh-CN" dirty="0"/>
          </a:p>
          <a:p>
            <a:endParaRPr lang="en-US" altLang="zh-CN" dirty="0"/>
          </a:p>
          <a:p>
            <a:endParaRPr lang="en-US" altLang="zh-CN" dirty="0"/>
          </a:p>
          <a:p>
            <a:endParaRPr lang="en-US" altLang="zh-CN" dirty="0"/>
          </a:p>
          <a:p>
            <a:r>
              <a:rPr lang="zh-CN" altLang="en-US" dirty="0"/>
              <a:t>应该在</a:t>
            </a:r>
            <a:r>
              <a:rPr lang="en-US" altLang="zh-CN" dirty="0"/>
              <a:t>A</a:t>
            </a:r>
            <a:r>
              <a:rPr lang="zh-CN" altLang="en-US" dirty="0"/>
              <a:t>、</a:t>
            </a:r>
            <a:r>
              <a:rPr lang="en-US" altLang="zh-CN" dirty="0"/>
              <a:t>B</a:t>
            </a:r>
            <a:r>
              <a:rPr lang="zh-CN" altLang="en-US" dirty="0"/>
              <a:t>都销毁时</a:t>
            </a:r>
            <a:r>
              <a:rPr lang="en-US" altLang="zh-CN" dirty="0"/>
              <a:t>C</a:t>
            </a:r>
            <a:r>
              <a:rPr lang="zh-CN" altLang="en-US" dirty="0"/>
              <a:t>才能销毁</a:t>
            </a:r>
            <a:endParaRPr lang="en-US" altLang="zh-CN" dirty="0"/>
          </a:p>
          <a:p>
            <a:r>
              <a:rPr lang="zh-CN" altLang="en-US" dirty="0"/>
              <a:t>如何自动的处理？</a:t>
            </a:r>
          </a:p>
        </p:txBody>
      </p:sp>
      <p:sp>
        <p:nvSpPr>
          <p:cNvPr id="4" name="灯片编号占位符 3">
            <a:extLst>
              <a:ext uri="{FF2B5EF4-FFF2-40B4-BE49-F238E27FC236}">
                <a16:creationId xmlns:a16="http://schemas.microsoft.com/office/drawing/2014/main" id="{1252F1C0-EE0B-43D2-AAEE-BB7F703AF5A1}"/>
              </a:ext>
            </a:extLst>
          </p:cNvPr>
          <p:cNvSpPr>
            <a:spLocks noGrp="1"/>
          </p:cNvSpPr>
          <p:nvPr>
            <p:ph type="sldNum" sz="quarter" idx="12"/>
          </p:nvPr>
        </p:nvSpPr>
        <p:spPr/>
        <p:txBody>
          <a:bodyPr/>
          <a:lstStyle/>
          <a:p>
            <a:pPr>
              <a:defRPr/>
            </a:pPr>
            <a:fld id="{BFD7BE51-03DD-4CCA-8227-D775462981B4}" type="slidenum">
              <a:rPr lang="en-US" altLang="zh-CN" smtClean="0"/>
              <a:pPr>
                <a:defRPr/>
              </a:pPr>
              <a:t>59</a:t>
            </a:fld>
            <a:endParaRPr lang="en-US" altLang="zh-CN"/>
          </a:p>
        </p:txBody>
      </p:sp>
      <p:grpSp>
        <p:nvGrpSpPr>
          <p:cNvPr id="12" name="组合 11">
            <a:extLst>
              <a:ext uri="{FF2B5EF4-FFF2-40B4-BE49-F238E27FC236}">
                <a16:creationId xmlns:a16="http://schemas.microsoft.com/office/drawing/2014/main" id="{D5552868-9D7A-4802-BD23-43DB89FAA729}"/>
              </a:ext>
            </a:extLst>
          </p:cNvPr>
          <p:cNvGrpSpPr/>
          <p:nvPr/>
        </p:nvGrpSpPr>
        <p:grpSpPr>
          <a:xfrm>
            <a:off x="3059832" y="3561595"/>
            <a:ext cx="2430272" cy="1667605"/>
            <a:chOff x="-2898830" y="2614328"/>
            <a:chExt cx="2430272" cy="1667605"/>
          </a:xfrm>
        </p:grpSpPr>
        <p:sp>
          <p:nvSpPr>
            <p:cNvPr id="5" name="矩形 4">
              <a:extLst>
                <a:ext uri="{FF2B5EF4-FFF2-40B4-BE49-F238E27FC236}">
                  <a16:creationId xmlns:a16="http://schemas.microsoft.com/office/drawing/2014/main" id="{A8B0FC9B-2A29-4D92-9DF0-CD2865096C58}"/>
                </a:ext>
              </a:extLst>
            </p:cNvPr>
            <p:cNvSpPr/>
            <p:nvPr/>
          </p:nvSpPr>
          <p:spPr>
            <a:xfrm>
              <a:off x="-2898830" y="2614328"/>
              <a:ext cx="108012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A</a:t>
              </a:r>
              <a:endParaRPr lang="zh-CN" altLang="en-US" sz="3200" b="1" dirty="0"/>
            </a:p>
          </p:txBody>
        </p:sp>
        <p:sp>
          <p:nvSpPr>
            <p:cNvPr id="6" name="矩形 5">
              <a:extLst>
                <a:ext uri="{FF2B5EF4-FFF2-40B4-BE49-F238E27FC236}">
                  <a16:creationId xmlns:a16="http://schemas.microsoft.com/office/drawing/2014/main" id="{D0ECEE27-2DD5-43CC-B11A-470748968D01}"/>
                </a:ext>
              </a:extLst>
            </p:cNvPr>
            <p:cNvSpPr/>
            <p:nvPr/>
          </p:nvSpPr>
          <p:spPr>
            <a:xfrm>
              <a:off x="-1548678" y="2614328"/>
              <a:ext cx="1080120"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t>B</a:t>
              </a:r>
              <a:endParaRPr lang="zh-CN" altLang="en-US" sz="3200" b="1" dirty="0"/>
            </a:p>
          </p:txBody>
        </p:sp>
        <p:sp>
          <p:nvSpPr>
            <p:cNvPr id="7" name="矩形 6">
              <a:extLst>
                <a:ext uri="{FF2B5EF4-FFF2-40B4-BE49-F238E27FC236}">
                  <a16:creationId xmlns:a16="http://schemas.microsoft.com/office/drawing/2014/main" id="{A3F1AD7B-7C7A-4A02-BFB9-32FDC021558C}"/>
                </a:ext>
              </a:extLst>
            </p:cNvPr>
            <p:cNvSpPr/>
            <p:nvPr/>
          </p:nvSpPr>
          <p:spPr>
            <a:xfrm>
              <a:off x="-2152992" y="3718576"/>
              <a:ext cx="954106" cy="56335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tx1"/>
                  </a:solidFill>
                </a:rPr>
                <a:t>C</a:t>
              </a:r>
              <a:endParaRPr lang="zh-CN" altLang="en-US" sz="3200" b="1" dirty="0">
                <a:solidFill>
                  <a:schemeClr val="tx1"/>
                </a:solidFill>
              </a:endParaRPr>
            </a:p>
          </p:txBody>
        </p:sp>
        <p:cxnSp>
          <p:nvCxnSpPr>
            <p:cNvPr id="9" name="直接箭头连接符 8">
              <a:extLst>
                <a:ext uri="{FF2B5EF4-FFF2-40B4-BE49-F238E27FC236}">
                  <a16:creationId xmlns:a16="http://schemas.microsoft.com/office/drawing/2014/main" id="{BF83F2A9-9713-4C1A-974F-E307B34F298E}"/>
                </a:ext>
              </a:extLst>
            </p:cNvPr>
            <p:cNvCxnSpPr>
              <a:cxnSpLocks/>
              <a:stCxn id="5" idx="2"/>
              <a:endCxn id="7" idx="0"/>
            </p:cNvCxnSpPr>
            <p:nvPr/>
          </p:nvCxnSpPr>
          <p:spPr>
            <a:xfrm>
              <a:off x="-2358770" y="3262400"/>
              <a:ext cx="682831" cy="45617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EE680BF4-3710-4FFC-9100-6E3412973847}"/>
                </a:ext>
              </a:extLst>
            </p:cNvPr>
            <p:cNvCxnSpPr>
              <a:cxnSpLocks/>
              <a:stCxn id="6" idx="2"/>
              <a:endCxn id="7" idx="0"/>
            </p:cNvCxnSpPr>
            <p:nvPr/>
          </p:nvCxnSpPr>
          <p:spPr>
            <a:xfrm flipH="1">
              <a:off x="-1675939" y="3262400"/>
              <a:ext cx="667321" cy="45617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23806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1E69B9-7D54-4F1A-9F57-4F0A89E3BDDD}"/>
              </a:ext>
            </a:extLst>
          </p:cNvPr>
          <p:cNvSpPr>
            <a:spLocks noGrp="1"/>
          </p:cNvSpPr>
          <p:nvPr>
            <p:ph type="title"/>
          </p:nvPr>
        </p:nvSpPr>
        <p:spPr/>
        <p:txBody>
          <a:bodyPr/>
          <a:lstStyle/>
          <a:p>
            <a:r>
              <a:rPr lang="zh-CN" altLang="en-US" dirty="0"/>
              <a:t>智能指针</a:t>
            </a:r>
          </a:p>
        </p:txBody>
      </p:sp>
      <p:sp>
        <p:nvSpPr>
          <p:cNvPr id="3" name="内容占位符 2">
            <a:extLst>
              <a:ext uri="{FF2B5EF4-FFF2-40B4-BE49-F238E27FC236}">
                <a16:creationId xmlns:a16="http://schemas.microsoft.com/office/drawing/2014/main" id="{14C9DCC0-A079-4692-9C86-879B62EA8CB1}"/>
              </a:ext>
            </a:extLst>
          </p:cNvPr>
          <p:cNvSpPr>
            <a:spLocks noGrp="1"/>
          </p:cNvSpPr>
          <p:nvPr>
            <p:ph idx="1"/>
          </p:nvPr>
        </p:nvSpPr>
        <p:spPr>
          <a:xfrm>
            <a:off x="390538" y="1628801"/>
            <a:ext cx="8263830" cy="4749029"/>
          </a:xfrm>
        </p:spPr>
        <p:txBody>
          <a:bodyPr/>
          <a:lstStyle/>
          <a:p>
            <a:r>
              <a:rPr lang="en-US" altLang="zh-CN" dirty="0" err="1"/>
              <a:t>shared_ptr</a:t>
            </a:r>
            <a:r>
              <a:rPr lang="en-US" altLang="zh-CN" dirty="0"/>
              <a:t> </a:t>
            </a:r>
            <a:r>
              <a:rPr lang="zh-CN" altLang="en-US" dirty="0"/>
              <a:t>来自</a:t>
            </a:r>
            <a:r>
              <a:rPr lang="en-US" altLang="zh-CN" dirty="0"/>
              <a:t>&lt;memory&gt;</a:t>
            </a:r>
            <a:r>
              <a:rPr lang="zh-CN" altLang="en-US" dirty="0"/>
              <a:t>库</a:t>
            </a:r>
            <a:endParaRPr lang="en-US" altLang="zh-CN" dirty="0"/>
          </a:p>
          <a:p>
            <a:pPr lvl="1"/>
            <a:r>
              <a:rPr lang="zh-CN" altLang="en-US" dirty="0"/>
              <a:t>构造方法</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zh-CN" altLang="en-US" dirty="0"/>
              <a:t>访问对象</a:t>
            </a:r>
            <a:endParaRPr lang="en-US" altLang="zh-CN" dirty="0"/>
          </a:p>
          <a:p>
            <a:pPr lvl="1"/>
            <a:endParaRPr lang="en-US" altLang="zh-CN" dirty="0"/>
          </a:p>
          <a:p>
            <a:pPr lvl="1"/>
            <a:endParaRPr lang="en-US" altLang="zh-CN" dirty="0"/>
          </a:p>
          <a:p>
            <a:pPr lvl="1"/>
            <a:r>
              <a:rPr lang="zh-CN" altLang="en-US" dirty="0"/>
              <a:t>销毁对象</a:t>
            </a:r>
            <a:endParaRPr lang="en-US" altLang="zh-CN" dirty="0"/>
          </a:p>
          <a:p>
            <a:pPr marL="457200" lvl="1" indent="0">
              <a:buNone/>
            </a:pPr>
            <a:r>
              <a:rPr lang="en-US" altLang="zh-CN" dirty="0"/>
              <a:t>	p2</a:t>
            </a:r>
            <a:r>
              <a:rPr lang="zh-CN" altLang="en-US" dirty="0"/>
              <a:t>和</a:t>
            </a:r>
            <a:r>
              <a:rPr lang="en-US" altLang="zh-CN" dirty="0"/>
              <a:t>p3</a:t>
            </a:r>
            <a:r>
              <a:rPr lang="zh-CN" altLang="en-US" dirty="0"/>
              <a:t>指向同一对象，当两者均出作用域才会被销毁</a:t>
            </a:r>
            <a:endParaRPr lang="en-US" altLang="zh-CN" dirty="0"/>
          </a:p>
          <a:p>
            <a:pPr lvl="1"/>
            <a:endParaRPr lang="en-US" altLang="zh-CN" dirty="0"/>
          </a:p>
          <a:p>
            <a:pPr lvl="2"/>
            <a:endParaRPr lang="zh-CN" altLang="en-US" dirty="0"/>
          </a:p>
        </p:txBody>
      </p:sp>
      <p:sp>
        <p:nvSpPr>
          <p:cNvPr id="4" name="灯片编号占位符 3">
            <a:extLst>
              <a:ext uri="{FF2B5EF4-FFF2-40B4-BE49-F238E27FC236}">
                <a16:creationId xmlns:a16="http://schemas.microsoft.com/office/drawing/2014/main" id="{6826F6E1-679B-4BB6-BEC0-96FBFCC096FD}"/>
              </a:ext>
            </a:extLst>
          </p:cNvPr>
          <p:cNvSpPr>
            <a:spLocks noGrp="1"/>
          </p:cNvSpPr>
          <p:nvPr>
            <p:ph type="sldNum" sz="quarter" idx="12"/>
          </p:nvPr>
        </p:nvSpPr>
        <p:spPr/>
        <p:txBody>
          <a:bodyPr/>
          <a:lstStyle/>
          <a:p>
            <a:pPr>
              <a:defRPr/>
            </a:pPr>
            <a:fld id="{BFD7BE51-03DD-4CCA-8227-D775462981B4}" type="slidenum">
              <a:rPr lang="en-US" altLang="zh-CN" smtClean="0"/>
              <a:pPr>
                <a:defRPr/>
              </a:pPr>
              <a:t>60</a:t>
            </a:fld>
            <a:endParaRPr lang="en-US" altLang="zh-CN"/>
          </a:p>
        </p:txBody>
      </p:sp>
      <p:sp>
        <p:nvSpPr>
          <p:cNvPr id="5" name="文本框 4">
            <a:extLst>
              <a:ext uri="{FF2B5EF4-FFF2-40B4-BE49-F238E27FC236}">
                <a16:creationId xmlns:a16="http://schemas.microsoft.com/office/drawing/2014/main" id="{10663A63-17F7-4822-B121-518BF5E3EF4D}"/>
              </a:ext>
            </a:extLst>
          </p:cNvPr>
          <p:cNvSpPr txBox="1"/>
          <p:nvPr/>
        </p:nvSpPr>
        <p:spPr>
          <a:xfrm>
            <a:off x="1331640" y="2433655"/>
            <a:ext cx="7139583" cy="1569660"/>
          </a:xfrm>
          <a:prstGeom prst="rect">
            <a:avLst/>
          </a:prstGeom>
          <a:noFill/>
        </p:spPr>
        <p:txBody>
          <a:bodyPr wrap="none" rtlCol="0">
            <a:spAutoFit/>
          </a:bodyPr>
          <a:lstStyle/>
          <a:p>
            <a:r>
              <a:rPr lang="en-US" altLang="zh-CN" sz="2400" b="1" dirty="0" err="1"/>
              <a:t>shared_ptr</a:t>
            </a:r>
            <a:r>
              <a:rPr lang="en-US" altLang="zh-CN" sz="2400" b="1" dirty="0"/>
              <a:t>&lt;</a:t>
            </a:r>
            <a:r>
              <a:rPr lang="en-US" altLang="zh-CN" sz="2400" b="1" dirty="0" err="1"/>
              <a:t>int</a:t>
            </a:r>
            <a:r>
              <a:rPr lang="en-US" altLang="zh-CN" sz="2400" b="1" dirty="0"/>
              <a:t>&gt; p1(new </a:t>
            </a:r>
            <a:r>
              <a:rPr lang="en-US" altLang="zh-CN" sz="2400" b="1" dirty="0" err="1"/>
              <a:t>int</a:t>
            </a:r>
            <a:r>
              <a:rPr lang="en-US" altLang="zh-CN" sz="2400" b="1" dirty="0"/>
              <a:t>(1));</a:t>
            </a:r>
          </a:p>
          <a:p>
            <a:r>
              <a:rPr lang="en-US" altLang="zh-CN" sz="2400" b="1" dirty="0" err="1"/>
              <a:t>shared_ptr</a:t>
            </a:r>
            <a:r>
              <a:rPr lang="en-US" altLang="zh-CN" sz="2400" b="1" dirty="0"/>
              <a:t>&lt;</a:t>
            </a:r>
            <a:r>
              <a:rPr lang="en-US" altLang="zh-CN" sz="2400" b="1" dirty="0" err="1"/>
              <a:t>MyClass</a:t>
            </a:r>
            <a:r>
              <a:rPr lang="en-US" altLang="zh-CN" sz="2400" b="1" dirty="0"/>
              <a:t>&gt; p2 = </a:t>
            </a:r>
            <a:r>
              <a:rPr lang="en-US" altLang="zh-CN" sz="2400" b="1" dirty="0" err="1"/>
              <a:t>make_shared</a:t>
            </a:r>
            <a:r>
              <a:rPr lang="en-US" altLang="zh-CN" sz="2400" b="1" dirty="0"/>
              <a:t>&lt;</a:t>
            </a:r>
            <a:r>
              <a:rPr lang="en-US" altLang="zh-CN" sz="2400" b="1" dirty="0" err="1"/>
              <a:t>MyClass</a:t>
            </a:r>
            <a:r>
              <a:rPr lang="en-US" altLang="zh-CN" sz="2400" b="1" dirty="0"/>
              <a:t>&gt;(2);</a:t>
            </a:r>
          </a:p>
          <a:p>
            <a:r>
              <a:rPr lang="en-US" altLang="zh-CN" sz="2400" b="1" dirty="0" err="1"/>
              <a:t>shared_ptr</a:t>
            </a:r>
            <a:r>
              <a:rPr lang="en-US" altLang="zh-CN" sz="2400" b="1" dirty="0"/>
              <a:t>&lt;</a:t>
            </a:r>
            <a:r>
              <a:rPr lang="en-US" altLang="zh-CN" sz="2400" b="1" dirty="0" err="1"/>
              <a:t>MyClass</a:t>
            </a:r>
            <a:r>
              <a:rPr lang="en-US" altLang="zh-CN" sz="2400" b="1" dirty="0"/>
              <a:t>&gt; p3 = p2;</a:t>
            </a:r>
          </a:p>
          <a:p>
            <a:r>
              <a:rPr lang="en-US" altLang="zh-CN" sz="2400" b="1" dirty="0" err="1"/>
              <a:t>shared_ptr</a:t>
            </a:r>
            <a:r>
              <a:rPr lang="en-US" altLang="zh-CN" sz="2400" b="1" dirty="0"/>
              <a:t>&lt;</a:t>
            </a:r>
            <a:r>
              <a:rPr lang="en-US" altLang="zh-CN" sz="2400" b="1" dirty="0" err="1"/>
              <a:t>int</a:t>
            </a:r>
            <a:r>
              <a:rPr lang="en-US" altLang="zh-CN" sz="2400" b="1" dirty="0"/>
              <a:t>&gt; p4;	</a:t>
            </a:r>
            <a:r>
              <a:rPr lang="en-US" altLang="zh-CN" sz="2400" b="1" dirty="0">
                <a:solidFill>
                  <a:schemeClr val="accent1"/>
                </a:solidFill>
              </a:rPr>
              <a:t>//</a:t>
            </a:r>
            <a:r>
              <a:rPr lang="zh-CN" altLang="en-US" sz="2400" b="1" dirty="0">
                <a:solidFill>
                  <a:schemeClr val="accent1"/>
                </a:solidFill>
              </a:rPr>
              <a:t>空指针</a:t>
            </a:r>
          </a:p>
        </p:txBody>
      </p:sp>
      <p:sp>
        <p:nvSpPr>
          <p:cNvPr id="9" name="文本框 8">
            <a:extLst>
              <a:ext uri="{FF2B5EF4-FFF2-40B4-BE49-F238E27FC236}">
                <a16:creationId xmlns:a16="http://schemas.microsoft.com/office/drawing/2014/main" id="{08D75A2E-84C6-4B96-B5DD-F26ABB73BFA3}"/>
              </a:ext>
            </a:extLst>
          </p:cNvPr>
          <p:cNvSpPr txBox="1"/>
          <p:nvPr/>
        </p:nvSpPr>
        <p:spPr>
          <a:xfrm>
            <a:off x="1331640" y="4366670"/>
            <a:ext cx="5472608" cy="830997"/>
          </a:xfrm>
          <a:prstGeom prst="rect">
            <a:avLst/>
          </a:prstGeom>
          <a:noFill/>
        </p:spPr>
        <p:txBody>
          <a:bodyPr wrap="square" rtlCol="0">
            <a:spAutoFit/>
          </a:bodyPr>
          <a:lstStyle/>
          <a:p>
            <a:r>
              <a:rPr lang="en-US" altLang="zh-CN" sz="2400" b="1" dirty="0" err="1">
                <a:latin typeface="Consolas" panose="020B0609020204030204" pitchFamily="49" charset="0"/>
              </a:rPr>
              <a:t>int</a:t>
            </a:r>
            <a:r>
              <a:rPr lang="en-US" altLang="zh-CN" sz="2400" b="1" dirty="0">
                <a:latin typeface="Consolas" panose="020B0609020204030204" pitchFamily="49" charset="0"/>
              </a:rPr>
              <a:t> x = *p1;		</a:t>
            </a:r>
            <a:r>
              <a:rPr lang="en-US" altLang="zh-CN" sz="2400" b="1" dirty="0">
                <a:solidFill>
                  <a:schemeClr val="accent1"/>
                </a:solidFill>
              </a:rPr>
              <a:t>//</a:t>
            </a:r>
            <a:r>
              <a:rPr lang="zh-CN" altLang="en-US" sz="2400" b="1" dirty="0">
                <a:solidFill>
                  <a:schemeClr val="accent1"/>
                </a:solidFill>
              </a:rPr>
              <a:t>从指针访问对象</a:t>
            </a:r>
            <a:endParaRPr lang="en-US" altLang="zh-CN" sz="2400" b="1" dirty="0">
              <a:latin typeface="Consolas" panose="020B0609020204030204" pitchFamily="49" charset="0"/>
            </a:endParaRPr>
          </a:p>
          <a:p>
            <a:r>
              <a:rPr lang="en-US" altLang="zh-CN" sz="2400" b="1" dirty="0" err="1">
                <a:latin typeface="Consolas" panose="020B0609020204030204" pitchFamily="49" charset="0"/>
              </a:rPr>
              <a:t>int</a:t>
            </a:r>
            <a:r>
              <a:rPr lang="en-US" altLang="zh-CN" sz="2400" b="1" dirty="0">
                <a:latin typeface="Consolas" panose="020B0609020204030204" pitchFamily="49" charset="0"/>
              </a:rPr>
              <a:t> y = p2-&gt;</a:t>
            </a:r>
            <a:r>
              <a:rPr lang="en-US" altLang="zh-CN" sz="2400" b="1" dirty="0" err="1">
                <a:latin typeface="Consolas" panose="020B0609020204030204" pitchFamily="49" charset="0"/>
              </a:rPr>
              <a:t>val</a:t>
            </a:r>
            <a:r>
              <a:rPr lang="en-US" altLang="zh-CN" sz="2400" b="1" dirty="0">
                <a:latin typeface="Consolas" panose="020B0609020204030204" pitchFamily="49" charset="0"/>
              </a:rPr>
              <a:t>;	</a:t>
            </a:r>
            <a:r>
              <a:rPr lang="en-US" altLang="zh-CN" sz="2400" b="1" dirty="0">
                <a:solidFill>
                  <a:schemeClr val="accent1"/>
                </a:solidFill>
              </a:rPr>
              <a:t>//</a:t>
            </a:r>
            <a:r>
              <a:rPr lang="zh-CN" altLang="en-US" sz="2400" b="1" dirty="0">
                <a:solidFill>
                  <a:schemeClr val="accent1"/>
                </a:solidFill>
              </a:rPr>
              <a:t>访问成员变量</a:t>
            </a:r>
          </a:p>
        </p:txBody>
      </p:sp>
    </p:spTree>
    <p:extLst>
      <p:ext uri="{BB962C8B-B14F-4D97-AF65-F5344CB8AC3E}">
        <p14:creationId xmlns:p14="http://schemas.microsoft.com/office/powerpoint/2010/main" val="4717960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501C53-0AE0-4C3D-9401-7F9683019F78}"/>
              </a:ext>
            </a:extLst>
          </p:cNvPr>
          <p:cNvSpPr>
            <a:spLocks noGrp="1"/>
          </p:cNvSpPr>
          <p:nvPr>
            <p:ph type="title"/>
          </p:nvPr>
        </p:nvSpPr>
        <p:spPr/>
        <p:txBody>
          <a:bodyPr/>
          <a:lstStyle/>
          <a:p>
            <a:r>
              <a:rPr lang="zh-CN" altLang="en-US" dirty="0"/>
              <a:t>引用计数</a:t>
            </a:r>
          </a:p>
        </p:txBody>
      </p:sp>
      <p:sp>
        <p:nvSpPr>
          <p:cNvPr id="3" name="内容占位符 2">
            <a:extLst>
              <a:ext uri="{FF2B5EF4-FFF2-40B4-BE49-F238E27FC236}">
                <a16:creationId xmlns:a16="http://schemas.microsoft.com/office/drawing/2014/main" id="{A806EE97-F808-433B-94DB-937DD7A59D2D}"/>
              </a:ext>
            </a:extLst>
          </p:cNvPr>
          <p:cNvSpPr>
            <a:spLocks noGrp="1"/>
          </p:cNvSpPr>
          <p:nvPr>
            <p:ph idx="1"/>
          </p:nvPr>
        </p:nvSpPr>
        <p:spPr>
          <a:xfrm>
            <a:off x="755576" y="1268760"/>
            <a:ext cx="8047806" cy="4749029"/>
          </a:xfrm>
        </p:spPr>
        <p:txBody>
          <a:bodyPr/>
          <a:lstStyle/>
          <a:p>
            <a:r>
              <a:rPr lang="zh-CN" altLang="en-US" dirty="0"/>
              <a:t>为什么智能指针能够知道何时销毁对象？</a:t>
            </a:r>
            <a:endParaRPr lang="en-US" altLang="zh-CN" dirty="0"/>
          </a:p>
          <a:p>
            <a:r>
              <a:rPr lang="zh-CN" altLang="en-US" dirty="0"/>
              <a:t>引用计数！当引用计数归</a:t>
            </a:r>
            <a:r>
              <a:rPr lang="en-US" altLang="zh-CN" dirty="0"/>
              <a:t>0</a:t>
            </a:r>
            <a:r>
              <a:rPr lang="zh-CN" altLang="en-US" dirty="0"/>
              <a:t>时，销毁对象</a:t>
            </a:r>
            <a:endParaRPr lang="en-US" altLang="zh-CN" dirty="0"/>
          </a:p>
          <a:p>
            <a:endParaRPr lang="en-US" altLang="zh-CN" dirty="0"/>
          </a:p>
          <a:p>
            <a:endParaRPr lang="zh-CN" altLang="en-US" dirty="0"/>
          </a:p>
        </p:txBody>
      </p:sp>
      <p:sp>
        <p:nvSpPr>
          <p:cNvPr id="4" name="灯片编号占位符 3">
            <a:extLst>
              <a:ext uri="{FF2B5EF4-FFF2-40B4-BE49-F238E27FC236}">
                <a16:creationId xmlns:a16="http://schemas.microsoft.com/office/drawing/2014/main" id="{13DB4E8A-CC38-4BC9-B574-068DCDD038D3}"/>
              </a:ext>
            </a:extLst>
          </p:cNvPr>
          <p:cNvSpPr>
            <a:spLocks noGrp="1"/>
          </p:cNvSpPr>
          <p:nvPr>
            <p:ph type="sldNum" sz="quarter" idx="12"/>
          </p:nvPr>
        </p:nvSpPr>
        <p:spPr/>
        <p:txBody>
          <a:bodyPr/>
          <a:lstStyle/>
          <a:p>
            <a:pPr>
              <a:defRPr/>
            </a:pPr>
            <a:fld id="{BFD7BE51-03DD-4CCA-8227-D775462981B4}" type="slidenum">
              <a:rPr lang="en-US" altLang="zh-CN" smtClean="0"/>
              <a:pPr>
                <a:defRPr/>
              </a:pPr>
              <a:t>61</a:t>
            </a:fld>
            <a:endParaRPr lang="en-US" altLang="zh-CN"/>
          </a:p>
        </p:txBody>
      </p:sp>
      <p:sp>
        <p:nvSpPr>
          <p:cNvPr id="5" name="文本框 4">
            <a:extLst>
              <a:ext uri="{FF2B5EF4-FFF2-40B4-BE49-F238E27FC236}">
                <a16:creationId xmlns:a16="http://schemas.microsoft.com/office/drawing/2014/main" id="{631D1A9F-1025-417E-89BE-46996FCA23BC}"/>
              </a:ext>
            </a:extLst>
          </p:cNvPr>
          <p:cNvSpPr txBox="1"/>
          <p:nvPr/>
        </p:nvSpPr>
        <p:spPr>
          <a:xfrm>
            <a:off x="1294262" y="2340163"/>
            <a:ext cx="7069641" cy="4401205"/>
          </a:xfrm>
          <a:prstGeom prst="rect">
            <a:avLst/>
          </a:prstGeom>
          <a:noFill/>
        </p:spPr>
        <p:txBody>
          <a:bodyPr wrap="square" rtlCol="0">
            <a:spAutoFit/>
          </a:bodyPr>
          <a:lstStyle/>
          <a:p>
            <a:r>
              <a:rPr lang="en-US" altLang="zh-CN" sz="2000" b="1" dirty="0">
                <a:latin typeface="Consolas" panose="020B0609020204030204" pitchFamily="49" charset="0"/>
              </a:rPr>
              <a:t>#include &lt;memory&gt;</a:t>
            </a:r>
          </a:p>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using namespace std;</a:t>
            </a:r>
          </a:p>
          <a:p>
            <a:r>
              <a:rPr lang="en-US" altLang="zh-CN" sz="2000" b="1" dirty="0">
                <a:latin typeface="Consolas" panose="020B0609020204030204" pitchFamily="49" charset="0"/>
              </a:rPr>
              <a:t>int main()</a:t>
            </a:r>
          </a:p>
          <a:p>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latin typeface="Consolas" panose="020B0609020204030204" pitchFamily="49" charset="0"/>
              </a:rPr>
              <a:t>shared_ptr</a:t>
            </a:r>
            <a:r>
              <a:rPr lang="en-US" altLang="zh-CN" sz="2000" b="1" dirty="0">
                <a:latin typeface="Consolas" panose="020B0609020204030204" pitchFamily="49" charset="0"/>
              </a:rPr>
              <a:t>&lt;int&gt; p1(new int(4));</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 </a:t>
            </a:r>
            <a:r>
              <a:rPr lang="en-US" altLang="zh-CN" sz="2000" b="1" dirty="0">
                <a:solidFill>
                  <a:srgbClr val="00CC00"/>
                </a:solidFill>
                <a:latin typeface="Consolas" panose="020B0609020204030204" pitchFamily="49" charset="0"/>
              </a:rPr>
              <a:t>// 1</a:t>
            </a:r>
          </a:p>
          <a:p>
            <a:r>
              <a:rPr lang="en-US" altLang="zh-CN" sz="2000" b="1" dirty="0">
                <a:latin typeface="Consolas" panose="020B0609020204030204" pitchFamily="49" charset="0"/>
              </a:rPr>
              <a:t>	{</a:t>
            </a:r>
          </a:p>
          <a:p>
            <a:r>
              <a:rPr lang="en-US" altLang="zh-CN" sz="2000" b="1" dirty="0">
                <a:latin typeface="Consolas" panose="020B0609020204030204" pitchFamily="49" charset="0"/>
              </a:rPr>
              <a:t>		</a:t>
            </a:r>
            <a:r>
              <a:rPr lang="en-US" altLang="zh-CN" sz="2000" b="1" dirty="0" err="1">
                <a:latin typeface="Consolas" panose="020B0609020204030204" pitchFamily="49" charset="0"/>
              </a:rPr>
              <a:t>shared_ptr</a:t>
            </a:r>
            <a:r>
              <a:rPr lang="en-US" altLang="zh-CN" sz="2000" b="1" dirty="0">
                <a:latin typeface="Consolas" panose="020B0609020204030204" pitchFamily="49" charset="0"/>
              </a:rPr>
              <a:t>&lt;int&gt; p2 = p1;</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 </a:t>
            </a:r>
            <a:r>
              <a:rPr lang="en-US" altLang="zh-CN" sz="2000" b="1" dirty="0">
                <a:solidFill>
                  <a:srgbClr val="00CC00"/>
                </a:solidFill>
                <a:latin typeface="Consolas" panose="020B0609020204030204" pitchFamily="49" charset="0"/>
              </a:rPr>
              <a:t>// 2</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p2.use_count() &lt;&lt; ' '; </a:t>
            </a:r>
            <a:r>
              <a:rPr lang="en-US" altLang="zh-CN" sz="2000" b="1" dirty="0">
                <a:solidFill>
                  <a:srgbClr val="00CC00"/>
                </a:solidFill>
                <a:latin typeface="Consolas" panose="020B0609020204030204" pitchFamily="49" charset="0"/>
              </a:rPr>
              <a:t>// 2</a:t>
            </a:r>
          </a:p>
          <a:p>
            <a:r>
              <a:rPr lang="en-US" altLang="zh-CN" sz="2000" b="1" dirty="0">
                <a:latin typeface="Consolas" panose="020B0609020204030204" pitchFamily="49" charset="0"/>
              </a:rPr>
              <a:t>	}	</a:t>
            </a:r>
            <a:r>
              <a:rPr lang="en-US" altLang="zh-CN" sz="2000" b="1" dirty="0">
                <a:solidFill>
                  <a:srgbClr val="00CC00"/>
                </a:solidFill>
                <a:latin typeface="Consolas" panose="020B0609020204030204" pitchFamily="49" charset="0"/>
              </a:rPr>
              <a:t>//p2</a:t>
            </a:r>
            <a:r>
              <a:rPr lang="zh-CN" altLang="en-US" sz="2000" b="1" dirty="0">
                <a:solidFill>
                  <a:srgbClr val="00CC00"/>
                </a:solidFill>
                <a:latin typeface="Consolas" panose="020B0609020204030204" pitchFamily="49" charset="0"/>
              </a:rPr>
              <a:t>出作用域</a:t>
            </a:r>
          </a:p>
          <a:p>
            <a:r>
              <a:rPr lang="zh-CN" altLang="en-US"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 </a:t>
            </a:r>
            <a:r>
              <a:rPr lang="en-US" altLang="zh-CN" sz="2000" b="1" dirty="0">
                <a:solidFill>
                  <a:srgbClr val="00CC00"/>
                </a:solidFill>
                <a:latin typeface="Consolas" panose="020B0609020204030204" pitchFamily="49" charset="0"/>
              </a:rPr>
              <a:t>// 1</a:t>
            </a:r>
          </a:p>
          <a:p>
            <a:r>
              <a:rPr lang="en-US" altLang="zh-CN" sz="2000" b="1" dirty="0">
                <a:latin typeface="Consolas" panose="020B0609020204030204" pitchFamily="49" charset="0"/>
              </a:rPr>
              <a:t>}</a:t>
            </a:r>
          </a:p>
        </p:txBody>
      </p:sp>
    </p:spTree>
    <p:extLst>
      <p:ext uri="{BB962C8B-B14F-4D97-AF65-F5344CB8AC3E}">
        <p14:creationId xmlns:p14="http://schemas.microsoft.com/office/powerpoint/2010/main" val="32064903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D3ADC2-1B0B-411D-9AB4-985AD3F213B6}"/>
              </a:ext>
            </a:extLst>
          </p:cNvPr>
          <p:cNvSpPr>
            <a:spLocks noGrp="1"/>
          </p:cNvSpPr>
          <p:nvPr>
            <p:ph type="title"/>
          </p:nvPr>
        </p:nvSpPr>
        <p:spPr/>
        <p:txBody>
          <a:bodyPr/>
          <a:lstStyle/>
          <a:p>
            <a:r>
              <a:rPr lang="zh-CN" altLang="en-US" dirty="0"/>
              <a:t>运行过程</a:t>
            </a:r>
          </a:p>
        </p:txBody>
      </p:sp>
      <p:sp>
        <p:nvSpPr>
          <p:cNvPr id="4" name="灯片编号占位符 3">
            <a:extLst>
              <a:ext uri="{FF2B5EF4-FFF2-40B4-BE49-F238E27FC236}">
                <a16:creationId xmlns:a16="http://schemas.microsoft.com/office/drawing/2014/main" id="{0EC445DC-21C2-4ABC-A980-04516B458F70}"/>
              </a:ext>
            </a:extLst>
          </p:cNvPr>
          <p:cNvSpPr>
            <a:spLocks noGrp="1"/>
          </p:cNvSpPr>
          <p:nvPr>
            <p:ph type="sldNum" sz="quarter" idx="12"/>
          </p:nvPr>
        </p:nvSpPr>
        <p:spPr/>
        <p:txBody>
          <a:bodyPr/>
          <a:lstStyle/>
          <a:p>
            <a:pPr>
              <a:defRPr/>
            </a:pPr>
            <a:fld id="{BFD7BE51-03DD-4CCA-8227-D775462981B4}" type="slidenum">
              <a:rPr lang="en-US" altLang="zh-CN" smtClean="0"/>
              <a:pPr>
                <a:defRPr/>
              </a:pPr>
              <a:t>62</a:t>
            </a:fld>
            <a:endParaRPr lang="en-US" altLang="zh-CN"/>
          </a:p>
        </p:txBody>
      </p:sp>
      <p:sp>
        <p:nvSpPr>
          <p:cNvPr id="6" name="文本框 5">
            <a:extLst>
              <a:ext uri="{FF2B5EF4-FFF2-40B4-BE49-F238E27FC236}">
                <a16:creationId xmlns:a16="http://schemas.microsoft.com/office/drawing/2014/main" id="{866EF2D2-4E00-4AA1-83B0-6DCBACF1187A}"/>
              </a:ext>
            </a:extLst>
          </p:cNvPr>
          <p:cNvSpPr txBox="1"/>
          <p:nvPr/>
        </p:nvSpPr>
        <p:spPr>
          <a:xfrm>
            <a:off x="467544" y="2708920"/>
            <a:ext cx="4878259" cy="2985433"/>
          </a:xfrm>
          <a:prstGeom prst="rect">
            <a:avLst/>
          </a:prstGeom>
          <a:noFill/>
        </p:spPr>
        <p:txBody>
          <a:bodyPr wrap="none" rtlCol="0">
            <a:spAutoFit/>
          </a:bodyPr>
          <a:lstStyle/>
          <a:p>
            <a:r>
              <a:rPr lang="en-US" altLang="zh-CN" sz="2000" b="1" dirty="0" err="1">
                <a:solidFill>
                  <a:srgbClr val="FF0000"/>
                </a:solidFill>
                <a:latin typeface="Consolas" panose="020B0609020204030204" pitchFamily="49" charset="0"/>
              </a:rPr>
              <a:t>shared_ptr</a:t>
            </a:r>
            <a:r>
              <a:rPr lang="en-US" altLang="zh-CN" sz="2000" b="1" dirty="0">
                <a:solidFill>
                  <a:srgbClr val="FF0000"/>
                </a:solidFill>
                <a:latin typeface="Consolas" panose="020B0609020204030204" pitchFamily="49" charset="0"/>
              </a:rPr>
              <a:t>&lt;</a:t>
            </a:r>
            <a:r>
              <a:rPr lang="en-US" altLang="zh-CN" sz="2000" b="1" dirty="0" err="1">
                <a:solidFill>
                  <a:srgbClr val="FF0000"/>
                </a:solidFill>
                <a:latin typeface="Consolas" panose="020B0609020204030204" pitchFamily="49" charset="0"/>
              </a:rPr>
              <a:t>int</a:t>
            </a:r>
            <a:r>
              <a:rPr lang="en-US" altLang="zh-CN" sz="2000" b="1" dirty="0">
                <a:solidFill>
                  <a:srgbClr val="FF0000"/>
                </a:solidFill>
                <a:latin typeface="Consolas" panose="020B0609020204030204" pitchFamily="49" charset="0"/>
              </a:rPr>
              <a:t>&gt; p1(new </a:t>
            </a:r>
            <a:r>
              <a:rPr lang="en-US" altLang="zh-CN" sz="2000" b="1" dirty="0" err="1">
                <a:solidFill>
                  <a:srgbClr val="FF0000"/>
                </a:solidFill>
                <a:latin typeface="Consolas" panose="020B0609020204030204" pitchFamily="49" charset="0"/>
              </a:rPr>
              <a:t>int</a:t>
            </a:r>
            <a:r>
              <a:rPr lang="en-US" altLang="zh-CN" sz="2000" b="1" dirty="0">
                <a:solidFill>
                  <a:srgbClr val="FF0000"/>
                </a:solidFill>
                <a:latin typeface="Consolas" panose="020B0609020204030204" pitchFamily="49" charset="0"/>
              </a:rPr>
              <a:t>(4));</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latin typeface="Consolas" panose="020B0609020204030204" pitchFamily="49" charset="0"/>
              </a:rPr>
              <a:t>shared_ptr</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 p2 = p1;</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p2.use_count() &lt;&lt; ' ';</a:t>
            </a:r>
          </a:p>
          <a:p>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//p2</a:t>
            </a:r>
            <a:r>
              <a:rPr lang="zh-CN" altLang="en-US" sz="2000" b="1" dirty="0">
                <a:solidFill>
                  <a:srgbClr val="008000"/>
                </a:solidFill>
                <a:latin typeface="Consolas" panose="020B0609020204030204" pitchFamily="49" charset="0"/>
              </a:rPr>
              <a:t>出作用域</a:t>
            </a:r>
            <a:endParaRPr lang="en-US" altLang="zh-CN" sz="2000" b="1" dirty="0">
              <a:solidFill>
                <a:srgbClr val="008000"/>
              </a:solidFill>
              <a:latin typeface="Consolas" panose="020B0609020204030204" pitchFamily="49" charset="0"/>
            </a:endParaRP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endParaRPr lang="zh-CN" altLang="en-US" sz="2400" b="1" dirty="0"/>
          </a:p>
        </p:txBody>
      </p:sp>
      <p:grpSp>
        <p:nvGrpSpPr>
          <p:cNvPr id="7" name="组合 6">
            <a:extLst>
              <a:ext uri="{FF2B5EF4-FFF2-40B4-BE49-F238E27FC236}">
                <a16:creationId xmlns:a16="http://schemas.microsoft.com/office/drawing/2014/main" id="{04A022B2-05F1-46CD-AF83-FA57C619E266}"/>
              </a:ext>
            </a:extLst>
          </p:cNvPr>
          <p:cNvGrpSpPr/>
          <p:nvPr/>
        </p:nvGrpSpPr>
        <p:grpSpPr>
          <a:xfrm>
            <a:off x="4756959" y="1442992"/>
            <a:ext cx="2643824" cy="4141652"/>
            <a:chOff x="5086167" y="1884868"/>
            <a:chExt cx="2643824" cy="4141652"/>
          </a:xfrm>
        </p:grpSpPr>
        <p:grpSp>
          <p:nvGrpSpPr>
            <p:cNvPr id="8" name="组合 7">
              <a:extLst>
                <a:ext uri="{FF2B5EF4-FFF2-40B4-BE49-F238E27FC236}">
                  <a16:creationId xmlns:a16="http://schemas.microsoft.com/office/drawing/2014/main" id="{771CFE1F-44AC-45C8-976F-4FA2BDAAFF7F}"/>
                </a:ext>
              </a:extLst>
            </p:cNvPr>
            <p:cNvGrpSpPr/>
            <p:nvPr/>
          </p:nvGrpSpPr>
          <p:grpSpPr>
            <a:xfrm>
              <a:off x="5086167" y="1884868"/>
              <a:ext cx="2643824" cy="4141652"/>
              <a:chOff x="5076056" y="1809383"/>
              <a:chExt cx="2643824" cy="4141652"/>
            </a:xfrm>
          </p:grpSpPr>
          <p:sp>
            <p:nvSpPr>
              <p:cNvPr id="11" name="矩形 10">
                <a:extLst>
                  <a:ext uri="{FF2B5EF4-FFF2-40B4-BE49-F238E27FC236}">
                    <a16:creationId xmlns:a16="http://schemas.microsoft.com/office/drawing/2014/main" id="{B1727143-9A47-4F0D-BCA9-2A1E6AC4B9FC}"/>
                  </a:ext>
                </a:extLst>
              </p:cNvPr>
              <p:cNvSpPr/>
              <p:nvPr/>
            </p:nvSpPr>
            <p:spPr>
              <a:xfrm>
                <a:off x="5076056" y="1809383"/>
                <a:ext cx="151216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latin typeface="Consolas" panose="020B0609020204030204" pitchFamily="49" charset="0"/>
                  </a:rPr>
                  <a:t>shared_ptr</a:t>
                </a:r>
                <a:r>
                  <a:rPr lang="en-US" altLang="zh-CN" dirty="0">
                    <a:latin typeface="Consolas" panose="020B0609020204030204" pitchFamily="49" charset="0"/>
                  </a:rPr>
                  <a:t> p1</a:t>
                </a:r>
                <a:endParaRPr lang="zh-CN" altLang="en-US" dirty="0">
                  <a:latin typeface="Consolas" panose="020B0609020204030204" pitchFamily="49" charset="0"/>
                </a:endParaRPr>
              </a:p>
            </p:txBody>
          </p:sp>
          <p:sp>
            <p:nvSpPr>
              <p:cNvPr id="12" name="矩形 11">
                <a:extLst>
                  <a:ext uri="{FF2B5EF4-FFF2-40B4-BE49-F238E27FC236}">
                    <a16:creationId xmlns:a16="http://schemas.microsoft.com/office/drawing/2014/main" id="{4446A7BA-22B5-4EA5-BF3C-9F6EA6CCC37B}"/>
                  </a:ext>
                </a:extLst>
              </p:cNvPr>
              <p:cNvSpPr/>
              <p:nvPr/>
            </p:nvSpPr>
            <p:spPr>
              <a:xfrm>
                <a:off x="6392671" y="3670390"/>
                <a:ext cx="1327209" cy="7546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Consolas" panose="020B0609020204030204" pitchFamily="49" charset="0"/>
                  </a:rPr>
                  <a:t>辅助指针</a:t>
                </a:r>
                <a:r>
                  <a:rPr lang="en-US" altLang="zh-CN" sz="2000" b="1" dirty="0">
                    <a:latin typeface="Consolas" panose="020B0609020204030204" pitchFamily="49" charset="0"/>
                  </a:rPr>
                  <a:t>count=1</a:t>
                </a:r>
                <a:endParaRPr lang="zh-CN" altLang="en-US" sz="2000" b="1" dirty="0">
                  <a:latin typeface="Consolas" panose="020B0609020204030204" pitchFamily="49" charset="0"/>
                </a:endParaRPr>
              </a:p>
            </p:txBody>
          </p:sp>
          <p:sp>
            <p:nvSpPr>
              <p:cNvPr id="13" name="矩形 12">
                <a:extLst>
                  <a:ext uri="{FF2B5EF4-FFF2-40B4-BE49-F238E27FC236}">
                    <a16:creationId xmlns:a16="http://schemas.microsoft.com/office/drawing/2014/main" id="{09314360-2510-403C-A866-6552E0210372}"/>
                  </a:ext>
                </a:extLst>
              </p:cNvPr>
              <p:cNvSpPr/>
              <p:nvPr/>
            </p:nvSpPr>
            <p:spPr>
              <a:xfrm>
                <a:off x="6444208" y="5302963"/>
                <a:ext cx="1224136"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4</a:t>
                </a:r>
                <a:endParaRPr lang="zh-CN" altLang="en-US" sz="2800" b="1" dirty="0"/>
              </a:p>
            </p:txBody>
          </p:sp>
          <p:cxnSp>
            <p:nvCxnSpPr>
              <p:cNvPr id="14" name="直接箭头连接符 13">
                <a:extLst>
                  <a:ext uri="{FF2B5EF4-FFF2-40B4-BE49-F238E27FC236}">
                    <a16:creationId xmlns:a16="http://schemas.microsoft.com/office/drawing/2014/main" id="{16955295-BC92-4687-B572-7C8D5BB55A46}"/>
                  </a:ext>
                </a:extLst>
              </p:cNvPr>
              <p:cNvCxnSpPr>
                <a:cxnSpLocks/>
                <a:stCxn id="11" idx="2"/>
                <a:endCxn id="12" idx="0"/>
              </p:cNvCxnSpPr>
              <p:nvPr/>
            </p:nvCxnSpPr>
            <p:spPr>
              <a:xfrm>
                <a:off x="5832140" y="2457455"/>
                <a:ext cx="1224136" cy="12129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 name="直接箭头连接符 8">
              <a:extLst>
                <a:ext uri="{FF2B5EF4-FFF2-40B4-BE49-F238E27FC236}">
                  <a16:creationId xmlns:a16="http://schemas.microsoft.com/office/drawing/2014/main" id="{92E76E11-6390-4B8A-971C-E2EF4068EDD5}"/>
                </a:ext>
              </a:extLst>
            </p:cNvPr>
            <p:cNvCxnSpPr>
              <a:cxnSpLocks/>
              <a:stCxn id="12" idx="2"/>
              <a:endCxn id="13" idx="0"/>
            </p:cNvCxnSpPr>
            <p:nvPr/>
          </p:nvCxnSpPr>
          <p:spPr>
            <a:xfrm>
              <a:off x="7066387" y="4500553"/>
              <a:ext cx="0" cy="8778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398247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D3ADC2-1B0B-411D-9AB4-985AD3F213B6}"/>
              </a:ext>
            </a:extLst>
          </p:cNvPr>
          <p:cNvSpPr>
            <a:spLocks noGrp="1"/>
          </p:cNvSpPr>
          <p:nvPr>
            <p:ph type="title"/>
          </p:nvPr>
        </p:nvSpPr>
        <p:spPr/>
        <p:txBody>
          <a:bodyPr/>
          <a:lstStyle/>
          <a:p>
            <a:r>
              <a:rPr lang="zh-CN" altLang="en-US" dirty="0"/>
              <a:t>运行过程</a:t>
            </a:r>
          </a:p>
        </p:txBody>
      </p:sp>
      <p:sp>
        <p:nvSpPr>
          <p:cNvPr id="4" name="灯片编号占位符 3">
            <a:extLst>
              <a:ext uri="{FF2B5EF4-FFF2-40B4-BE49-F238E27FC236}">
                <a16:creationId xmlns:a16="http://schemas.microsoft.com/office/drawing/2014/main" id="{0EC445DC-21C2-4ABC-A980-04516B458F70}"/>
              </a:ext>
            </a:extLst>
          </p:cNvPr>
          <p:cNvSpPr>
            <a:spLocks noGrp="1"/>
          </p:cNvSpPr>
          <p:nvPr>
            <p:ph type="sldNum" sz="quarter" idx="12"/>
          </p:nvPr>
        </p:nvSpPr>
        <p:spPr/>
        <p:txBody>
          <a:bodyPr/>
          <a:lstStyle/>
          <a:p>
            <a:pPr>
              <a:defRPr/>
            </a:pPr>
            <a:fld id="{BFD7BE51-03DD-4CCA-8227-D775462981B4}" type="slidenum">
              <a:rPr lang="en-US" altLang="zh-CN" smtClean="0"/>
              <a:pPr>
                <a:defRPr/>
              </a:pPr>
              <a:t>63</a:t>
            </a:fld>
            <a:endParaRPr lang="en-US" altLang="zh-CN"/>
          </a:p>
        </p:txBody>
      </p:sp>
      <p:sp>
        <p:nvSpPr>
          <p:cNvPr id="6" name="文本框 5">
            <a:extLst>
              <a:ext uri="{FF2B5EF4-FFF2-40B4-BE49-F238E27FC236}">
                <a16:creationId xmlns:a16="http://schemas.microsoft.com/office/drawing/2014/main" id="{866EF2D2-4E00-4AA1-83B0-6DCBACF1187A}"/>
              </a:ext>
            </a:extLst>
          </p:cNvPr>
          <p:cNvSpPr txBox="1"/>
          <p:nvPr/>
        </p:nvSpPr>
        <p:spPr>
          <a:xfrm>
            <a:off x="467544" y="2708920"/>
            <a:ext cx="4878259" cy="2985433"/>
          </a:xfrm>
          <a:prstGeom prst="rect">
            <a:avLst/>
          </a:prstGeom>
          <a:noFill/>
        </p:spPr>
        <p:txBody>
          <a:bodyPr wrap="none" rtlCol="0">
            <a:spAutoFit/>
          </a:bodyPr>
          <a:lstStyle/>
          <a:p>
            <a:r>
              <a:rPr lang="en-US" altLang="zh-CN" sz="2000" b="1" dirty="0" err="1">
                <a:latin typeface="Consolas" panose="020B0609020204030204" pitchFamily="49" charset="0"/>
              </a:rPr>
              <a:t>shared_ptr</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 p1(new </a:t>
            </a:r>
            <a:r>
              <a:rPr lang="en-US" altLang="zh-CN" sz="2000" b="1" dirty="0" err="1">
                <a:latin typeface="Consolas" panose="020B0609020204030204" pitchFamily="49" charset="0"/>
              </a:rPr>
              <a:t>int</a:t>
            </a:r>
            <a:r>
              <a:rPr lang="en-US" altLang="zh-CN" sz="2000" b="1" dirty="0">
                <a:latin typeface="Consolas" panose="020B0609020204030204" pitchFamily="49" charset="0"/>
              </a:rPr>
              <a:t>(4));</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solidFill>
                  <a:srgbClr val="FF0000"/>
                </a:solidFill>
                <a:latin typeface="Consolas" panose="020B0609020204030204" pitchFamily="49" charset="0"/>
              </a:rPr>
              <a:t>shared_ptr</a:t>
            </a:r>
            <a:r>
              <a:rPr lang="en-US" altLang="zh-CN" sz="2000" b="1" dirty="0">
                <a:solidFill>
                  <a:srgbClr val="FF0000"/>
                </a:solidFill>
                <a:latin typeface="Consolas" panose="020B0609020204030204" pitchFamily="49" charset="0"/>
              </a:rPr>
              <a:t>&lt;</a:t>
            </a:r>
            <a:r>
              <a:rPr lang="en-US" altLang="zh-CN" sz="2000" b="1" dirty="0" err="1">
                <a:solidFill>
                  <a:srgbClr val="FF0000"/>
                </a:solidFill>
                <a:latin typeface="Consolas" panose="020B0609020204030204" pitchFamily="49" charset="0"/>
              </a:rPr>
              <a:t>int</a:t>
            </a:r>
            <a:r>
              <a:rPr lang="en-US" altLang="zh-CN" sz="2000" b="1" dirty="0">
                <a:solidFill>
                  <a:srgbClr val="FF0000"/>
                </a:solidFill>
                <a:latin typeface="Consolas" panose="020B0609020204030204" pitchFamily="49" charset="0"/>
              </a:rPr>
              <a:t>&gt; p2 = p1;</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p2.use_count() &lt;&lt; ' ';</a:t>
            </a:r>
          </a:p>
          <a:p>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//p2</a:t>
            </a:r>
            <a:r>
              <a:rPr lang="zh-CN" altLang="en-US" sz="2000" b="1" dirty="0">
                <a:solidFill>
                  <a:srgbClr val="008000"/>
                </a:solidFill>
                <a:latin typeface="Consolas" panose="020B0609020204030204" pitchFamily="49" charset="0"/>
              </a:rPr>
              <a:t>出作用域</a:t>
            </a:r>
            <a:endParaRPr lang="en-US" altLang="zh-CN" sz="2000" b="1" dirty="0">
              <a:solidFill>
                <a:srgbClr val="008000"/>
              </a:solidFill>
              <a:latin typeface="Consolas" panose="020B0609020204030204" pitchFamily="49" charset="0"/>
            </a:endParaRP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endParaRPr lang="zh-CN" altLang="en-US" sz="2400" b="1" dirty="0"/>
          </a:p>
        </p:txBody>
      </p:sp>
      <p:grpSp>
        <p:nvGrpSpPr>
          <p:cNvPr id="7" name="组合 6">
            <a:extLst>
              <a:ext uri="{FF2B5EF4-FFF2-40B4-BE49-F238E27FC236}">
                <a16:creationId xmlns:a16="http://schemas.microsoft.com/office/drawing/2014/main" id="{04A022B2-05F1-46CD-AF83-FA57C619E266}"/>
              </a:ext>
            </a:extLst>
          </p:cNvPr>
          <p:cNvGrpSpPr/>
          <p:nvPr/>
        </p:nvGrpSpPr>
        <p:grpSpPr>
          <a:xfrm>
            <a:off x="4756959" y="1442992"/>
            <a:ext cx="3919497" cy="4141652"/>
            <a:chOff x="5086167" y="1884868"/>
            <a:chExt cx="3919497" cy="4141652"/>
          </a:xfrm>
        </p:grpSpPr>
        <p:grpSp>
          <p:nvGrpSpPr>
            <p:cNvPr id="8" name="组合 7">
              <a:extLst>
                <a:ext uri="{FF2B5EF4-FFF2-40B4-BE49-F238E27FC236}">
                  <a16:creationId xmlns:a16="http://schemas.microsoft.com/office/drawing/2014/main" id="{771CFE1F-44AC-45C8-976F-4FA2BDAAFF7F}"/>
                </a:ext>
              </a:extLst>
            </p:cNvPr>
            <p:cNvGrpSpPr/>
            <p:nvPr/>
          </p:nvGrpSpPr>
          <p:grpSpPr>
            <a:xfrm>
              <a:off x="5086167" y="1884868"/>
              <a:ext cx="3919497" cy="4141652"/>
              <a:chOff x="5076056" y="1809383"/>
              <a:chExt cx="3919497" cy="4141652"/>
            </a:xfrm>
          </p:grpSpPr>
          <p:sp>
            <p:nvSpPr>
              <p:cNvPr id="10" name="矩形 9">
                <a:extLst>
                  <a:ext uri="{FF2B5EF4-FFF2-40B4-BE49-F238E27FC236}">
                    <a16:creationId xmlns:a16="http://schemas.microsoft.com/office/drawing/2014/main" id="{7CDFE1A2-8D98-425C-89F6-F5F7CD56BFFE}"/>
                  </a:ext>
                </a:extLst>
              </p:cNvPr>
              <p:cNvSpPr/>
              <p:nvPr/>
            </p:nvSpPr>
            <p:spPr>
              <a:xfrm>
                <a:off x="7483385" y="1809383"/>
                <a:ext cx="151216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latin typeface="Consolas" panose="020B0609020204030204" pitchFamily="49" charset="0"/>
                  </a:rPr>
                  <a:t>shared_ptr</a:t>
                </a:r>
                <a:r>
                  <a:rPr lang="en-US" altLang="zh-CN" dirty="0">
                    <a:latin typeface="Consolas" panose="020B0609020204030204" pitchFamily="49" charset="0"/>
                  </a:rPr>
                  <a:t> p2</a:t>
                </a:r>
                <a:endParaRPr lang="zh-CN" altLang="en-US" dirty="0">
                  <a:latin typeface="Consolas" panose="020B0609020204030204" pitchFamily="49" charset="0"/>
                </a:endParaRPr>
              </a:p>
            </p:txBody>
          </p:sp>
          <p:sp>
            <p:nvSpPr>
              <p:cNvPr id="11" name="矩形 10">
                <a:extLst>
                  <a:ext uri="{FF2B5EF4-FFF2-40B4-BE49-F238E27FC236}">
                    <a16:creationId xmlns:a16="http://schemas.microsoft.com/office/drawing/2014/main" id="{B1727143-9A47-4F0D-BCA9-2A1E6AC4B9FC}"/>
                  </a:ext>
                </a:extLst>
              </p:cNvPr>
              <p:cNvSpPr/>
              <p:nvPr/>
            </p:nvSpPr>
            <p:spPr>
              <a:xfrm>
                <a:off x="5076056" y="1809383"/>
                <a:ext cx="151216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latin typeface="Consolas" panose="020B0609020204030204" pitchFamily="49" charset="0"/>
                  </a:rPr>
                  <a:t>shared_ptr</a:t>
                </a:r>
                <a:r>
                  <a:rPr lang="en-US" altLang="zh-CN" dirty="0">
                    <a:latin typeface="Consolas" panose="020B0609020204030204" pitchFamily="49" charset="0"/>
                  </a:rPr>
                  <a:t> p1</a:t>
                </a:r>
                <a:endParaRPr lang="zh-CN" altLang="en-US" dirty="0">
                  <a:latin typeface="Consolas" panose="020B0609020204030204" pitchFamily="49" charset="0"/>
                </a:endParaRPr>
              </a:p>
            </p:txBody>
          </p:sp>
          <p:sp>
            <p:nvSpPr>
              <p:cNvPr id="12" name="矩形 11">
                <a:extLst>
                  <a:ext uri="{FF2B5EF4-FFF2-40B4-BE49-F238E27FC236}">
                    <a16:creationId xmlns:a16="http://schemas.microsoft.com/office/drawing/2014/main" id="{4446A7BA-22B5-4EA5-BF3C-9F6EA6CCC37B}"/>
                  </a:ext>
                </a:extLst>
              </p:cNvPr>
              <p:cNvSpPr/>
              <p:nvPr/>
            </p:nvSpPr>
            <p:spPr>
              <a:xfrm>
                <a:off x="6392671" y="3670390"/>
                <a:ext cx="1327209" cy="7546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Consolas" panose="020B0609020204030204" pitchFamily="49" charset="0"/>
                  </a:rPr>
                  <a:t>辅助指针</a:t>
                </a:r>
                <a:r>
                  <a:rPr lang="en-US" altLang="zh-CN" sz="2000" b="1" dirty="0">
                    <a:solidFill>
                      <a:schemeClr val="bg1"/>
                    </a:solidFill>
                    <a:latin typeface="Consolas" panose="020B0609020204030204" pitchFamily="49" charset="0"/>
                  </a:rPr>
                  <a:t>count=2</a:t>
                </a:r>
                <a:endParaRPr lang="zh-CN" altLang="en-US" b="1" dirty="0">
                  <a:solidFill>
                    <a:schemeClr val="bg1"/>
                  </a:solidFill>
                  <a:latin typeface="Consolas" panose="020B0609020204030204" pitchFamily="49" charset="0"/>
                </a:endParaRPr>
              </a:p>
            </p:txBody>
          </p:sp>
          <p:sp>
            <p:nvSpPr>
              <p:cNvPr id="13" name="矩形 12">
                <a:extLst>
                  <a:ext uri="{FF2B5EF4-FFF2-40B4-BE49-F238E27FC236}">
                    <a16:creationId xmlns:a16="http://schemas.microsoft.com/office/drawing/2014/main" id="{09314360-2510-403C-A866-6552E0210372}"/>
                  </a:ext>
                </a:extLst>
              </p:cNvPr>
              <p:cNvSpPr/>
              <p:nvPr/>
            </p:nvSpPr>
            <p:spPr>
              <a:xfrm>
                <a:off x="6444208" y="5302963"/>
                <a:ext cx="1224136"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4</a:t>
                </a:r>
                <a:endParaRPr lang="zh-CN" altLang="en-US" sz="2800" b="1" dirty="0"/>
              </a:p>
            </p:txBody>
          </p:sp>
          <p:cxnSp>
            <p:nvCxnSpPr>
              <p:cNvPr id="14" name="直接箭头连接符 13">
                <a:extLst>
                  <a:ext uri="{FF2B5EF4-FFF2-40B4-BE49-F238E27FC236}">
                    <a16:creationId xmlns:a16="http://schemas.microsoft.com/office/drawing/2014/main" id="{16955295-BC92-4687-B572-7C8D5BB55A46}"/>
                  </a:ext>
                </a:extLst>
              </p:cNvPr>
              <p:cNvCxnSpPr>
                <a:cxnSpLocks/>
                <a:stCxn id="11" idx="2"/>
                <a:endCxn id="12" idx="0"/>
              </p:cNvCxnSpPr>
              <p:nvPr/>
            </p:nvCxnSpPr>
            <p:spPr>
              <a:xfrm>
                <a:off x="5832140" y="2457455"/>
                <a:ext cx="1224136" cy="12129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FD14999-530B-4C81-90FF-CB8D7B8659C2}"/>
                  </a:ext>
                </a:extLst>
              </p:cNvPr>
              <p:cNvCxnSpPr>
                <a:cxnSpLocks/>
                <a:stCxn id="10" idx="2"/>
                <a:endCxn id="12" idx="0"/>
              </p:cNvCxnSpPr>
              <p:nvPr/>
            </p:nvCxnSpPr>
            <p:spPr>
              <a:xfrm flipH="1">
                <a:off x="7056276" y="2457455"/>
                <a:ext cx="1183193" cy="12129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 name="直接箭头连接符 8">
              <a:extLst>
                <a:ext uri="{FF2B5EF4-FFF2-40B4-BE49-F238E27FC236}">
                  <a16:creationId xmlns:a16="http://schemas.microsoft.com/office/drawing/2014/main" id="{92E76E11-6390-4B8A-971C-E2EF4068EDD5}"/>
                </a:ext>
              </a:extLst>
            </p:cNvPr>
            <p:cNvCxnSpPr>
              <a:cxnSpLocks/>
              <a:stCxn id="12" idx="2"/>
              <a:endCxn id="13" idx="0"/>
            </p:cNvCxnSpPr>
            <p:nvPr/>
          </p:nvCxnSpPr>
          <p:spPr>
            <a:xfrm>
              <a:off x="7066387" y="4500553"/>
              <a:ext cx="0" cy="8778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857930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D3ADC2-1B0B-411D-9AB4-985AD3F213B6}"/>
              </a:ext>
            </a:extLst>
          </p:cNvPr>
          <p:cNvSpPr>
            <a:spLocks noGrp="1"/>
          </p:cNvSpPr>
          <p:nvPr>
            <p:ph type="title"/>
          </p:nvPr>
        </p:nvSpPr>
        <p:spPr/>
        <p:txBody>
          <a:bodyPr/>
          <a:lstStyle/>
          <a:p>
            <a:r>
              <a:rPr lang="zh-CN" altLang="en-US" dirty="0"/>
              <a:t>运行过程</a:t>
            </a:r>
          </a:p>
        </p:txBody>
      </p:sp>
      <p:sp>
        <p:nvSpPr>
          <p:cNvPr id="4" name="灯片编号占位符 3">
            <a:extLst>
              <a:ext uri="{FF2B5EF4-FFF2-40B4-BE49-F238E27FC236}">
                <a16:creationId xmlns:a16="http://schemas.microsoft.com/office/drawing/2014/main" id="{0EC445DC-21C2-4ABC-A980-04516B458F70}"/>
              </a:ext>
            </a:extLst>
          </p:cNvPr>
          <p:cNvSpPr>
            <a:spLocks noGrp="1"/>
          </p:cNvSpPr>
          <p:nvPr>
            <p:ph type="sldNum" sz="quarter" idx="12"/>
          </p:nvPr>
        </p:nvSpPr>
        <p:spPr/>
        <p:txBody>
          <a:bodyPr/>
          <a:lstStyle/>
          <a:p>
            <a:pPr>
              <a:defRPr/>
            </a:pPr>
            <a:fld id="{BFD7BE51-03DD-4CCA-8227-D775462981B4}" type="slidenum">
              <a:rPr lang="en-US" altLang="zh-CN" smtClean="0"/>
              <a:pPr>
                <a:defRPr/>
              </a:pPr>
              <a:t>64</a:t>
            </a:fld>
            <a:endParaRPr lang="en-US" altLang="zh-CN"/>
          </a:p>
        </p:txBody>
      </p:sp>
      <p:sp>
        <p:nvSpPr>
          <p:cNvPr id="6" name="文本框 5">
            <a:extLst>
              <a:ext uri="{FF2B5EF4-FFF2-40B4-BE49-F238E27FC236}">
                <a16:creationId xmlns:a16="http://schemas.microsoft.com/office/drawing/2014/main" id="{866EF2D2-4E00-4AA1-83B0-6DCBACF1187A}"/>
              </a:ext>
            </a:extLst>
          </p:cNvPr>
          <p:cNvSpPr txBox="1"/>
          <p:nvPr/>
        </p:nvSpPr>
        <p:spPr>
          <a:xfrm>
            <a:off x="467544" y="2708920"/>
            <a:ext cx="4878259" cy="2985433"/>
          </a:xfrm>
          <a:prstGeom prst="rect">
            <a:avLst/>
          </a:prstGeom>
          <a:noFill/>
        </p:spPr>
        <p:txBody>
          <a:bodyPr wrap="none" rtlCol="0">
            <a:spAutoFit/>
          </a:bodyPr>
          <a:lstStyle/>
          <a:p>
            <a:r>
              <a:rPr lang="en-US" altLang="zh-CN" sz="2000" b="1" dirty="0" err="1">
                <a:latin typeface="Consolas" panose="020B0609020204030204" pitchFamily="49" charset="0"/>
              </a:rPr>
              <a:t>shared_ptr</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 p1(new </a:t>
            </a:r>
            <a:r>
              <a:rPr lang="en-US" altLang="zh-CN" sz="2000" b="1" dirty="0" err="1">
                <a:latin typeface="Consolas" panose="020B0609020204030204" pitchFamily="49" charset="0"/>
              </a:rPr>
              <a:t>int</a:t>
            </a:r>
            <a:r>
              <a:rPr lang="en-US" altLang="zh-CN" sz="2000" b="1" dirty="0">
                <a:latin typeface="Consolas" panose="020B0609020204030204" pitchFamily="49" charset="0"/>
              </a:rPr>
              <a:t>(4));</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latin typeface="Consolas" panose="020B0609020204030204" pitchFamily="49" charset="0"/>
              </a:rPr>
              <a:t>shared_ptr</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 p2 = p1;</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p2.use_count() &lt;&lt; ' ';</a:t>
            </a:r>
          </a:p>
          <a:p>
            <a:r>
              <a:rPr lang="en-US" altLang="zh-CN" sz="2000" b="1" dirty="0">
                <a:solidFill>
                  <a:srgbClr val="FF0000"/>
                </a:solidFill>
                <a:latin typeface="Consolas" panose="020B0609020204030204" pitchFamily="49" charset="0"/>
              </a:rPr>
              <a:t>}	//p2</a:t>
            </a:r>
            <a:r>
              <a:rPr lang="zh-CN" altLang="en-US" sz="2000" b="1" dirty="0">
                <a:solidFill>
                  <a:srgbClr val="FF0000"/>
                </a:solidFill>
                <a:latin typeface="Consolas" panose="020B0609020204030204" pitchFamily="49" charset="0"/>
              </a:rPr>
              <a:t>出作用域</a:t>
            </a:r>
            <a:endParaRPr lang="en-US" altLang="zh-CN" sz="2000" b="1" dirty="0">
              <a:solidFill>
                <a:srgbClr val="FF0000"/>
              </a:solidFill>
              <a:latin typeface="Consolas" panose="020B0609020204030204" pitchFamily="49" charset="0"/>
            </a:endParaRP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endParaRPr lang="zh-CN" altLang="en-US" sz="2400" b="1" dirty="0"/>
          </a:p>
        </p:txBody>
      </p:sp>
      <p:grpSp>
        <p:nvGrpSpPr>
          <p:cNvPr id="7" name="组合 6">
            <a:extLst>
              <a:ext uri="{FF2B5EF4-FFF2-40B4-BE49-F238E27FC236}">
                <a16:creationId xmlns:a16="http://schemas.microsoft.com/office/drawing/2014/main" id="{04A022B2-05F1-46CD-AF83-FA57C619E266}"/>
              </a:ext>
            </a:extLst>
          </p:cNvPr>
          <p:cNvGrpSpPr/>
          <p:nvPr/>
        </p:nvGrpSpPr>
        <p:grpSpPr>
          <a:xfrm>
            <a:off x="4756959" y="1442992"/>
            <a:ext cx="2643824" cy="4141652"/>
            <a:chOff x="5086167" y="1884868"/>
            <a:chExt cx="2643824" cy="4141652"/>
          </a:xfrm>
        </p:grpSpPr>
        <p:grpSp>
          <p:nvGrpSpPr>
            <p:cNvPr id="8" name="组合 7">
              <a:extLst>
                <a:ext uri="{FF2B5EF4-FFF2-40B4-BE49-F238E27FC236}">
                  <a16:creationId xmlns:a16="http://schemas.microsoft.com/office/drawing/2014/main" id="{771CFE1F-44AC-45C8-976F-4FA2BDAAFF7F}"/>
                </a:ext>
              </a:extLst>
            </p:cNvPr>
            <p:cNvGrpSpPr/>
            <p:nvPr/>
          </p:nvGrpSpPr>
          <p:grpSpPr>
            <a:xfrm>
              <a:off x="5086167" y="1884868"/>
              <a:ext cx="2643824" cy="4141652"/>
              <a:chOff x="5076056" y="1809383"/>
              <a:chExt cx="2643824" cy="4141652"/>
            </a:xfrm>
          </p:grpSpPr>
          <p:sp>
            <p:nvSpPr>
              <p:cNvPr id="11" name="矩形 10">
                <a:extLst>
                  <a:ext uri="{FF2B5EF4-FFF2-40B4-BE49-F238E27FC236}">
                    <a16:creationId xmlns:a16="http://schemas.microsoft.com/office/drawing/2014/main" id="{B1727143-9A47-4F0D-BCA9-2A1E6AC4B9FC}"/>
                  </a:ext>
                </a:extLst>
              </p:cNvPr>
              <p:cNvSpPr/>
              <p:nvPr/>
            </p:nvSpPr>
            <p:spPr>
              <a:xfrm>
                <a:off x="5076056" y="1809383"/>
                <a:ext cx="151216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latin typeface="Consolas" panose="020B0609020204030204" pitchFamily="49" charset="0"/>
                  </a:rPr>
                  <a:t>shared_ptr</a:t>
                </a:r>
                <a:r>
                  <a:rPr lang="en-US" altLang="zh-CN" dirty="0">
                    <a:latin typeface="Consolas" panose="020B0609020204030204" pitchFamily="49" charset="0"/>
                  </a:rPr>
                  <a:t> p1</a:t>
                </a:r>
                <a:endParaRPr lang="zh-CN" altLang="en-US" dirty="0">
                  <a:latin typeface="Consolas" panose="020B0609020204030204" pitchFamily="49" charset="0"/>
                </a:endParaRPr>
              </a:p>
            </p:txBody>
          </p:sp>
          <p:sp>
            <p:nvSpPr>
              <p:cNvPr id="12" name="矩形 11">
                <a:extLst>
                  <a:ext uri="{FF2B5EF4-FFF2-40B4-BE49-F238E27FC236}">
                    <a16:creationId xmlns:a16="http://schemas.microsoft.com/office/drawing/2014/main" id="{4446A7BA-22B5-4EA5-BF3C-9F6EA6CCC37B}"/>
                  </a:ext>
                </a:extLst>
              </p:cNvPr>
              <p:cNvSpPr/>
              <p:nvPr/>
            </p:nvSpPr>
            <p:spPr>
              <a:xfrm>
                <a:off x="6392671" y="3670390"/>
                <a:ext cx="1327209" cy="7546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Consolas" panose="020B0609020204030204" pitchFamily="49" charset="0"/>
                  </a:rPr>
                  <a:t>辅助指针</a:t>
                </a:r>
                <a:r>
                  <a:rPr lang="en-US" altLang="zh-CN" sz="2000" b="1" dirty="0">
                    <a:solidFill>
                      <a:schemeClr val="bg1"/>
                    </a:solidFill>
                    <a:latin typeface="Consolas" panose="020B0609020204030204" pitchFamily="49" charset="0"/>
                  </a:rPr>
                  <a:t>count=1</a:t>
                </a:r>
                <a:endParaRPr lang="zh-CN" altLang="en-US" b="1" dirty="0">
                  <a:solidFill>
                    <a:schemeClr val="bg1"/>
                  </a:solidFill>
                  <a:latin typeface="Consolas" panose="020B0609020204030204" pitchFamily="49" charset="0"/>
                </a:endParaRPr>
              </a:p>
            </p:txBody>
          </p:sp>
          <p:sp>
            <p:nvSpPr>
              <p:cNvPr id="13" name="矩形 12">
                <a:extLst>
                  <a:ext uri="{FF2B5EF4-FFF2-40B4-BE49-F238E27FC236}">
                    <a16:creationId xmlns:a16="http://schemas.microsoft.com/office/drawing/2014/main" id="{09314360-2510-403C-A866-6552E0210372}"/>
                  </a:ext>
                </a:extLst>
              </p:cNvPr>
              <p:cNvSpPr/>
              <p:nvPr/>
            </p:nvSpPr>
            <p:spPr>
              <a:xfrm>
                <a:off x="6444208" y="5302963"/>
                <a:ext cx="1224136"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4</a:t>
                </a:r>
                <a:endParaRPr lang="zh-CN" altLang="en-US" sz="2800" b="1" dirty="0"/>
              </a:p>
            </p:txBody>
          </p:sp>
          <p:cxnSp>
            <p:nvCxnSpPr>
              <p:cNvPr id="14" name="直接箭头连接符 13">
                <a:extLst>
                  <a:ext uri="{FF2B5EF4-FFF2-40B4-BE49-F238E27FC236}">
                    <a16:creationId xmlns:a16="http://schemas.microsoft.com/office/drawing/2014/main" id="{16955295-BC92-4687-B572-7C8D5BB55A46}"/>
                  </a:ext>
                </a:extLst>
              </p:cNvPr>
              <p:cNvCxnSpPr>
                <a:cxnSpLocks/>
                <a:stCxn id="11" idx="2"/>
                <a:endCxn id="12" idx="0"/>
              </p:cNvCxnSpPr>
              <p:nvPr/>
            </p:nvCxnSpPr>
            <p:spPr>
              <a:xfrm>
                <a:off x="5832140" y="2457455"/>
                <a:ext cx="1224136" cy="121293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9" name="直接箭头连接符 8">
              <a:extLst>
                <a:ext uri="{FF2B5EF4-FFF2-40B4-BE49-F238E27FC236}">
                  <a16:creationId xmlns:a16="http://schemas.microsoft.com/office/drawing/2014/main" id="{92E76E11-6390-4B8A-971C-E2EF4068EDD5}"/>
                </a:ext>
              </a:extLst>
            </p:cNvPr>
            <p:cNvCxnSpPr>
              <a:cxnSpLocks/>
              <a:stCxn id="12" idx="2"/>
              <a:endCxn id="13" idx="0"/>
            </p:cNvCxnSpPr>
            <p:nvPr/>
          </p:nvCxnSpPr>
          <p:spPr>
            <a:xfrm>
              <a:off x="7066387" y="4500553"/>
              <a:ext cx="0" cy="8778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434398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D3ADC2-1B0B-411D-9AB4-985AD3F213B6}"/>
              </a:ext>
            </a:extLst>
          </p:cNvPr>
          <p:cNvSpPr>
            <a:spLocks noGrp="1"/>
          </p:cNvSpPr>
          <p:nvPr>
            <p:ph type="title"/>
          </p:nvPr>
        </p:nvSpPr>
        <p:spPr/>
        <p:txBody>
          <a:bodyPr/>
          <a:lstStyle/>
          <a:p>
            <a:r>
              <a:rPr lang="zh-CN" altLang="en-US" dirty="0"/>
              <a:t>运行过程</a:t>
            </a:r>
          </a:p>
        </p:txBody>
      </p:sp>
      <p:sp>
        <p:nvSpPr>
          <p:cNvPr id="4" name="灯片编号占位符 3">
            <a:extLst>
              <a:ext uri="{FF2B5EF4-FFF2-40B4-BE49-F238E27FC236}">
                <a16:creationId xmlns:a16="http://schemas.microsoft.com/office/drawing/2014/main" id="{0EC445DC-21C2-4ABC-A980-04516B458F70}"/>
              </a:ext>
            </a:extLst>
          </p:cNvPr>
          <p:cNvSpPr>
            <a:spLocks noGrp="1"/>
          </p:cNvSpPr>
          <p:nvPr>
            <p:ph type="sldNum" sz="quarter" idx="12"/>
          </p:nvPr>
        </p:nvSpPr>
        <p:spPr/>
        <p:txBody>
          <a:bodyPr/>
          <a:lstStyle/>
          <a:p>
            <a:pPr>
              <a:defRPr/>
            </a:pPr>
            <a:fld id="{BFD7BE51-03DD-4CCA-8227-D775462981B4}" type="slidenum">
              <a:rPr lang="en-US" altLang="zh-CN" smtClean="0"/>
              <a:pPr>
                <a:defRPr/>
              </a:pPr>
              <a:t>65</a:t>
            </a:fld>
            <a:endParaRPr lang="en-US" altLang="zh-CN"/>
          </a:p>
        </p:txBody>
      </p:sp>
      <p:sp>
        <p:nvSpPr>
          <p:cNvPr id="6" name="文本框 5">
            <a:extLst>
              <a:ext uri="{FF2B5EF4-FFF2-40B4-BE49-F238E27FC236}">
                <a16:creationId xmlns:a16="http://schemas.microsoft.com/office/drawing/2014/main" id="{866EF2D2-4E00-4AA1-83B0-6DCBACF1187A}"/>
              </a:ext>
            </a:extLst>
          </p:cNvPr>
          <p:cNvSpPr txBox="1"/>
          <p:nvPr/>
        </p:nvSpPr>
        <p:spPr>
          <a:xfrm>
            <a:off x="467544" y="2708920"/>
            <a:ext cx="4878259" cy="2923877"/>
          </a:xfrm>
          <a:prstGeom prst="rect">
            <a:avLst/>
          </a:prstGeom>
          <a:noFill/>
        </p:spPr>
        <p:txBody>
          <a:bodyPr wrap="none" rtlCol="0">
            <a:spAutoFit/>
          </a:bodyPr>
          <a:lstStyle/>
          <a:p>
            <a:r>
              <a:rPr lang="en-US" altLang="zh-CN" sz="2000" b="1" dirty="0" err="1">
                <a:latin typeface="Consolas" panose="020B0609020204030204" pitchFamily="49" charset="0"/>
              </a:rPr>
              <a:t>shared_ptr</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 p1(new </a:t>
            </a:r>
            <a:r>
              <a:rPr lang="en-US" altLang="zh-CN" sz="2000" b="1" dirty="0" err="1">
                <a:latin typeface="Consolas" panose="020B0609020204030204" pitchFamily="49" charset="0"/>
              </a:rPr>
              <a:t>int</a:t>
            </a:r>
            <a:r>
              <a:rPr lang="en-US" altLang="zh-CN" sz="2000" b="1" dirty="0">
                <a:latin typeface="Consolas" panose="020B0609020204030204" pitchFamily="49" charset="0"/>
              </a:rPr>
              <a:t>(4));</a:t>
            </a: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a:t>
            </a:r>
          </a:p>
          <a:p>
            <a:r>
              <a:rPr lang="en-US" altLang="zh-CN" sz="2000" b="1" dirty="0">
                <a:latin typeface="Consolas" panose="020B0609020204030204" pitchFamily="49" charset="0"/>
              </a:rPr>
              <a:t>	</a:t>
            </a:r>
            <a:r>
              <a:rPr lang="en-US" altLang="zh-CN" sz="2000" b="1" dirty="0" err="1">
                <a:latin typeface="Consolas" panose="020B0609020204030204" pitchFamily="49" charset="0"/>
              </a:rPr>
              <a:t>shared_ptr</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 p2 = p1;</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p2.use_count() &lt;&lt; ' ';</a:t>
            </a:r>
          </a:p>
          <a:p>
            <a:r>
              <a:rPr lang="en-US" altLang="zh-CN" sz="2000" b="1" dirty="0">
                <a:latin typeface="Consolas" panose="020B0609020204030204" pitchFamily="49" charset="0"/>
              </a:rPr>
              <a:t>}	</a:t>
            </a:r>
            <a:r>
              <a:rPr lang="en-US" altLang="zh-CN" sz="2000" b="1" dirty="0">
                <a:solidFill>
                  <a:srgbClr val="1D9A78"/>
                </a:solidFill>
                <a:latin typeface="Consolas" panose="020B0609020204030204" pitchFamily="49" charset="0"/>
              </a:rPr>
              <a:t>//p2</a:t>
            </a:r>
            <a:r>
              <a:rPr lang="zh-CN" altLang="en-US" sz="2000" b="1" dirty="0">
                <a:solidFill>
                  <a:srgbClr val="1D9A78"/>
                </a:solidFill>
                <a:latin typeface="Consolas" panose="020B0609020204030204" pitchFamily="49" charset="0"/>
              </a:rPr>
              <a:t>出作用域</a:t>
            </a:r>
            <a:endParaRPr lang="en-US" altLang="zh-CN" sz="2000" b="1" dirty="0">
              <a:solidFill>
                <a:srgbClr val="1D9A78"/>
              </a:solidFill>
              <a:latin typeface="Consolas" panose="020B0609020204030204" pitchFamily="49" charset="0"/>
            </a:endParaRPr>
          </a:p>
          <a:p>
            <a:r>
              <a:rPr lang="en-US" altLang="zh-CN" sz="2000" b="1" dirty="0" err="1">
                <a:latin typeface="Consolas" panose="020B0609020204030204" pitchFamily="49" charset="0"/>
              </a:rPr>
              <a:t>cout</a:t>
            </a:r>
            <a:r>
              <a:rPr lang="en-US" altLang="zh-CN" sz="2000" b="1" dirty="0">
                <a:latin typeface="Consolas" panose="020B0609020204030204" pitchFamily="49" charset="0"/>
              </a:rPr>
              <a:t> &lt;&lt; p1.use_count() &lt;&lt; ' ';</a:t>
            </a:r>
          </a:p>
          <a:p>
            <a:r>
              <a:rPr lang="en-US" altLang="zh-CN" sz="2000" b="1" dirty="0">
                <a:solidFill>
                  <a:srgbClr val="FF0000"/>
                </a:solidFill>
                <a:latin typeface="Consolas" panose="020B0609020204030204" pitchFamily="49" charset="0"/>
              </a:rPr>
              <a:t>//</a:t>
            </a:r>
            <a:r>
              <a:rPr lang="zh-CN" altLang="en-US" sz="2000" b="1" dirty="0">
                <a:solidFill>
                  <a:srgbClr val="FF0000"/>
                </a:solidFill>
                <a:latin typeface="Consolas" panose="020B0609020204030204" pitchFamily="49" charset="0"/>
              </a:rPr>
              <a:t>调用</a:t>
            </a:r>
            <a:r>
              <a:rPr lang="en-US" altLang="zh-CN" sz="2000" b="1" dirty="0">
                <a:solidFill>
                  <a:srgbClr val="FF0000"/>
                </a:solidFill>
                <a:latin typeface="Consolas" panose="020B0609020204030204" pitchFamily="49" charset="0"/>
              </a:rPr>
              <a:t>delete</a:t>
            </a:r>
            <a:r>
              <a:rPr lang="zh-CN" altLang="en-US" sz="2000" b="1" dirty="0">
                <a:solidFill>
                  <a:srgbClr val="FF0000"/>
                </a:solidFill>
                <a:latin typeface="Consolas" panose="020B0609020204030204" pitchFamily="49" charset="0"/>
              </a:rPr>
              <a:t>，销毁</a:t>
            </a:r>
            <a:r>
              <a:rPr lang="en-US" altLang="zh-CN" sz="2000" b="1" dirty="0" err="1">
                <a:solidFill>
                  <a:srgbClr val="FF0000"/>
                </a:solidFill>
                <a:latin typeface="Consolas" panose="020B0609020204030204" pitchFamily="49" charset="0"/>
              </a:rPr>
              <a:t>int</a:t>
            </a:r>
            <a:r>
              <a:rPr lang="en-US" altLang="zh-CN" sz="2000" b="1" dirty="0">
                <a:solidFill>
                  <a:srgbClr val="FF0000"/>
                </a:solidFill>
                <a:latin typeface="Consolas" panose="020B0609020204030204" pitchFamily="49" charset="0"/>
              </a:rPr>
              <a:t>*</a:t>
            </a:r>
            <a:endParaRPr lang="zh-CN" altLang="en-US" sz="2000" b="1" dirty="0">
              <a:solidFill>
                <a:srgbClr val="FF0000"/>
              </a:solidFill>
            </a:endParaRPr>
          </a:p>
        </p:txBody>
      </p:sp>
      <p:grpSp>
        <p:nvGrpSpPr>
          <p:cNvPr id="7" name="组合 6">
            <a:extLst>
              <a:ext uri="{FF2B5EF4-FFF2-40B4-BE49-F238E27FC236}">
                <a16:creationId xmlns:a16="http://schemas.microsoft.com/office/drawing/2014/main" id="{04A022B2-05F1-46CD-AF83-FA57C619E266}"/>
              </a:ext>
            </a:extLst>
          </p:cNvPr>
          <p:cNvGrpSpPr/>
          <p:nvPr/>
        </p:nvGrpSpPr>
        <p:grpSpPr>
          <a:xfrm>
            <a:off x="6073574" y="3303999"/>
            <a:ext cx="1327209" cy="2280645"/>
            <a:chOff x="6402782" y="3745875"/>
            <a:chExt cx="1327209" cy="2280645"/>
          </a:xfrm>
        </p:grpSpPr>
        <p:grpSp>
          <p:nvGrpSpPr>
            <p:cNvPr id="8" name="组合 7">
              <a:extLst>
                <a:ext uri="{FF2B5EF4-FFF2-40B4-BE49-F238E27FC236}">
                  <a16:creationId xmlns:a16="http://schemas.microsoft.com/office/drawing/2014/main" id="{771CFE1F-44AC-45C8-976F-4FA2BDAAFF7F}"/>
                </a:ext>
              </a:extLst>
            </p:cNvPr>
            <p:cNvGrpSpPr/>
            <p:nvPr/>
          </p:nvGrpSpPr>
          <p:grpSpPr>
            <a:xfrm>
              <a:off x="6402782" y="3745875"/>
              <a:ext cx="1327209" cy="2280645"/>
              <a:chOff x="6392671" y="3670390"/>
              <a:chExt cx="1327209" cy="2280645"/>
            </a:xfrm>
          </p:grpSpPr>
          <p:sp>
            <p:nvSpPr>
              <p:cNvPr id="12" name="矩形 11">
                <a:extLst>
                  <a:ext uri="{FF2B5EF4-FFF2-40B4-BE49-F238E27FC236}">
                    <a16:creationId xmlns:a16="http://schemas.microsoft.com/office/drawing/2014/main" id="{4446A7BA-22B5-4EA5-BF3C-9F6EA6CCC37B}"/>
                  </a:ext>
                </a:extLst>
              </p:cNvPr>
              <p:cNvSpPr/>
              <p:nvPr/>
            </p:nvSpPr>
            <p:spPr>
              <a:xfrm>
                <a:off x="6392671" y="3670390"/>
                <a:ext cx="1327209" cy="75467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Consolas" panose="020B0609020204030204" pitchFamily="49" charset="0"/>
                  </a:rPr>
                  <a:t>辅助指针</a:t>
                </a:r>
                <a:r>
                  <a:rPr lang="en-US" altLang="zh-CN" sz="2000" b="1" dirty="0">
                    <a:solidFill>
                      <a:schemeClr val="bg1"/>
                    </a:solidFill>
                    <a:latin typeface="Consolas" panose="020B0609020204030204" pitchFamily="49" charset="0"/>
                  </a:rPr>
                  <a:t>count=0</a:t>
                </a:r>
                <a:endParaRPr lang="zh-CN" altLang="en-US" b="1" dirty="0">
                  <a:solidFill>
                    <a:schemeClr val="bg1"/>
                  </a:solidFill>
                  <a:latin typeface="Consolas" panose="020B0609020204030204" pitchFamily="49" charset="0"/>
                </a:endParaRPr>
              </a:p>
            </p:txBody>
          </p:sp>
          <p:sp>
            <p:nvSpPr>
              <p:cNvPr id="13" name="矩形 12">
                <a:extLst>
                  <a:ext uri="{FF2B5EF4-FFF2-40B4-BE49-F238E27FC236}">
                    <a16:creationId xmlns:a16="http://schemas.microsoft.com/office/drawing/2014/main" id="{09314360-2510-403C-A866-6552E0210372}"/>
                  </a:ext>
                </a:extLst>
              </p:cNvPr>
              <p:cNvSpPr/>
              <p:nvPr/>
            </p:nvSpPr>
            <p:spPr>
              <a:xfrm>
                <a:off x="6444208" y="5302963"/>
                <a:ext cx="1224136"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t>4</a:t>
                </a:r>
                <a:endParaRPr lang="zh-CN" altLang="en-US" sz="2800" b="1" dirty="0"/>
              </a:p>
            </p:txBody>
          </p:sp>
        </p:grpSp>
        <p:cxnSp>
          <p:nvCxnSpPr>
            <p:cNvPr id="9" name="直接箭头连接符 8">
              <a:extLst>
                <a:ext uri="{FF2B5EF4-FFF2-40B4-BE49-F238E27FC236}">
                  <a16:creationId xmlns:a16="http://schemas.microsoft.com/office/drawing/2014/main" id="{92E76E11-6390-4B8A-971C-E2EF4068EDD5}"/>
                </a:ext>
              </a:extLst>
            </p:cNvPr>
            <p:cNvCxnSpPr>
              <a:cxnSpLocks/>
              <a:stCxn id="12" idx="2"/>
              <a:endCxn id="13" idx="0"/>
            </p:cNvCxnSpPr>
            <p:nvPr/>
          </p:nvCxnSpPr>
          <p:spPr>
            <a:xfrm>
              <a:off x="7066387" y="4500553"/>
              <a:ext cx="0" cy="87789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102279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实现自己的引用计数</a:t>
            </a:r>
          </a:p>
        </p:txBody>
      </p:sp>
      <p:sp>
        <p:nvSpPr>
          <p:cNvPr id="5" name="TextBox 3"/>
          <p:cNvSpPr txBox="1"/>
          <p:nvPr/>
        </p:nvSpPr>
        <p:spPr>
          <a:xfrm>
            <a:off x="628650" y="1555037"/>
            <a:ext cx="7886700" cy="4801314"/>
          </a:xfrm>
          <a:prstGeom prst="rect">
            <a:avLst/>
          </a:prstGeom>
          <a:noFill/>
          <a:ln w="31750">
            <a:solidFill>
              <a:srgbClr val="0070C0"/>
            </a:solidFill>
          </a:ln>
        </p:spPr>
        <p:txBody>
          <a:bodyPr wrap="square" rtlCol="0">
            <a:spAutoFit/>
          </a:bodyPr>
          <a:lstStyle>
            <a:defPPr>
              <a:defRPr lang="zh-CN"/>
            </a:defPPr>
            <a:lvl1pPr>
              <a:defRPr>
                <a:solidFill>
                  <a:srgbClr val="006666"/>
                </a:solidFill>
                <a:latin typeface="Letter Gothic" pitchFamily="49" charset="0"/>
                <a:cs typeface="Courier New" pitchFamily="49" charset="0"/>
              </a:defRPr>
            </a:lvl1pPr>
          </a:lstStyle>
          <a:p>
            <a:r>
              <a:rPr lang="en-US" altLang="zh-CN" b="1" dirty="0">
                <a:solidFill>
                  <a:schemeClr val="tx1"/>
                </a:solidFill>
                <a:latin typeface="Consolas" panose="020B0609020204030204" pitchFamily="49" charset="0"/>
                <a:ea typeface="微软雅黑" panose="020B0503020204020204" pitchFamily="34" charset="-122"/>
              </a:rPr>
              <a:t>#include &lt;</a:t>
            </a:r>
            <a:r>
              <a:rPr lang="en-US" altLang="zh-CN" b="1" dirty="0" err="1">
                <a:solidFill>
                  <a:schemeClr val="tx1"/>
                </a:solidFill>
                <a:latin typeface="Consolas" panose="020B0609020204030204" pitchFamily="49" charset="0"/>
                <a:ea typeface="微软雅黑" panose="020B0503020204020204" pitchFamily="34" charset="-122"/>
              </a:rPr>
              <a:t>iostream</a:t>
            </a:r>
            <a:r>
              <a:rPr lang="en-US" altLang="zh-CN" b="1" dirty="0">
                <a:solidFill>
                  <a:schemeClr val="tx1"/>
                </a:solidFill>
                <a:latin typeface="Consolas" panose="020B0609020204030204" pitchFamily="49" charset="0"/>
                <a:ea typeface="微软雅黑" panose="020B0503020204020204" pitchFamily="34" charset="-122"/>
              </a:rPr>
              <a:t>&gt;</a:t>
            </a:r>
          </a:p>
          <a:p>
            <a:r>
              <a:rPr lang="en-US" altLang="zh-CN" b="1" dirty="0">
                <a:solidFill>
                  <a:schemeClr val="tx1"/>
                </a:solidFill>
                <a:latin typeface="Consolas" panose="020B0609020204030204" pitchFamily="49" charset="0"/>
                <a:ea typeface="微软雅黑" panose="020B0503020204020204" pitchFamily="34" charset="-122"/>
              </a:rPr>
              <a:t>using namespace </a:t>
            </a:r>
            <a:r>
              <a:rPr lang="en-US" altLang="zh-CN" b="1" dirty="0" err="1">
                <a:solidFill>
                  <a:schemeClr val="tx1"/>
                </a:solidFill>
                <a:latin typeface="Consolas" panose="020B0609020204030204" pitchFamily="49" charset="0"/>
                <a:ea typeface="微软雅黑" panose="020B0503020204020204" pitchFamily="34" charset="-122"/>
              </a:rPr>
              <a:t>std</a:t>
            </a:r>
            <a:r>
              <a:rPr lang="en-US" altLang="zh-CN" b="1" dirty="0">
                <a:solidFill>
                  <a:schemeClr val="tx1"/>
                </a:solidFill>
                <a:latin typeface="Consolas" panose="020B0609020204030204" pitchFamily="49" charset="0"/>
                <a:ea typeface="微软雅黑" panose="020B0503020204020204" pitchFamily="34" charset="-122"/>
              </a:rPr>
              <a:t>;</a:t>
            </a:r>
          </a:p>
          <a:p>
            <a:endParaRPr lang="en-US" altLang="zh-CN" b="1" dirty="0">
              <a:solidFill>
                <a:schemeClr val="tx1"/>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template &lt;</a:t>
            </a:r>
            <a:r>
              <a:rPr lang="en-US" altLang="zh-CN" b="1" dirty="0" err="1">
                <a:solidFill>
                  <a:schemeClr val="tx1"/>
                </a:solidFill>
                <a:latin typeface="Consolas" panose="020B0609020204030204" pitchFamily="49" charset="0"/>
                <a:ea typeface="微软雅黑" panose="020B0503020204020204" pitchFamily="34" charset="-122"/>
              </a:rPr>
              <a:t>typename</a:t>
            </a:r>
            <a:r>
              <a:rPr lang="en-US" altLang="zh-CN" b="1" dirty="0">
                <a:solidFill>
                  <a:schemeClr val="tx1"/>
                </a:solidFill>
                <a:latin typeface="Consolas" panose="020B0609020204030204" pitchFamily="49" charset="0"/>
                <a:ea typeface="微软雅黑" panose="020B0503020204020204" pitchFamily="34" charset="-122"/>
              </a:rPr>
              <a:t> T&gt; </a:t>
            </a:r>
          </a:p>
          <a:p>
            <a:r>
              <a:rPr lang="en-US" altLang="zh-CN" b="1" dirty="0">
                <a:solidFill>
                  <a:schemeClr val="tx1"/>
                </a:solidFill>
                <a:latin typeface="Consolas" panose="020B0609020204030204" pitchFamily="49" charset="0"/>
                <a:ea typeface="微软雅黑" panose="020B0503020204020204" pitchFamily="34" charset="-122"/>
              </a:rPr>
              <a:t>class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  </a:t>
            </a:r>
            <a:r>
              <a:rPr lang="en-US" altLang="zh-CN" dirty="0">
                <a:solidFill>
                  <a:srgbClr val="008000"/>
                </a:solidFill>
                <a:latin typeface="Consolas" panose="020B0609020204030204" pitchFamily="49" charset="0"/>
                <a:ea typeface="微软雅黑" panose="020B0503020204020204" pitchFamily="34" charset="-122"/>
              </a:rPr>
              <a:t>//</a:t>
            </a:r>
            <a:r>
              <a:rPr lang="zh-CN" altLang="en-US" dirty="0">
                <a:solidFill>
                  <a:srgbClr val="008000"/>
                </a:solidFill>
                <a:latin typeface="Consolas" panose="020B0609020204030204" pitchFamily="49" charset="0"/>
                <a:ea typeface="微软雅黑" panose="020B0503020204020204" pitchFamily="34" charset="-122"/>
              </a:rPr>
              <a:t>声明智能指针模板类</a:t>
            </a:r>
            <a:endParaRPr lang="en-US" altLang="zh-CN" dirty="0">
              <a:solidFill>
                <a:srgbClr val="008000"/>
              </a:solidFill>
              <a:latin typeface="Consolas" panose="020B0609020204030204" pitchFamily="49" charset="0"/>
              <a:ea typeface="微软雅黑" panose="020B0503020204020204" pitchFamily="34" charset="-122"/>
            </a:endParaRPr>
          </a:p>
          <a:p>
            <a:r>
              <a:rPr lang="en-US" altLang="zh-CN" dirty="0">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template &lt;</a:t>
            </a:r>
            <a:r>
              <a:rPr lang="en-US" altLang="zh-CN" b="1" dirty="0" err="1">
                <a:solidFill>
                  <a:schemeClr val="tx1"/>
                </a:solidFill>
                <a:latin typeface="Consolas" panose="020B0609020204030204" pitchFamily="49" charset="0"/>
                <a:ea typeface="微软雅黑" panose="020B0503020204020204" pitchFamily="34" charset="-122"/>
              </a:rPr>
              <a:t>typename</a:t>
            </a:r>
            <a:r>
              <a:rPr lang="en-US" altLang="zh-CN" b="1" dirty="0">
                <a:solidFill>
                  <a:schemeClr val="tx1"/>
                </a:solidFill>
                <a:latin typeface="Consolas" panose="020B0609020204030204" pitchFamily="49" charset="0"/>
                <a:ea typeface="微软雅黑" panose="020B0503020204020204" pitchFamily="34" charset="-122"/>
              </a:rPr>
              <a:t> T&gt;</a:t>
            </a:r>
          </a:p>
          <a:p>
            <a:r>
              <a:rPr lang="en-US" altLang="zh-CN" b="1" dirty="0">
                <a:solidFill>
                  <a:schemeClr val="tx1"/>
                </a:solidFill>
                <a:latin typeface="Consolas" panose="020B0609020204030204" pitchFamily="49" charset="0"/>
                <a:ea typeface="微软雅黑" panose="020B0503020204020204" pitchFamily="34" charset="-122"/>
              </a:rPr>
              <a:t>class </a:t>
            </a:r>
            <a:r>
              <a:rPr lang="en-US" altLang="zh-CN" b="1" dirty="0" err="1">
                <a:solidFill>
                  <a:schemeClr val="tx1"/>
                </a:solidFill>
                <a:latin typeface="Consolas" panose="020B0609020204030204" pitchFamily="49" charset="0"/>
                <a:ea typeface="微软雅黑" panose="020B0503020204020204" pitchFamily="34" charset="-122"/>
              </a:rPr>
              <a:t>U_Ptr</a:t>
            </a:r>
            <a:r>
              <a:rPr lang="en-US" altLang="zh-CN" b="1" dirty="0">
                <a:solidFill>
                  <a:schemeClr val="tx1"/>
                </a:solidFill>
                <a:latin typeface="Consolas" panose="020B0609020204030204" pitchFamily="49" charset="0"/>
                <a:ea typeface="微软雅黑" panose="020B0503020204020204" pitchFamily="34" charset="-122"/>
              </a:rPr>
              <a:t> { </a:t>
            </a:r>
            <a:r>
              <a:rPr lang="en-US" altLang="zh-CN" dirty="0">
                <a:solidFill>
                  <a:srgbClr val="008000"/>
                </a:solidFill>
                <a:latin typeface="Consolas" panose="020B0609020204030204" pitchFamily="49" charset="0"/>
                <a:ea typeface="微软雅黑" panose="020B0503020204020204" pitchFamily="34" charset="-122"/>
              </a:rPr>
              <a:t>//</a:t>
            </a:r>
            <a:r>
              <a:rPr lang="zh-CN" altLang="en-US" dirty="0">
                <a:solidFill>
                  <a:srgbClr val="008000"/>
                </a:solidFill>
                <a:latin typeface="Consolas" panose="020B0609020204030204" pitchFamily="49" charset="0"/>
                <a:ea typeface="微软雅黑" panose="020B0503020204020204" pitchFamily="34" charset="-122"/>
              </a:rPr>
              <a:t>辅助指针</a:t>
            </a:r>
            <a:endParaRPr lang="en-US" altLang="zh-CN" dirty="0">
              <a:solidFill>
                <a:srgbClr val="008000"/>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private:</a:t>
            </a:r>
          </a:p>
          <a:p>
            <a:r>
              <a:rPr lang="en-US" altLang="zh-CN" b="1" dirty="0">
                <a:solidFill>
                  <a:schemeClr val="tx1"/>
                </a:solidFill>
                <a:latin typeface="Consolas" panose="020B0609020204030204" pitchFamily="49" charset="0"/>
                <a:ea typeface="微软雅黑" panose="020B0503020204020204" pitchFamily="34" charset="-122"/>
              </a:rPr>
              <a:t>  friend class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&lt;T&gt;;</a:t>
            </a:r>
            <a:endParaRPr lang="zh-CN" altLang="en-US" b="1" dirty="0">
              <a:solidFill>
                <a:schemeClr val="tx1"/>
              </a:solidFill>
              <a:latin typeface="Consolas" panose="020B0609020204030204" pitchFamily="49" charset="0"/>
              <a:ea typeface="微软雅黑" panose="020B0503020204020204" pitchFamily="34" charset="-122"/>
            </a:endParaRPr>
          </a:p>
          <a:p>
            <a:r>
              <a:rPr lang="en-US" altLang="zh-CN" b="1" dirty="0">
                <a:latin typeface="Consolas" panose="020B0609020204030204" pitchFamily="49" charset="0"/>
                <a:ea typeface="微软雅黑" panose="020B0503020204020204" pitchFamily="34" charset="-122"/>
              </a:rPr>
              <a:t>  </a:t>
            </a:r>
            <a:r>
              <a:rPr lang="en-US" altLang="zh-CN" dirty="0">
                <a:solidFill>
                  <a:srgbClr val="008000"/>
                </a:solidFill>
                <a:latin typeface="Consolas" panose="020B0609020204030204" pitchFamily="49" charset="0"/>
                <a:ea typeface="微软雅黑" panose="020B0503020204020204" pitchFamily="34" charset="-122"/>
              </a:rPr>
              <a:t>//</a:t>
            </a:r>
            <a:r>
              <a:rPr lang="en-US" altLang="zh-CN" dirty="0" err="1">
                <a:solidFill>
                  <a:srgbClr val="008000"/>
                </a:solidFill>
                <a:latin typeface="Consolas" panose="020B0609020204030204" pitchFamily="49" charset="0"/>
                <a:ea typeface="微软雅黑" panose="020B0503020204020204" pitchFamily="34" charset="-122"/>
              </a:rPr>
              <a:t>SmartPtr</a:t>
            </a:r>
            <a:r>
              <a:rPr lang="zh-CN" altLang="en-US" dirty="0">
                <a:solidFill>
                  <a:srgbClr val="008000"/>
                </a:solidFill>
                <a:latin typeface="Consolas" panose="020B0609020204030204" pitchFamily="49" charset="0"/>
                <a:ea typeface="微软雅黑" panose="020B0503020204020204" pitchFamily="34" charset="-122"/>
              </a:rPr>
              <a:t>是</a:t>
            </a:r>
            <a:r>
              <a:rPr lang="en-US" altLang="zh-CN" dirty="0" err="1">
                <a:solidFill>
                  <a:srgbClr val="008000"/>
                </a:solidFill>
                <a:latin typeface="Consolas" panose="020B0609020204030204" pitchFamily="49" charset="0"/>
                <a:ea typeface="微软雅黑" panose="020B0503020204020204" pitchFamily="34" charset="-122"/>
              </a:rPr>
              <a:t>U_Ptr</a:t>
            </a:r>
            <a:r>
              <a:rPr lang="zh-CN" altLang="en-US" dirty="0">
                <a:solidFill>
                  <a:srgbClr val="008000"/>
                </a:solidFill>
                <a:latin typeface="Consolas" panose="020B0609020204030204" pitchFamily="49" charset="0"/>
                <a:ea typeface="微软雅黑" panose="020B0503020204020204" pitchFamily="34" charset="-122"/>
              </a:rPr>
              <a:t>的友元类</a:t>
            </a:r>
            <a:endParaRPr lang="en-US" altLang="zh-CN" dirty="0">
              <a:solidFill>
                <a:srgbClr val="008000"/>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U_Ptr</a:t>
            </a:r>
            <a:r>
              <a:rPr lang="en-US" altLang="zh-CN" b="1" dirty="0">
                <a:solidFill>
                  <a:schemeClr val="tx1"/>
                </a:solidFill>
                <a:latin typeface="Consolas" panose="020B0609020204030204" pitchFamily="49" charset="0"/>
                <a:ea typeface="微软雅黑" panose="020B0503020204020204" pitchFamily="34" charset="-122"/>
              </a:rPr>
              <a:t>(T *</a:t>
            </a:r>
            <a:r>
              <a:rPr lang="en-US" altLang="zh-CN" b="1" dirty="0" err="1">
                <a:solidFill>
                  <a:schemeClr val="tx1"/>
                </a:solidFill>
                <a:latin typeface="Consolas" panose="020B0609020204030204" pitchFamily="49" charset="0"/>
                <a:ea typeface="微软雅黑" panose="020B0503020204020204" pitchFamily="34" charset="-122"/>
              </a:rPr>
              <a:t>ptr</a:t>
            </a:r>
            <a:r>
              <a:rPr lang="en-US" altLang="zh-CN" b="1" dirty="0">
                <a:solidFill>
                  <a:schemeClr val="tx1"/>
                </a:solidFill>
                <a:latin typeface="Consolas" panose="020B0609020204030204" pitchFamily="49" charset="0"/>
                <a:ea typeface="微软雅黑" panose="020B0503020204020204" pitchFamily="34" charset="-122"/>
              </a:rPr>
              <a:t>) :p(</a:t>
            </a:r>
            <a:r>
              <a:rPr lang="en-US" altLang="zh-CN" b="1" dirty="0" err="1">
                <a:solidFill>
                  <a:schemeClr val="tx1"/>
                </a:solidFill>
                <a:latin typeface="Consolas" panose="020B0609020204030204" pitchFamily="49" charset="0"/>
                <a:ea typeface="微软雅黑" panose="020B0503020204020204" pitchFamily="34" charset="-122"/>
              </a:rPr>
              <a:t>ptr</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a:solidFill>
                  <a:srgbClr val="C00000"/>
                </a:solidFill>
                <a:latin typeface="Consolas" panose="020B0609020204030204" pitchFamily="49" charset="0"/>
                <a:ea typeface="微软雅黑" panose="020B0503020204020204" pitchFamily="34" charset="-122"/>
              </a:rPr>
              <a:t>count(1)</a:t>
            </a:r>
            <a:r>
              <a:rPr lang="en-US" altLang="zh-CN" b="1" dirty="0">
                <a:latin typeface="Consolas" panose="020B0609020204030204" pitchFamily="49" charset="0"/>
                <a:ea typeface="微软雅黑" panose="020B0503020204020204" pitchFamily="34" charset="-122"/>
              </a:rPr>
              <a:t> </a:t>
            </a:r>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U_Ptr</a:t>
            </a:r>
            <a:r>
              <a:rPr lang="en-US" altLang="zh-CN" b="1" dirty="0">
                <a:solidFill>
                  <a:schemeClr val="tx1"/>
                </a:solidFill>
                <a:latin typeface="Consolas" panose="020B0609020204030204" pitchFamily="49" charset="0"/>
                <a:ea typeface="微软雅黑" panose="020B0503020204020204" pitchFamily="34" charset="-122"/>
              </a:rPr>
              <a:t>() { delete p; }</a:t>
            </a:r>
          </a:p>
          <a:p>
            <a:r>
              <a:rPr lang="en-US" altLang="zh-CN" b="1" dirty="0">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 count;   </a:t>
            </a:r>
          </a:p>
          <a:p>
            <a:r>
              <a:rPr lang="en-US" altLang="zh-CN" b="1" dirty="0">
                <a:solidFill>
                  <a:schemeClr val="tx1"/>
                </a:solidFill>
                <a:latin typeface="Consolas" panose="020B0609020204030204" pitchFamily="49" charset="0"/>
                <a:ea typeface="微软雅黑" panose="020B0503020204020204" pitchFamily="34" charset="-122"/>
              </a:rPr>
              <a:t>  T *p; </a:t>
            </a:r>
            <a:r>
              <a:rPr lang="en-US" altLang="zh-CN" dirty="0">
                <a:solidFill>
                  <a:srgbClr val="008000"/>
                </a:solidFill>
                <a:latin typeface="Consolas" panose="020B0609020204030204" pitchFamily="49" charset="0"/>
                <a:ea typeface="微软雅黑" panose="020B0503020204020204" pitchFamily="34" charset="-122"/>
              </a:rPr>
              <a:t>//</a:t>
            </a:r>
            <a:r>
              <a:rPr lang="zh-CN" altLang="en-US" dirty="0">
                <a:solidFill>
                  <a:srgbClr val="008000"/>
                </a:solidFill>
                <a:latin typeface="Consolas" panose="020B0609020204030204" pitchFamily="49" charset="0"/>
                <a:ea typeface="微软雅黑" panose="020B0503020204020204" pitchFamily="34" charset="-122"/>
              </a:rPr>
              <a:t>实际数据存放</a:t>
            </a:r>
            <a:r>
              <a:rPr lang="en-US" altLang="zh-CN" dirty="0">
                <a:solidFill>
                  <a:srgbClr val="008000"/>
                </a:solidFill>
                <a:latin typeface="Consolas" panose="020B0609020204030204" pitchFamily="49" charset="0"/>
                <a:ea typeface="微软雅黑" panose="020B0503020204020204" pitchFamily="34" charset="-122"/>
              </a:rPr>
              <a:t>       </a:t>
            </a:r>
            <a:r>
              <a:rPr lang="en-US" altLang="zh-CN" b="1" dirty="0">
                <a:solidFill>
                  <a:srgbClr val="00CC00"/>
                </a:solidFill>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a:t>
            </a:r>
          </a:p>
        </p:txBody>
      </p:sp>
      <p:sp>
        <p:nvSpPr>
          <p:cNvPr id="3" name="灯片编号占位符 2"/>
          <p:cNvSpPr>
            <a:spLocks noGrp="1"/>
          </p:cNvSpPr>
          <p:nvPr>
            <p:ph type="sldNum" sz="quarter" idx="12"/>
          </p:nvPr>
        </p:nvSpPr>
        <p:spPr/>
        <p:txBody>
          <a:bodyPr/>
          <a:lstStyle/>
          <a:p>
            <a:pPr>
              <a:defRPr/>
            </a:pPr>
            <a:fld id="{BFD7BE51-03DD-4CCA-8227-D775462981B4}" type="slidenum">
              <a:rPr lang="en-US" altLang="zh-CN" smtClean="0"/>
              <a:pPr>
                <a:defRPr/>
              </a:pPr>
              <a:t>66</a:t>
            </a:fld>
            <a:endParaRPr lang="en-US" altLang="zh-CN"/>
          </a:p>
        </p:txBody>
      </p:sp>
      <p:grpSp>
        <p:nvGrpSpPr>
          <p:cNvPr id="16" name="组合 15">
            <a:extLst>
              <a:ext uri="{FF2B5EF4-FFF2-40B4-BE49-F238E27FC236}">
                <a16:creationId xmlns:a16="http://schemas.microsoft.com/office/drawing/2014/main" id="{7F30CAFC-0933-4111-946B-7C6E322C590B}"/>
              </a:ext>
            </a:extLst>
          </p:cNvPr>
          <p:cNvGrpSpPr/>
          <p:nvPr/>
        </p:nvGrpSpPr>
        <p:grpSpPr>
          <a:xfrm>
            <a:off x="4468927" y="1735620"/>
            <a:ext cx="3919497" cy="4141652"/>
            <a:chOff x="5086167" y="1884868"/>
            <a:chExt cx="3919497" cy="4141652"/>
          </a:xfrm>
        </p:grpSpPr>
        <p:grpSp>
          <p:nvGrpSpPr>
            <p:cNvPr id="15" name="组合 14">
              <a:extLst>
                <a:ext uri="{FF2B5EF4-FFF2-40B4-BE49-F238E27FC236}">
                  <a16:creationId xmlns:a16="http://schemas.microsoft.com/office/drawing/2014/main" id="{EF7C0756-5D02-4373-9FCD-812B462CDECF}"/>
                </a:ext>
              </a:extLst>
            </p:cNvPr>
            <p:cNvGrpSpPr/>
            <p:nvPr/>
          </p:nvGrpSpPr>
          <p:grpSpPr>
            <a:xfrm>
              <a:off x="5086167" y="1884868"/>
              <a:ext cx="3919497" cy="4141652"/>
              <a:chOff x="5076056" y="1809383"/>
              <a:chExt cx="3919497" cy="4141652"/>
            </a:xfrm>
          </p:grpSpPr>
          <p:sp>
            <p:nvSpPr>
              <p:cNvPr id="4" name="矩形 3">
                <a:extLst>
                  <a:ext uri="{FF2B5EF4-FFF2-40B4-BE49-F238E27FC236}">
                    <a16:creationId xmlns:a16="http://schemas.microsoft.com/office/drawing/2014/main" id="{216BBD68-CAE0-4654-81A1-915DD0F7DDBB}"/>
                  </a:ext>
                </a:extLst>
              </p:cNvPr>
              <p:cNvSpPr/>
              <p:nvPr/>
            </p:nvSpPr>
            <p:spPr>
              <a:xfrm>
                <a:off x="7483385" y="1809383"/>
                <a:ext cx="151216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SmartPtr</a:t>
                </a:r>
                <a:r>
                  <a:rPr lang="en-US" altLang="zh-CN" dirty="0"/>
                  <a:t> p1</a:t>
                </a:r>
                <a:endParaRPr lang="zh-CN" altLang="en-US" dirty="0"/>
              </a:p>
            </p:txBody>
          </p:sp>
          <p:sp>
            <p:nvSpPr>
              <p:cNvPr id="6" name="矩形 5">
                <a:extLst>
                  <a:ext uri="{FF2B5EF4-FFF2-40B4-BE49-F238E27FC236}">
                    <a16:creationId xmlns:a16="http://schemas.microsoft.com/office/drawing/2014/main" id="{458DEAFA-5CD6-4DE3-8E98-D13DF0A9F359}"/>
                  </a:ext>
                </a:extLst>
              </p:cNvPr>
              <p:cNvSpPr/>
              <p:nvPr/>
            </p:nvSpPr>
            <p:spPr>
              <a:xfrm>
                <a:off x="5076056" y="1809383"/>
                <a:ext cx="1512168"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SmartPtr</a:t>
                </a:r>
                <a:r>
                  <a:rPr lang="en-US" altLang="zh-CN" dirty="0"/>
                  <a:t> p2</a:t>
                </a:r>
                <a:endParaRPr lang="zh-CN" altLang="en-US" dirty="0"/>
              </a:p>
            </p:txBody>
          </p:sp>
          <p:sp>
            <p:nvSpPr>
              <p:cNvPr id="7" name="矩形 6">
                <a:extLst>
                  <a:ext uri="{FF2B5EF4-FFF2-40B4-BE49-F238E27FC236}">
                    <a16:creationId xmlns:a16="http://schemas.microsoft.com/office/drawing/2014/main" id="{4FD0E19B-8E53-4B50-AB87-C8E7D1958A0B}"/>
                  </a:ext>
                </a:extLst>
              </p:cNvPr>
              <p:cNvSpPr/>
              <p:nvPr/>
            </p:nvSpPr>
            <p:spPr>
              <a:xfrm>
                <a:off x="6444208" y="3544769"/>
                <a:ext cx="1224136"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Uptr</a:t>
                </a:r>
                <a:endParaRPr lang="en-US" altLang="zh-CN" dirty="0"/>
              </a:p>
              <a:p>
                <a:pPr algn="ctr"/>
                <a:r>
                  <a:rPr lang="en-US" altLang="zh-CN" dirty="0"/>
                  <a:t>count</a:t>
                </a:r>
                <a:endParaRPr lang="zh-CN" altLang="en-US" dirty="0"/>
              </a:p>
            </p:txBody>
          </p:sp>
          <p:sp>
            <p:nvSpPr>
              <p:cNvPr id="8" name="矩形 7">
                <a:extLst>
                  <a:ext uri="{FF2B5EF4-FFF2-40B4-BE49-F238E27FC236}">
                    <a16:creationId xmlns:a16="http://schemas.microsoft.com/office/drawing/2014/main" id="{EF64B3FF-599B-4ABD-A0A9-399FB73FDE13}"/>
                  </a:ext>
                </a:extLst>
              </p:cNvPr>
              <p:cNvSpPr/>
              <p:nvPr/>
            </p:nvSpPr>
            <p:spPr>
              <a:xfrm>
                <a:off x="6444208" y="5302963"/>
                <a:ext cx="1224136"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T</a:t>
                </a:r>
                <a:r>
                  <a:rPr lang="zh-CN" altLang="en-US" dirty="0"/>
                  <a:t> *</a:t>
                </a:r>
                <a:r>
                  <a:rPr lang="en-US" altLang="zh-CN" dirty="0"/>
                  <a:t>p</a:t>
                </a:r>
                <a:endParaRPr lang="zh-CN" altLang="en-US" dirty="0"/>
              </a:p>
            </p:txBody>
          </p:sp>
          <p:cxnSp>
            <p:nvCxnSpPr>
              <p:cNvPr id="10" name="直接箭头连接符 9">
                <a:extLst>
                  <a:ext uri="{FF2B5EF4-FFF2-40B4-BE49-F238E27FC236}">
                    <a16:creationId xmlns:a16="http://schemas.microsoft.com/office/drawing/2014/main" id="{2EC5326E-C4B6-4D60-A671-D8169AE7EE8C}"/>
                  </a:ext>
                </a:extLst>
              </p:cNvPr>
              <p:cNvCxnSpPr>
                <a:stCxn id="6" idx="2"/>
                <a:endCxn id="7" idx="0"/>
              </p:cNvCxnSpPr>
              <p:nvPr/>
            </p:nvCxnSpPr>
            <p:spPr>
              <a:xfrm>
                <a:off x="5832140" y="2457455"/>
                <a:ext cx="1224136" cy="10873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7ACDCEA0-6D8F-49BA-9805-EF8B58C8CC18}"/>
                  </a:ext>
                </a:extLst>
              </p:cNvPr>
              <p:cNvCxnSpPr>
                <a:stCxn id="4" idx="2"/>
                <a:endCxn id="7" idx="0"/>
              </p:cNvCxnSpPr>
              <p:nvPr/>
            </p:nvCxnSpPr>
            <p:spPr>
              <a:xfrm flipH="1">
                <a:off x="7056276" y="2457455"/>
                <a:ext cx="1183193" cy="108731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直接箭头连接符 13">
              <a:extLst>
                <a:ext uri="{FF2B5EF4-FFF2-40B4-BE49-F238E27FC236}">
                  <a16:creationId xmlns:a16="http://schemas.microsoft.com/office/drawing/2014/main" id="{A7E6110D-5442-4C56-BDF0-9E0FC6BC718A}"/>
                </a:ext>
              </a:extLst>
            </p:cNvPr>
            <p:cNvCxnSpPr>
              <a:stCxn id="7" idx="2"/>
              <a:endCxn id="8" idx="0"/>
            </p:cNvCxnSpPr>
            <p:nvPr/>
          </p:nvCxnSpPr>
          <p:spPr>
            <a:xfrm>
              <a:off x="7066387" y="4268326"/>
              <a:ext cx="0" cy="111012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1632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实现自己的引用计数</a:t>
            </a:r>
          </a:p>
        </p:txBody>
      </p:sp>
      <p:sp>
        <p:nvSpPr>
          <p:cNvPr id="5" name="TextBox 3"/>
          <p:cNvSpPr txBox="1"/>
          <p:nvPr/>
        </p:nvSpPr>
        <p:spPr>
          <a:xfrm>
            <a:off x="628650" y="1355278"/>
            <a:ext cx="7886700" cy="5386090"/>
          </a:xfrm>
          <a:prstGeom prst="rect">
            <a:avLst/>
          </a:prstGeom>
          <a:noFill/>
          <a:ln w="31750">
            <a:solidFill>
              <a:srgbClr val="0070C0"/>
            </a:solidFill>
          </a:ln>
        </p:spPr>
        <p:txBody>
          <a:bodyPr wrap="square" rtlCol="0">
            <a:spAutoFit/>
          </a:bodyPr>
          <a:lstStyle>
            <a:defPPr>
              <a:defRPr lang="zh-CN"/>
            </a:defPPr>
            <a:lvl1pPr>
              <a:defRPr>
                <a:solidFill>
                  <a:srgbClr val="006666"/>
                </a:solidFill>
                <a:latin typeface="Letter Gothic" pitchFamily="49" charset="0"/>
                <a:cs typeface="Courier New" pitchFamily="49" charset="0"/>
              </a:defRPr>
            </a:lvl1pPr>
          </a:lstStyle>
          <a:p>
            <a:r>
              <a:rPr lang="en-US" altLang="zh-CN" b="1" dirty="0">
                <a:solidFill>
                  <a:schemeClr val="tx1"/>
                </a:solidFill>
                <a:latin typeface="Consolas" panose="020B0609020204030204" pitchFamily="49" charset="0"/>
                <a:ea typeface="微软雅黑" panose="020B0503020204020204" pitchFamily="34" charset="-122"/>
              </a:rPr>
              <a:t>template &lt;</a:t>
            </a:r>
            <a:r>
              <a:rPr lang="en-US" altLang="zh-CN" b="1" dirty="0" err="1">
                <a:solidFill>
                  <a:schemeClr val="tx1"/>
                </a:solidFill>
                <a:latin typeface="Consolas" panose="020B0609020204030204" pitchFamily="49" charset="0"/>
                <a:ea typeface="微软雅黑" panose="020B0503020204020204" pitchFamily="34" charset="-122"/>
              </a:rPr>
              <a:t>typename</a:t>
            </a:r>
            <a:r>
              <a:rPr lang="en-US" altLang="zh-CN" b="1" dirty="0">
                <a:solidFill>
                  <a:schemeClr val="tx1"/>
                </a:solidFill>
                <a:latin typeface="Consolas" panose="020B0609020204030204" pitchFamily="49" charset="0"/>
                <a:ea typeface="微软雅黑" panose="020B0503020204020204" pitchFamily="34" charset="-122"/>
              </a:rPr>
              <a:t> T&gt;</a:t>
            </a:r>
          </a:p>
          <a:p>
            <a:r>
              <a:rPr lang="en-US" altLang="zh-CN" b="1" dirty="0">
                <a:solidFill>
                  <a:schemeClr val="tx1"/>
                </a:solidFill>
                <a:latin typeface="Consolas" panose="020B0609020204030204" pitchFamily="49" charset="0"/>
                <a:ea typeface="微软雅黑" panose="020B0503020204020204" pitchFamily="34" charset="-122"/>
              </a:rPr>
              <a:t>class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 { </a:t>
            </a:r>
            <a:r>
              <a:rPr lang="en-US" altLang="zh-CN" dirty="0">
                <a:solidFill>
                  <a:srgbClr val="C00000"/>
                </a:solidFill>
                <a:latin typeface="Consolas" panose="020B0609020204030204" pitchFamily="49" charset="0"/>
                <a:ea typeface="微软雅黑" panose="020B0503020204020204" pitchFamily="34" charset="-122"/>
              </a:rPr>
              <a:t>//</a:t>
            </a:r>
            <a:r>
              <a:rPr lang="zh-CN" altLang="en-US" dirty="0">
                <a:solidFill>
                  <a:srgbClr val="C00000"/>
                </a:solidFill>
                <a:latin typeface="Consolas" panose="020B0609020204030204" pitchFamily="49" charset="0"/>
                <a:ea typeface="微软雅黑" panose="020B0503020204020204" pitchFamily="34" charset="-122"/>
              </a:rPr>
              <a:t>智能指针</a:t>
            </a:r>
          </a:p>
          <a:p>
            <a:r>
              <a:rPr lang="en-US" altLang="zh-CN" b="1" dirty="0">
                <a:solidFill>
                  <a:schemeClr val="tx1"/>
                </a:solidFill>
                <a:latin typeface="Consolas" panose="020B0609020204030204" pitchFamily="49" charset="0"/>
                <a:ea typeface="微软雅黑" panose="020B0503020204020204" pitchFamily="34" charset="-122"/>
              </a:rPr>
              <a:t> </a:t>
            </a:r>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U_Ptr</a:t>
            </a:r>
            <a:r>
              <a:rPr lang="en-US" altLang="zh-CN" b="1" dirty="0">
                <a:solidFill>
                  <a:schemeClr val="tx1"/>
                </a:solidFill>
                <a:latin typeface="Consolas" panose="020B0609020204030204" pitchFamily="49" charset="0"/>
                <a:ea typeface="微软雅黑" panose="020B0503020204020204" pitchFamily="34" charset="-122"/>
              </a:rPr>
              <a:t>&lt;T&gt; *</a:t>
            </a:r>
            <a:r>
              <a:rPr lang="en-US" altLang="zh-CN" b="1" dirty="0" err="1">
                <a:solidFill>
                  <a:schemeClr val="tx1"/>
                </a:solidFill>
                <a:latin typeface="Consolas" panose="020B0609020204030204" pitchFamily="49" charset="0"/>
                <a:ea typeface="微软雅黑" panose="020B0503020204020204" pitchFamily="34" charset="-122"/>
              </a:rPr>
              <a:t>rp</a:t>
            </a:r>
            <a:r>
              <a:rPr lang="en-US" altLang="zh-CN" b="1" dirty="0">
                <a:solidFill>
                  <a:schemeClr val="tx1"/>
                </a:solidFill>
                <a:latin typeface="Consolas" panose="020B0609020204030204" pitchFamily="49" charset="0"/>
                <a:ea typeface="微软雅黑" panose="020B0503020204020204" pitchFamily="34" charset="-122"/>
              </a:rPr>
              <a:t>;</a:t>
            </a:r>
          </a:p>
          <a:p>
            <a:r>
              <a:rPr lang="en-US" altLang="zh-CN" b="1" dirty="0">
                <a:solidFill>
                  <a:schemeClr val="tx1"/>
                </a:solidFill>
                <a:latin typeface="Consolas" panose="020B0609020204030204" pitchFamily="49" charset="0"/>
                <a:ea typeface="微软雅黑" panose="020B0503020204020204" pitchFamily="34" charset="-122"/>
              </a:rPr>
              <a:t>public:</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(T *</a:t>
            </a:r>
            <a:r>
              <a:rPr lang="en-US" altLang="zh-CN" b="1" dirty="0" err="1">
                <a:solidFill>
                  <a:schemeClr val="tx1"/>
                </a:solidFill>
                <a:latin typeface="Consolas" panose="020B0609020204030204" pitchFamily="49" charset="0"/>
                <a:ea typeface="微软雅黑" panose="020B0503020204020204" pitchFamily="34" charset="-122"/>
              </a:rPr>
              <a:t>ptr</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rp</a:t>
            </a:r>
            <a:r>
              <a:rPr lang="en-US" altLang="zh-CN" b="1" dirty="0">
                <a:solidFill>
                  <a:schemeClr val="tx1"/>
                </a:solidFill>
                <a:latin typeface="Consolas" panose="020B0609020204030204" pitchFamily="49" charset="0"/>
                <a:ea typeface="微软雅黑" panose="020B0503020204020204" pitchFamily="34" charset="-122"/>
              </a:rPr>
              <a:t>(</a:t>
            </a:r>
            <a:r>
              <a:rPr lang="en-US" altLang="zh-CN" sz="2000" b="1" dirty="0">
                <a:solidFill>
                  <a:srgbClr val="7030A0"/>
                </a:solidFill>
                <a:latin typeface="Consolas" panose="020B0609020204030204" pitchFamily="49" charset="0"/>
                <a:ea typeface="微软雅黑" panose="020B0503020204020204" pitchFamily="34" charset="-122"/>
              </a:rPr>
              <a:t>new </a:t>
            </a:r>
            <a:r>
              <a:rPr lang="en-US" altLang="zh-CN" sz="2000" b="1" dirty="0" err="1">
                <a:solidFill>
                  <a:srgbClr val="7030A0"/>
                </a:solidFill>
                <a:latin typeface="Consolas" panose="020B0609020204030204" pitchFamily="49" charset="0"/>
                <a:ea typeface="微软雅黑" panose="020B0503020204020204" pitchFamily="34" charset="-122"/>
              </a:rPr>
              <a:t>U_Ptr</a:t>
            </a:r>
            <a:r>
              <a:rPr lang="en-US" altLang="zh-CN" sz="2000" b="1" dirty="0">
                <a:solidFill>
                  <a:srgbClr val="7030A0"/>
                </a:solidFill>
                <a:latin typeface="Consolas" panose="020B0609020204030204" pitchFamily="49" charset="0"/>
                <a:ea typeface="微软雅黑" panose="020B0503020204020204" pitchFamily="34" charset="-122"/>
              </a:rPr>
              <a:t>&lt;T&gt;(</a:t>
            </a:r>
            <a:r>
              <a:rPr lang="en-US" altLang="zh-CN" sz="2000" b="1" dirty="0" err="1">
                <a:solidFill>
                  <a:srgbClr val="7030A0"/>
                </a:solidFill>
                <a:latin typeface="Consolas" panose="020B0609020204030204" pitchFamily="49" charset="0"/>
                <a:ea typeface="微软雅黑" panose="020B0503020204020204" pitchFamily="34" charset="-122"/>
              </a:rPr>
              <a:t>ptr</a:t>
            </a:r>
            <a:r>
              <a:rPr lang="en-US" altLang="zh-CN" sz="2000" b="1" dirty="0">
                <a:solidFill>
                  <a:srgbClr val="7030A0"/>
                </a:solidFill>
                <a:latin typeface="Consolas" panose="020B0609020204030204" pitchFamily="49" charset="0"/>
                <a:ea typeface="微软雅黑" panose="020B0503020204020204" pitchFamily="34" charset="-122"/>
              </a:rPr>
              <a:t>)</a:t>
            </a:r>
            <a:r>
              <a:rPr lang="en-US" altLang="zh-CN" b="1" dirty="0">
                <a:solidFill>
                  <a:schemeClr val="tx1"/>
                </a:solidFill>
                <a:latin typeface="Consolas" panose="020B0609020204030204" pitchFamily="49" charset="0"/>
                <a:ea typeface="微软雅黑" panose="020B0503020204020204" pitchFamily="34" charset="-122"/>
              </a:rPr>
              <a:t>) { }</a:t>
            </a:r>
          </a:p>
          <a:p>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a:t>
            </a:r>
            <a:r>
              <a:rPr lang="en-US" altLang="zh-CN" b="1" dirty="0" err="1">
                <a:solidFill>
                  <a:schemeClr val="tx1"/>
                </a:solidFill>
                <a:latin typeface="Consolas" panose="020B0609020204030204" pitchFamily="49" charset="0"/>
                <a:ea typeface="微软雅黑" panose="020B0503020204020204" pitchFamily="34" charset="-122"/>
              </a:rPr>
              <a:t>const</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&lt;T&gt; &amp;</a:t>
            </a:r>
            <a:r>
              <a:rPr lang="en-US" altLang="zh-CN" b="1" dirty="0" err="1">
                <a:solidFill>
                  <a:schemeClr val="tx1"/>
                </a:solidFill>
                <a:latin typeface="Consolas" panose="020B0609020204030204" pitchFamily="49" charset="0"/>
                <a:ea typeface="微软雅黑" panose="020B0503020204020204" pitchFamily="34" charset="-122"/>
              </a:rPr>
              <a:t>sp</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rp</a:t>
            </a:r>
            <a:r>
              <a:rPr lang="en-US" altLang="zh-CN" b="1" dirty="0">
                <a:solidFill>
                  <a:schemeClr val="tx1"/>
                </a:solidFill>
                <a:latin typeface="Consolas" panose="020B0609020204030204" pitchFamily="49" charset="0"/>
                <a:ea typeface="微软雅黑" panose="020B0503020204020204" pitchFamily="34" charset="-122"/>
              </a:rPr>
              <a:t>(</a:t>
            </a:r>
            <a:r>
              <a:rPr lang="en-US" altLang="zh-CN" b="1" dirty="0" err="1">
                <a:solidFill>
                  <a:schemeClr val="tx1"/>
                </a:solidFill>
                <a:latin typeface="Consolas" panose="020B0609020204030204" pitchFamily="49" charset="0"/>
                <a:ea typeface="微软雅黑" panose="020B0503020204020204" pitchFamily="34" charset="-122"/>
              </a:rPr>
              <a:t>sp.rp</a:t>
            </a:r>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rgbClr val="C00000"/>
                </a:solidFill>
                <a:latin typeface="Consolas" panose="020B0609020204030204" pitchFamily="49" charset="0"/>
                <a:ea typeface="微软雅黑" panose="020B0503020204020204" pitchFamily="34" charset="-122"/>
              </a:rPr>
              <a:t>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-&gt;count; </a:t>
            </a:r>
          </a:p>
          <a:p>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 </a:t>
            </a:r>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&amp; operator=(</a:t>
            </a:r>
            <a:r>
              <a:rPr lang="en-US" altLang="zh-CN" b="1" dirty="0" err="1">
                <a:solidFill>
                  <a:schemeClr val="tx1"/>
                </a:solidFill>
                <a:latin typeface="Consolas" panose="020B0609020204030204" pitchFamily="49" charset="0"/>
                <a:ea typeface="微软雅黑" panose="020B0503020204020204" pitchFamily="34" charset="-122"/>
              </a:rPr>
              <a:t>const</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&lt;T&gt;&amp; </a:t>
            </a:r>
            <a:r>
              <a:rPr lang="en-US" altLang="zh-CN" b="1" dirty="0" err="1">
                <a:solidFill>
                  <a:schemeClr val="tx1"/>
                </a:solidFill>
                <a:latin typeface="Consolas" panose="020B0609020204030204" pitchFamily="49" charset="0"/>
                <a:ea typeface="微软雅黑" panose="020B0503020204020204" pitchFamily="34" charset="-122"/>
              </a:rPr>
              <a:t>rhs</a:t>
            </a:r>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rgbClr val="C00000"/>
                </a:solidFill>
                <a:latin typeface="Consolas" panose="020B0609020204030204" pitchFamily="49" charset="0"/>
                <a:ea typeface="微软雅黑" panose="020B0503020204020204" pitchFamily="34" charset="-122"/>
              </a:rPr>
              <a:t>    ++</a:t>
            </a:r>
            <a:r>
              <a:rPr lang="en-US" altLang="zh-CN" b="1" dirty="0" err="1">
                <a:solidFill>
                  <a:srgbClr val="C00000"/>
                </a:solidFill>
                <a:latin typeface="Consolas" panose="020B0609020204030204" pitchFamily="49" charset="0"/>
                <a:ea typeface="微软雅黑" panose="020B0503020204020204" pitchFamily="34" charset="-122"/>
              </a:rPr>
              <a:t>rhs.rp</a:t>
            </a:r>
            <a:r>
              <a:rPr lang="en-US" altLang="zh-CN" b="1" dirty="0">
                <a:solidFill>
                  <a:srgbClr val="C00000"/>
                </a:solidFill>
                <a:latin typeface="Consolas" panose="020B0609020204030204" pitchFamily="49" charset="0"/>
                <a:ea typeface="微软雅黑" panose="020B0503020204020204" pitchFamily="34" charset="-122"/>
              </a:rPr>
              <a:t>-&gt;count; </a:t>
            </a:r>
          </a:p>
          <a:p>
            <a:r>
              <a:rPr lang="en-US" altLang="zh-CN" b="1" dirty="0">
                <a:solidFill>
                  <a:srgbClr val="C00000"/>
                </a:solidFill>
                <a:latin typeface="Consolas" panose="020B0609020204030204" pitchFamily="49" charset="0"/>
                <a:ea typeface="微软雅黑" panose="020B0503020204020204" pitchFamily="34" charset="-122"/>
              </a:rPr>
              <a:t>    if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-&gt;count == 0)</a:t>
            </a:r>
            <a:r>
              <a:rPr lang="zh-CN" altLang="en-US" b="1" dirty="0">
                <a:solidFill>
                  <a:srgbClr val="C00000"/>
                </a:solidFill>
                <a:latin typeface="Consolas" panose="020B0609020204030204" pitchFamily="49" charset="0"/>
                <a:ea typeface="微软雅黑" panose="020B0503020204020204" pitchFamily="34" charset="-122"/>
              </a:rPr>
              <a:t> </a:t>
            </a:r>
            <a:r>
              <a:rPr lang="en-US" altLang="zh-CN" b="1" dirty="0">
                <a:solidFill>
                  <a:srgbClr val="C00000"/>
                </a:solidFill>
                <a:latin typeface="Consolas" panose="020B0609020204030204" pitchFamily="49" charset="0"/>
                <a:ea typeface="微软雅黑" panose="020B0503020204020204" pitchFamily="34" charset="-122"/>
              </a:rPr>
              <a:t>//</a:t>
            </a:r>
            <a:r>
              <a:rPr lang="zh-CN" altLang="en-US" b="1" dirty="0">
                <a:solidFill>
                  <a:srgbClr val="C00000"/>
                </a:solidFill>
                <a:latin typeface="Consolas" panose="020B0609020204030204" pitchFamily="49" charset="0"/>
                <a:ea typeface="微软雅黑" panose="020B0503020204020204" pitchFamily="34" charset="-122"/>
              </a:rPr>
              <a:t>减少自身所指</a:t>
            </a:r>
            <a:r>
              <a:rPr lang="en-US" altLang="zh-CN" b="1" dirty="0" err="1">
                <a:solidFill>
                  <a:srgbClr val="C00000"/>
                </a:solidFill>
                <a:latin typeface="Consolas" panose="020B0609020204030204" pitchFamily="49" charset="0"/>
                <a:ea typeface="微软雅黑" panose="020B0503020204020204" pitchFamily="34" charset="-122"/>
              </a:rPr>
              <a:t>rp</a:t>
            </a:r>
            <a:r>
              <a:rPr lang="zh-CN" altLang="en-US" b="1" dirty="0">
                <a:solidFill>
                  <a:srgbClr val="C00000"/>
                </a:solidFill>
                <a:latin typeface="Consolas" panose="020B0609020204030204" pitchFamily="49" charset="0"/>
                <a:ea typeface="微软雅黑" panose="020B0503020204020204" pitchFamily="34" charset="-122"/>
              </a:rPr>
              <a:t>的引用计数 </a:t>
            </a:r>
            <a:r>
              <a:rPr lang="en-US" altLang="zh-CN" b="1" dirty="0" err="1">
                <a:solidFill>
                  <a:srgbClr val="C00000"/>
                </a:solidFill>
                <a:latin typeface="Consolas" panose="020B0609020204030204" pitchFamily="49" charset="0"/>
                <a:ea typeface="微软雅黑" panose="020B0503020204020204" pitchFamily="34" charset="-122"/>
              </a:rPr>
              <a:t>pA</a:t>
            </a:r>
            <a:r>
              <a:rPr lang="zh-CN" altLang="en-US" b="1" dirty="0">
                <a:solidFill>
                  <a:srgbClr val="C00000"/>
                </a:solidFill>
                <a:latin typeface="Consolas" panose="020B0609020204030204" pitchFamily="49" charset="0"/>
                <a:ea typeface="微软雅黑" panose="020B0503020204020204" pitchFamily="34" charset="-122"/>
              </a:rPr>
              <a:t> </a:t>
            </a:r>
            <a:r>
              <a:rPr lang="en-US" altLang="zh-CN" b="1" dirty="0">
                <a:solidFill>
                  <a:srgbClr val="C00000"/>
                </a:solidFill>
                <a:latin typeface="Consolas" panose="020B0609020204030204" pitchFamily="49" charset="0"/>
                <a:ea typeface="微软雅黑" panose="020B0503020204020204" pitchFamily="34" charset="-122"/>
              </a:rPr>
              <a:t>=</a:t>
            </a:r>
            <a:r>
              <a:rPr lang="zh-CN" altLang="en-US" b="1" dirty="0">
                <a:solidFill>
                  <a:srgbClr val="C00000"/>
                </a:solidFill>
                <a:latin typeface="Consolas" panose="020B0609020204030204" pitchFamily="49" charset="0"/>
                <a:ea typeface="微软雅黑" panose="020B0503020204020204" pitchFamily="34" charset="-122"/>
              </a:rPr>
              <a:t> </a:t>
            </a:r>
            <a:r>
              <a:rPr lang="en-US" altLang="zh-CN" b="1" dirty="0" err="1">
                <a:solidFill>
                  <a:srgbClr val="C00000"/>
                </a:solidFill>
                <a:latin typeface="Consolas" panose="020B0609020204030204" pitchFamily="49" charset="0"/>
                <a:ea typeface="微软雅黑" panose="020B0503020204020204" pitchFamily="34" charset="-122"/>
              </a:rPr>
              <a:t>pB</a:t>
            </a:r>
            <a:endParaRPr lang="zh-CN" altLang="en-US" b="1" dirty="0">
              <a:solidFill>
                <a:srgbClr val="C00000"/>
              </a:solidFill>
              <a:latin typeface="Consolas" panose="020B0609020204030204" pitchFamily="49" charset="0"/>
              <a:ea typeface="微软雅黑" panose="020B0503020204020204" pitchFamily="34" charset="-122"/>
            </a:endParaRPr>
          </a:p>
          <a:p>
            <a:r>
              <a:rPr lang="zh-CN" altLang="en-US" b="1" dirty="0">
                <a:solidFill>
                  <a:srgbClr val="C00000"/>
                </a:solidFill>
                <a:latin typeface="Consolas" panose="020B0609020204030204" pitchFamily="49" charset="0"/>
                <a:ea typeface="微软雅黑" panose="020B0503020204020204" pitchFamily="34" charset="-122"/>
              </a:rPr>
              <a:t>      </a:t>
            </a:r>
            <a:r>
              <a:rPr lang="en-US" altLang="zh-CN" b="1" dirty="0">
                <a:solidFill>
                  <a:srgbClr val="C00000"/>
                </a:solidFill>
                <a:latin typeface="Consolas" panose="020B0609020204030204" pitchFamily="49" charset="0"/>
                <a:ea typeface="微软雅黑" panose="020B0503020204020204" pitchFamily="34" charset="-122"/>
              </a:rPr>
              <a:t>delete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a:t>
            </a:r>
            <a:r>
              <a:rPr lang="zh-CN" altLang="en-US" b="1" dirty="0">
                <a:solidFill>
                  <a:srgbClr val="C00000"/>
                </a:solidFill>
                <a:latin typeface="Consolas" panose="020B0609020204030204" pitchFamily="49" charset="0"/>
                <a:ea typeface="微软雅黑" panose="020B0503020204020204" pitchFamily="34" charset="-122"/>
              </a:rPr>
              <a:t> </a:t>
            </a:r>
            <a:r>
              <a:rPr lang="en-US" altLang="zh-CN" b="1" dirty="0">
                <a:solidFill>
                  <a:srgbClr val="C00000"/>
                </a:solidFill>
                <a:latin typeface="Consolas" panose="020B0609020204030204" pitchFamily="49" charset="0"/>
                <a:ea typeface="微软雅黑" panose="020B0503020204020204" pitchFamily="34" charset="-122"/>
              </a:rPr>
              <a:t>//</a:t>
            </a:r>
            <a:r>
              <a:rPr lang="zh-CN" altLang="en-US" b="1" dirty="0">
                <a:solidFill>
                  <a:srgbClr val="C00000"/>
                </a:solidFill>
                <a:latin typeface="Consolas" panose="020B0609020204030204" pitchFamily="49" charset="0"/>
                <a:ea typeface="微软雅黑" panose="020B0503020204020204" pitchFamily="34" charset="-122"/>
              </a:rPr>
              <a:t>删除所指向的辅助指针</a:t>
            </a:r>
            <a:endParaRPr lang="en-US" altLang="zh-CN" b="1" dirty="0">
              <a:solidFill>
                <a:srgbClr val="C00000"/>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rp</a:t>
            </a:r>
            <a:r>
              <a:rPr lang="en-US" altLang="zh-CN" b="1" dirty="0">
                <a:solidFill>
                  <a:schemeClr val="tx1"/>
                </a:solidFill>
                <a:latin typeface="Consolas" panose="020B0609020204030204" pitchFamily="49" charset="0"/>
                <a:ea typeface="微软雅黑" panose="020B0503020204020204" pitchFamily="34" charset="-122"/>
              </a:rPr>
              <a:t> = </a:t>
            </a:r>
            <a:r>
              <a:rPr lang="en-US" altLang="zh-CN" b="1" dirty="0" err="1">
                <a:solidFill>
                  <a:schemeClr val="tx1"/>
                </a:solidFill>
                <a:latin typeface="Consolas" panose="020B0609020204030204" pitchFamily="49" charset="0"/>
                <a:ea typeface="微软雅黑" panose="020B0503020204020204" pitchFamily="34" charset="-122"/>
              </a:rPr>
              <a:t>rhs.rp</a:t>
            </a:r>
            <a:r>
              <a:rPr lang="en-US" altLang="zh-CN" b="1" dirty="0">
                <a:solidFill>
                  <a:schemeClr val="tx1"/>
                </a:solidFill>
                <a:latin typeface="Consolas" panose="020B0609020204030204" pitchFamily="49" charset="0"/>
                <a:ea typeface="微软雅黑" panose="020B0503020204020204" pitchFamily="34" charset="-122"/>
              </a:rPr>
              <a:t>;</a:t>
            </a:r>
          </a:p>
          <a:p>
            <a:r>
              <a:rPr lang="en-US" altLang="zh-CN" b="1" dirty="0">
                <a:solidFill>
                  <a:schemeClr val="tx1"/>
                </a:solidFill>
                <a:latin typeface="Consolas" panose="020B0609020204030204" pitchFamily="49" charset="0"/>
                <a:ea typeface="微软雅黑" panose="020B0503020204020204" pitchFamily="34" charset="-122"/>
              </a:rPr>
              <a:t>    return *this;</a:t>
            </a:r>
          </a:p>
          <a:p>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rgbClr val="C00000"/>
                </a:solidFill>
                <a:latin typeface="Consolas" panose="020B0609020204030204" pitchFamily="49" charset="0"/>
                <a:ea typeface="微软雅黑" panose="020B0503020204020204" pitchFamily="34" charset="-122"/>
              </a:rPr>
              <a:t>    if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-&gt;count == 0)</a:t>
            </a:r>
            <a:endParaRPr lang="zh-CN" altLang="en-US" b="1" dirty="0">
              <a:solidFill>
                <a:srgbClr val="C00000"/>
              </a:solidFill>
              <a:latin typeface="Consolas" panose="020B0609020204030204" pitchFamily="49" charset="0"/>
              <a:ea typeface="微软雅黑" panose="020B0503020204020204" pitchFamily="34" charset="-122"/>
            </a:endParaRPr>
          </a:p>
          <a:p>
            <a:r>
              <a:rPr lang="zh-CN" altLang="en-US" b="1" dirty="0">
                <a:solidFill>
                  <a:srgbClr val="C00000"/>
                </a:solidFill>
                <a:latin typeface="Consolas" panose="020B0609020204030204" pitchFamily="49" charset="0"/>
                <a:ea typeface="微软雅黑" panose="020B0503020204020204" pitchFamily="34" charset="-122"/>
              </a:rPr>
              <a:t>      </a:t>
            </a:r>
            <a:r>
              <a:rPr lang="en-US" altLang="zh-CN" b="1" dirty="0">
                <a:solidFill>
                  <a:srgbClr val="C00000"/>
                </a:solidFill>
                <a:latin typeface="Consolas" panose="020B0609020204030204" pitchFamily="49" charset="0"/>
                <a:ea typeface="微软雅黑" panose="020B0503020204020204" pitchFamily="34" charset="-122"/>
              </a:rPr>
              <a:t>delete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a:t>
            </a:r>
          </a:p>
          <a:p>
            <a:r>
              <a:rPr lang="en-US" altLang="zh-CN" b="1" dirty="0">
                <a:latin typeface="Consolas" panose="020B0609020204030204" pitchFamily="49" charset="0"/>
                <a:ea typeface="微软雅黑" panose="020B0503020204020204" pitchFamily="34" charset="-122"/>
              </a:rPr>
              <a:t>  }</a:t>
            </a:r>
          </a:p>
        </p:txBody>
      </p:sp>
      <p:sp>
        <p:nvSpPr>
          <p:cNvPr id="3" name="灯片编号占位符 2"/>
          <p:cNvSpPr>
            <a:spLocks noGrp="1"/>
          </p:cNvSpPr>
          <p:nvPr>
            <p:ph type="sldNum" sz="quarter" idx="12"/>
          </p:nvPr>
        </p:nvSpPr>
        <p:spPr/>
        <p:txBody>
          <a:bodyPr/>
          <a:lstStyle/>
          <a:p>
            <a:pPr>
              <a:defRPr/>
            </a:pPr>
            <a:fld id="{BFD7BE51-03DD-4CCA-8227-D775462981B4}" type="slidenum">
              <a:rPr lang="en-US" altLang="zh-CN" smtClean="0"/>
              <a:pPr>
                <a:defRPr/>
              </a:pPr>
              <a:t>67</a:t>
            </a:fld>
            <a:endParaRPr lang="en-US" altLang="zh-CN"/>
          </a:p>
        </p:txBody>
      </p:sp>
    </p:spTree>
    <p:extLst>
      <p:ext uri="{BB962C8B-B14F-4D97-AF65-F5344CB8AC3E}">
        <p14:creationId xmlns:p14="http://schemas.microsoft.com/office/powerpoint/2010/main" val="41195635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实现自己的引用计数</a:t>
            </a:r>
          </a:p>
        </p:txBody>
      </p:sp>
      <p:sp>
        <p:nvSpPr>
          <p:cNvPr id="5" name="TextBox 3"/>
          <p:cNvSpPr txBox="1"/>
          <p:nvPr/>
        </p:nvSpPr>
        <p:spPr>
          <a:xfrm>
            <a:off x="628650" y="1555037"/>
            <a:ext cx="7886700" cy="4524315"/>
          </a:xfrm>
          <a:prstGeom prst="rect">
            <a:avLst/>
          </a:prstGeom>
          <a:noFill/>
          <a:ln w="31750">
            <a:solidFill>
              <a:srgbClr val="0070C0"/>
            </a:solidFill>
          </a:ln>
        </p:spPr>
        <p:txBody>
          <a:bodyPr wrap="square" rtlCol="0">
            <a:spAutoFit/>
          </a:bodyPr>
          <a:lstStyle>
            <a:defPPr>
              <a:defRPr lang="zh-CN"/>
            </a:defPPr>
            <a:lvl1pPr>
              <a:defRPr>
                <a:solidFill>
                  <a:srgbClr val="006666"/>
                </a:solidFill>
                <a:latin typeface="Letter Gothic" pitchFamily="49" charset="0"/>
                <a:cs typeface="Courier New" pitchFamily="49" charset="0"/>
              </a:defRPr>
            </a:lvl1pPr>
          </a:lstStyle>
          <a:p>
            <a:r>
              <a:rPr lang="en-US" altLang="zh-CN" b="1" dirty="0">
                <a:solidFill>
                  <a:srgbClr val="C00000"/>
                </a:solidFill>
                <a:latin typeface="Consolas" panose="020B0609020204030204" pitchFamily="49" charset="0"/>
                <a:ea typeface="微软雅黑" panose="020B0503020204020204" pitchFamily="34" charset="-122"/>
              </a:rPr>
              <a:t>  T &amp; operator *() { return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-&gt;p); }</a:t>
            </a:r>
          </a:p>
          <a:p>
            <a:r>
              <a:rPr lang="en-US" altLang="zh-CN" b="1" dirty="0">
                <a:solidFill>
                  <a:srgbClr val="C00000"/>
                </a:solidFill>
                <a:latin typeface="Consolas" panose="020B0609020204030204" pitchFamily="49" charset="0"/>
                <a:ea typeface="微软雅黑" panose="020B0503020204020204" pitchFamily="34" charset="-122"/>
              </a:rPr>
              <a:t>  T* operator -&gt;() { return </a:t>
            </a:r>
            <a:r>
              <a:rPr lang="en-US" altLang="zh-CN" b="1" dirty="0" err="1">
                <a:solidFill>
                  <a:srgbClr val="C00000"/>
                </a:solidFill>
                <a:latin typeface="Consolas" panose="020B0609020204030204" pitchFamily="49" charset="0"/>
                <a:ea typeface="微软雅黑" panose="020B0503020204020204" pitchFamily="34" charset="-122"/>
              </a:rPr>
              <a:t>rp</a:t>
            </a:r>
            <a:r>
              <a:rPr lang="en-US" altLang="zh-CN" b="1" dirty="0">
                <a:solidFill>
                  <a:srgbClr val="C00000"/>
                </a:solidFill>
                <a:latin typeface="Consolas" panose="020B0609020204030204" pitchFamily="49" charset="0"/>
                <a:ea typeface="微软雅黑" panose="020B0503020204020204" pitchFamily="34" charset="-122"/>
              </a:rPr>
              <a:t>-&gt;p; }</a:t>
            </a:r>
          </a:p>
          <a:p>
            <a:r>
              <a:rPr lang="en-US" altLang="zh-CN" b="1" dirty="0">
                <a:latin typeface="Consolas" panose="020B0609020204030204" pitchFamily="49" charset="0"/>
                <a:ea typeface="微软雅黑" panose="020B0503020204020204" pitchFamily="34" charset="-122"/>
              </a:rPr>
              <a:t>};</a:t>
            </a:r>
          </a:p>
          <a:p>
            <a:endParaRPr lang="en-US" altLang="zh-CN" b="1" dirty="0">
              <a:latin typeface="Consolas" panose="020B0609020204030204" pitchFamily="49" charset="0"/>
              <a:ea typeface="微软雅黑" panose="020B0503020204020204" pitchFamily="34" charset="-122"/>
            </a:endParaRPr>
          </a:p>
          <a:p>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 main(</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argc</a:t>
            </a:r>
            <a:r>
              <a:rPr lang="en-US" altLang="zh-CN" b="1" dirty="0">
                <a:solidFill>
                  <a:schemeClr val="tx1"/>
                </a:solidFill>
                <a:latin typeface="Consolas" panose="020B0609020204030204" pitchFamily="49" charset="0"/>
                <a:ea typeface="微软雅黑" panose="020B0503020204020204" pitchFamily="34" charset="-122"/>
              </a:rPr>
              <a:t>, char *</a:t>
            </a:r>
            <a:r>
              <a:rPr lang="en-US" altLang="zh-CN" b="1" dirty="0" err="1">
                <a:solidFill>
                  <a:schemeClr val="tx1"/>
                </a:solidFill>
                <a:latin typeface="Consolas" panose="020B0609020204030204" pitchFamily="49" charset="0"/>
                <a:ea typeface="微软雅黑" panose="020B0503020204020204" pitchFamily="34" charset="-122"/>
              </a:rPr>
              <a:t>argv</a:t>
            </a:r>
            <a:r>
              <a:rPr lang="en-US" altLang="zh-CN" b="1" dirty="0">
                <a:solidFill>
                  <a:schemeClr val="tx1"/>
                </a:solidFill>
                <a:latin typeface="Consolas" panose="020B0609020204030204" pitchFamily="49" charset="0"/>
                <a:ea typeface="微软雅黑" panose="020B0503020204020204" pitchFamily="34" charset="-122"/>
              </a:rPr>
              <a:t>[]) {</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 *pi = new </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(2);</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&lt;</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&gt; ptr1(pi);</a:t>
            </a:r>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a:solidFill>
                  <a:srgbClr val="008000"/>
                </a:solidFill>
                <a:latin typeface="Consolas" panose="020B0609020204030204" pitchFamily="49" charset="0"/>
                <a:ea typeface="微软雅黑" panose="020B0503020204020204" pitchFamily="34" charset="-122"/>
              </a:rPr>
              <a:t>//</a:t>
            </a:r>
            <a:r>
              <a:rPr lang="zh-CN" altLang="en-US" b="1" dirty="0">
                <a:solidFill>
                  <a:srgbClr val="008000"/>
                </a:solidFill>
                <a:latin typeface="Consolas" panose="020B0609020204030204" pitchFamily="49" charset="0"/>
                <a:ea typeface="微软雅黑" panose="020B0503020204020204" pitchFamily="34" charset="-122"/>
              </a:rPr>
              <a:t>构造函数</a:t>
            </a:r>
            <a:endParaRPr lang="en-US" altLang="zh-CN" b="1" dirty="0">
              <a:solidFill>
                <a:schemeClr val="tx1"/>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&lt;</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&gt; ptr2(ptr1);</a:t>
            </a:r>
            <a:r>
              <a:rPr lang="en-US" altLang="zh-CN" b="1" dirty="0">
                <a:solidFill>
                  <a:srgbClr val="008000"/>
                </a:solidFill>
                <a:latin typeface="Consolas" panose="020B0609020204030204" pitchFamily="49" charset="0"/>
                <a:ea typeface="微软雅黑" panose="020B0503020204020204" pitchFamily="34" charset="-122"/>
              </a:rPr>
              <a:t> //</a:t>
            </a:r>
            <a:r>
              <a:rPr lang="zh-CN" altLang="en-US" b="1" dirty="0">
                <a:solidFill>
                  <a:srgbClr val="008000"/>
                </a:solidFill>
                <a:latin typeface="Consolas" panose="020B0609020204030204" pitchFamily="49" charset="0"/>
                <a:ea typeface="微软雅黑" panose="020B0503020204020204" pitchFamily="34" charset="-122"/>
              </a:rPr>
              <a:t>拷贝构造</a:t>
            </a:r>
            <a:endParaRPr lang="en-US" altLang="zh-CN" b="1" dirty="0">
              <a:solidFill>
                <a:schemeClr val="tx1"/>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SmartPtr</a:t>
            </a:r>
            <a:r>
              <a:rPr lang="en-US" altLang="zh-CN" b="1" dirty="0">
                <a:solidFill>
                  <a:schemeClr val="tx1"/>
                </a:solidFill>
                <a:latin typeface="Consolas" panose="020B0609020204030204" pitchFamily="49" charset="0"/>
                <a:ea typeface="微软雅黑" panose="020B0503020204020204" pitchFamily="34" charset="-122"/>
              </a:rPr>
              <a:t>&lt;</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&gt; ptr3(new</a:t>
            </a:r>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int</a:t>
            </a:r>
            <a:r>
              <a:rPr lang="en-US" altLang="zh-CN" b="1" dirty="0">
                <a:solidFill>
                  <a:schemeClr val="tx1"/>
                </a:solidFill>
                <a:latin typeface="Consolas" panose="020B0609020204030204" pitchFamily="49" charset="0"/>
                <a:ea typeface="微软雅黑" panose="020B0503020204020204" pitchFamily="34" charset="-122"/>
              </a:rPr>
              <a:t>(3));</a:t>
            </a:r>
            <a:r>
              <a:rPr lang="en-US" altLang="zh-CN" b="1" dirty="0">
                <a:solidFill>
                  <a:srgbClr val="008000"/>
                </a:solidFill>
                <a:latin typeface="Consolas" panose="020B0609020204030204" pitchFamily="49" charset="0"/>
                <a:ea typeface="微软雅黑" panose="020B0503020204020204" pitchFamily="34" charset="-122"/>
              </a:rPr>
              <a:t> //</a:t>
            </a:r>
            <a:r>
              <a:rPr lang="zh-CN" altLang="en-US" b="1" dirty="0">
                <a:solidFill>
                  <a:srgbClr val="008000"/>
                </a:solidFill>
                <a:latin typeface="Consolas" panose="020B0609020204030204" pitchFamily="49" charset="0"/>
                <a:ea typeface="微软雅黑" panose="020B0503020204020204" pitchFamily="34" charset="-122"/>
              </a:rPr>
              <a:t>能否</a:t>
            </a:r>
            <a:r>
              <a:rPr lang="en-US" altLang="zh-CN" b="1" dirty="0">
                <a:solidFill>
                  <a:srgbClr val="008000"/>
                </a:solidFill>
                <a:latin typeface="Consolas" panose="020B0609020204030204" pitchFamily="49" charset="0"/>
                <a:ea typeface="微软雅黑" panose="020B0503020204020204" pitchFamily="34" charset="-122"/>
              </a:rPr>
              <a:t>ptr3(pi)???</a:t>
            </a:r>
            <a:endParaRPr lang="en-US" altLang="zh-CN" b="1" dirty="0">
              <a:solidFill>
                <a:schemeClr val="tx1"/>
              </a:solidFill>
              <a:latin typeface="Consolas" panose="020B0609020204030204" pitchFamily="49" charset="0"/>
              <a:ea typeface="微软雅黑" panose="020B0503020204020204" pitchFamily="34" charset="-122"/>
            </a:endParaRPr>
          </a:p>
          <a:p>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a:solidFill>
                  <a:schemeClr val="tx1"/>
                </a:solidFill>
                <a:latin typeface="Consolas" panose="020B0609020204030204" pitchFamily="49" charset="0"/>
                <a:ea typeface="微软雅黑" panose="020B0503020204020204" pitchFamily="34" charset="-122"/>
              </a:rPr>
              <a:t>ptr3 =</a:t>
            </a:r>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a:solidFill>
                  <a:schemeClr val="tx1"/>
                </a:solidFill>
                <a:latin typeface="Consolas" panose="020B0609020204030204" pitchFamily="49" charset="0"/>
                <a:ea typeface="微软雅黑" panose="020B0503020204020204" pitchFamily="34" charset="-122"/>
              </a:rPr>
              <a:t> ptr2;</a:t>
            </a:r>
            <a:r>
              <a:rPr lang="zh-CN" altLang="en-US" b="1" dirty="0">
                <a:solidFill>
                  <a:schemeClr val="tx1"/>
                </a:solidFill>
                <a:latin typeface="Consolas" panose="020B0609020204030204" pitchFamily="49" charset="0"/>
                <a:ea typeface="微软雅黑" panose="020B0503020204020204" pitchFamily="34" charset="-122"/>
              </a:rPr>
              <a:t> </a:t>
            </a:r>
            <a:r>
              <a:rPr lang="en-US" altLang="zh-CN" b="1" dirty="0">
                <a:solidFill>
                  <a:srgbClr val="008000"/>
                </a:solidFill>
                <a:latin typeface="Consolas" panose="020B0609020204030204" pitchFamily="49" charset="0"/>
                <a:ea typeface="微软雅黑" panose="020B0503020204020204" pitchFamily="34" charset="-122"/>
              </a:rPr>
              <a:t>//</a:t>
            </a:r>
            <a:r>
              <a:rPr lang="zh-CN" altLang="en-US" b="1" dirty="0">
                <a:solidFill>
                  <a:srgbClr val="008000"/>
                </a:solidFill>
                <a:latin typeface="Consolas" panose="020B0609020204030204" pitchFamily="49" charset="0"/>
                <a:ea typeface="微软雅黑" panose="020B0503020204020204" pitchFamily="34" charset="-122"/>
              </a:rPr>
              <a:t>注意赋值运算</a:t>
            </a:r>
            <a:endParaRPr lang="en-US" altLang="zh-CN" b="1" dirty="0">
              <a:solidFill>
                <a:srgbClr val="008000"/>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cout</a:t>
            </a:r>
            <a:r>
              <a:rPr lang="en-US" altLang="zh-CN" b="1" dirty="0">
                <a:solidFill>
                  <a:schemeClr val="tx1"/>
                </a:solidFill>
                <a:latin typeface="Consolas" panose="020B0609020204030204" pitchFamily="49" charset="0"/>
                <a:ea typeface="微软雅黑" panose="020B0503020204020204" pitchFamily="34" charset="-122"/>
              </a:rPr>
              <a:t> &lt;&lt; *ptr1 &lt;&lt; </a:t>
            </a:r>
            <a:r>
              <a:rPr lang="en-US" altLang="zh-CN" b="1" dirty="0" err="1">
                <a:solidFill>
                  <a:schemeClr val="tx1"/>
                </a:solidFill>
                <a:latin typeface="Consolas" panose="020B0609020204030204" pitchFamily="49" charset="0"/>
                <a:ea typeface="微软雅黑" panose="020B0503020204020204" pitchFamily="34" charset="-122"/>
              </a:rPr>
              <a:t>endl</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a:solidFill>
                  <a:srgbClr val="008000"/>
                </a:solidFill>
                <a:latin typeface="Consolas" panose="020B0609020204030204" pitchFamily="49" charset="0"/>
                <a:ea typeface="微软雅黑" panose="020B0503020204020204" pitchFamily="34" charset="-122"/>
              </a:rPr>
              <a:t>//</a:t>
            </a:r>
            <a:r>
              <a:rPr lang="zh-CN" altLang="en-US" b="1" dirty="0">
                <a:solidFill>
                  <a:srgbClr val="008000"/>
                </a:solidFill>
                <a:latin typeface="Consolas" panose="020B0609020204030204" pitchFamily="49" charset="0"/>
                <a:ea typeface="微软雅黑" panose="020B0503020204020204" pitchFamily="34" charset="-122"/>
              </a:rPr>
              <a:t>输出</a:t>
            </a:r>
            <a:r>
              <a:rPr lang="en-US" altLang="zh-CN" b="1" dirty="0">
                <a:solidFill>
                  <a:srgbClr val="008000"/>
                </a:solidFill>
                <a:latin typeface="Consolas" panose="020B0609020204030204" pitchFamily="49" charset="0"/>
                <a:ea typeface="微软雅黑" panose="020B0503020204020204" pitchFamily="34" charset="-122"/>
              </a:rPr>
              <a:t>2</a:t>
            </a:r>
          </a:p>
          <a:p>
            <a:r>
              <a:rPr lang="en-US" altLang="zh-CN" b="1" dirty="0">
                <a:solidFill>
                  <a:schemeClr val="tx1"/>
                </a:solidFill>
                <a:latin typeface="Consolas" panose="020B0609020204030204" pitchFamily="49" charset="0"/>
                <a:ea typeface="微软雅黑" panose="020B0503020204020204" pitchFamily="34" charset="-122"/>
              </a:rPr>
              <a:t>  *ptr1 = 20;</a:t>
            </a:r>
          </a:p>
          <a:p>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err="1">
                <a:solidFill>
                  <a:schemeClr val="tx1"/>
                </a:solidFill>
                <a:latin typeface="Consolas" panose="020B0609020204030204" pitchFamily="49" charset="0"/>
                <a:ea typeface="微软雅黑" panose="020B0503020204020204" pitchFamily="34" charset="-122"/>
              </a:rPr>
              <a:t>cout</a:t>
            </a:r>
            <a:r>
              <a:rPr lang="en-US" altLang="zh-CN" b="1" dirty="0">
                <a:solidFill>
                  <a:schemeClr val="tx1"/>
                </a:solidFill>
                <a:latin typeface="Consolas" panose="020B0609020204030204" pitchFamily="49" charset="0"/>
                <a:ea typeface="微软雅黑" panose="020B0503020204020204" pitchFamily="34" charset="-122"/>
              </a:rPr>
              <a:t> &lt;&lt; *ptr2 &lt;&lt; </a:t>
            </a:r>
            <a:r>
              <a:rPr lang="en-US" altLang="zh-CN" b="1" dirty="0" err="1">
                <a:solidFill>
                  <a:schemeClr val="tx1"/>
                </a:solidFill>
                <a:latin typeface="Consolas" panose="020B0609020204030204" pitchFamily="49" charset="0"/>
                <a:ea typeface="微软雅黑" panose="020B0503020204020204" pitchFamily="34" charset="-122"/>
              </a:rPr>
              <a:t>endl</a:t>
            </a:r>
            <a:r>
              <a:rPr lang="en-US" altLang="zh-CN" b="1" dirty="0">
                <a:solidFill>
                  <a:schemeClr val="tx1"/>
                </a:solidFill>
                <a:latin typeface="Consolas" panose="020B0609020204030204" pitchFamily="49" charset="0"/>
                <a:ea typeface="微软雅黑" panose="020B0503020204020204" pitchFamily="34" charset="-122"/>
              </a:rPr>
              <a:t>; </a:t>
            </a:r>
            <a:r>
              <a:rPr lang="en-US" altLang="zh-CN" b="1" dirty="0">
                <a:solidFill>
                  <a:srgbClr val="008000"/>
                </a:solidFill>
                <a:latin typeface="Consolas" panose="020B0609020204030204" pitchFamily="49" charset="0"/>
                <a:ea typeface="微软雅黑" panose="020B0503020204020204" pitchFamily="34" charset="-122"/>
              </a:rPr>
              <a:t>//</a:t>
            </a:r>
            <a:r>
              <a:rPr lang="zh-CN" altLang="en-US" b="1" dirty="0">
                <a:solidFill>
                  <a:srgbClr val="008000"/>
                </a:solidFill>
                <a:latin typeface="Consolas" panose="020B0609020204030204" pitchFamily="49" charset="0"/>
                <a:ea typeface="微软雅黑" panose="020B0503020204020204" pitchFamily="34" charset="-122"/>
              </a:rPr>
              <a:t>输出</a:t>
            </a:r>
            <a:r>
              <a:rPr lang="en-US" altLang="zh-CN" b="1" dirty="0">
                <a:solidFill>
                  <a:srgbClr val="008000"/>
                </a:solidFill>
                <a:latin typeface="Consolas" panose="020B0609020204030204" pitchFamily="49" charset="0"/>
                <a:ea typeface="微软雅黑" panose="020B0503020204020204" pitchFamily="34" charset="-122"/>
              </a:rPr>
              <a:t>20</a:t>
            </a:r>
          </a:p>
          <a:p>
            <a:endParaRPr lang="en-US" altLang="zh-CN" b="1" dirty="0">
              <a:solidFill>
                <a:schemeClr val="tx1"/>
              </a:solidFill>
              <a:latin typeface="Consolas" panose="020B0609020204030204" pitchFamily="49" charset="0"/>
              <a:ea typeface="微软雅黑" panose="020B0503020204020204" pitchFamily="34" charset="-122"/>
            </a:endParaRPr>
          </a:p>
          <a:p>
            <a:r>
              <a:rPr lang="en-US" altLang="zh-CN" b="1" dirty="0">
                <a:solidFill>
                  <a:schemeClr val="tx1"/>
                </a:solidFill>
                <a:latin typeface="Consolas" panose="020B0609020204030204" pitchFamily="49" charset="0"/>
                <a:ea typeface="微软雅黑" panose="020B0503020204020204" pitchFamily="34" charset="-122"/>
              </a:rPr>
              <a:t>  return 0;</a:t>
            </a:r>
          </a:p>
          <a:p>
            <a:r>
              <a:rPr lang="en-US" altLang="zh-CN" b="1" dirty="0">
                <a:solidFill>
                  <a:schemeClr val="tx1"/>
                </a:solidFill>
                <a:latin typeface="Consolas" panose="020B0609020204030204" pitchFamily="49" charset="0"/>
                <a:ea typeface="微软雅黑" panose="020B0503020204020204" pitchFamily="34" charset="-122"/>
              </a:rPr>
              <a:t>}</a:t>
            </a:r>
          </a:p>
        </p:txBody>
      </p:sp>
      <p:sp>
        <p:nvSpPr>
          <p:cNvPr id="3" name="灯片编号占位符 2"/>
          <p:cNvSpPr>
            <a:spLocks noGrp="1"/>
          </p:cNvSpPr>
          <p:nvPr>
            <p:ph type="sldNum" sz="quarter" idx="12"/>
          </p:nvPr>
        </p:nvSpPr>
        <p:spPr/>
        <p:txBody>
          <a:bodyPr/>
          <a:lstStyle/>
          <a:p>
            <a:pPr>
              <a:defRPr/>
            </a:pPr>
            <a:fld id="{BFD7BE51-03DD-4CCA-8227-D775462981B4}" type="slidenum">
              <a:rPr lang="en-US" altLang="zh-CN" smtClean="0"/>
              <a:pPr>
                <a:defRPr/>
              </a:pPr>
              <a:t>68</a:t>
            </a:fld>
            <a:endParaRPr lang="en-US" altLang="zh-CN"/>
          </a:p>
        </p:txBody>
      </p:sp>
    </p:spTree>
    <p:extLst>
      <p:ext uri="{BB962C8B-B14F-4D97-AF65-F5344CB8AC3E}">
        <p14:creationId xmlns:p14="http://schemas.microsoft.com/office/powerpoint/2010/main" val="20548087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08FFF5-43A4-4786-9EA1-829CB557DC53}"/>
              </a:ext>
            </a:extLst>
          </p:cNvPr>
          <p:cNvSpPr>
            <a:spLocks noGrp="1"/>
          </p:cNvSpPr>
          <p:nvPr>
            <p:ph type="title"/>
          </p:nvPr>
        </p:nvSpPr>
        <p:spPr/>
        <p:txBody>
          <a:bodyPr/>
          <a:lstStyle/>
          <a:p>
            <a:r>
              <a:rPr lang="en-US" altLang="zh-CN" dirty="0" err="1"/>
              <a:t>shared_ptr</a:t>
            </a:r>
            <a:r>
              <a:rPr lang="zh-CN" altLang="en-US" dirty="0"/>
              <a:t>的其他用法</a:t>
            </a:r>
          </a:p>
        </p:txBody>
      </p:sp>
      <p:sp>
        <p:nvSpPr>
          <p:cNvPr id="3" name="内容占位符 2">
            <a:extLst>
              <a:ext uri="{FF2B5EF4-FFF2-40B4-BE49-F238E27FC236}">
                <a16:creationId xmlns:a16="http://schemas.microsoft.com/office/drawing/2014/main" id="{BB30BF8B-13A0-42E1-9823-00AB76018EA1}"/>
              </a:ext>
            </a:extLst>
          </p:cNvPr>
          <p:cNvSpPr>
            <a:spLocks noGrp="1"/>
          </p:cNvSpPr>
          <p:nvPr>
            <p:ph idx="1"/>
          </p:nvPr>
        </p:nvSpPr>
        <p:spPr>
          <a:xfrm>
            <a:off x="203955" y="1196753"/>
            <a:ext cx="9361040" cy="4176464"/>
          </a:xfrm>
        </p:spPr>
        <p:txBody>
          <a:bodyPr/>
          <a:lstStyle/>
          <a:p>
            <a:r>
              <a:rPr lang="zh-CN" altLang="en-US" dirty="0"/>
              <a:t>其他用法</a:t>
            </a:r>
            <a:endParaRPr lang="en-US" altLang="zh-CN" dirty="0"/>
          </a:p>
          <a:p>
            <a:pPr lvl="1"/>
            <a:r>
              <a:rPr lang="en-US" altLang="zh-CN" dirty="0" err="1"/>
              <a:t>p.get</a:t>
            </a:r>
            <a:r>
              <a:rPr lang="en-US" altLang="zh-CN" dirty="0"/>
              <a:t>()	</a:t>
            </a:r>
            <a:r>
              <a:rPr lang="zh-CN" altLang="en-US" dirty="0"/>
              <a:t>获取裸指针</a:t>
            </a:r>
            <a:endParaRPr lang="en-US" altLang="zh-CN" dirty="0"/>
          </a:p>
          <a:p>
            <a:pPr lvl="1"/>
            <a:r>
              <a:rPr lang="en-US" altLang="zh-CN" dirty="0" err="1"/>
              <a:t>p.reset</a:t>
            </a:r>
            <a:r>
              <a:rPr lang="en-US" altLang="zh-CN" dirty="0"/>
              <a:t>()	</a:t>
            </a:r>
            <a:r>
              <a:rPr lang="zh-CN" altLang="en-US" dirty="0"/>
              <a:t>清除指针并减少引用计数</a:t>
            </a:r>
            <a:endParaRPr lang="en-US" altLang="zh-CN" dirty="0"/>
          </a:p>
          <a:p>
            <a:pPr lvl="1"/>
            <a:r>
              <a:rPr lang="en-US" altLang="zh-CN" dirty="0" err="1"/>
              <a:t>static_pointer_cast</a:t>
            </a:r>
            <a:r>
              <a:rPr lang="en-US" altLang="zh-CN" dirty="0"/>
              <a:t>&lt;int&gt;(p) </a:t>
            </a:r>
          </a:p>
          <a:p>
            <a:pPr marL="457200" lvl="1" indent="0">
              <a:buNone/>
            </a:pPr>
            <a:r>
              <a:rPr lang="en-US" altLang="zh-CN" dirty="0"/>
              <a:t>	</a:t>
            </a:r>
            <a:r>
              <a:rPr lang="zh-CN" altLang="en-US" dirty="0"/>
              <a:t>转为</a:t>
            </a:r>
            <a:r>
              <a:rPr lang="en-US" altLang="zh-CN" dirty="0"/>
              <a:t>int</a:t>
            </a:r>
            <a:r>
              <a:rPr lang="zh-CN" altLang="en-US" dirty="0"/>
              <a:t>类型指针</a:t>
            </a:r>
            <a:r>
              <a:rPr lang="en-US" altLang="zh-CN" dirty="0"/>
              <a:t>(</a:t>
            </a:r>
            <a:r>
              <a:rPr lang="zh-CN" altLang="en-US" dirty="0"/>
              <a:t>和</a:t>
            </a:r>
            <a:r>
              <a:rPr lang="en-US" altLang="zh-CN" dirty="0" err="1"/>
              <a:t>static_cast</a:t>
            </a:r>
            <a:r>
              <a:rPr lang="zh-CN" altLang="en-US" dirty="0"/>
              <a:t>类似，无类型检查）</a:t>
            </a:r>
            <a:endParaRPr lang="en-US" altLang="zh-CN" dirty="0"/>
          </a:p>
          <a:p>
            <a:pPr lvl="1"/>
            <a:r>
              <a:rPr lang="en-US" altLang="zh-CN" dirty="0" err="1"/>
              <a:t>dynamic_pointer_cast</a:t>
            </a:r>
            <a:r>
              <a:rPr lang="en-US" altLang="zh-CN" dirty="0"/>
              <a:t>&lt;Base&gt;(p)</a:t>
            </a:r>
          </a:p>
          <a:p>
            <a:pPr marL="457200" lvl="1" indent="0">
              <a:buNone/>
            </a:pPr>
            <a:r>
              <a:rPr lang="en-US" altLang="zh-CN" dirty="0"/>
              <a:t>	</a:t>
            </a:r>
            <a:r>
              <a:rPr lang="zh-CN" altLang="en-US" dirty="0"/>
              <a:t>转为</a:t>
            </a:r>
            <a:r>
              <a:rPr lang="en-US" altLang="zh-CN" dirty="0"/>
              <a:t>int</a:t>
            </a:r>
            <a:r>
              <a:rPr lang="zh-CN" altLang="en-US" dirty="0"/>
              <a:t>类型指针</a:t>
            </a:r>
            <a:r>
              <a:rPr lang="en-US" altLang="zh-CN" dirty="0"/>
              <a:t>(</a:t>
            </a:r>
            <a:r>
              <a:rPr lang="zh-CN" altLang="en-US" dirty="0"/>
              <a:t>和</a:t>
            </a:r>
            <a:r>
              <a:rPr lang="en-US" altLang="zh-CN" dirty="0" err="1"/>
              <a:t>dynamic_cast</a:t>
            </a:r>
            <a:r>
              <a:rPr lang="zh-CN" altLang="en-US" dirty="0"/>
              <a:t>类似，动态类型检查）</a:t>
            </a:r>
            <a:endParaRPr lang="en-US" altLang="zh-CN" dirty="0"/>
          </a:p>
          <a:p>
            <a:r>
              <a:rPr lang="zh-CN" altLang="en-US" dirty="0"/>
              <a:t>注意！</a:t>
            </a:r>
            <a:endParaRPr lang="en-US" altLang="zh-CN" dirty="0"/>
          </a:p>
          <a:p>
            <a:pPr lvl="1"/>
            <a:r>
              <a:rPr lang="zh-CN" altLang="en-US" dirty="0"/>
              <a:t>不能使用同一裸指针初始化多个智能指针</a:t>
            </a:r>
            <a:br>
              <a:rPr lang="en-US" altLang="zh-CN" dirty="0"/>
            </a:br>
            <a:br>
              <a:rPr lang="en-US" altLang="zh-CN" dirty="0"/>
            </a:br>
            <a:br>
              <a:rPr lang="en-US" altLang="zh-CN" dirty="0"/>
            </a:br>
            <a:r>
              <a:rPr lang="en-US" altLang="zh-CN" dirty="0"/>
              <a:t>				</a:t>
            </a:r>
            <a:endParaRPr lang="en-US" altLang="zh-CN" sz="2000" dirty="0">
              <a:solidFill>
                <a:srgbClr val="1D9A78"/>
              </a:solidFill>
            </a:endParaRPr>
          </a:p>
          <a:p>
            <a:pPr lvl="1"/>
            <a:r>
              <a:rPr lang="zh-CN" altLang="en-US" dirty="0"/>
              <a:t>不能直接使用智能指针维护对象数组</a:t>
            </a:r>
            <a:endParaRPr lang="en-US" altLang="zh-CN" dirty="0"/>
          </a:p>
          <a:p>
            <a:pPr marL="914400" lvl="2" indent="0">
              <a:buNone/>
            </a:pPr>
            <a:r>
              <a:rPr lang="en-US" altLang="zh-CN" dirty="0"/>
              <a:t>(</a:t>
            </a:r>
            <a:r>
              <a:rPr lang="zh-CN" altLang="en-US" dirty="0"/>
              <a:t>为什么？</a:t>
            </a:r>
            <a:r>
              <a:rPr lang="en-US" altLang="zh-CN" dirty="0"/>
              <a:t>)</a:t>
            </a:r>
            <a:endParaRPr lang="zh-CN" altLang="en-US" dirty="0"/>
          </a:p>
        </p:txBody>
      </p:sp>
      <p:sp>
        <p:nvSpPr>
          <p:cNvPr id="4" name="灯片编号占位符 3">
            <a:extLst>
              <a:ext uri="{FF2B5EF4-FFF2-40B4-BE49-F238E27FC236}">
                <a16:creationId xmlns:a16="http://schemas.microsoft.com/office/drawing/2014/main" id="{2D709145-88B6-4EE2-B659-782AC0023109}"/>
              </a:ext>
            </a:extLst>
          </p:cNvPr>
          <p:cNvSpPr>
            <a:spLocks noGrp="1"/>
          </p:cNvSpPr>
          <p:nvPr>
            <p:ph type="sldNum" sz="quarter" idx="12"/>
          </p:nvPr>
        </p:nvSpPr>
        <p:spPr/>
        <p:txBody>
          <a:bodyPr/>
          <a:lstStyle/>
          <a:p>
            <a:pPr>
              <a:defRPr/>
            </a:pPr>
            <a:fld id="{BFD7BE51-03DD-4CCA-8227-D775462981B4}" type="slidenum">
              <a:rPr lang="en-US" altLang="zh-CN" smtClean="0"/>
              <a:pPr>
                <a:defRPr/>
              </a:pPr>
              <a:t>69</a:t>
            </a:fld>
            <a:endParaRPr lang="en-US" altLang="zh-CN"/>
          </a:p>
        </p:txBody>
      </p:sp>
      <p:sp>
        <p:nvSpPr>
          <p:cNvPr id="5" name="文本框 4">
            <a:extLst>
              <a:ext uri="{FF2B5EF4-FFF2-40B4-BE49-F238E27FC236}">
                <a16:creationId xmlns:a16="http://schemas.microsoft.com/office/drawing/2014/main" id="{547F4401-3E18-460F-B3AF-B93AFCCAB33F}"/>
              </a:ext>
            </a:extLst>
          </p:cNvPr>
          <p:cNvSpPr txBox="1"/>
          <p:nvPr/>
        </p:nvSpPr>
        <p:spPr>
          <a:xfrm>
            <a:off x="1444406" y="4861609"/>
            <a:ext cx="6532558" cy="1015663"/>
          </a:xfrm>
          <a:prstGeom prst="rect">
            <a:avLst/>
          </a:prstGeom>
          <a:noFill/>
        </p:spPr>
        <p:txBody>
          <a:bodyPr wrap="none" rtlCol="0">
            <a:spAutoFit/>
          </a:bodyPr>
          <a:lstStyle/>
          <a:p>
            <a:r>
              <a:rPr lang="en-US" altLang="zh-CN" sz="2000" b="1" dirty="0" err="1">
                <a:latin typeface="Consolas" panose="020B0609020204030204" pitchFamily="49" charset="0"/>
              </a:rPr>
              <a:t>int</a:t>
            </a:r>
            <a:r>
              <a:rPr lang="en-US" altLang="zh-CN" sz="2000" b="1" dirty="0">
                <a:latin typeface="Consolas" panose="020B0609020204030204" pitchFamily="49" charset="0"/>
              </a:rPr>
              <a:t>* p =</a:t>
            </a:r>
            <a:r>
              <a:rPr lang="zh-CN" altLang="en-US" sz="2000" b="1" dirty="0">
                <a:latin typeface="Consolas" panose="020B0609020204030204" pitchFamily="49" charset="0"/>
              </a:rPr>
              <a:t> </a:t>
            </a:r>
            <a:r>
              <a:rPr lang="en-US" altLang="zh-CN" sz="2000" b="1" dirty="0">
                <a:latin typeface="Consolas" panose="020B0609020204030204" pitchFamily="49" charset="0"/>
              </a:rPr>
              <a:t>new int();  </a:t>
            </a:r>
          </a:p>
          <a:p>
            <a:r>
              <a:rPr lang="en-US" altLang="zh-CN" sz="2000" b="1" dirty="0" err="1">
                <a:latin typeface="Consolas" panose="020B0609020204030204" pitchFamily="49" charset="0"/>
              </a:rPr>
              <a:t>shared_ptr</a:t>
            </a:r>
            <a:r>
              <a:rPr lang="en-US" altLang="zh-CN" sz="2000" b="1" dirty="0">
                <a:latin typeface="Consolas" panose="020B0609020204030204" pitchFamily="49" charset="0"/>
              </a:rPr>
              <a:t>&lt;int&gt; p1(p); </a:t>
            </a:r>
            <a:r>
              <a:rPr lang="en-US" altLang="zh-CN" sz="2000" b="1" dirty="0" err="1">
                <a:solidFill>
                  <a:srgbClr val="FF0000"/>
                </a:solidFill>
                <a:latin typeface="Consolas" panose="020B0609020204030204" pitchFamily="49" charset="0"/>
              </a:rPr>
              <a:t>shared_ptr</a:t>
            </a:r>
            <a:r>
              <a:rPr lang="en-US" altLang="zh-CN" sz="2000" b="1" dirty="0">
                <a:solidFill>
                  <a:srgbClr val="FF0000"/>
                </a:solidFill>
                <a:latin typeface="Consolas" panose="020B0609020204030204" pitchFamily="49" charset="0"/>
              </a:rPr>
              <a:t>&lt;int&gt; p2(p);</a:t>
            </a:r>
          </a:p>
          <a:p>
            <a:r>
              <a:rPr lang="en-US" altLang="zh-CN" sz="2000" dirty="0">
                <a:solidFill>
                  <a:srgbClr val="1D9A78"/>
                </a:solidFill>
              </a:rPr>
              <a:t>// </a:t>
            </a:r>
            <a:r>
              <a:rPr lang="zh-CN" altLang="en-US" sz="2000" dirty="0">
                <a:solidFill>
                  <a:srgbClr val="1D9A78"/>
                </a:solidFill>
              </a:rPr>
              <a:t>会产生多个辅助指针！</a:t>
            </a:r>
            <a:r>
              <a:rPr lang="en-US" altLang="zh-CN" sz="2000" b="1" dirty="0">
                <a:latin typeface="Consolas" panose="020B0609020204030204" pitchFamily="49" charset="0"/>
              </a:rPr>
              <a:t> </a:t>
            </a:r>
          </a:p>
        </p:txBody>
      </p:sp>
    </p:spTree>
    <p:extLst>
      <p:ext uri="{BB962C8B-B14F-4D97-AF65-F5344CB8AC3E}">
        <p14:creationId xmlns:p14="http://schemas.microsoft.com/office/powerpoint/2010/main" val="278114129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548097" y="1196752"/>
            <a:ext cx="8047806" cy="4749029"/>
          </a:xfrm>
        </p:spPr>
        <p:txBody>
          <a:bodyPr/>
          <a:lstStyle/>
          <a:p>
            <a:pPr algn="r"/>
            <a:r>
              <a:rPr lang="en-US" altLang="zh-CN" dirty="0"/>
              <a:t>Parent</a:t>
            </a:r>
            <a:r>
              <a:rPr lang="zh-CN" altLang="en-US" dirty="0"/>
              <a:t>类和</a:t>
            </a:r>
            <a:r>
              <a:rPr lang="en-US" altLang="zh-CN" dirty="0"/>
              <a:t>Child</a:t>
            </a:r>
            <a:r>
              <a:rPr lang="zh-CN" altLang="en-US" dirty="0"/>
              <a:t>类</a:t>
            </a:r>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70</a:t>
            </a:fld>
            <a:endParaRPr lang="en-US" altLang="zh-CN"/>
          </a:p>
        </p:txBody>
      </p:sp>
      <p:sp>
        <p:nvSpPr>
          <p:cNvPr id="5" name="文本框 4">
            <a:extLst>
              <a:ext uri="{FF2B5EF4-FFF2-40B4-BE49-F238E27FC236}">
                <a16:creationId xmlns:a16="http://schemas.microsoft.com/office/drawing/2014/main" id="{D5A4F8BB-F217-4734-B8A2-7C41B6931036}"/>
              </a:ext>
            </a:extLst>
          </p:cNvPr>
          <p:cNvSpPr txBox="1"/>
          <p:nvPr/>
        </p:nvSpPr>
        <p:spPr>
          <a:xfrm>
            <a:off x="1077788" y="1170360"/>
            <a:ext cx="6408712" cy="5755422"/>
          </a:xfrm>
          <a:prstGeom prst="rect">
            <a:avLst/>
          </a:prstGeom>
          <a:noFill/>
        </p:spPr>
        <p:txBody>
          <a:bodyPr wrap="square" rtlCol="0">
            <a:spAutoFit/>
          </a:bodyPr>
          <a:lstStyle/>
          <a:p>
            <a:r>
              <a:rPr lang="en-US" altLang="zh-CN" sz="1600" b="1" dirty="0">
                <a:latin typeface="Consolas" panose="020B0609020204030204" pitchFamily="49" charset="0"/>
              </a:rPr>
              <a:t>#include &lt;memory&gt;</a:t>
            </a:r>
          </a:p>
          <a:p>
            <a:r>
              <a:rPr lang="en-US" altLang="zh-CN" sz="1600" b="1" dirty="0">
                <a:latin typeface="Consolas" panose="020B0609020204030204" pitchFamily="49" charset="0"/>
              </a:rPr>
              <a:t>#include &lt;iostream&gt;</a:t>
            </a:r>
          </a:p>
          <a:p>
            <a:r>
              <a:rPr lang="en-US" altLang="zh-CN" sz="1600" b="1" dirty="0">
                <a:latin typeface="Consolas" panose="020B0609020204030204" pitchFamily="49" charset="0"/>
              </a:rPr>
              <a:t>using namespace std;</a:t>
            </a:r>
          </a:p>
          <a:p>
            <a:endParaRPr lang="en-US" altLang="zh-CN" sz="1600" b="1" dirty="0">
              <a:latin typeface="Consolas" panose="020B0609020204030204" pitchFamily="49" charset="0"/>
            </a:endParaRPr>
          </a:p>
          <a:p>
            <a:r>
              <a:rPr lang="en-US" altLang="zh-CN" sz="1600" b="1" dirty="0">
                <a:latin typeface="Consolas" panose="020B0609020204030204" pitchFamily="49" charset="0"/>
              </a:rPr>
              <a:t>class Child;</a:t>
            </a:r>
          </a:p>
          <a:p>
            <a:r>
              <a:rPr lang="en-US" altLang="zh-CN" sz="1600" b="1" dirty="0">
                <a:latin typeface="Consolas" panose="020B0609020204030204" pitchFamily="49" charset="0"/>
              </a:rPr>
              <a:t>class Parent {</a:t>
            </a:r>
          </a:p>
          <a:p>
            <a:r>
              <a:rPr lang="en-US" altLang="zh-CN" sz="1600" b="1" dirty="0">
                <a:latin typeface="Consolas" panose="020B0609020204030204" pitchFamily="49" charset="0"/>
              </a:rPr>
              <a:t>    </a:t>
            </a:r>
            <a:r>
              <a:rPr lang="en-US" altLang="zh-CN" sz="1600" b="1" dirty="0" err="1">
                <a:solidFill>
                  <a:srgbClr val="FF0000"/>
                </a:solidFill>
                <a:latin typeface="Consolas" panose="020B0609020204030204" pitchFamily="49" charset="0"/>
              </a:rPr>
              <a:t>shared_ptr</a:t>
            </a:r>
            <a:r>
              <a:rPr lang="en-US" altLang="zh-CN" sz="1600" b="1" dirty="0">
                <a:solidFill>
                  <a:srgbClr val="FF0000"/>
                </a:solidFill>
                <a:latin typeface="Consolas" panose="020B0609020204030204" pitchFamily="49" charset="0"/>
              </a:rPr>
              <a:t>&lt;Child&gt; child;</a:t>
            </a:r>
          </a:p>
          <a:p>
            <a:r>
              <a:rPr lang="en-US" altLang="zh-CN" sz="1600" b="1" dirty="0">
                <a:latin typeface="Consolas" panose="020B0609020204030204" pitchFamily="49" charset="0"/>
              </a:rPr>
              <a:t>public:</a:t>
            </a:r>
          </a:p>
          <a:p>
            <a:r>
              <a:rPr lang="en-US" altLang="zh-CN" sz="1600" b="1" dirty="0">
                <a:latin typeface="Consolas" panose="020B0609020204030204" pitchFamily="49" charset="0"/>
              </a:rPr>
              <a:t>    Parent()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"parent constructing"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 }</a:t>
            </a:r>
          </a:p>
          <a:p>
            <a:r>
              <a:rPr lang="en-US" altLang="zh-CN" sz="1600" b="1" dirty="0">
                <a:latin typeface="Consolas" panose="020B0609020204030204" pitchFamily="49" charset="0"/>
              </a:rPr>
              <a:t>    ~Parent()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"parent destructing"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 }</a:t>
            </a:r>
          </a:p>
          <a:p>
            <a:r>
              <a:rPr lang="en-US" altLang="zh-CN" sz="1600" b="1" dirty="0">
                <a:latin typeface="Consolas" panose="020B0609020204030204" pitchFamily="49" charset="0"/>
              </a:rPr>
              <a:t>    void </a:t>
            </a:r>
            <a:r>
              <a:rPr lang="en-US" altLang="zh-CN" sz="1600" b="1" dirty="0" err="1">
                <a:latin typeface="Consolas" panose="020B0609020204030204" pitchFamily="49" charset="0"/>
              </a:rPr>
              <a:t>setChild</a:t>
            </a:r>
            <a:r>
              <a:rPr lang="en-US" altLang="zh-CN" sz="1600" b="1" dirty="0">
                <a:latin typeface="Consolas" panose="020B0609020204030204" pitchFamily="49" charset="0"/>
              </a:rPr>
              <a:t>(</a:t>
            </a:r>
            <a:r>
              <a:rPr lang="en-US" altLang="zh-CN" sz="1600" b="1" dirty="0" err="1">
                <a:latin typeface="Consolas" panose="020B0609020204030204" pitchFamily="49" charset="0"/>
              </a:rPr>
              <a:t>shared_ptr</a:t>
            </a:r>
            <a:r>
              <a:rPr lang="en-US" altLang="zh-CN" sz="1600" b="1" dirty="0">
                <a:latin typeface="Consolas" panose="020B0609020204030204" pitchFamily="49" charset="0"/>
              </a:rPr>
              <a:t>&lt;Child&gt; c) {</a:t>
            </a:r>
          </a:p>
          <a:p>
            <a:r>
              <a:rPr lang="en-US" altLang="zh-CN" sz="1600" b="1" dirty="0">
                <a:latin typeface="Consolas" panose="020B0609020204030204" pitchFamily="49" charset="0"/>
              </a:rPr>
              <a:t>        child = c;</a:t>
            </a:r>
          </a:p>
          <a:p>
            <a:r>
              <a:rPr lang="en-US" altLang="zh-CN" sz="1600" b="1" dirty="0">
                <a:latin typeface="Consolas" panose="020B0609020204030204" pitchFamily="49" charset="0"/>
              </a:rPr>
              <a:t>    }</a:t>
            </a:r>
          </a:p>
          <a:p>
            <a:r>
              <a:rPr lang="en-US" altLang="zh-CN" sz="1600" b="1" dirty="0">
                <a:latin typeface="Consolas" panose="020B0609020204030204" pitchFamily="49" charset="0"/>
              </a:rPr>
              <a:t>};</a:t>
            </a:r>
          </a:p>
          <a:p>
            <a:r>
              <a:rPr lang="en-US" altLang="zh-CN" sz="1600" b="1" dirty="0">
                <a:latin typeface="Consolas" panose="020B0609020204030204" pitchFamily="49" charset="0"/>
              </a:rPr>
              <a:t>class Child {</a:t>
            </a:r>
          </a:p>
          <a:p>
            <a:r>
              <a:rPr lang="en-US" altLang="zh-CN" sz="1600" b="1" dirty="0">
                <a:latin typeface="Consolas" panose="020B0609020204030204" pitchFamily="49" charset="0"/>
              </a:rPr>
              <a:t>    </a:t>
            </a:r>
            <a:r>
              <a:rPr lang="en-US" altLang="zh-CN" sz="1600" b="1" dirty="0" err="1">
                <a:solidFill>
                  <a:srgbClr val="FF0000"/>
                </a:solidFill>
                <a:latin typeface="Consolas" panose="020B0609020204030204" pitchFamily="49" charset="0"/>
              </a:rPr>
              <a:t>shared_ptr</a:t>
            </a:r>
            <a:r>
              <a:rPr lang="en-US" altLang="zh-CN" sz="1600" b="1" dirty="0">
                <a:solidFill>
                  <a:srgbClr val="FF0000"/>
                </a:solidFill>
                <a:latin typeface="Consolas" panose="020B0609020204030204" pitchFamily="49" charset="0"/>
              </a:rPr>
              <a:t>&lt;Parent&gt; parent;</a:t>
            </a:r>
          </a:p>
          <a:p>
            <a:r>
              <a:rPr lang="en-US" altLang="zh-CN" sz="1600" b="1" dirty="0">
                <a:latin typeface="Consolas" panose="020B0609020204030204" pitchFamily="49" charset="0"/>
              </a:rPr>
              <a:t>public:</a:t>
            </a:r>
          </a:p>
          <a:p>
            <a:r>
              <a:rPr lang="en-US" altLang="zh-CN" sz="1600" b="1" dirty="0">
                <a:latin typeface="Consolas" panose="020B0609020204030204" pitchFamily="49" charset="0"/>
              </a:rPr>
              <a:t>    Child()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"child constructing"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 }</a:t>
            </a:r>
          </a:p>
          <a:p>
            <a:r>
              <a:rPr lang="en-US" altLang="zh-CN" sz="1600" b="1" dirty="0">
                <a:latin typeface="Consolas" panose="020B0609020204030204" pitchFamily="49" charset="0"/>
              </a:rPr>
              <a:t>    ~Child()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"child destructing"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 }</a:t>
            </a:r>
          </a:p>
          <a:p>
            <a:r>
              <a:rPr lang="en-US" altLang="zh-CN" sz="1600" b="1" dirty="0">
                <a:latin typeface="Consolas" panose="020B0609020204030204" pitchFamily="49" charset="0"/>
              </a:rPr>
              <a:t>    void </a:t>
            </a:r>
            <a:r>
              <a:rPr lang="en-US" altLang="zh-CN" sz="1600" b="1" dirty="0" err="1">
                <a:latin typeface="Consolas" panose="020B0609020204030204" pitchFamily="49" charset="0"/>
              </a:rPr>
              <a:t>setParent</a:t>
            </a:r>
            <a:r>
              <a:rPr lang="en-US" altLang="zh-CN" sz="1600" b="1" dirty="0">
                <a:latin typeface="Consolas" panose="020B0609020204030204" pitchFamily="49" charset="0"/>
              </a:rPr>
              <a:t>(</a:t>
            </a:r>
            <a:r>
              <a:rPr lang="en-US" altLang="zh-CN" sz="1600" b="1" dirty="0" err="1">
                <a:latin typeface="Consolas" panose="020B0609020204030204" pitchFamily="49" charset="0"/>
              </a:rPr>
              <a:t>shared_ptr</a:t>
            </a:r>
            <a:r>
              <a:rPr lang="en-US" altLang="zh-CN" sz="1600" b="1" dirty="0">
                <a:latin typeface="Consolas" panose="020B0609020204030204" pitchFamily="49" charset="0"/>
              </a:rPr>
              <a:t>&lt;Parent&gt; p) {</a:t>
            </a:r>
          </a:p>
          <a:p>
            <a:r>
              <a:rPr lang="en-US" altLang="zh-CN" sz="1600" b="1" dirty="0">
                <a:latin typeface="Consolas" panose="020B0609020204030204" pitchFamily="49" charset="0"/>
              </a:rPr>
              <a:t>        parent = p;</a:t>
            </a:r>
          </a:p>
          <a:p>
            <a:r>
              <a:rPr lang="en-US" altLang="zh-CN" sz="1600" b="1" dirty="0">
                <a:latin typeface="Consolas" panose="020B0609020204030204" pitchFamily="49" charset="0"/>
              </a:rPr>
              <a:t>    }</a:t>
            </a:r>
          </a:p>
          <a:p>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spTree>
    <p:extLst>
      <p:ext uri="{BB962C8B-B14F-4D97-AF65-F5344CB8AC3E}">
        <p14:creationId xmlns:p14="http://schemas.microsoft.com/office/powerpoint/2010/main" val="201000803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611560" y="1439638"/>
            <a:ext cx="8047806" cy="4749029"/>
          </a:xfrm>
        </p:spPr>
        <p:txBody>
          <a:bodyPr/>
          <a:lstStyle/>
          <a:p>
            <a:r>
              <a:rPr lang="en-US" altLang="zh-CN" dirty="0"/>
              <a:t>Parent</a:t>
            </a:r>
            <a:r>
              <a:rPr lang="zh-CN" altLang="en-US" dirty="0"/>
              <a:t>类和</a:t>
            </a:r>
            <a:r>
              <a:rPr lang="en-US" altLang="zh-CN" dirty="0"/>
              <a:t>Child</a:t>
            </a:r>
            <a:r>
              <a:rPr lang="zh-CN" altLang="en-US" dirty="0"/>
              <a:t>类</a:t>
            </a:r>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71</a:t>
            </a:fld>
            <a:endParaRPr lang="en-US" altLang="zh-CN"/>
          </a:p>
        </p:txBody>
      </p:sp>
      <p:sp>
        <p:nvSpPr>
          <p:cNvPr id="5" name="文本框 4">
            <a:extLst>
              <a:ext uri="{FF2B5EF4-FFF2-40B4-BE49-F238E27FC236}">
                <a16:creationId xmlns:a16="http://schemas.microsoft.com/office/drawing/2014/main" id="{D5A4F8BB-F217-4734-B8A2-7C41B6931036}"/>
              </a:ext>
            </a:extLst>
          </p:cNvPr>
          <p:cNvSpPr txBox="1"/>
          <p:nvPr/>
        </p:nvSpPr>
        <p:spPr>
          <a:xfrm>
            <a:off x="1186162" y="1968771"/>
            <a:ext cx="6408712" cy="3693319"/>
          </a:xfrm>
          <a:prstGeom prst="rect">
            <a:avLst/>
          </a:prstGeom>
          <a:noFill/>
        </p:spPr>
        <p:txBody>
          <a:bodyPr wrap="square" rtlCol="0">
            <a:spAutoFit/>
          </a:bodyPr>
          <a:lstStyle/>
          <a:p>
            <a:r>
              <a:rPr lang="en-US" altLang="zh-CN" b="1" dirty="0">
                <a:latin typeface="Consolas" panose="020B0609020204030204" pitchFamily="49" charset="0"/>
              </a:rPr>
              <a:t>void test() {</a:t>
            </a:r>
          </a:p>
          <a:p>
            <a:r>
              <a:rPr lang="en-US" altLang="zh-CN" b="1" dirty="0">
                <a:latin typeface="Consolas" panose="020B0609020204030204" pitchFamily="49" charset="0"/>
              </a:rPr>
              <a:t>    </a:t>
            </a:r>
            <a:r>
              <a:rPr lang="en-US" altLang="zh-CN" b="1" dirty="0" err="1">
                <a:latin typeface="Consolas" panose="020B0609020204030204" pitchFamily="49" charset="0"/>
              </a:rPr>
              <a:t>shared_ptr</a:t>
            </a:r>
            <a:r>
              <a:rPr lang="en-US" altLang="zh-CN" b="1" dirty="0">
                <a:latin typeface="Consolas" panose="020B0609020204030204" pitchFamily="49" charset="0"/>
              </a:rPr>
              <a:t>&lt;Parent&gt; p(new Parent());</a:t>
            </a:r>
          </a:p>
          <a:p>
            <a:r>
              <a:rPr lang="en-US" altLang="zh-CN" b="1" dirty="0">
                <a:latin typeface="Consolas" panose="020B0609020204030204" pitchFamily="49" charset="0"/>
              </a:rPr>
              <a:t>    </a:t>
            </a:r>
            <a:r>
              <a:rPr lang="en-US" altLang="zh-CN" b="1" dirty="0" err="1">
                <a:latin typeface="Consolas" panose="020B0609020204030204" pitchFamily="49" charset="0"/>
              </a:rPr>
              <a:t>shared_ptr</a:t>
            </a:r>
            <a:r>
              <a:rPr lang="en-US" altLang="zh-CN" b="1" dirty="0">
                <a:latin typeface="Consolas" panose="020B0609020204030204" pitchFamily="49" charset="0"/>
              </a:rPr>
              <a:t>&lt;Child&gt; c(new Child());</a:t>
            </a:r>
          </a:p>
          <a:p>
            <a:r>
              <a:rPr lang="en-US" altLang="zh-CN" b="1" dirty="0">
                <a:latin typeface="Consolas" panose="020B0609020204030204" pitchFamily="49" charset="0"/>
              </a:rPr>
              <a:t>    p-&gt;</a:t>
            </a:r>
            <a:r>
              <a:rPr lang="en-US" altLang="zh-CN" b="1" dirty="0" err="1">
                <a:latin typeface="Consolas" panose="020B0609020204030204" pitchFamily="49" charset="0"/>
              </a:rPr>
              <a:t>setChild</a:t>
            </a:r>
            <a:r>
              <a:rPr lang="en-US" altLang="zh-CN" b="1" dirty="0">
                <a:latin typeface="Consolas" panose="020B0609020204030204" pitchFamily="49" charset="0"/>
              </a:rPr>
              <a:t>(c);</a:t>
            </a:r>
          </a:p>
          <a:p>
            <a:r>
              <a:rPr lang="en-US" altLang="zh-CN" b="1" dirty="0">
                <a:latin typeface="Consolas" panose="020B0609020204030204" pitchFamily="49" charset="0"/>
              </a:rPr>
              <a:t>    c-&gt;</a:t>
            </a:r>
            <a:r>
              <a:rPr lang="en-US" altLang="zh-CN" b="1" dirty="0" err="1">
                <a:latin typeface="Consolas" panose="020B0609020204030204" pitchFamily="49" charset="0"/>
              </a:rPr>
              <a:t>setParent</a:t>
            </a:r>
            <a:r>
              <a:rPr lang="en-US" altLang="zh-CN" b="1" dirty="0">
                <a:latin typeface="Consolas" panose="020B0609020204030204" pitchFamily="49" charset="0"/>
              </a:rPr>
              <a:t>(p);</a:t>
            </a:r>
          </a:p>
          <a:p>
            <a:r>
              <a:rPr lang="en-US" altLang="zh-CN" b="1" dirty="0">
                <a:latin typeface="Consolas" panose="020B0609020204030204" pitchFamily="49" charset="0"/>
              </a:rPr>
              <a:t>	</a:t>
            </a:r>
            <a:r>
              <a:rPr lang="en-US" altLang="zh-CN" b="1" dirty="0">
                <a:solidFill>
                  <a:srgbClr val="1D9A78"/>
                </a:solidFill>
                <a:latin typeface="Consolas" panose="020B0609020204030204" pitchFamily="49" charset="0"/>
              </a:rPr>
              <a:t>//p</a:t>
            </a:r>
            <a:r>
              <a:rPr lang="zh-CN" altLang="en-US" b="1" dirty="0">
                <a:solidFill>
                  <a:srgbClr val="1D9A78"/>
                </a:solidFill>
                <a:latin typeface="Consolas" panose="020B0609020204030204" pitchFamily="49" charset="0"/>
              </a:rPr>
              <a:t>和</a:t>
            </a:r>
            <a:r>
              <a:rPr lang="en-US" altLang="zh-CN" b="1" dirty="0">
                <a:solidFill>
                  <a:srgbClr val="1D9A78"/>
                </a:solidFill>
                <a:latin typeface="Consolas" panose="020B0609020204030204" pitchFamily="49" charset="0"/>
              </a:rPr>
              <a:t>c</a:t>
            </a:r>
            <a:r>
              <a:rPr lang="zh-CN" altLang="en-US" b="1" dirty="0">
                <a:solidFill>
                  <a:srgbClr val="1D9A78"/>
                </a:solidFill>
                <a:latin typeface="Consolas" panose="020B0609020204030204" pitchFamily="49" charset="0"/>
              </a:rPr>
              <a:t>被销毁</a:t>
            </a:r>
            <a:endParaRPr lang="en-US" altLang="zh-CN" b="1" dirty="0">
              <a:solidFill>
                <a:srgbClr val="1D9A78"/>
              </a:solidFill>
              <a:latin typeface="Consolas" panose="020B0609020204030204" pitchFamily="49" charset="0"/>
            </a:endParaRPr>
          </a:p>
          <a:p>
            <a:r>
              <a:rPr lang="en-US" altLang="zh-CN" b="1" dirty="0">
                <a:latin typeface="Consolas" panose="020B0609020204030204" pitchFamily="49" charset="0"/>
              </a:rPr>
              <a:t>}</a:t>
            </a:r>
          </a:p>
          <a:p>
            <a:endParaRPr lang="en-US" altLang="zh-CN" b="1" dirty="0">
              <a:latin typeface="Consolas" panose="020B0609020204030204" pitchFamily="49" charset="0"/>
            </a:endParaRPr>
          </a:p>
          <a:p>
            <a:r>
              <a:rPr lang="en-US" altLang="zh-CN" b="1" dirty="0" err="1">
                <a:latin typeface="Consolas" panose="020B0609020204030204" pitchFamily="49" charset="0"/>
              </a:rPr>
              <a:t>int</a:t>
            </a:r>
            <a:r>
              <a:rPr lang="en-US" altLang="zh-CN" b="1" dirty="0">
                <a:latin typeface="Consolas" panose="020B0609020204030204" pitchFamily="49" charset="0"/>
              </a:rPr>
              <a:t> main()</a:t>
            </a:r>
          </a:p>
          <a:p>
            <a:r>
              <a:rPr lang="en-US" altLang="zh-CN" b="1" dirty="0">
                <a:latin typeface="Consolas" panose="020B0609020204030204" pitchFamily="49" charset="0"/>
              </a:rPr>
              <a:t>{</a:t>
            </a:r>
          </a:p>
          <a:p>
            <a:r>
              <a:rPr lang="en-US" altLang="zh-CN" b="1" dirty="0">
                <a:latin typeface="Consolas" panose="020B0609020204030204" pitchFamily="49" charset="0"/>
              </a:rPr>
              <a:t>    test();</a:t>
            </a:r>
          </a:p>
          <a:p>
            <a:r>
              <a:rPr lang="en-US" altLang="zh-CN" b="1" dirty="0">
                <a:latin typeface="Consolas" panose="020B0609020204030204" pitchFamily="49" charset="0"/>
              </a:rPr>
              <a:t>    return 0;</a:t>
            </a:r>
          </a:p>
          <a:p>
            <a:r>
              <a:rPr lang="en-US" altLang="zh-CN" b="1" dirty="0">
                <a:latin typeface="Consolas" panose="020B0609020204030204" pitchFamily="49" charset="0"/>
              </a:rPr>
              <a:t>}</a:t>
            </a:r>
            <a:endParaRPr lang="zh-CN" altLang="en-US" b="1" dirty="0">
              <a:latin typeface="Consolas" panose="020B0609020204030204" pitchFamily="49" charset="0"/>
            </a:endParaRPr>
          </a:p>
        </p:txBody>
      </p:sp>
      <p:sp>
        <p:nvSpPr>
          <p:cNvPr id="8" name="文本框 7">
            <a:extLst>
              <a:ext uri="{FF2B5EF4-FFF2-40B4-BE49-F238E27FC236}">
                <a16:creationId xmlns:a16="http://schemas.microsoft.com/office/drawing/2014/main" id="{AC44E6C9-A9DF-4A3B-863D-66990680B370}"/>
              </a:ext>
            </a:extLst>
          </p:cNvPr>
          <p:cNvSpPr txBox="1"/>
          <p:nvPr/>
        </p:nvSpPr>
        <p:spPr>
          <a:xfrm>
            <a:off x="3203848" y="5442141"/>
            <a:ext cx="5416868" cy="1200329"/>
          </a:xfrm>
          <a:prstGeom prst="rect">
            <a:avLst/>
          </a:prstGeom>
          <a:noFill/>
        </p:spPr>
        <p:txBody>
          <a:bodyPr wrap="none" rtlCol="0">
            <a:spAutoFit/>
          </a:bodyPr>
          <a:lstStyle/>
          <a:p>
            <a:r>
              <a:rPr lang="zh-CN" altLang="en-US" sz="2400" b="1" dirty="0"/>
              <a:t>输出结果：</a:t>
            </a:r>
            <a:endParaRPr lang="en-US" altLang="zh-CN" sz="2400" b="1" dirty="0"/>
          </a:p>
          <a:p>
            <a:r>
              <a:rPr lang="en-US" altLang="zh-CN" sz="2400" b="1" dirty="0"/>
              <a:t>	parent constructing</a:t>
            </a:r>
          </a:p>
          <a:p>
            <a:r>
              <a:rPr lang="en-US" altLang="zh-CN" sz="2400" b="1" dirty="0"/>
              <a:t>	child constructing			</a:t>
            </a:r>
            <a:r>
              <a:rPr lang="zh-CN" altLang="en-US" sz="2400" b="1" dirty="0">
                <a:solidFill>
                  <a:srgbClr val="FF0000"/>
                </a:solidFill>
              </a:rPr>
              <a:t>没有析构？</a:t>
            </a:r>
            <a:endParaRPr lang="en-US" altLang="zh-CN" sz="2400" b="1" dirty="0">
              <a:solidFill>
                <a:srgbClr val="FF0000"/>
              </a:solidFill>
            </a:endParaRPr>
          </a:p>
        </p:txBody>
      </p:sp>
      <p:grpSp>
        <p:nvGrpSpPr>
          <p:cNvPr id="32" name="组合 31">
            <a:extLst>
              <a:ext uri="{FF2B5EF4-FFF2-40B4-BE49-F238E27FC236}">
                <a16:creationId xmlns:a16="http://schemas.microsoft.com/office/drawing/2014/main" id="{B1655FD0-F23C-4F50-A51D-3DAED37BF4CA}"/>
              </a:ext>
            </a:extLst>
          </p:cNvPr>
          <p:cNvGrpSpPr/>
          <p:nvPr/>
        </p:nvGrpSpPr>
        <p:grpSpPr>
          <a:xfrm>
            <a:off x="5220116" y="3212976"/>
            <a:ext cx="3456295" cy="1944216"/>
            <a:chOff x="-3840141" y="3717032"/>
            <a:chExt cx="3456295" cy="1944216"/>
          </a:xfrm>
        </p:grpSpPr>
        <p:grpSp>
          <p:nvGrpSpPr>
            <p:cNvPr id="15" name="组合 14">
              <a:extLst>
                <a:ext uri="{FF2B5EF4-FFF2-40B4-BE49-F238E27FC236}">
                  <a16:creationId xmlns:a16="http://schemas.microsoft.com/office/drawing/2014/main" id="{64066983-07B2-40D3-8899-DD58D75B21DE}"/>
                </a:ext>
              </a:extLst>
            </p:cNvPr>
            <p:cNvGrpSpPr/>
            <p:nvPr/>
          </p:nvGrpSpPr>
          <p:grpSpPr>
            <a:xfrm>
              <a:off x="-2607135" y="3717032"/>
              <a:ext cx="2223289" cy="1944216"/>
              <a:chOff x="-3398407" y="2708920"/>
              <a:chExt cx="2223289" cy="1944216"/>
            </a:xfrm>
          </p:grpSpPr>
          <p:sp>
            <p:nvSpPr>
              <p:cNvPr id="6" name="矩形 5">
                <a:extLst>
                  <a:ext uri="{FF2B5EF4-FFF2-40B4-BE49-F238E27FC236}">
                    <a16:creationId xmlns:a16="http://schemas.microsoft.com/office/drawing/2014/main" id="{F8F7D2B7-028F-45F7-B290-B2DB40D8B8C8}"/>
                  </a:ext>
                </a:extLst>
              </p:cNvPr>
              <p:cNvSpPr/>
              <p:nvPr/>
            </p:nvSpPr>
            <p:spPr>
              <a:xfrm>
                <a:off x="-2916832" y="2708920"/>
                <a:ext cx="971292"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Parent</a:t>
                </a:r>
                <a:endParaRPr lang="zh-CN" altLang="en-US" b="1" dirty="0"/>
              </a:p>
            </p:txBody>
          </p:sp>
          <p:sp>
            <p:nvSpPr>
              <p:cNvPr id="7" name="矩形 6">
                <a:extLst>
                  <a:ext uri="{FF2B5EF4-FFF2-40B4-BE49-F238E27FC236}">
                    <a16:creationId xmlns:a16="http://schemas.microsoft.com/office/drawing/2014/main" id="{4A468DC4-0AB9-46B5-A91B-431170E23E3C}"/>
                  </a:ext>
                </a:extLst>
              </p:cNvPr>
              <p:cNvSpPr/>
              <p:nvPr/>
            </p:nvSpPr>
            <p:spPr>
              <a:xfrm>
                <a:off x="-2912986" y="4005064"/>
                <a:ext cx="971284"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Child</a:t>
                </a:r>
                <a:endParaRPr lang="zh-CN" altLang="en-US" b="1" dirty="0"/>
              </a:p>
            </p:txBody>
          </p:sp>
          <p:cxnSp>
            <p:nvCxnSpPr>
              <p:cNvPr id="10" name="直接箭头连接符 9">
                <a:extLst>
                  <a:ext uri="{FF2B5EF4-FFF2-40B4-BE49-F238E27FC236}">
                    <a16:creationId xmlns:a16="http://schemas.microsoft.com/office/drawing/2014/main" id="{1D67326E-50B0-40AD-890B-1639EAEA1B76}"/>
                  </a:ext>
                </a:extLst>
              </p:cNvPr>
              <p:cNvCxnSpPr/>
              <p:nvPr/>
            </p:nvCxnSpPr>
            <p:spPr>
              <a:xfrm>
                <a:off x="-2628800"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D221982-D925-4EB3-9B1D-168B06C43229}"/>
                  </a:ext>
                </a:extLst>
              </p:cNvPr>
              <p:cNvCxnSpPr/>
              <p:nvPr/>
            </p:nvCxnSpPr>
            <p:spPr>
              <a:xfrm flipV="1">
                <a:off x="-2124744"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74F6A1E-699B-4F4A-B4C4-D9B82A26E8DA}"/>
                  </a:ext>
                </a:extLst>
              </p:cNvPr>
              <p:cNvSpPr txBox="1"/>
              <p:nvPr/>
            </p:nvSpPr>
            <p:spPr>
              <a:xfrm>
                <a:off x="-2066259" y="3460937"/>
                <a:ext cx="891141" cy="400110"/>
              </a:xfrm>
              <a:prstGeom prst="rect">
                <a:avLst/>
              </a:prstGeom>
              <a:noFill/>
            </p:spPr>
            <p:txBody>
              <a:bodyPr wrap="none" rtlCol="0">
                <a:spAutoFit/>
              </a:bodyPr>
              <a:lstStyle/>
              <a:p>
                <a:r>
                  <a:rPr lang="en-US" altLang="zh-CN" sz="2000" b="1" dirty="0"/>
                  <a:t>parent</a:t>
                </a:r>
                <a:endParaRPr lang="zh-CN" altLang="en-US" sz="2000" b="1" dirty="0"/>
              </a:p>
            </p:txBody>
          </p:sp>
          <p:sp>
            <p:nvSpPr>
              <p:cNvPr id="14" name="文本框 13">
                <a:extLst>
                  <a:ext uri="{FF2B5EF4-FFF2-40B4-BE49-F238E27FC236}">
                    <a16:creationId xmlns:a16="http://schemas.microsoft.com/office/drawing/2014/main" id="{6685CE4A-222F-4CDC-8BAA-C47AA9F6F7F0}"/>
                  </a:ext>
                </a:extLst>
              </p:cNvPr>
              <p:cNvSpPr txBox="1"/>
              <p:nvPr/>
            </p:nvSpPr>
            <p:spPr>
              <a:xfrm>
                <a:off x="-3398407" y="3483850"/>
                <a:ext cx="692818" cy="400110"/>
              </a:xfrm>
              <a:prstGeom prst="rect">
                <a:avLst/>
              </a:prstGeom>
              <a:noFill/>
            </p:spPr>
            <p:txBody>
              <a:bodyPr wrap="none" rtlCol="0">
                <a:spAutoFit/>
              </a:bodyPr>
              <a:lstStyle/>
              <a:p>
                <a:r>
                  <a:rPr lang="en-US" altLang="zh-CN" sz="2000" b="1" dirty="0"/>
                  <a:t>child</a:t>
                </a:r>
                <a:endParaRPr lang="zh-CN" altLang="en-US" sz="2000" b="1" dirty="0"/>
              </a:p>
            </p:txBody>
          </p:sp>
        </p:grpSp>
        <p:sp>
          <p:nvSpPr>
            <p:cNvPr id="16" name="矩形: 圆角 15">
              <a:extLst>
                <a:ext uri="{FF2B5EF4-FFF2-40B4-BE49-F238E27FC236}">
                  <a16:creationId xmlns:a16="http://schemas.microsoft.com/office/drawing/2014/main" id="{D9A08C17-E229-4E02-9CD0-8D1C074C41BC}"/>
                </a:ext>
              </a:extLst>
            </p:cNvPr>
            <p:cNvSpPr/>
            <p:nvPr/>
          </p:nvSpPr>
          <p:spPr>
            <a:xfrm>
              <a:off x="-3840141" y="3717032"/>
              <a:ext cx="831667"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a:t>
              </a:r>
              <a:endParaRPr lang="zh-CN" altLang="en-US" sz="2400" b="1" dirty="0"/>
            </a:p>
          </p:txBody>
        </p:sp>
        <p:sp>
          <p:nvSpPr>
            <p:cNvPr id="17" name="矩形: 圆角 16">
              <a:extLst>
                <a:ext uri="{FF2B5EF4-FFF2-40B4-BE49-F238E27FC236}">
                  <a16:creationId xmlns:a16="http://schemas.microsoft.com/office/drawing/2014/main" id="{91E6E98A-18F4-4E5A-9B8E-4090474FD2D2}"/>
                </a:ext>
              </a:extLst>
            </p:cNvPr>
            <p:cNvSpPr/>
            <p:nvPr/>
          </p:nvSpPr>
          <p:spPr>
            <a:xfrm>
              <a:off x="-3840141" y="5013176"/>
              <a:ext cx="831667"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c</a:t>
              </a:r>
              <a:endParaRPr lang="zh-CN" altLang="en-US" sz="2400" b="1" dirty="0"/>
            </a:p>
          </p:txBody>
        </p:sp>
        <p:cxnSp>
          <p:nvCxnSpPr>
            <p:cNvPr id="19" name="直接箭头连接符 18">
              <a:extLst>
                <a:ext uri="{FF2B5EF4-FFF2-40B4-BE49-F238E27FC236}">
                  <a16:creationId xmlns:a16="http://schemas.microsoft.com/office/drawing/2014/main" id="{4DA604D6-1EFA-4B27-8DC1-7FF9BBC29E39}"/>
                </a:ext>
              </a:extLst>
            </p:cNvPr>
            <p:cNvCxnSpPr>
              <a:cxnSpLocks/>
              <a:stCxn id="16" idx="3"/>
              <a:endCxn id="6" idx="1"/>
            </p:cNvCxnSpPr>
            <p:nvPr/>
          </p:nvCxnSpPr>
          <p:spPr>
            <a:xfrm>
              <a:off x="-3008474" y="4041068"/>
              <a:ext cx="882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1CE48E-3B14-4F6C-B83D-5D154D92FE51}"/>
                </a:ext>
              </a:extLst>
            </p:cNvPr>
            <p:cNvCxnSpPr>
              <a:cxnSpLocks/>
              <a:stCxn id="17" idx="3"/>
              <a:endCxn id="7" idx="1"/>
            </p:cNvCxnSpPr>
            <p:nvPr/>
          </p:nvCxnSpPr>
          <p:spPr>
            <a:xfrm>
              <a:off x="-3008474" y="5337212"/>
              <a:ext cx="8867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02346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611560" y="1439638"/>
            <a:ext cx="8047806" cy="4749029"/>
          </a:xfrm>
        </p:spPr>
        <p:txBody>
          <a:bodyPr/>
          <a:lstStyle/>
          <a:p>
            <a:r>
              <a:rPr lang="zh-CN" altLang="en-US" dirty="0"/>
              <a:t>为什么？</a:t>
            </a:r>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72</a:t>
            </a:fld>
            <a:endParaRPr lang="en-US" altLang="zh-CN"/>
          </a:p>
        </p:txBody>
      </p:sp>
      <p:grpSp>
        <p:nvGrpSpPr>
          <p:cNvPr id="32" name="组合 31">
            <a:extLst>
              <a:ext uri="{FF2B5EF4-FFF2-40B4-BE49-F238E27FC236}">
                <a16:creationId xmlns:a16="http://schemas.microsoft.com/office/drawing/2014/main" id="{B1655FD0-F23C-4F50-A51D-3DAED37BF4CA}"/>
              </a:ext>
            </a:extLst>
          </p:cNvPr>
          <p:cNvGrpSpPr/>
          <p:nvPr/>
        </p:nvGrpSpPr>
        <p:grpSpPr>
          <a:xfrm>
            <a:off x="2138829" y="2325451"/>
            <a:ext cx="4809435" cy="2720003"/>
            <a:chOff x="-3840141" y="3717032"/>
            <a:chExt cx="3345608" cy="1944216"/>
          </a:xfrm>
        </p:grpSpPr>
        <p:grpSp>
          <p:nvGrpSpPr>
            <p:cNvPr id="15" name="组合 14">
              <a:extLst>
                <a:ext uri="{FF2B5EF4-FFF2-40B4-BE49-F238E27FC236}">
                  <a16:creationId xmlns:a16="http://schemas.microsoft.com/office/drawing/2014/main" id="{64066983-07B2-40D3-8899-DD58D75B21DE}"/>
                </a:ext>
              </a:extLst>
            </p:cNvPr>
            <p:cNvGrpSpPr/>
            <p:nvPr/>
          </p:nvGrpSpPr>
          <p:grpSpPr>
            <a:xfrm>
              <a:off x="-2510850" y="3717032"/>
              <a:ext cx="2016317" cy="1944216"/>
              <a:chOff x="-3302122" y="2708920"/>
              <a:chExt cx="2016317" cy="1944216"/>
            </a:xfrm>
          </p:grpSpPr>
          <p:sp>
            <p:nvSpPr>
              <p:cNvPr id="6" name="矩形 5">
                <a:extLst>
                  <a:ext uri="{FF2B5EF4-FFF2-40B4-BE49-F238E27FC236}">
                    <a16:creationId xmlns:a16="http://schemas.microsoft.com/office/drawing/2014/main" id="{F8F7D2B7-028F-45F7-B290-B2DB40D8B8C8}"/>
                  </a:ext>
                </a:extLst>
              </p:cNvPr>
              <p:cNvSpPr/>
              <p:nvPr/>
            </p:nvSpPr>
            <p:spPr>
              <a:xfrm>
                <a:off x="-2916832" y="2708920"/>
                <a:ext cx="971292"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Parent</a:t>
                </a:r>
                <a:endParaRPr lang="zh-CN" altLang="en-US" b="1" dirty="0"/>
              </a:p>
            </p:txBody>
          </p:sp>
          <p:sp>
            <p:nvSpPr>
              <p:cNvPr id="7" name="矩形 6">
                <a:extLst>
                  <a:ext uri="{FF2B5EF4-FFF2-40B4-BE49-F238E27FC236}">
                    <a16:creationId xmlns:a16="http://schemas.microsoft.com/office/drawing/2014/main" id="{4A468DC4-0AB9-46B5-A91B-431170E23E3C}"/>
                  </a:ext>
                </a:extLst>
              </p:cNvPr>
              <p:cNvSpPr/>
              <p:nvPr/>
            </p:nvSpPr>
            <p:spPr>
              <a:xfrm>
                <a:off x="-2912986" y="4005064"/>
                <a:ext cx="971284"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Child</a:t>
                </a:r>
                <a:endParaRPr lang="zh-CN" altLang="en-US" b="1" dirty="0"/>
              </a:p>
            </p:txBody>
          </p:sp>
          <p:cxnSp>
            <p:nvCxnSpPr>
              <p:cNvPr id="10" name="直接箭头连接符 9">
                <a:extLst>
                  <a:ext uri="{FF2B5EF4-FFF2-40B4-BE49-F238E27FC236}">
                    <a16:creationId xmlns:a16="http://schemas.microsoft.com/office/drawing/2014/main" id="{1D67326E-50B0-40AD-890B-1639EAEA1B76}"/>
                  </a:ext>
                </a:extLst>
              </p:cNvPr>
              <p:cNvCxnSpPr/>
              <p:nvPr/>
            </p:nvCxnSpPr>
            <p:spPr>
              <a:xfrm>
                <a:off x="-2628800"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D221982-D925-4EB3-9B1D-168B06C43229}"/>
                  </a:ext>
                </a:extLst>
              </p:cNvPr>
              <p:cNvCxnSpPr/>
              <p:nvPr/>
            </p:nvCxnSpPr>
            <p:spPr>
              <a:xfrm flipV="1">
                <a:off x="-2124744"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74F6A1E-699B-4F4A-B4C4-D9B82A26E8DA}"/>
                  </a:ext>
                </a:extLst>
              </p:cNvPr>
              <p:cNvSpPr txBox="1"/>
              <p:nvPr/>
            </p:nvSpPr>
            <p:spPr>
              <a:xfrm>
                <a:off x="-2026669" y="3538032"/>
                <a:ext cx="740864" cy="285992"/>
              </a:xfrm>
              <a:prstGeom prst="rect">
                <a:avLst/>
              </a:prstGeom>
              <a:noFill/>
            </p:spPr>
            <p:txBody>
              <a:bodyPr wrap="square" rtlCol="0">
                <a:spAutoFit/>
              </a:bodyPr>
              <a:lstStyle/>
              <a:p>
                <a:r>
                  <a:rPr lang="en-US" altLang="zh-CN" sz="2000" b="1" dirty="0"/>
                  <a:t>parent</a:t>
                </a:r>
                <a:endParaRPr lang="zh-CN" altLang="en-US" sz="2000" b="1" dirty="0"/>
              </a:p>
            </p:txBody>
          </p:sp>
          <p:sp>
            <p:nvSpPr>
              <p:cNvPr id="14" name="文本框 13">
                <a:extLst>
                  <a:ext uri="{FF2B5EF4-FFF2-40B4-BE49-F238E27FC236}">
                    <a16:creationId xmlns:a16="http://schemas.microsoft.com/office/drawing/2014/main" id="{6685CE4A-222F-4CDC-8BAA-C47AA9F6F7F0}"/>
                  </a:ext>
                </a:extLst>
              </p:cNvPr>
              <p:cNvSpPr txBox="1"/>
              <p:nvPr/>
            </p:nvSpPr>
            <p:spPr>
              <a:xfrm>
                <a:off x="-3302122" y="3533881"/>
                <a:ext cx="481574" cy="294293"/>
              </a:xfrm>
              <a:prstGeom prst="rect">
                <a:avLst/>
              </a:prstGeom>
              <a:noFill/>
            </p:spPr>
            <p:txBody>
              <a:bodyPr wrap="square" rtlCol="0">
                <a:spAutoFit/>
              </a:bodyPr>
              <a:lstStyle/>
              <a:p>
                <a:r>
                  <a:rPr lang="en-US" altLang="zh-CN" sz="2000" b="1" dirty="0"/>
                  <a:t>child</a:t>
                </a:r>
                <a:endParaRPr lang="zh-CN" altLang="en-US" sz="2000" b="1" dirty="0"/>
              </a:p>
            </p:txBody>
          </p:sp>
        </p:grpSp>
        <p:sp>
          <p:nvSpPr>
            <p:cNvPr id="16" name="矩形: 圆角 15">
              <a:extLst>
                <a:ext uri="{FF2B5EF4-FFF2-40B4-BE49-F238E27FC236}">
                  <a16:creationId xmlns:a16="http://schemas.microsoft.com/office/drawing/2014/main" id="{D9A08C17-E229-4E02-9CD0-8D1C074C41BC}"/>
                </a:ext>
              </a:extLst>
            </p:cNvPr>
            <p:cNvSpPr/>
            <p:nvPr/>
          </p:nvSpPr>
          <p:spPr>
            <a:xfrm>
              <a:off x="-3840141" y="3717032"/>
              <a:ext cx="831667"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a:t>
              </a:r>
              <a:endParaRPr lang="zh-CN" altLang="en-US" sz="2400" b="1" dirty="0"/>
            </a:p>
          </p:txBody>
        </p:sp>
        <p:sp>
          <p:nvSpPr>
            <p:cNvPr id="17" name="矩形: 圆角 16">
              <a:extLst>
                <a:ext uri="{FF2B5EF4-FFF2-40B4-BE49-F238E27FC236}">
                  <a16:creationId xmlns:a16="http://schemas.microsoft.com/office/drawing/2014/main" id="{91E6E98A-18F4-4E5A-9B8E-4090474FD2D2}"/>
                </a:ext>
              </a:extLst>
            </p:cNvPr>
            <p:cNvSpPr/>
            <p:nvPr/>
          </p:nvSpPr>
          <p:spPr>
            <a:xfrm>
              <a:off x="-3840141" y="5013176"/>
              <a:ext cx="831667" cy="6480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c</a:t>
              </a:r>
              <a:endParaRPr lang="zh-CN" altLang="en-US" sz="2400" b="1" dirty="0"/>
            </a:p>
          </p:txBody>
        </p:sp>
        <p:cxnSp>
          <p:nvCxnSpPr>
            <p:cNvPr id="19" name="直接箭头连接符 18">
              <a:extLst>
                <a:ext uri="{FF2B5EF4-FFF2-40B4-BE49-F238E27FC236}">
                  <a16:creationId xmlns:a16="http://schemas.microsoft.com/office/drawing/2014/main" id="{4DA604D6-1EFA-4B27-8DC1-7FF9BBC29E39}"/>
                </a:ext>
              </a:extLst>
            </p:cNvPr>
            <p:cNvCxnSpPr>
              <a:cxnSpLocks/>
              <a:stCxn id="16" idx="3"/>
              <a:endCxn id="6" idx="1"/>
            </p:cNvCxnSpPr>
            <p:nvPr/>
          </p:nvCxnSpPr>
          <p:spPr>
            <a:xfrm>
              <a:off x="-3008474" y="4041068"/>
              <a:ext cx="882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1CE48E-3B14-4F6C-B83D-5D154D92FE51}"/>
                </a:ext>
              </a:extLst>
            </p:cNvPr>
            <p:cNvCxnSpPr>
              <a:cxnSpLocks/>
              <a:stCxn id="17" idx="3"/>
              <a:endCxn id="7" idx="1"/>
            </p:cNvCxnSpPr>
            <p:nvPr/>
          </p:nvCxnSpPr>
          <p:spPr>
            <a:xfrm>
              <a:off x="-3008474" y="5337212"/>
              <a:ext cx="8867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89B67140-BAC8-412E-BF6B-762D813BFFCD}"/>
              </a:ext>
            </a:extLst>
          </p:cNvPr>
          <p:cNvSpPr txBox="1"/>
          <p:nvPr/>
        </p:nvSpPr>
        <p:spPr>
          <a:xfrm>
            <a:off x="4596255" y="5178909"/>
            <a:ext cx="1410964" cy="400110"/>
          </a:xfrm>
          <a:prstGeom prst="rect">
            <a:avLst/>
          </a:prstGeom>
          <a:noFill/>
        </p:spPr>
        <p:txBody>
          <a:bodyPr wrap="none" rtlCol="0">
            <a:spAutoFit/>
          </a:bodyPr>
          <a:lstStyle/>
          <a:p>
            <a:r>
              <a:rPr lang="zh-CN" altLang="en-US" sz="2000" b="1" dirty="0"/>
              <a:t>引用计数</a:t>
            </a:r>
            <a:r>
              <a:rPr lang="en-US" altLang="zh-CN" sz="2000" b="1" dirty="0"/>
              <a:t>:2</a:t>
            </a:r>
            <a:endParaRPr lang="zh-CN" altLang="en-US" sz="2000" b="1" dirty="0"/>
          </a:p>
        </p:txBody>
      </p:sp>
      <p:sp>
        <p:nvSpPr>
          <p:cNvPr id="20" name="文本框 19">
            <a:extLst>
              <a:ext uri="{FF2B5EF4-FFF2-40B4-BE49-F238E27FC236}">
                <a16:creationId xmlns:a16="http://schemas.microsoft.com/office/drawing/2014/main" id="{9A21918B-ECD6-4A54-9107-EA3C9B96B065}"/>
              </a:ext>
            </a:extLst>
          </p:cNvPr>
          <p:cNvSpPr txBox="1"/>
          <p:nvPr/>
        </p:nvSpPr>
        <p:spPr>
          <a:xfrm>
            <a:off x="4628431" y="1772816"/>
            <a:ext cx="1410964" cy="400110"/>
          </a:xfrm>
          <a:prstGeom prst="rect">
            <a:avLst/>
          </a:prstGeom>
          <a:noFill/>
        </p:spPr>
        <p:txBody>
          <a:bodyPr wrap="none" rtlCol="0">
            <a:spAutoFit/>
          </a:bodyPr>
          <a:lstStyle/>
          <a:p>
            <a:r>
              <a:rPr lang="zh-CN" altLang="en-US" sz="2000" b="1" dirty="0"/>
              <a:t>引用计数</a:t>
            </a:r>
            <a:r>
              <a:rPr lang="en-US" altLang="zh-CN" sz="2000" b="1" dirty="0"/>
              <a:t>:2</a:t>
            </a:r>
            <a:endParaRPr lang="zh-CN" altLang="en-US" sz="2000" b="1" dirty="0"/>
          </a:p>
        </p:txBody>
      </p:sp>
    </p:spTree>
    <p:extLst>
      <p:ext uri="{BB962C8B-B14F-4D97-AF65-F5344CB8AC3E}">
        <p14:creationId xmlns:p14="http://schemas.microsoft.com/office/powerpoint/2010/main" val="32843912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611560" y="1439638"/>
            <a:ext cx="8047806" cy="4749029"/>
          </a:xfrm>
        </p:spPr>
        <p:txBody>
          <a:bodyPr/>
          <a:lstStyle/>
          <a:p>
            <a:r>
              <a:rPr lang="zh-CN" altLang="en-US" dirty="0"/>
              <a:t>为什么？</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a:lnSpc>
                <a:spcPct val="150000"/>
              </a:lnSpc>
            </a:pPr>
            <a:endParaRPr lang="en-US" altLang="zh-CN" dirty="0"/>
          </a:p>
          <a:p>
            <a:r>
              <a:rPr lang="zh-CN" altLang="en-US" dirty="0"/>
              <a:t>两个对象的引用次数都是</a:t>
            </a:r>
            <a:r>
              <a:rPr lang="en-US" altLang="zh-CN" dirty="0"/>
              <a:t>1</a:t>
            </a:r>
            <a:r>
              <a:rPr lang="zh-CN" altLang="en-US" dirty="0"/>
              <a:t>，内存泄漏！</a:t>
            </a:r>
            <a:endParaRPr lang="en-US" altLang="zh-CN" dirty="0"/>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73</a:t>
            </a:fld>
            <a:endParaRPr lang="en-US" altLang="zh-CN"/>
          </a:p>
        </p:txBody>
      </p:sp>
      <p:grpSp>
        <p:nvGrpSpPr>
          <p:cNvPr id="32" name="组合 31">
            <a:extLst>
              <a:ext uri="{FF2B5EF4-FFF2-40B4-BE49-F238E27FC236}">
                <a16:creationId xmlns:a16="http://schemas.microsoft.com/office/drawing/2014/main" id="{B1655FD0-F23C-4F50-A51D-3DAED37BF4CA}"/>
              </a:ext>
            </a:extLst>
          </p:cNvPr>
          <p:cNvGrpSpPr/>
          <p:nvPr/>
        </p:nvGrpSpPr>
        <p:grpSpPr>
          <a:xfrm>
            <a:off x="2138829" y="2325451"/>
            <a:ext cx="4809435" cy="2720003"/>
            <a:chOff x="-3840141" y="3717032"/>
            <a:chExt cx="3345608" cy="1944216"/>
          </a:xfrm>
        </p:grpSpPr>
        <p:grpSp>
          <p:nvGrpSpPr>
            <p:cNvPr id="15" name="组合 14">
              <a:extLst>
                <a:ext uri="{FF2B5EF4-FFF2-40B4-BE49-F238E27FC236}">
                  <a16:creationId xmlns:a16="http://schemas.microsoft.com/office/drawing/2014/main" id="{64066983-07B2-40D3-8899-DD58D75B21DE}"/>
                </a:ext>
              </a:extLst>
            </p:cNvPr>
            <p:cNvGrpSpPr/>
            <p:nvPr/>
          </p:nvGrpSpPr>
          <p:grpSpPr>
            <a:xfrm>
              <a:off x="-2510850" y="3717032"/>
              <a:ext cx="2016317" cy="1944216"/>
              <a:chOff x="-3302122" y="2708920"/>
              <a:chExt cx="2016317" cy="1944216"/>
            </a:xfrm>
          </p:grpSpPr>
          <p:sp>
            <p:nvSpPr>
              <p:cNvPr id="6" name="矩形 5">
                <a:extLst>
                  <a:ext uri="{FF2B5EF4-FFF2-40B4-BE49-F238E27FC236}">
                    <a16:creationId xmlns:a16="http://schemas.microsoft.com/office/drawing/2014/main" id="{F8F7D2B7-028F-45F7-B290-B2DB40D8B8C8}"/>
                  </a:ext>
                </a:extLst>
              </p:cNvPr>
              <p:cNvSpPr/>
              <p:nvPr/>
            </p:nvSpPr>
            <p:spPr>
              <a:xfrm>
                <a:off x="-2916832" y="2708920"/>
                <a:ext cx="971292"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Parent</a:t>
                </a:r>
                <a:endParaRPr lang="zh-CN" altLang="en-US" b="1" dirty="0"/>
              </a:p>
            </p:txBody>
          </p:sp>
          <p:sp>
            <p:nvSpPr>
              <p:cNvPr id="7" name="矩形 6">
                <a:extLst>
                  <a:ext uri="{FF2B5EF4-FFF2-40B4-BE49-F238E27FC236}">
                    <a16:creationId xmlns:a16="http://schemas.microsoft.com/office/drawing/2014/main" id="{4A468DC4-0AB9-46B5-A91B-431170E23E3C}"/>
                  </a:ext>
                </a:extLst>
              </p:cNvPr>
              <p:cNvSpPr/>
              <p:nvPr/>
            </p:nvSpPr>
            <p:spPr>
              <a:xfrm>
                <a:off x="-2912986" y="4005064"/>
                <a:ext cx="971284"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Child</a:t>
                </a:r>
                <a:endParaRPr lang="zh-CN" altLang="en-US" b="1" dirty="0"/>
              </a:p>
            </p:txBody>
          </p:sp>
          <p:cxnSp>
            <p:nvCxnSpPr>
              <p:cNvPr id="10" name="直接箭头连接符 9">
                <a:extLst>
                  <a:ext uri="{FF2B5EF4-FFF2-40B4-BE49-F238E27FC236}">
                    <a16:creationId xmlns:a16="http://schemas.microsoft.com/office/drawing/2014/main" id="{1D67326E-50B0-40AD-890B-1639EAEA1B76}"/>
                  </a:ext>
                </a:extLst>
              </p:cNvPr>
              <p:cNvCxnSpPr/>
              <p:nvPr/>
            </p:nvCxnSpPr>
            <p:spPr>
              <a:xfrm>
                <a:off x="-2628800"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D221982-D925-4EB3-9B1D-168B06C43229}"/>
                  </a:ext>
                </a:extLst>
              </p:cNvPr>
              <p:cNvCxnSpPr/>
              <p:nvPr/>
            </p:nvCxnSpPr>
            <p:spPr>
              <a:xfrm flipV="1">
                <a:off x="-2124744"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74F6A1E-699B-4F4A-B4C4-D9B82A26E8DA}"/>
                  </a:ext>
                </a:extLst>
              </p:cNvPr>
              <p:cNvSpPr txBox="1"/>
              <p:nvPr/>
            </p:nvSpPr>
            <p:spPr>
              <a:xfrm>
                <a:off x="-2026669" y="3538032"/>
                <a:ext cx="740864" cy="285992"/>
              </a:xfrm>
              <a:prstGeom prst="rect">
                <a:avLst/>
              </a:prstGeom>
              <a:noFill/>
            </p:spPr>
            <p:txBody>
              <a:bodyPr wrap="square" rtlCol="0">
                <a:spAutoFit/>
              </a:bodyPr>
              <a:lstStyle/>
              <a:p>
                <a:r>
                  <a:rPr lang="en-US" altLang="zh-CN" sz="2000" b="1" dirty="0"/>
                  <a:t>parent</a:t>
                </a:r>
                <a:endParaRPr lang="zh-CN" altLang="en-US" sz="2000" b="1" dirty="0"/>
              </a:p>
            </p:txBody>
          </p:sp>
          <p:sp>
            <p:nvSpPr>
              <p:cNvPr id="14" name="文本框 13">
                <a:extLst>
                  <a:ext uri="{FF2B5EF4-FFF2-40B4-BE49-F238E27FC236}">
                    <a16:creationId xmlns:a16="http://schemas.microsoft.com/office/drawing/2014/main" id="{6685CE4A-222F-4CDC-8BAA-C47AA9F6F7F0}"/>
                  </a:ext>
                </a:extLst>
              </p:cNvPr>
              <p:cNvSpPr txBox="1"/>
              <p:nvPr/>
            </p:nvSpPr>
            <p:spPr>
              <a:xfrm>
                <a:off x="-3302122" y="3533881"/>
                <a:ext cx="481574" cy="294293"/>
              </a:xfrm>
              <a:prstGeom prst="rect">
                <a:avLst/>
              </a:prstGeom>
              <a:noFill/>
            </p:spPr>
            <p:txBody>
              <a:bodyPr wrap="square" rtlCol="0">
                <a:spAutoFit/>
              </a:bodyPr>
              <a:lstStyle/>
              <a:p>
                <a:r>
                  <a:rPr lang="en-US" altLang="zh-CN" sz="2000" b="1" dirty="0"/>
                  <a:t>child</a:t>
                </a:r>
                <a:endParaRPr lang="zh-CN" altLang="en-US" sz="2000" b="1" dirty="0"/>
              </a:p>
            </p:txBody>
          </p:sp>
        </p:grpSp>
        <p:sp>
          <p:nvSpPr>
            <p:cNvPr id="16" name="矩形: 圆角 15">
              <a:extLst>
                <a:ext uri="{FF2B5EF4-FFF2-40B4-BE49-F238E27FC236}">
                  <a16:creationId xmlns:a16="http://schemas.microsoft.com/office/drawing/2014/main" id="{D9A08C17-E229-4E02-9CD0-8D1C074C41BC}"/>
                </a:ext>
              </a:extLst>
            </p:cNvPr>
            <p:cNvSpPr/>
            <p:nvPr/>
          </p:nvSpPr>
          <p:spPr>
            <a:xfrm>
              <a:off x="-3840141" y="3717032"/>
              <a:ext cx="831667" cy="648072"/>
            </a:xfrm>
            <a:prstGeom prst="round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a:t>
              </a:r>
              <a:endParaRPr lang="zh-CN" altLang="en-US" sz="2400" b="1" dirty="0"/>
            </a:p>
          </p:txBody>
        </p:sp>
        <p:sp>
          <p:nvSpPr>
            <p:cNvPr id="17" name="矩形: 圆角 16">
              <a:extLst>
                <a:ext uri="{FF2B5EF4-FFF2-40B4-BE49-F238E27FC236}">
                  <a16:creationId xmlns:a16="http://schemas.microsoft.com/office/drawing/2014/main" id="{91E6E98A-18F4-4E5A-9B8E-4090474FD2D2}"/>
                </a:ext>
              </a:extLst>
            </p:cNvPr>
            <p:cNvSpPr/>
            <p:nvPr/>
          </p:nvSpPr>
          <p:spPr>
            <a:xfrm>
              <a:off x="-3840141" y="5013176"/>
              <a:ext cx="831667" cy="648072"/>
            </a:xfrm>
            <a:prstGeom prst="round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c</a:t>
              </a:r>
              <a:endParaRPr lang="zh-CN" altLang="en-US" sz="2400" b="1" dirty="0"/>
            </a:p>
          </p:txBody>
        </p:sp>
        <p:cxnSp>
          <p:nvCxnSpPr>
            <p:cNvPr id="19" name="直接箭头连接符 18">
              <a:extLst>
                <a:ext uri="{FF2B5EF4-FFF2-40B4-BE49-F238E27FC236}">
                  <a16:creationId xmlns:a16="http://schemas.microsoft.com/office/drawing/2014/main" id="{4DA604D6-1EFA-4B27-8DC1-7FF9BBC29E39}"/>
                </a:ext>
              </a:extLst>
            </p:cNvPr>
            <p:cNvCxnSpPr>
              <a:cxnSpLocks/>
              <a:stCxn id="16" idx="3"/>
              <a:endCxn id="6" idx="1"/>
            </p:cNvCxnSpPr>
            <p:nvPr/>
          </p:nvCxnSpPr>
          <p:spPr>
            <a:xfrm>
              <a:off x="-3008474" y="4041068"/>
              <a:ext cx="882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1CE48E-3B14-4F6C-B83D-5D154D92FE51}"/>
                </a:ext>
              </a:extLst>
            </p:cNvPr>
            <p:cNvCxnSpPr>
              <a:cxnSpLocks/>
              <a:stCxn id="17" idx="3"/>
              <a:endCxn id="7" idx="1"/>
            </p:cNvCxnSpPr>
            <p:nvPr/>
          </p:nvCxnSpPr>
          <p:spPr>
            <a:xfrm>
              <a:off x="-3008474" y="5337212"/>
              <a:ext cx="8867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89B67140-BAC8-412E-BF6B-762D813BFFCD}"/>
              </a:ext>
            </a:extLst>
          </p:cNvPr>
          <p:cNvSpPr txBox="1"/>
          <p:nvPr/>
        </p:nvSpPr>
        <p:spPr>
          <a:xfrm>
            <a:off x="4596255" y="5178909"/>
            <a:ext cx="1410964" cy="400110"/>
          </a:xfrm>
          <a:prstGeom prst="rect">
            <a:avLst/>
          </a:prstGeom>
          <a:noFill/>
        </p:spPr>
        <p:txBody>
          <a:bodyPr wrap="none" rtlCol="0">
            <a:spAutoFit/>
          </a:bodyPr>
          <a:lstStyle/>
          <a:p>
            <a:r>
              <a:rPr lang="zh-CN" altLang="en-US" sz="2000" b="1" dirty="0">
                <a:solidFill>
                  <a:srgbClr val="FF0000"/>
                </a:solidFill>
              </a:rPr>
              <a:t>引用计数</a:t>
            </a:r>
            <a:r>
              <a:rPr lang="en-US" altLang="zh-CN" sz="2000" b="1" dirty="0">
                <a:solidFill>
                  <a:srgbClr val="FF0000"/>
                </a:solidFill>
              </a:rPr>
              <a:t>:1</a:t>
            </a:r>
            <a:endParaRPr lang="zh-CN" altLang="en-US" sz="2000" b="1" dirty="0">
              <a:solidFill>
                <a:srgbClr val="FF0000"/>
              </a:solidFill>
            </a:endParaRPr>
          </a:p>
        </p:txBody>
      </p:sp>
      <p:sp>
        <p:nvSpPr>
          <p:cNvPr id="20" name="文本框 19">
            <a:extLst>
              <a:ext uri="{FF2B5EF4-FFF2-40B4-BE49-F238E27FC236}">
                <a16:creationId xmlns:a16="http://schemas.microsoft.com/office/drawing/2014/main" id="{9A21918B-ECD6-4A54-9107-EA3C9B96B065}"/>
              </a:ext>
            </a:extLst>
          </p:cNvPr>
          <p:cNvSpPr txBox="1"/>
          <p:nvPr/>
        </p:nvSpPr>
        <p:spPr>
          <a:xfrm>
            <a:off x="4628431" y="1772816"/>
            <a:ext cx="1410964" cy="400110"/>
          </a:xfrm>
          <a:prstGeom prst="rect">
            <a:avLst/>
          </a:prstGeom>
          <a:noFill/>
        </p:spPr>
        <p:txBody>
          <a:bodyPr wrap="none" rtlCol="0">
            <a:spAutoFit/>
          </a:bodyPr>
          <a:lstStyle/>
          <a:p>
            <a:r>
              <a:rPr lang="zh-CN" altLang="en-US" sz="2000" b="1" dirty="0">
                <a:solidFill>
                  <a:srgbClr val="FF0000"/>
                </a:solidFill>
              </a:rPr>
              <a:t>引用计数</a:t>
            </a:r>
            <a:r>
              <a:rPr lang="en-US" altLang="zh-CN" sz="2000" b="1" dirty="0">
                <a:solidFill>
                  <a:srgbClr val="FF0000"/>
                </a:solidFill>
              </a:rPr>
              <a:t>:1</a:t>
            </a:r>
            <a:endParaRPr lang="zh-CN" altLang="en-US" sz="2000" b="1" dirty="0">
              <a:solidFill>
                <a:srgbClr val="FF0000"/>
              </a:solidFill>
            </a:endParaRPr>
          </a:p>
        </p:txBody>
      </p:sp>
    </p:spTree>
    <p:extLst>
      <p:ext uri="{BB962C8B-B14F-4D97-AF65-F5344CB8AC3E}">
        <p14:creationId xmlns:p14="http://schemas.microsoft.com/office/powerpoint/2010/main" val="14715020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548097" y="1364483"/>
            <a:ext cx="8047806" cy="4749029"/>
          </a:xfrm>
        </p:spPr>
        <p:txBody>
          <a:bodyPr/>
          <a:lstStyle/>
          <a:p>
            <a:r>
              <a:rPr lang="zh-CN" altLang="en-US" dirty="0"/>
              <a:t>修改</a:t>
            </a:r>
            <a:r>
              <a:rPr lang="en-US" altLang="zh-CN" dirty="0"/>
              <a:t>Child</a:t>
            </a:r>
            <a:r>
              <a:rPr lang="zh-CN" altLang="en-US" dirty="0"/>
              <a:t>类</a:t>
            </a:r>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74</a:t>
            </a:fld>
            <a:endParaRPr lang="en-US" altLang="zh-CN"/>
          </a:p>
        </p:txBody>
      </p:sp>
      <p:sp>
        <p:nvSpPr>
          <p:cNvPr id="5" name="文本框 4">
            <a:extLst>
              <a:ext uri="{FF2B5EF4-FFF2-40B4-BE49-F238E27FC236}">
                <a16:creationId xmlns:a16="http://schemas.microsoft.com/office/drawing/2014/main" id="{D5A4F8BB-F217-4734-B8A2-7C41B6931036}"/>
              </a:ext>
            </a:extLst>
          </p:cNvPr>
          <p:cNvSpPr txBox="1"/>
          <p:nvPr/>
        </p:nvSpPr>
        <p:spPr>
          <a:xfrm>
            <a:off x="1187624" y="1970831"/>
            <a:ext cx="6408712" cy="2308324"/>
          </a:xfrm>
          <a:prstGeom prst="rect">
            <a:avLst/>
          </a:prstGeom>
          <a:noFill/>
        </p:spPr>
        <p:txBody>
          <a:bodyPr wrap="square" rtlCol="0">
            <a:spAutoFit/>
          </a:bodyPr>
          <a:lstStyle/>
          <a:p>
            <a:r>
              <a:rPr lang="en-US" altLang="zh-CN" sz="1600" b="1" dirty="0">
                <a:latin typeface="Consolas" panose="020B0609020204030204" pitchFamily="49" charset="0"/>
              </a:rPr>
              <a:t>class Child {</a:t>
            </a:r>
          </a:p>
          <a:p>
            <a:r>
              <a:rPr lang="en-US" altLang="zh-CN" sz="1600" b="1" dirty="0">
                <a:solidFill>
                  <a:srgbClr val="FF0000"/>
                </a:solidFill>
                <a:latin typeface="Consolas" panose="020B0609020204030204" pitchFamily="49" charset="0"/>
              </a:rPr>
              <a:t>    </a:t>
            </a:r>
            <a:r>
              <a:rPr lang="en-US" altLang="zh-CN" sz="1600" b="1" dirty="0" err="1">
                <a:solidFill>
                  <a:srgbClr val="FF0000"/>
                </a:solidFill>
                <a:latin typeface="Consolas" panose="020B0609020204030204" pitchFamily="49" charset="0"/>
              </a:rPr>
              <a:t>weak_ptr</a:t>
            </a:r>
            <a:r>
              <a:rPr lang="en-US" altLang="zh-CN" sz="1600" b="1" dirty="0">
                <a:solidFill>
                  <a:srgbClr val="FF0000"/>
                </a:solidFill>
                <a:latin typeface="Consolas" panose="020B0609020204030204" pitchFamily="49" charset="0"/>
              </a:rPr>
              <a:t>&lt;Parent&gt; parent;  //</a:t>
            </a:r>
            <a:r>
              <a:rPr lang="zh-CN" altLang="en-US" sz="1600" b="1" dirty="0">
                <a:solidFill>
                  <a:srgbClr val="FF0000"/>
                </a:solidFill>
                <a:latin typeface="Consolas" panose="020B0609020204030204" pitchFamily="49" charset="0"/>
              </a:rPr>
              <a:t>修改为弱引用</a:t>
            </a:r>
            <a:endParaRPr lang="en-US" altLang="zh-CN" sz="1600" b="1" dirty="0">
              <a:solidFill>
                <a:srgbClr val="FF0000"/>
              </a:solidFill>
              <a:latin typeface="Consolas" panose="020B0609020204030204" pitchFamily="49" charset="0"/>
            </a:endParaRPr>
          </a:p>
          <a:p>
            <a:r>
              <a:rPr lang="en-US" altLang="zh-CN" sz="1600" b="1" dirty="0">
                <a:latin typeface="Consolas" panose="020B0609020204030204" pitchFamily="49" charset="0"/>
              </a:rPr>
              <a:t>public:</a:t>
            </a:r>
          </a:p>
          <a:p>
            <a:r>
              <a:rPr lang="en-US" altLang="zh-CN" sz="1600" b="1" dirty="0">
                <a:latin typeface="Consolas" panose="020B0609020204030204" pitchFamily="49" charset="0"/>
              </a:rPr>
              <a:t>    Child()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"child constructing"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 }</a:t>
            </a:r>
          </a:p>
          <a:p>
            <a:r>
              <a:rPr lang="en-US" altLang="zh-CN" sz="1600" b="1" dirty="0">
                <a:latin typeface="Consolas" panose="020B0609020204030204" pitchFamily="49" charset="0"/>
              </a:rPr>
              <a:t>    ~Child()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"child destructing"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 }</a:t>
            </a:r>
          </a:p>
          <a:p>
            <a:r>
              <a:rPr lang="en-US" altLang="zh-CN" sz="1600" b="1" dirty="0">
                <a:latin typeface="Consolas" panose="020B0609020204030204" pitchFamily="49" charset="0"/>
              </a:rPr>
              <a:t>    void </a:t>
            </a:r>
            <a:r>
              <a:rPr lang="en-US" altLang="zh-CN" sz="1600" b="1" dirty="0" err="1">
                <a:latin typeface="Consolas" panose="020B0609020204030204" pitchFamily="49" charset="0"/>
              </a:rPr>
              <a:t>setParent</a:t>
            </a:r>
            <a:r>
              <a:rPr lang="en-US" altLang="zh-CN" sz="1600" b="1" dirty="0">
                <a:latin typeface="Consolas" panose="020B0609020204030204" pitchFamily="49" charset="0"/>
              </a:rPr>
              <a:t>(</a:t>
            </a:r>
            <a:r>
              <a:rPr lang="en-US" altLang="zh-CN" sz="1600" b="1" dirty="0" err="1">
                <a:latin typeface="Consolas" panose="020B0609020204030204" pitchFamily="49" charset="0"/>
              </a:rPr>
              <a:t>shared_ptr</a:t>
            </a:r>
            <a:r>
              <a:rPr lang="en-US" altLang="zh-CN" sz="1600" b="1" dirty="0">
                <a:latin typeface="Consolas" panose="020B0609020204030204" pitchFamily="49" charset="0"/>
              </a:rPr>
              <a:t>&lt;Parent&gt; p) {</a:t>
            </a:r>
          </a:p>
          <a:p>
            <a:r>
              <a:rPr lang="en-US" altLang="zh-CN" sz="1600" b="1" dirty="0">
                <a:latin typeface="Consolas" panose="020B0609020204030204" pitchFamily="49" charset="0"/>
              </a:rPr>
              <a:t>        parent = p;</a:t>
            </a:r>
          </a:p>
          <a:p>
            <a:r>
              <a:rPr lang="en-US" altLang="zh-CN" sz="1600" b="1" dirty="0">
                <a:latin typeface="Consolas" panose="020B0609020204030204" pitchFamily="49" charset="0"/>
              </a:rPr>
              <a:t>    }</a:t>
            </a:r>
          </a:p>
          <a:p>
            <a:r>
              <a:rPr lang="en-US" altLang="zh-CN" sz="1600" b="1" dirty="0">
                <a:latin typeface="Consolas" panose="020B0609020204030204" pitchFamily="49" charset="0"/>
              </a:rPr>
              <a:t>};</a:t>
            </a:r>
            <a:endParaRPr lang="zh-CN" altLang="en-US" sz="1600" b="1" dirty="0">
              <a:latin typeface="Consolas" panose="020B0609020204030204" pitchFamily="49" charset="0"/>
            </a:endParaRPr>
          </a:p>
        </p:txBody>
      </p:sp>
      <p:sp>
        <p:nvSpPr>
          <p:cNvPr id="6" name="文本框 5">
            <a:extLst>
              <a:ext uri="{FF2B5EF4-FFF2-40B4-BE49-F238E27FC236}">
                <a16:creationId xmlns:a16="http://schemas.microsoft.com/office/drawing/2014/main" id="{315D2DF0-FAC3-44EC-8621-66BCCE630159}"/>
              </a:ext>
            </a:extLst>
          </p:cNvPr>
          <p:cNvSpPr txBox="1"/>
          <p:nvPr/>
        </p:nvSpPr>
        <p:spPr>
          <a:xfrm>
            <a:off x="4122862" y="4482296"/>
            <a:ext cx="2727221" cy="1631216"/>
          </a:xfrm>
          <a:prstGeom prst="rect">
            <a:avLst/>
          </a:prstGeom>
          <a:noFill/>
        </p:spPr>
        <p:txBody>
          <a:bodyPr wrap="none" rtlCol="0">
            <a:spAutoFit/>
          </a:bodyPr>
          <a:lstStyle/>
          <a:p>
            <a:r>
              <a:rPr lang="zh-CN" altLang="en-US" sz="2000" b="1" dirty="0"/>
              <a:t>输出结果：</a:t>
            </a:r>
            <a:endParaRPr lang="en-US" altLang="zh-CN" sz="2000" b="1" dirty="0"/>
          </a:p>
          <a:p>
            <a:r>
              <a:rPr lang="en-US" altLang="zh-CN" sz="2000" b="1" dirty="0"/>
              <a:t>	parent constructing</a:t>
            </a:r>
          </a:p>
          <a:p>
            <a:r>
              <a:rPr lang="en-US" altLang="zh-CN" sz="2000" b="1" dirty="0"/>
              <a:t>	child constructing</a:t>
            </a:r>
          </a:p>
          <a:p>
            <a:r>
              <a:rPr lang="en-US" altLang="zh-CN" sz="2000" b="1" dirty="0"/>
              <a:t>	parent destructing</a:t>
            </a:r>
          </a:p>
          <a:p>
            <a:r>
              <a:rPr lang="en-US" altLang="zh-CN" sz="2000" b="1" dirty="0"/>
              <a:t>	child destructing</a:t>
            </a:r>
            <a:endParaRPr lang="en-US" altLang="zh-CN" sz="2000" b="1" dirty="0">
              <a:solidFill>
                <a:srgbClr val="FF0000"/>
              </a:solidFill>
            </a:endParaRPr>
          </a:p>
        </p:txBody>
      </p:sp>
    </p:spTree>
    <p:extLst>
      <p:ext uri="{BB962C8B-B14F-4D97-AF65-F5344CB8AC3E}">
        <p14:creationId xmlns:p14="http://schemas.microsoft.com/office/powerpoint/2010/main" val="10909931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611560" y="1439638"/>
            <a:ext cx="8047806" cy="4749029"/>
          </a:xfrm>
        </p:spPr>
        <p:txBody>
          <a:bodyPr/>
          <a:lstStyle/>
          <a:p>
            <a:r>
              <a:rPr lang="zh-CN" altLang="en-US" dirty="0"/>
              <a:t>弱引用</a:t>
            </a:r>
            <a:r>
              <a:rPr lang="en-US" altLang="zh-CN" dirty="0" err="1"/>
              <a:t>weak_ptr</a:t>
            </a:r>
            <a:endParaRPr lang="en-US" altLang="zh-CN" dirty="0"/>
          </a:p>
          <a:p>
            <a:pPr lvl="1"/>
            <a:r>
              <a:rPr lang="zh-CN" altLang="en-US" dirty="0"/>
              <a:t>指向对象但不计数</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75</a:t>
            </a:fld>
            <a:endParaRPr lang="en-US" altLang="zh-CN"/>
          </a:p>
        </p:txBody>
      </p:sp>
      <p:grpSp>
        <p:nvGrpSpPr>
          <p:cNvPr id="32" name="组合 31">
            <a:extLst>
              <a:ext uri="{FF2B5EF4-FFF2-40B4-BE49-F238E27FC236}">
                <a16:creationId xmlns:a16="http://schemas.microsoft.com/office/drawing/2014/main" id="{B1655FD0-F23C-4F50-A51D-3DAED37BF4CA}"/>
              </a:ext>
            </a:extLst>
          </p:cNvPr>
          <p:cNvGrpSpPr/>
          <p:nvPr/>
        </p:nvGrpSpPr>
        <p:grpSpPr>
          <a:xfrm>
            <a:off x="2138829" y="2623704"/>
            <a:ext cx="4809435" cy="2720003"/>
            <a:chOff x="-3840141" y="3717032"/>
            <a:chExt cx="3345608" cy="1944216"/>
          </a:xfrm>
        </p:grpSpPr>
        <p:grpSp>
          <p:nvGrpSpPr>
            <p:cNvPr id="15" name="组合 14">
              <a:extLst>
                <a:ext uri="{FF2B5EF4-FFF2-40B4-BE49-F238E27FC236}">
                  <a16:creationId xmlns:a16="http://schemas.microsoft.com/office/drawing/2014/main" id="{64066983-07B2-40D3-8899-DD58D75B21DE}"/>
                </a:ext>
              </a:extLst>
            </p:cNvPr>
            <p:cNvGrpSpPr/>
            <p:nvPr/>
          </p:nvGrpSpPr>
          <p:grpSpPr>
            <a:xfrm>
              <a:off x="-2510850" y="3717032"/>
              <a:ext cx="2016317" cy="1944216"/>
              <a:chOff x="-3302122" y="2708920"/>
              <a:chExt cx="2016317" cy="1944216"/>
            </a:xfrm>
          </p:grpSpPr>
          <p:sp>
            <p:nvSpPr>
              <p:cNvPr id="6" name="矩形 5">
                <a:extLst>
                  <a:ext uri="{FF2B5EF4-FFF2-40B4-BE49-F238E27FC236}">
                    <a16:creationId xmlns:a16="http://schemas.microsoft.com/office/drawing/2014/main" id="{F8F7D2B7-028F-45F7-B290-B2DB40D8B8C8}"/>
                  </a:ext>
                </a:extLst>
              </p:cNvPr>
              <p:cNvSpPr/>
              <p:nvPr/>
            </p:nvSpPr>
            <p:spPr>
              <a:xfrm>
                <a:off x="-2916832" y="2708920"/>
                <a:ext cx="971292" cy="648072"/>
              </a:xfrm>
              <a:prstGeom prst="rect">
                <a:avLst/>
              </a:prstGeom>
              <a:solidFill>
                <a:srgbClr val="1D9A7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Parent</a:t>
                </a:r>
                <a:endParaRPr lang="zh-CN" altLang="en-US" b="1" dirty="0"/>
              </a:p>
            </p:txBody>
          </p:sp>
          <p:sp>
            <p:nvSpPr>
              <p:cNvPr id="7" name="矩形 6">
                <a:extLst>
                  <a:ext uri="{FF2B5EF4-FFF2-40B4-BE49-F238E27FC236}">
                    <a16:creationId xmlns:a16="http://schemas.microsoft.com/office/drawing/2014/main" id="{4A468DC4-0AB9-46B5-A91B-431170E23E3C}"/>
                  </a:ext>
                </a:extLst>
              </p:cNvPr>
              <p:cNvSpPr/>
              <p:nvPr/>
            </p:nvSpPr>
            <p:spPr>
              <a:xfrm>
                <a:off x="-2912986" y="4005064"/>
                <a:ext cx="971284"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Child</a:t>
                </a:r>
                <a:endParaRPr lang="zh-CN" altLang="en-US" b="1" dirty="0"/>
              </a:p>
            </p:txBody>
          </p:sp>
          <p:cxnSp>
            <p:nvCxnSpPr>
              <p:cNvPr id="10" name="直接箭头连接符 9">
                <a:extLst>
                  <a:ext uri="{FF2B5EF4-FFF2-40B4-BE49-F238E27FC236}">
                    <a16:creationId xmlns:a16="http://schemas.microsoft.com/office/drawing/2014/main" id="{1D67326E-50B0-40AD-890B-1639EAEA1B76}"/>
                  </a:ext>
                </a:extLst>
              </p:cNvPr>
              <p:cNvCxnSpPr/>
              <p:nvPr/>
            </p:nvCxnSpPr>
            <p:spPr>
              <a:xfrm>
                <a:off x="-2628800"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D221982-D925-4EB3-9B1D-168B06C43229}"/>
                  </a:ext>
                </a:extLst>
              </p:cNvPr>
              <p:cNvCxnSpPr/>
              <p:nvPr/>
            </p:nvCxnSpPr>
            <p:spPr>
              <a:xfrm flipV="1">
                <a:off x="-2124744" y="3356992"/>
                <a:ext cx="0" cy="648072"/>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74F6A1E-699B-4F4A-B4C4-D9B82A26E8DA}"/>
                  </a:ext>
                </a:extLst>
              </p:cNvPr>
              <p:cNvSpPr txBox="1"/>
              <p:nvPr/>
            </p:nvSpPr>
            <p:spPr>
              <a:xfrm>
                <a:off x="-2026669" y="3538032"/>
                <a:ext cx="740864" cy="285992"/>
              </a:xfrm>
              <a:prstGeom prst="rect">
                <a:avLst/>
              </a:prstGeom>
              <a:noFill/>
            </p:spPr>
            <p:txBody>
              <a:bodyPr wrap="square" rtlCol="0">
                <a:spAutoFit/>
              </a:bodyPr>
              <a:lstStyle/>
              <a:p>
                <a:r>
                  <a:rPr lang="en-US" altLang="zh-CN" sz="2000" b="1" dirty="0"/>
                  <a:t>parent</a:t>
                </a:r>
                <a:endParaRPr lang="zh-CN" altLang="en-US" sz="2000" b="1" dirty="0"/>
              </a:p>
            </p:txBody>
          </p:sp>
          <p:sp>
            <p:nvSpPr>
              <p:cNvPr id="14" name="文本框 13">
                <a:extLst>
                  <a:ext uri="{FF2B5EF4-FFF2-40B4-BE49-F238E27FC236}">
                    <a16:creationId xmlns:a16="http://schemas.microsoft.com/office/drawing/2014/main" id="{6685CE4A-222F-4CDC-8BAA-C47AA9F6F7F0}"/>
                  </a:ext>
                </a:extLst>
              </p:cNvPr>
              <p:cNvSpPr txBox="1"/>
              <p:nvPr/>
            </p:nvSpPr>
            <p:spPr>
              <a:xfrm>
                <a:off x="-3302122" y="3533881"/>
                <a:ext cx="481574" cy="294293"/>
              </a:xfrm>
              <a:prstGeom prst="rect">
                <a:avLst/>
              </a:prstGeom>
              <a:noFill/>
            </p:spPr>
            <p:txBody>
              <a:bodyPr wrap="square" rtlCol="0">
                <a:spAutoFit/>
              </a:bodyPr>
              <a:lstStyle/>
              <a:p>
                <a:r>
                  <a:rPr lang="en-US" altLang="zh-CN" sz="2000" b="1" dirty="0"/>
                  <a:t>child</a:t>
                </a:r>
                <a:endParaRPr lang="zh-CN" altLang="en-US" sz="2000" b="1" dirty="0"/>
              </a:p>
            </p:txBody>
          </p:sp>
        </p:grpSp>
        <p:sp>
          <p:nvSpPr>
            <p:cNvPr id="16" name="矩形: 圆角 15">
              <a:extLst>
                <a:ext uri="{FF2B5EF4-FFF2-40B4-BE49-F238E27FC236}">
                  <a16:creationId xmlns:a16="http://schemas.microsoft.com/office/drawing/2014/main" id="{D9A08C17-E229-4E02-9CD0-8D1C074C41BC}"/>
                </a:ext>
              </a:extLst>
            </p:cNvPr>
            <p:cNvSpPr/>
            <p:nvPr/>
          </p:nvSpPr>
          <p:spPr>
            <a:xfrm>
              <a:off x="-3840141" y="3717032"/>
              <a:ext cx="831667" cy="648072"/>
            </a:xfrm>
            <a:prstGeom prst="roundRect">
              <a:avLst/>
            </a:prstGeom>
            <a:solidFill>
              <a:srgbClr val="1D9A78"/>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a:t>
              </a:r>
              <a:endParaRPr lang="zh-CN" altLang="en-US" sz="2400" b="1" dirty="0"/>
            </a:p>
          </p:txBody>
        </p:sp>
        <p:sp>
          <p:nvSpPr>
            <p:cNvPr id="17" name="矩形: 圆角 16">
              <a:extLst>
                <a:ext uri="{FF2B5EF4-FFF2-40B4-BE49-F238E27FC236}">
                  <a16:creationId xmlns:a16="http://schemas.microsoft.com/office/drawing/2014/main" id="{91E6E98A-18F4-4E5A-9B8E-4090474FD2D2}"/>
                </a:ext>
              </a:extLst>
            </p:cNvPr>
            <p:cNvSpPr/>
            <p:nvPr/>
          </p:nvSpPr>
          <p:spPr>
            <a:xfrm>
              <a:off x="-3840141" y="5013176"/>
              <a:ext cx="831667" cy="648072"/>
            </a:xfrm>
            <a:prstGeom prst="roundRect">
              <a:avLst/>
            </a:prstGeom>
            <a:solidFill>
              <a:srgbClr val="1D9A78"/>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c</a:t>
              </a:r>
              <a:endParaRPr lang="zh-CN" altLang="en-US" sz="2400" b="1" dirty="0"/>
            </a:p>
          </p:txBody>
        </p:sp>
        <p:cxnSp>
          <p:nvCxnSpPr>
            <p:cNvPr id="19" name="直接箭头连接符 18">
              <a:extLst>
                <a:ext uri="{FF2B5EF4-FFF2-40B4-BE49-F238E27FC236}">
                  <a16:creationId xmlns:a16="http://schemas.microsoft.com/office/drawing/2014/main" id="{4DA604D6-1EFA-4B27-8DC1-7FF9BBC29E39}"/>
                </a:ext>
              </a:extLst>
            </p:cNvPr>
            <p:cNvCxnSpPr>
              <a:cxnSpLocks/>
              <a:stCxn id="16" idx="3"/>
              <a:endCxn id="6" idx="1"/>
            </p:cNvCxnSpPr>
            <p:nvPr/>
          </p:nvCxnSpPr>
          <p:spPr>
            <a:xfrm>
              <a:off x="-3008474" y="4041068"/>
              <a:ext cx="882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1CE48E-3B14-4F6C-B83D-5D154D92FE51}"/>
                </a:ext>
              </a:extLst>
            </p:cNvPr>
            <p:cNvCxnSpPr>
              <a:cxnSpLocks/>
              <a:stCxn id="17" idx="3"/>
              <a:endCxn id="7" idx="1"/>
            </p:cNvCxnSpPr>
            <p:nvPr/>
          </p:nvCxnSpPr>
          <p:spPr>
            <a:xfrm>
              <a:off x="-3008474" y="5337212"/>
              <a:ext cx="8867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89B67140-BAC8-412E-BF6B-762D813BFFCD}"/>
              </a:ext>
            </a:extLst>
          </p:cNvPr>
          <p:cNvSpPr txBox="1"/>
          <p:nvPr/>
        </p:nvSpPr>
        <p:spPr>
          <a:xfrm>
            <a:off x="4596255" y="5477162"/>
            <a:ext cx="1410964" cy="400110"/>
          </a:xfrm>
          <a:prstGeom prst="rect">
            <a:avLst/>
          </a:prstGeom>
          <a:noFill/>
        </p:spPr>
        <p:txBody>
          <a:bodyPr wrap="none" rtlCol="0">
            <a:spAutoFit/>
          </a:bodyPr>
          <a:lstStyle/>
          <a:p>
            <a:r>
              <a:rPr lang="zh-CN" altLang="en-US" sz="2000" b="1" dirty="0"/>
              <a:t>引用计数</a:t>
            </a:r>
            <a:r>
              <a:rPr lang="en-US" altLang="zh-CN" sz="2000" b="1" dirty="0"/>
              <a:t>:2</a:t>
            </a:r>
            <a:endParaRPr lang="zh-CN" altLang="en-US" sz="2000" b="1" dirty="0"/>
          </a:p>
        </p:txBody>
      </p:sp>
      <p:sp>
        <p:nvSpPr>
          <p:cNvPr id="20" name="文本框 19">
            <a:extLst>
              <a:ext uri="{FF2B5EF4-FFF2-40B4-BE49-F238E27FC236}">
                <a16:creationId xmlns:a16="http://schemas.microsoft.com/office/drawing/2014/main" id="{9A21918B-ECD6-4A54-9107-EA3C9B96B065}"/>
              </a:ext>
            </a:extLst>
          </p:cNvPr>
          <p:cNvSpPr txBox="1"/>
          <p:nvPr/>
        </p:nvSpPr>
        <p:spPr>
          <a:xfrm>
            <a:off x="4628431" y="2071069"/>
            <a:ext cx="1410964" cy="400110"/>
          </a:xfrm>
          <a:prstGeom prst="rect">
            <a:avLst/>
          </a:prstGeom>
          <a:noFill/>
        </p:spPr>
        <p:txBody>
          <a:bodyPr wrap="none" rtlCol="0">
            <a:spAutoFit/>
          </a:bodyPr>
          <a:lstStyle/>
          <a:p>
            <a:r>
              <a:rPr lang="zh-CN" altLang="en-US" sz="2000" b="1" dirty="0">
                <a:solidFill>
                  <a:srgbClr val="FF0000"/>
                </a:solidFill>
              </a:rPr>
              <a:t>引用计数</a:t>
            </a:r>
            <a:r>
              <a:rPr lang="en-US" altLang="zh-CN" sz="2000" b="1" dirty="0">
                <a:solidFill>
                  <a:srgbClr val="FF0000"/>
                </a:solidFill>
              </a:rPr>
              <a:t>:1</a:t>
            </a:r>
            <a:endParaRPr lang="zh-CN" altLang="en-US" sz="2000" b="1" dirty="0">
              <a:solidFill>
                <a:srgbClr val="FF0000"/>
              </a:solidFill>
            </a:endParaRPr>
          </a:p>
        </p:txBody>
      </p:sp>
    </p:spTree>
    <p:extLst>
      <p:ext uri="{BB962C8B-B14F-4D97-AF65-F5344CB8AC3E}">
        <p14:creationId xmlns:p14="http://schemas.microsoft.com/office/powerpoint/2010/main" val="13460742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611560" y="1439638"/>
            <a:ext cx="8047806" cy="4749029"/>
          </a:xfrm>
        </p:spPr>
        <p:txBody>
          <a:bodyPr/>
          <a:lstStyle/>
          <a:p>
            <a:r>
              <a:rPr lang="zh-CN" altLang="en-US" dirty="0"/>
              <a:t>弱引用</a:t>
            </a:r>
            <a:r>
              <a:rPr lang="en-US" altLang="zh-CN" dirty="0" err="1"/>
              <a:t>weak_ptr</a:t>
            </a:r>
            <a:endParaRPr lang="en-US" altLang="zh-CN" dirty="0"/>
          </a:p>
          <a:p>
            <a:pPr lvl="1"/>
            <a:r>
              <a:rPr lang="zh-CN" altLang="en-US" dirty="0"/>
              <a:t>指向对象但不计数</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en-US" altLang="zh-CN" dirty="0"/>
              <a:t>Parent</a:t>
            </a:r>
            <a:r>
              <a:rPr lang="zh-CN" altLang="en-US" dirty="0"/>
              <a:t>即将销毁</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76</a:t>
            </a:fld>
            <a:endParaRPr lang="en-US" altLang="zh-CN"/>
          </a:p>
        </p:txBody>
      </p:sp>
      <p:grpSp>
        <p:nvGrpSpPr>
          <p:cNvPr id="32" name="组合 31">
            <a:extLst>
              <a:ext uri="{FF2B5EF4-FFF2-40B4-BE49-F238E27FC236}">
                <a16:creationId xmlns:a16="http://schemas.microsoft.com/office/drawing/2014/main" id="{B1655FD0-F23C-4F50-A51D-3DAED37BF4CA}"/>
              </a:ext>
            </a:extLst>
          </p:cNvPr>
          <p:cNvGrpSpPr/>
          <p:nvPr/>
        </p:nvGrpSpPr>
        <p:grpSpPr>
          <a:xfrm>
            <a:off x="2138829" y="2623704"/>
            <a:ext cx="4809435" cy="2720003"/>
            <a:chOff x="-3840141" y="3717032"/>
            <a:chExt cx="3345608" cy="1944216"/>
          </a:xfrm>
        </p:grpSpPr>
        <p:grpSp>
          <p:nvGrpSpPr>
            <p:cNvPr id="15" name="组合 14">
              <a:extLst>
                <a:ext uri="{FF2B5EF4-FFF2-40B4-BE49-F238E27FC236}">
                  <a16:creationId xmlns:a16="http://schemas.microsoft.com/office/drawing/2014/main" id="{64066983-07B2-40D3-8899-DD58D75B21DE}"/>
                </a:ext>
              </a:extLst>
            </p:cNvPr>
            <p:cNvGrpSpPr/>
            <p:nvPr/>
          </p:nvGrpSpPr>
          <p:grpSpPr>
            <a:xfrm>
              <a:off x="-2510850" y="3717032"/>
              <a:ext cx="2016317" cy="1944216"/>
              <a:chOff x="-3302122" y="2708920"/>
              <a:chExt cx="2016317" cy="1944216"/>
            </a:xfrm>
          </p:grpSpPr>
          <p:sp>
            <p:nvSpPr>
              <p:cNvPr id="6" name="矩形 5">
                <a:extLst>
                  <a:ext uri="{FF2B5EF4-FFF2-40B4-BE49-F238E27FC236}">
                    <a16:creationId xmlns:a16="http://schemas.microsoft.com/office/drawing/2014/main" id="{F8F7D2B7-028F-45F7-B290-B2DB40D8B8C8}"/>
                  </a:ext>
                </a:extLst>
              </p:cNvPr>
              <p:cNvSpPr/>
              <p:nvPr/>
            </p:nvSpPr>
            <p:spPr>
              <a:xfrm>
                <a:off x="-2916832" y="2708920"/>
                <a:ext cx="971292" cy="6480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Parent</a:t>
                </a:r>
                <a:endParaRPr lang="zh-CN" altLang="en-US" b="1" dirty="0"/>
              </a:p>
            </p:txBody>
          </p:sp>
          <p:sp>
            <p:nvSpPr>
              <p:cNvPr id="7" name="矩形 6">
                <a:extLst>
                  <a:ext uri="{FF2B5EF4-FFF2-40B4-BE49-F238E27FC236}">
                    <a16:creationId xmlns:a16="http://schemas.microsoft.com/office/drawing/2014/main" id="{4A468DC4-0AB9-46B5-A91B-431170E23E3C}"/>
                  </a:ext>
                </a:extLst>
              </p:cNvPr>
              <p:cNvSpPr/>
              <p:nvPr/>
            </p:nvSpPr>
            <p:spPr>
              <a:xfrm>
                <a:off x="-2912986" y="4005064"/>
                <a:ext cx="971284" cy="64807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Child</a:t>
                </a:r>
                <a:endParaRPr lang="zh-CN" altLang="en-US" b="1" dirty="0"/>
              </a:p>
            </p:txBody>
          </p:sp>
          <p:cxnSp>
            <p:nvCxnSpPr>
              <p:cNvPr id="10" name="直接箭头连接符 9">
                <a:extLst>
                  <a:ext uri="{FF2B5EF4-FFF2-40B4-BE49-F238E27FC236}">
                    <a16:creationId xmlns:a16="http://schemas.microsoft.com/office/drawing/2014/main" id="{1D67326E-50B0-40AD-890B-1639EAEA1B76}"/>
                  </a:ext>
                </a:extLst>
              </p:cNvPr>
              <p:cNvCxnSpPr/>
              <p:nvPr/>
            </p:nvCxnSpPr>
            <p:spPr>
              <a:xfrm>
                <a:off x="-2628800"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D221982-D925-4EB3-9B1D-168B06C43229}"/>
                  </a:ext>
                </a:extLst>
              </p:cNvPr>
              <p:cNvCxnSpPr/>
              <p:nvPr/>
            </p:nvCxnSpPr>
            <p:spPr>
              <a:xfrm flipV="1">
                <a:off x="-2124744" y="3356992"/>
                <a:ext cx="0" cy="648072"/>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74F6A1E-699B-4F4A-B4C4-D9B82A26E8DA}"/>
                  </a:ext>
                </a:extLst>
              </p:cNvPr>
              <p:cNvSpPr txBox="1"/>
              <p:nvPr/>
            </p:nvSpPr>
            <p:spPr>
              <a:xfrm>
                <a:off x="-2026669" y="3538032"/>
                <a:ext cx="740864" cy="285992"/>
              </a:xfrm>
              <a:prstGeom prst="rect">
                <a:avLst/>
              </a:prstGeom>
              <a:noFill/>
            </p:spPr>
            <p:txBody>
              <a:bodyPr wrap="square" rtlCol="0">
                <a:spAutoFit/>
              </a:bodyPr>
              <a:lstStyle/>
              <a:p>
                <a:r>
                  <a:rPr lang="en-US" altLang="zh-CN" sz="2000" b="1" dirty="0"/>
                  <a:t>parent</a:t>
                </a:r>
                <a:endParaRPr lang="zh-CN" altLang="en-US" sz="2000" b="1" dirty="0"/>
              </a:p>
            </p:txBody>
          </p:sp>
          <p:sp>
            <p:nvSpPr>
              <p:cNvPr id="14" name="文本框 13">
                <a:extLst>
                  <a:ext uri="{FF2B5EF4-FFF2-40B4-BE49-F238E27FC236}">
                    <a16:creationId xmlns:a16="http://schemas.microsoft.com/office/drawing/2014/main" id="{6685CE4A-222F-4CDC-8BAA-C47AA9F6F7F0}"/>
                  </a:ext>
                </a:extLst>
              </p:cNvPr>
              <p:cNvSpPr txBox="1"/>
              <p:nvPr/>
            </p:nvSpPr>
            <p:spPr>
              <a:xfrm>
                <a:off x="-3302122" y="3533881"/>
                <a:ext cx="481574" cy="294293"/>
              </a:xfrm>
              <a:prstGeom prst="rect">
                <a:avLst/>
              </a:prstGeom>
              <a:noFill/>
            </p:spPr>
            <p:txBody>
              <a:bodyPr wrap="square" rtlCol="0">
                <a:spAutoFit/>
              </a:bodyPr>
              <a:lstStyle/>
              <a:p>
                <a:r>
                  <a:rPr lang="en-US" altLang="zh-CN" sz="2000" b="1" dirty="0"/>
                  <a:t>child</a:t>
                </a:r>
                <a:endParaRPr lang="zh-CN" altLang="en-US" sz="2000" b="1" dirty="0"/>
              </a:p>
            </p:txBody>
          </p:sp>
        </p:grpSp>
        <p:sp>
          <p:nvSpPr>
            <p:cNvPr id="16" name="矩形: 圆角 15">
              <a:extLst>
                <a:ext uri="{FF2B5EF4-FFF2-40B4-BE49-F238E27FC236}">
                  <a16:creationId xmlns:a16="http://schemas.microsoft.com/office/drawing/2014/main" id="{D9A08C17-E229-4E02-9CD0-8D1C074C41BC}"/>
                </a:ext>
              </a:extLst>
            </p:cNvPr>
            <p:cNvSpPr/>
            <p:nvPr/>
          </p:nvSpPr>
          <p:spPr>
            <a:xfrm>
              <a:off x="-3840141" y="3717032"/>
              <a:ext cx="831667" cy="648072"/>
            </a:xfrm>
            <a:prstGeom prst="round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a:t>
              </a:r>
              <a:endParaRPr lang="zh-CN" altLang="en-US" sz="2400" b="1" dirty="0"/>
            </a:p>
          </p:txBody>
        </p:sp>
        <p:sp>
          <p:nvSpPr>
            <p:cNvPr id="17" name="矩形: 圆角 16">
              <a:extLst>
                <a:ext uri="{FF2B5EF4-FFF2-40B4-BE49-F238E27FC236}">
                  <a16:creationId xmlns:a16="http://schemas.microsoft.com/office/drawing/2014/main" id="{91E6E98A-18F4-4E5A-9B8E-4090474FD2D2}"/>
                </a:ext>
              </a:extLst>
            </p:cNvPr>
            <p:cNvSpPr/>
            <p:nvPr/>
          </p:nvSpPr>
          <p:spPr>
            <a:xfrm>
              <a:off x="-3840141" y="5013176"/>
              <a:ext cx="831667" cy="648072"/>
            </a:xfrm>
            <a:prstGeom prst="round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c</a:t>
              </a:r>
              <a:endParaRPr lang="zh-CN" altLang="en-US" sz="2400" b="1" dirty="0"/>
            </a:p>
          </p:txBody>
        </p:sp>
        <p:cxnSp>
          <p:nvCxnSpPr>
            <p:cNvPr id="19" name="直接箭头连接符 18">
              <a:extLst>
                <a:ext uri="{FF2B5EF4-FFF2-40B4-BE49-F238E27FC236}">
                  <a16:creationId xmlns:a16="http://schemas.microsoft.com/office/drawing/2014/main" id="{4DA604D6-1EFA-4B27-8DC1-7FF9BBC29E39}"/>
                </a:ext>
              </a:extLst>
            </p:cNvPr>
            <p:cNvCxnSpPr>
              <a:cxnSpLocks/>
              <a:stCxn id="16" idx="3"/>
              <a:endCxn id="6" idx="1"/>
            </p:cNvCxnSpPr>
            <p:nvPr/>
          </p:nvCxnSpPr>
          <p:spPr>
            <a:xfrm>
              <a:off x="-3008474" y="4041068"/>
              <a:ext cx="882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1CE48E-3B14-4F6C-B83D-5D154D92FE51}"/>
                </a:ext>
              </a:extLst>
            </p:cNvPr>
            <p:cNvCxnSpPr>
              <a:cxnSpLocks/>
              <a:stCxn id="17" idx="3"/>
              <a:endCxn id="7" idx="1"/>
            </p:cNvCxnSpPr>
            <p:nvPr/>
          </p:nvCxnSpPr>
          <p:spPr>
            <a:xfrm>
              <a:off x="-3008474" y="5337212"/>
              <a:ext cx="8867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89B67140-BAC8-412E-BF6B-762D813BFFCD}"/>
              </a:ext>
            </a:extLst>
          </p:cNvPr>
          <p:cNvSpPr txBox="1"/>
          <p:nvPr/>
        </p:nvSpPr>
        <p:spPr>
          <a:xfrm>
            <a:off x="4596255" y="5477162"/>
            <a:ext cx="1410964" cy="400110"/>
          </a:xfrm>
          <a:prstGeom prst="rect">
            <a:avLst/>
          </a:prstGeom>
          <a:noFill/>
        </p:spPr>
        <p:txBody>
          <a:bodyPr wrap="none" rtlCol="0">
            <a:spAutoFit/>
          </a:bodyPr>
          <a:lstStyle/>
          <a:p>
            <a:r>
              <a:rPr lang="zh-CN" altLang="en-US" sz="2000" b="1" dirty="0"/>
              <a:t>引用计数</a:t>
            </a:r>
            <a:r>
              <a:rPr lang="en-US" altLang="zh-CN" sz="2000" b="1" dirty="0"/>
              <a:t>:1</a:t>
            </a:r>
            <a:endParaRPr lang="zh-CN" altLang="en-US" sz="2000" b="1" dirty="0"/>
          </a:p>
        </p:txBody>
      </p:sp>
      <p:sp>
        <p:nvSpPr>
          <p:cNvPr id="20" name="文本框 19">
            <a:extLst>
              <a:ext uri="{FF2B5EF4-FFF2-40B4-BE49-F238E27FC236}">
                <a16:creationId xmlns:a16="http://schemas.microsoft.com/office/drawing/2014/main" id="{9A21918B-ECD6-4A54-9107-EA3C9B96B065}"/>
              </a:ext>
            </a:extLst>
          </p:cNvPr>
          <p:cNvSpPr txBox="1"/>
          <p:nvPr/>
        </p:nvSpPr>
        <p:spPr>
          <a:xfrm>
            <a:off x="4628431" y="2071069"/>
            <a:ext cx="1410964" cy="400110"/>
          </a:xfrm>
          <a:prstGeom prst="rect">
            <a:avLst/>
          </a:prstGeom>
          <a:noFill/>
        </p:spPr>
        <p:txBody>
          <a:bodyPr wrap="none" rtlCol="0">
            <a:spAutoFit/>
          </a:bodyPr>
          <a:lstStyle/>
          <a:p>
            <a:r>
              <a:rPr lang="zh-CN" altLang="en-US" sz="2000" b="1" dirty="0">
                <a:solidFill>
                  <a:srgbClr val="FF0000"/>
                </a:solidFill>
              </a:rPr>
              <a:t>引用计数</a:t>
            </a:r>
            <a:r>
              <a:rPr lang="en-US" altLang="zh-CN" sz="2000" b="1" dirty="0">
                <a:solidFill>
                  <a:srgbClr val="FF0000"/>
                </a:solidFill>
              </a:rPr>
              <a:t>:0</a:t>
            </a:r>
            <a:endParaRPr lang="zh-CN" altLang="en-US" sz="2000" b="1" dirty="0">
              <a:solidFill>
                <a:srgbClr val="FF0000"/>
              </a:solidFill>
            </a:endParaRPr>
          </a:p>
        </p:txBody>
      </p:sp>
    </p:spTree>
    <p:extLst>
      <p:ext uri="{BB962C8B-B14F-4D97-AF65-F5344CB8AC3E}">
        <p14:creationId xmlns:p14="http://schemas.microsoft.com/office/powerpoint/2010/main" val="2917151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7FEB44-9382-49B8-AF20-4AC1DB9BCEF3}"/>
              </a:ext>
            </a:extLst>
          </p:cNvPr>
          <p:cNvSpPr>
            <a:spLocks noGrp="1"/>
          </p:cNvSpPr>
          <p:nvPr>
            <p:ph type="title"/>
          </p:nvPr>
        </p:nvSpPr>
        <p:spPr/>
        <p:txBody>
          <a:bodyPr/>
          <a:lstStyle/>
          <a:p>
            <a:r>
              <a:rPr lang="zh-CN" altLang="en-US" dirty="0"/>
              <a:t>智能指针不总是智能</a:t>
            </a:r>
          </a:p>
        </p:txBody>
      </p:sp>
      <p:sp>
        <p:nvSpPr>
          <p:cNvPr id="3" name="内容占位符 2">
            <a:extLst>
              <a:ext uri="{FF2B5EF4-FFF2-40B4-BE49-F238E27FC236}">
                <a16:creationId xmlns:a16="http://schemas.microsoft.com/office/drawing/2014/main" id="{8FBFF6A5-2756-4FAF-B22D-0368183B110F}"/>
              </a:ext>
            </a:extLst>
          </p:cNvPr>
          <p:cNvSpPr>
            <a:spLocks noGrp="1"/>
          </p:cNvSpPr>
          <p:nvPr>
            <p:ph idx="1"/>
          </p:nvPr>
        </p:nvSpPr>
        <p:spPr>
          <a:xfrm>
            <a:off x="611560" y="1439638"/>
            <a:ext cx="8047806" cy="4749029"/>
          </a:xfrm>
        </p:spPr>
        <p:txBody>
          <a:bodyPr/>
          <a:lstStyle/>
          <a:p>
            <a:r>
              <a:rPr lang="zh-CN" altLang="en-US" dirty="0"/>
              <a:t>弱引用</a:t>
            </a:r>
            <a:r>
              <a:rPr lang="en-US" altLang="zh-CN" dirty="0" err="1"/>
              <a:t>weak_ptr</a:t>
            </a:r>
            <a:endParaRPr lang="en-US" altLang="zh-CN" dirty="0"/>
          </a:p>
          <a:p>
            <a:pPr lvl="1"/>
            <a:r>
              <a:rPr lang="zh-CN" altLang="en-US" dirty="0"/>
              <a:t>指向对象但不计数</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r>
              <a:rPr lang="en-US" altLang="zh-CN" dirty="0"/>
              <a:t>Child</a:t>
            </a:r>
            <a:r>
              <a:rPr lang="zh-CN" altLang="en-US" dirty="0"/>
              <a:t>即将销毁</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p:txBody>
      </p:sp>
      <p:sp>
        <p:nvSpPr>
          <p:cNvPr id="4" name="灯片编号占位符 3">
            <a:extLst>
              <a:ext uri="{FF2B5EF4-FFF2-40B4-BE49-F238E27FC236}">
                <a16:creationId xmlns:a16="http://schemas.microsoft.com/office/drawing/2014/main" id="{77917C50-67DE-43FB-9310-D66A651D5E0E}"/>
              </a:ext>
            </a:extLst>
          </p:cNvPr>
          <p:cNvSpPr>
            <a:spLocks noGrp="1"/>
          </p:cNvSpPr>
          <p:nvPr>
            <p:ph type="sldNum" sz="quarter" idx="12"/>
          </p:nvPr>
        </p:nvSpPr>
        <p:spPr/>
        <p:txBody>
          <a:bodyPr/>
          <a:lstStyle/>
          <a:p>
            <a:pPr>
              <a:defRPr/>
            </a:pPr>
            <a:fld id="{BFD7BE51-03DD-4CCA-8227-D775462981B4}" type="slidenum">
              <a:rPr lang="en-US" altLang="zh-CN" smtClean="0"/>
              <a:pPr>
                <a:defRPr/>
              </a:pPr>
              <a:t>77</a:t>
            </a:fld>
            <a:endParaRPr lang="en-US" altLang="zh-CN"/>
          </a:p>
        </p:txBody>
      </p:sp>
      <p:grpSp>
        <p:nvGrpSpPr>
          <p:cNvPr id="32" name="组合 31">
            <a:extLst>
              <a:ext uri="{FF2B5EF4-FFF2-40B4-BE49-F238E27FC236}">
                <a16:creationId xmlns:a16="http://schemas.microsoft.com/office/drawing/2014/main" id="{B1655FD0-F23C-4F50-A51D-3DAED37BF4CA}"/>
              </a:ext>
            </a:extLst>
          </p:cNvPr>
          <p:cNvGrpSpPr/>
          <p:nvPr/>
        </p:nvGrpSpPr>
        <p:grpSpPr>
          <a:xfrm>
            <a:off x="2138829" y="2623704"/>
            <a:ext cx="4809435" cy="2720003"/>
            <a:chOff x="-3840141" y="3717032"/>
            <a:chExt cx="3345608" cy="1944216"/>
          </a:xfrm>
        </p:grpSpPr>
        <p:grpSp>
          <p:nvGrpSpPr>
            <p:cNvPr id="15" name="组合 14">
              <a:extLst>
                <a:ext uri="{FF2B5EF4-FFF2-40B4-BE49-F238E27FC236}">
                  <a16:creationId xmlns:a16="http://schemas.microsoft.com/office/drawing/2014/main" id="{64066983-07B2-40D3-8899-DD58D75B21DE}"/>
                </a:ext>
              </a:extLst>
            </p:cNvPr>
            <p:cNvGrpSpPr/>
            <p:nvPr/>
          </p:nvGrpSpPr>
          <p:grpSpPr>
            <a:xfrm>
              <a:off x="-2510850" y="3717032"/>
              <a:ext cx="2016317" cy="1944216"/>
              <a:chOff x="-3302122" y="2708920"/>
              <a:chExt cx="2016317" cy="1944216"/>
            </a:xfrm>
          </p:grpSpPr>
          <p:sp>
            <p:nvSpPr>
              <p:cNvPr id="6" name="矩形 5">
                <a:extLst>
                  <a:ext uri="{FF2B5EF4-FFF2-40B4-BE49-F238E27FC236}">
                    <a16:creationId xmlns:a16="http://schemas.microsoft.com/office/drawing/2014/main" id="{F8F7D2B7-028F-45F7-B290-B2DB40D8B8C8}"/>
                  </a:ext>
                </a:extLst>
              </p:cNvPr>
              <p:cNvSpPr/>
              <p:nvPr/>
            </p:nvSpPr>
            <p:spPr>
              <a:xfrm>
                <a:off x="-2916832" y="2708920"/>
                <a:ext cx="971292" cy="648072"/>
              </a:xfrm>
              <a:prstGeom prst="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Parent</a:t>
                </a:r>
                <a:endParaRPr lang="zh-CN" altLang="en-US" b="1" dirty="0"/>
              </a:p>
            </p:txBody>
          </p:sp>
          <p:sp>
            <p:nvSpPr>
              <p:cNvPr id="7" name="矩形 6">
                <a:extLst>
                  <a:ext uri="{FF2B5EF4-FFF2-40B4-BE49-F238E27FC236}">
                    <a16:creationId xmlns:a16="http://schemas.microsoft.com/office/drawing/2014/main" id="{4A468DC4-0AB9-46B5-A91B-431170E23E3C}"/>
                  </a:ext>
                </a:extLst>
              </p:cNvPr>
              <p:cNvSpPr/>
              <p:nvPr/>
            </p:nvSpPr>
            <p:spPr>
              <a:xfrm>
                <a:off x="-2912986" y="4005064"/>
                <a:ext cx="971284" cy="6480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Child</a:t>
                </a:r>
                <a:endParaRPr lang="zh-CN" altLang="en-US" b="1" dirty="0"/>
              </a:p>
            </p:txBody>
          </p:sp>
          <p:cxnSp>
            <p:nvCxnSpPr>
              <p:cNvPr id="10" name="直接箭头连接符 9">
                <a:extLst>
                  <a:ext uri="{FF2B5EF4-FFF2-40B4-BE49-F238E27FC236}">
                    <a16:creationId xmlns:a16="http://schemas.microsoft.com/office/drawing/2014/main" id="{1D67326E-50B0-40AD-890B-1639EAEA1B76}"/>
                  </a:ext>
                </a:extLst>
              </p:cNvPr>
              <p:cNvCxnSpPr/>
              <p:nvPr/>
            </p:nvCxnSpPr>
            <p:spPr>
              <a:xfrm>
                <a:off x="-2628800" y="3356992"/>
                <a:ext cx="0" cy="64807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6D221982-D925-4EB3-9B1D-168B06C43229}"/>
                  </a:ext>
                </a:extLst>
              </p:cNvPr>
              <p:cNvCxnSpPr/>
              <p:nvPr/>
            </p:nvCxnSpPr>
            <p:spPr>
              <a:xfrm flipV="1">
                <a:off x="-2124744" y="3356992"/>
                <a:ext cx="0" cy="648072"/>
              </a:xfrm>
              <a:prstGeom prst="straightConnector1">
                <a:avLst/>
              </a:prstGeom>
              <a:ln w="38100">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74F6A1E-699B-4F4A-B4C4-D9B82A26E8DA}"/>
                  </a:ext>
                </a:extLst>
              </p:cNvPr>
              <p:cNvSpPr txBox="1"/>
              <p:nvPr/>
            </p:nvSpPr>
            <p:spPr>
              <a:xfrm>
                <a:off x="-2026669" y="3538032"/>
                <a:ext cx="740864" cy="285992"/>
              </a:xfrm>
              <a:prstGeom prst="rect">
                <a:avLst/>
              </a:prstGeom>
              <a:noFill/>
            </p:spPr>
            <p:txBody>
              <a:bodyPr wrap="square" rtlCol="0">
                <a:spAutoFit/>
              </a:bodyPr>
              <a:lstStyle/>
              <a:p>
                <a:r>
                  <a:rPr lang="en-US" altLang="zh-CN" sz="2000" b="1" dirty="0"/>
                  <a:t>parent</a:t>
                </a:r>
                <a:endParaRPr lang="zh-CN" altLang="en-US" sz="2000" b="1" dirty="0"/>
              </a:p>
            </p:txBody>
          </p:sp>
          <p:sp>
            <p:nvSpPr>
              <p:cNvPr id="14" name="文本框 13">
                <a:extLst>
                  <a:ext uri="{FF2B5EF4-FFF2-40B4-BE49-F238E27FC236}">
                    <a16:creationId xmlns:a16="http://schemas.microsoft.com/office/drawing/2014/main" id="{6685CE4A-222F-4CDC-8BAA-C47AA9F6F7F0}"/>
                  </a:ext>
                </a:extLst>
              </p:cNvPr>
              <p:cNvSpPr txBox="1"/>
              <p:nvPr/>
            </p:nvSpPr>
            <p:spPr>
              <a:xfrm>
                <a:off x="-3302122" y="3533881"/>
                <a:ext cx="481574" cy="294293"/>
              </a:xfrm>
              <a:prstGeom prst="rect">
                <a:avLst/>
              </a:prstGeom>
              <a:noFill/>
            </p:spPr>
            <p:txBody>
              <a:bodyPr wrap="square" rtlCol="0">
                <a:spAutoFit/>
              </a:bodyPr>
              <a:lstStyle/>
              <a:p>
                <a:r>
                  <a:rPr lang="en-US" altLang="zh-CN" sz="2000" b="1" dirty="0"/>
                  <a:t>child</a:t>
                </a:r>
                <a:endParaRPr lang="zh-CN" altLang="en-US" sz="2000" b="1" dirty="0"/>
              </a:p>
            </p:txBody>
          </p:sp>
        </p:grpSp>
        <p:sp>
          <p:nvSpPr>
            <p:cNvPr id="16" name="矩形: 圆角 15">
              <a:extLst>
                <a:ext uri="{FF2B5EF4-FFF2-40B4-BE49-F238E27FC236}">
                  <a16:creationId xmlns:a16="http://schemas.microsoft.com/office/drawing/2014/main" id="{D9A08C17-E229-4E02-9CD0-8D1C074C41BC}"/>
                </a:ext>
              </a:extLst>
            </p:cNvPr>
            <p:cNvSpPr/>
            <p:nvPr/>
          </p:nvSpPr>
          <p:spPr>
            <a:xfrm>
              <a:off x="-3840141" y="3717032"/>
              <a:ext cx="831667" cy="648072"/>
            </a:xfrm>
            <a:prstGeom prst="round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p</a:t>
              </a:r>
              <a:endParaRPr lang="zh-CN" altLang="en-US" sz="2400" b="1" dirty="0"/>
            </a:p>
          </p:txBody>
        </p:sp>
        <p:sp>
          <p:nvSpPr>
            <p:cNvPr id="17" name="矩形: 圆角 16">
              <a:extLst>
                <a:ext uri="{FF2B5EF4-FFF2-40B4-BE49-F238E27FC236}">
                  <a16:creationId xmlns:a16="http://schemas.microsoft.com/office/drawing/2014/main" id="{91E6E98A-18F4-4E5A-9B8E-4090474FD2D2}"/>
                </a:ext>
              </a:extLst>
            </p:cNvPr>
            <p:cNvSpPr/>
            <p:nvPr/>
          </p:nvSpPr>
          <p:spPr>
            <a:xfrm>
              <a:off x="-3840141" y="5013176"/>
              <a:ext cx="831667" cy="648072"/>
            </a:xfrm>
            <a:prstGeom prst="roundRect">
              <a:avLst/>
            </a:prstGeom>
            <a:solidFill>
              <a:srgbClr val="1D9A78">
                <a:alpha val="50196"/>
              </a:srgb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b="1" dirty="0"/>
                <a:t>c</a:t>
              </a:r>
              <a:endParaRPr lang="zh-CN" altLang="en-US" sz="2400" b="1" dirty="0"/>
            </a:p>
          </p:txBody>
        </p:sp>
        <p:cxnSp>
          <p:nvCxnSpPr>
            <p:cNvPr id="19" name="直接箭头连接符 18">
              <a:extLst>
                <a:ext uri="{FF2B5EF4-FFF2-40B4-BE49-F238E27FC236}">
                  <a16:creationId xmlns:a16="http://schemas.microsoft.com/office/drawing/2014/main" id="{4DA604D6-1EFA-4B27-8DC1-7FF9BBC29E39}"/>
                </a:ext>
              </a:extLst>
            </p:cNvPr>
            <p:cNvCxnSpPr>
              <a:cxnSpLocks/>
              <a:stCxn id="16" idx="3"/>
              <a:endCxn id="6" idx="1"/>
            </p:cNvCxnSpPr>
            <p:nvPr/>
          </p:nvCxnSpPr>
          <p:spPr>
            <a:xfrm>
              <a:off x="-3008474" y="4041068"/>
              <a:ext cx="882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61CE48E-3B14-4F6C-B83D-5D154D92FE51}"/>
                </a:ext>
              </a:extLst>
            </p:cNvPr>
            <p:cNvCxnSpPr>
              <a:cxnSpLocks/>
              <a:stCxn id="17" idx="3"/>
              <a:endCxn id="7" idx="1"/>
            </p:cNvCxnSpPr>
            <p:nvPr/>
          </p:nvCxnSpPr>
          <p:spPr>
            <a:xfrm>
              <a:off x="-3008474" y="5337212"/>
              <a:ext cx="8867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sp>
        <p:nvSpPr>
          <p:cNvPr id="9" name="文本框 8">
            <a:extLst>
              <a:ext uri="{FF2B5EF4-FFF2-40B4-BE49-F238E27FC236}">
                <a16:creationId xmlns:a16="http://schemas.microsoft.com/office/drawing/2014/main" id="{89B67140-BAC8-412E-BF6B-762D813BFFCD}"/>
              </a:ext>
            </a:extLst>
          </p:cNvPr>
          <p:cNvSpPr txBox="1"/>
          <p:nvPr/>
        </p:nvSpPr>
        <p:spPr>
          <a:xfrm>
            <a:off x="4596255" y="5477162"/>
            <a:ext cx="1410964" cy="400110"/>
          </a:xfrm>
          <a:prstGeom prst="rect">
            <a:avLst/>
          </a:prstGeom>
          <a:noFill/>
        </p:spPr>
        <p:txBody>
          <a:bodyPr wrap="none" rtlCol="0">
            <a:spAutoFit/>
          </a:bodyPr>
          <a:lstStyle/>
          <a:p>
            <a:r>
              <a:rPr lang="zh-CN" altLang="en-US" sz="2000" b="1" dirty="0">
                <a:solidFill>
                  <a:srgbClr val="FF0000"/>
                </a:solidFill>
              </a:rPr>
              <a:t>引用计数</a:t>
            </a:r>
            <a:r>
              <a:rPr lang="en-US" altLang="zh-CN" sz="2000" b="1" dirty="0">
                <a:solidFill>
                  <a:srgbClr val="FF0000"/>
                </a:solidFill>
              </a:rPr>
              <a:t>:0</a:t>
            </a:r>
            <a:endParaRPr lang="zh-CN" altLang="en-US" sz="2000" b="1" dirty="0">
              <a:solidFill>
                <a:srgbClr val="FF0000"/>
              </a:solidFill>
            </a:endParaRPr>
          </a:p>
        </p:txBody>
      </p:sp>
      <p:sp>
        <p:nvSpPr>
          <p:cNvPr id="20" name="文本框 19">
            <a:extLst>
              <a:ext uri="{FF2B5EF4-FFF2-40B4-BE49-F238E27FC236}">
                <a16:creationId xmlns:a16="http://schemas.microsoft.com/office/drawing/2014/main" id="{9A21918B-ECD6-4A54-9107-EA3C9B96B065}"/>
              </a:ext>
            </a:extLst>
          </p:cNvPr>
          <p:cNvSpPr txBox="1"/>
          <p:nvPr/>
        </p:nvSpPr>
        <p:spPr>
          <a:xfrm>
            <a:off x="4628431" y="2071069"/>
            <a:ext cx="1410964" cy="400110"/>
          </a:xfrm>
          <a:prstGeom prst="rect">
            <a:avLst/>
          </a:prstGeom>
          <a:noFill/>
        </p:spPr>
        <p:txBody>
          <a:bodyPr wrap="none" rtlCol="0">
            <a:spAutoFit/>
          </a:bodyPr>
          <a:lstStyle/>
          <a:p>
            <a:r>
              <a:rPr lang="zh-CN" altLang="en-US" sz="2000" b="1" dirty="0"/>
              <a:t>引用计数</a:t>
            </a:r>
            <a:r>
              <a:rPr lang="en-US" altLang="zh-CN" sz="2000" b="1" dirty="0"/>
              <a:t>:0</a:t>
            </a:r>
            <a:endParaRPr lang="zh-CN" altLang="en-US" sz="2000" b="1" dirty="0"/>
          </a:p>
        </p:txBody>
      </p:sp>
    </p:spTree>
    <p:extLst>
      <p:ext uri="{BB962C8B-B14F-4D97-AF65-F5344CB8AC3E}">
        <p14:creationId xmlns:p14="http://schemas.microsoft.com/office/powerpoint/2010/main" val="30442125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0959FD-D5A6-4FDC-9C93-2E8A8B5E9AA0}"/>
              </a:ext>
            </a:extLst>
          </p:cNvPr>
          <p:cNvSpPr>
            <a:spLocks noGrp="1"/>
          </p:cNvSpPr>
          <p:nvPr>
            <p:ph type="title"/>
          </p:nvPr>
        </p:nvSpPr>
        <p:spPr/>
        <p:txBody>
          <a:bodyPr/>
          <a:lstStyle/>
          <a:p>
            <a:r>
              <a:rPr lang="zh-CN" altLang="en-US" dirty="0"/>
              <a:t>弱引用</a:t>
            </a:r>
          </a:p>
        </p:txBody>
      </p:sp>
      <p:sp>
        <p:nvSpPr>
          <p:cNvPr id="3" name="内容占位符 2">
            <a:extLst>
              <a:ext uri="{FF2B5EF4-FFF2-40B4-BE49-F238E27FC236}">
                <a16:creationId xmlns:a16="http://schemas.microsoft.com/office/drawing/2014/main" id="{ED7CBACF-5EE3-4861-9737-45383116837F}"/>
              </a:ext>
            </a:extLst>
          </p:cNvPr>
          <p:cNvSpPr>
            <a:spLocks noGrp="1"/>
          </p:cNvSpPr>
          <p:nvPr>
            <p:ph idx="1"/>
          </p:nvPr>
        </p:nvSpPr>
        <p:spPr/>
        <p:txBody>
          <a:bodyPr/>
          <a:lstStyle/>
          <a:p>
            <a:r>
              <a:rPr lang="zh-CN" altLang="en-US" dirty="0"/>
              <a:t>弱引用指针的创建</a:t>
            </a:r>
            <a:endParaRPr lang="en-US" altLang="zh-CN" dirty="0"/>
          </a:p>
          <a:p>
            <a:endParaRPr lang="en-US" altLang="zh-CN" dirty="0"/>
          </a:p>
          <a:p>
            <a:endParaRPr lang="en-US" altLang="zh-CN" dirty="0"/>
          </a:p>
          <a:p>
            <a:r>
              <a:rPr lang="zh-CN" altLang="en-US" dirty="0"/>
              <a:t>弱引用指针的用法</a:t>
            </a:r>
          </a:p>
        </p:txBody>
      </p:sp>
      <p:sp>
        <p:nvSpPr>
          <p:cNvPr id="4" name="灯片编号占位符 3">
            <a:extLst>
              <a:ext uri="{FF2B5EF4-FFF2-40B4-BE49-F238E27FC236}">
                <a16:creationId xmlns:a16="http://schemas.microsoft.com/office/drawing/2014/main" id="{C154ABAF-A413-485E-9A7A-A3EB05CEC13C}"/>
              </a:ext>
            </a:extLst>
          </p:cNvPr>
          <p:cNvSpPr>
            <a:spLocks noGrp="1"/>
          </p:cNvSpPr>
          <p:nvPr>
            <p:ph type="sldNum" sz="quarter" idx="12"/>
          </p:nvPr>
        </p:nvSpPr>
        <p:spPr/>
        <p:txBody>
          <a:bodyPr/>
          <a:lstStyle/>
          <a:p>
            <a:pPr>
              <a:defRPr/>
            </a:pPr>
            <a:fld id="{BFD7BE51-03DD-4CCA-8227-D775462981B4}" type="slidenum">
              <a:rPr lang="en-US" altLang="zh-CN" smtClean="0"/>
              <a:pPr>
                <a:defRPr/>
              </a:pPr>
              <a:t>78</a:t>
            </a:fld>
            <a:endParaRPr lang="en-US" altLang="zh-CN"/>
          </a:p>
        </p:txBody>
      </p:sp>
      <p:sp>
        <p:nvSpPr>
          <p:cNvPr id="5" name="文本框 4">
            <a:extLst>
              <a:ext uri="{FF2B5EF4-FFF2-40B4-BE49-F238E27FC236}">
                <a16:creationId xmlns:a16="http://schemas.microsoft.com/office/drawing/2014/main" id="{9FEB4C76-F6E0-465C-A9D5-5C91358128D4}"/>
              </a:ext>
            </a:extLst>
          </p:cNvPr>
          <p:cNvSpPr txBox="1"/>
          <p:nvPr/>
        </p:nvSpPr>
        <p:spPr>
          <a:xfrm>
            <a:off x="1154445" y="2060848"/>
            <a:ext cx="5452134" cy="830997"/>
          </a:xfrm>
          <a:prstGeom prst="rect">
            <a:avLst/>
          </a:prstGeom>
          <a:noFill/>
        </p:spPr>
        <p:txBody>
          <a:bodyPr wrap="none" rtlCol="0">
            <a:spAutoFit/>
          </a:bodyPr>
          <a:lstStyle/>
          <a:p>
            <a:r>
              <a:rPr lang="en-US" altLang="zh-CN" sz="2400" b="1" dirty="0" err="1">
                <a:latin typeface="Consolas" panose="020B0609020204030204" pitchFamily="49" charset="0"/>
              </a:rPr>
              <a:t>shared_ptr</a:t>
            </a:r>
            <a:r>
              <a:rPr lang="en-US" altLang="zh-CN" sz="2400" b="1" dirty="0">
                <a:latin typeface="Consolas" panose="020B0609020204030204" pitchFamily="49" charset="0"/>
              </a:rPr>
              <a:t>&lt;</a:t>
            </a:r>
            <a:r>
              <a:rPr lang="en-US" altLang="zh-CN" sz="2400" b="1" dirty="0" err="1">
                <a:latin typeface="Consolas" panose="020B0609020204030204" pitchFamily="49" charset="0"/>
              </a:rPr>
              <a:t>int</a:t>
            </a:r>
            <a:r>
              <a:rPr lang="en-US" altLang="zh-CN" sz="2400" b="1" dirty="0">
                <a:latin typeface="Consolas" panose="020B0609020204030204" pitchFamily="49" charset="0"/>
              </a:rPr>
              <a:t>&gt; </a:t>
            </a:r>
            <a:r>
              <a:rPr lang="en-US" altLang="zh-CN" sz="2400" b="1" dirty="0" err="1">
                <a:latin typeface="Consolas" panose="020B0609020204030204" pitchFamily="49" charset="0"/>
              </a:rPr>
              <a:t>sp</a:t>
            </a:r>
            <a:r>
              <a:rPr lang="en-US" altLang="zh-CN" sz="2400" b="1" dirty="0">
                <a:latin typeface="Consolas" panose="020B0609020204030204" pitchFamily="49" charset="0"/>
              </a:rPr>
              <a:t>(new </a:t>
            </a:r>
            <a:r>
              <a:rPr lang="en-US" altLang="zh-CN" sz="2400" b="1" dirty="0" err="1">
                <a:latin typeface="Consolas" panose="020B0609020204030204" pitchFamily="49" charset="0"/>
              </a:rPr>
              <a:t>int</a:t>
            </a:r>
            <a:r>
              <a:rPr lang="en-US" altLang="zh-CN" sz="2400" b="1" dirty="0">
                <a:latin typeface="Consolas" panose="020B0609020204030204" pitchFamily="49" charset="0"/>
              </a:rPr>
              <a:t>(3));</a:t>
            </a:r>
          </a:p>
          <a:p>
            <a:r>
              <a:rPr lang="en-US" altLang="zh-CN" sz="2400" b="1" dirty="0" err="1">
                <a:latin typeface="Consolas" panose="020B0609020204030204" pitchFamily="49" charset="0"/>
              </a:rPr>
              <a:t>weak_ptr</a:t>
            </a:r>
            <a:r>
              <a:rPr lang="en-US" altLang="zh-CN" sz="2400" b="1" dirty="0">
                <a:latin typeface="Consolas" panose="020B0609020204030204" pitchFamily="49" charset="0"/>
              </a:rPr>
              <a:t>&lt;</a:t>
            </a:r>
            <a:r>
              <a:rPr lang="en-US" altLang="zh-CN" sz="2400" b="1" dirty="0" err="1">
                <a:latin typeface="Consolas" panose="020B0609020204030204" pitchFamily="49" charset="0"/>
              </a:rPr>
              <a:t>int</a:t>
            </a:r>
            <a:r>
              <a:rPr lang="en-US" altLang="zh-CN" sz="2400" b="1" dirty="0">
                <a:latin typeface="Consolas" panose="020B0609020204030204" pitchFamily="49" charset="0"/>
              </a:rPr>
              <a:t>&gt; wp1 = </a:t>
            </a:r>
            <a:r>
              <a:rPr lang="en-US" altLang="zh-CN" sz="2400" b="1" dirty="0" err="1">
                <a:latin typeface="Consolas" panose="020B0609020204030204" pitchFamily="49" charset="0"/>
              </a:rPr>
              <a:t>sp</a:t>
            </a:r>
            <a:r>
              <a:rPr lang="en-US" altLang="zh-CN" sz="2400" b="1" dirty="0">
                <a:latin typeface="Consolas" panose="020B0609020204030204" pitchFamily="49" charset="0"/>
              </a:rPr>
              <a:t>;</a:t>
            </a:r>
            <a:endParaRPr lang="zh-CN" altLang="en-US" sz="2400" b="1" dirty="0">
              <a:latin typeface="Consolas" panose="020B0609020204030204" pitchFamily="49" charset="0"/>
            </a:endParaRPr>
          </a:p>
        </p:txBody>
      </p:sp>
      <p:sp>
        <p:nvSpPr>
          <p:cNvPr id="6" name="文本框 5">
            <a:extLst>
              <a:ext uri="{FF2B5EF4-FFF2-40B4-BE49-F238E27FC236}">
                <a16:creationId xmlns:a16="http://schemas.microsoft.com/office/drawing/2014/main" id="{D9E595AD-3889-4921-8075-A6427C73CA7E}"/>
              </a:ext>
            </a:extLst>
          </p:cNvPr>
          <p:cNvSpPr txBox="1"/>
          <p:nvPr/>
        </p:nvSpPr>
        <p:spPr>
          <a:xfrm>
            <a:off x="1160204" y="3659540"/>
            <a:ext cx="6987810" cy="1569660"/>
          </a:xfrm>
          <a:prstGeom prst="rect">
            <a:avLst/>
          </a:prstGeom>
          <a:noFill/>
        </p:spPr>
        <p:txBody>
          <a:bodyPr wrap="none" rtlCol="0">
            <a:spAutoFit/>
          </a:bodyPr>
          <a:lstStyle/>
          <a:p>
            <a:r>
              <a:rPr lang="en-US" altLang="zh-CN" sz="2400" b="1" dirty="0" err="1">
                <a:latin typeface="Consolas" panose="020B0609020204030204" pitchFamily="49" charset="0"/>
              </a:rPr>
              <a:t>wp.use_count</a:t>
            </a:r>
            <a:r>
              <a:rPr lang="en-US" altLang="zh-CN" sz="2400" b="1" dirty="0">
                <a:latin typeface="Consolas" panose="020B0609020204030204" pitchFamily="49" charset="0"/>
              </a:rPr>
              <a:t>()	</a:t>
            </a:r>
            <a:r>
              <a:rPr lang="en-US" altLang="zh-CN" sz="2400" dirty="0">
                <a:solidFill>
                  <a:srgbClr val="1D9A78"/>
                </a:solidFill>
                <a:latin typeface="Consolas" panose="020B0609020204030204" pitchFamily="49" charset="0"/>
              </a:rPr>
              <a:t>//</a:t>
            </a:r>
            <a:r>
              <a:rPr lang="zh-CN" altLang="en-US" sz="2400" dirty="0">
                <a:solidFill>
                  <a:srgbClr val="1D9A78"/>
                </a:solidFill>
                <a:latin typeface="Consolas" panose="020B0609020204030204" pitchFamily="49" charset="0"/>
              </a:rPr>
              <a:t>获取引用计数</a:t>
            </a:r>
            <a:endParaRPr lang="en-US" altLang="zh-CN" sz="2400" dirty="0">
              <a:solidFill>
                <a:srgbClr val="1D9A78"/>
              </a:solidFill>
              <a:latin typeface="Consolas" panose="020B0609020204030204" pitchFamily="49" charset="0"/>
            </a:endParaRPr>
          </a:p>
          <a:p>
            <a:r>
              <a:rPr lang="en-US" altLang="zh-CN" sz="2400" b="1" dirty="0" err="1">
                <a:latin typeface="Consolas" panose="020B0609020204030204" pitchFamily="49" charset="0"/>
              </a:rPr>
              <a:t>wp.reset</a:t>
            </a:r>
            <a:r>
              <a:rPr lang="en-US" altLang="zh-CN" sz="2400" b="1" dirty="0">
                <a:latin typeface="Consolas" panose="020B0609020204030204" pitchFamily="49" charset="0"/>
              </a:rPr>
              <a:t>()			</a:t>
            </a:r>
            <a:r>
              <a:rPr lang="en-US" altLang="zh-CN" sz="2400" dirty="0">
                <a:solidFill>
                  <a:srgbClr val="1D9A78"/>
                </a:solidFill>
                <a:latin typeface="Consolas" panose="020B0609020204030204" pitchFamily="49" charset="0"/>
              </a:rPr>
              <a:t>//</a:t>
            </a:r>
            <a:r>
              <a:rPr lang="zh-CN" altLang="en-US" sz="2400" dirty="0">
                <a:solidFill>
                  <a:srgbClr val="1D9A78"/>
                </a:solidFill>
                <a:latin typeface="Consolas" panose="020B0609020204030204" pitchFamily="49" charset="0"/>
              </a:rPr>
              <a:t>清除指针</a:t>
            </a:r>
            <a:endParaRPr lang="en-US" altLang="zh-CN" sz="2400" dirty="0">
              <a:solidFill>
                <a:srgbClr val="1D9A78"/>
              </a:solidFill>
              <a:latin typeface="Consolas" panose="020B0609020204030204" pitchFamily="49" charset="0"/>
            </a:endParaRPr>
          </a:p>
          <a:p>
            <a:r>
              <a:rPr lang="en-US" altLang="zh-CN" sz="2400" b="1" dirty="0" err="1">
                <a:latin typeface="Consolas" panose="020B0609020204030204" pitchFamily="49" charset="0"/>
              </a:rPr>
              <a:t>wp.expired</a:t>
            </a:r>
            <a:r>
              <a:rPr lang="en-US" altLang="zh-CN" sz="2400" b="1" dirty="0">
                <a:latin typeface="Consolas" panose="020B0609020204030204" pitchFamily="49" charset="0"/>
              </a:rPr>
              <a:t>()		</a:t>
            </a:r>
            <a:r>
              <a:rPr lang="en-US" altLang="zh-CN" sz="2400" dirty="0">
                <a:solidFill>
                  <a:srgbClr val="1D9A78"/>
                </a:solidFill>
                <a:latin typeface="Consolas" panose="020B0609020204030204" pitchFamily="49" charset="0"/>
              </a:rPr>
              <a:t>//</a:t>
            </a:r>
            <a:r>
              <a:rPr lang="zh-CN" altLang="en-US" sz="2400" dirty="0">
                <a:solidFill>
                  <a:srgbClr val="1D9A78"/>
                </a:solidFill>
                <a:latin typeface="Consolas" panose="020B0609020204030204" pitchFamily="49" charset="0"/>
              </a:rPr>
              <a:t>检查对象是否无效</a:t>
            </a:r>
            <a:endParaRPr lang="en-US" altLang="zh-CN" sz="2400" dirty="0">
              <a:solidFill>
                <a:srgbClr val="1D9A78"/>
              </a:solidFill>
              <a:latin typeface="Consolas" panose="020B0609020204030204" pitchFamily="49" charset="0"/>
            </a:endParaRPr>
          </a:p>
          <a:p>
            <a:r>
              <a:rPr lang="en-US" altLang="zh-CN" sz="2400" b="1" dirty="0" err="1">
                <a:latin typeface="Consolas" panose="020B0609020204030204" pitchFamily="49" charset="0"/>
              </a:rPr>
              <a:t>sp</a:t>
            </a:r>
            <a:r>
              <a:rPr lang="en-US" altLang="zh-CN" sz="2400" b="1" dirty="0">
                <a:latin typeface="Consolas" panose="020B0609020204030204" pitchFamily="49" charset="0"/>
              </a:rPr>
              <a:t> = </a:t>
            </a:r>
            <a:r>
              <a:rPr lang="en-US" altLang="zh-CN" sz="2400" b="1" dirty="0" err="1">
                <a:latin typeface="Consolas" panose="020B0609020204030204" pitchFamily="49" charset="0"/>
              </a:rPr>
              <a:t>wp.lock</a:t>
            </a:r>
            <a:r>
              <a:rPr lang="en-US" altLang="zh-CN" sz="2400" b="1" dirty="0">
                <a:latin typeface="Consolas" panose="020B0609020204030204" pitchFamily="49" charset="0"/>
              </a:rPr>
              <a:t>()	</a:t>
            </a:r>
            <a:r>
              <a:rPr lang="en-US" altLang="zh-CN" sz="2400" dirty="0">
                <a:solidFill>
                  <a:srgbClr val="1D9A78"/>
                </a:solidFill>
                <a:latin typeface="Consolas" panose="020B0609020204030204" pitchFamily="49" charset="0"/>
              </a:rPr>
              <a:t>//</a:t>
            </a:r>
            <a:r>
              <a:rPr lang="zh-CN" altLang="en-US" sz="2400" dirty="0">
                <a:solidFill>
                  <a:srgbClr val="1D9A78"/>
                </a:solidFill>
                <a:latin typeface="Consolas" panose="020B0609020204030204" pitchFamily="49" charset="0"/>
              </a:rPr>
              <a:t>从弱引用获得一个智能指针</a:t>
            </a:r>
          </a:p>
        </p:txBody>
      </p:sp>
    </p:spTree>
    <p:extLst>
      <p:ext uri="{BB962C8B-B14F-4D97-AF65-F5344CB8AC3E}">
        <p14:creationId xmlns:p14="http://schemas.microsoft.com/office/powerpoint/2010/main" val="17803852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40977C-CCEB-439B-85F9-22C51B57B602}"/>
              </a:ext>
            </a:extLst>
          </p:cNvPr>
          <p:cNvSpPr>
            <a:spLocks noGrp="1"/>
          </p:cNvSpPr>
          <p:nvPr>
            <p:ph type="title"/>
          </p:nvPr>
        </p:nvSpPr>
        <p:spPr/>
        <p:txBody>
          <a:bodyPr/>
          <a:lstStyle/>
          <a:p>
            <a:pPr algn="r"/>
            <a:r>
              <a:rPr lang="zh-CN" altLang="en-US" dirty="0">
                <a:solidFill>
                  <a:schemeClr val="accent4"/>
                </a:solidFill>
              </a:rPr>
              <a:t>例子：弱引用</a:t>
            </a:r>
          </a:p>
        </p:txBody>
      </p:sp>
      <p:sp>
        <p:nvSpPr>
          <p:cNvPr id="4" name="灯片编号占位符 3">
            <a:extLst>
              <a:ext uri="{FF2B5EF4-FFF2-40B4-BE49-F238E27FC236}">
                <a16:creationId xmlns:a16="http://schemas.microsoft.com/office/drawing/2014/main" id="{88AD1C9B-2DA6-4C53-A136-06C3849F9005}"/>
              </a:ext>
            </a:extLst>
          </p:cNvPr>
          <p:cNvSpPr>
            <a:spLocks noGrp="1"/>
          </p:cNvSpPr>
          <p:nvPr>
            <p:ph type="sldNum" sz="quarter" idx="12"/>
          </p:nvPr>
        </p:nvSpPr>
        <p:spPr/>
        <p:txBody>
          <a:bodyPr/>
          <a:lstStyle/>
          <a:p>
            <a:pPr>
              <a:defRPr/>
            </a:pPr>
            <a:fld id="{BFD7BE51-03DD-4CCA-8227-D775462981B4}" type="slidenum">
              <a:rPr lang="en-US" altLang="zh-CN" smtClean="0"/>
              <a:pPr>
                <a:defRPr/>
              </a:pPr>
              <a:t>79</a:t>
            </a:fld>
            <a:endParaRPr lang="en-US" altLang="zh-CN"/>
          </a:p>
        </p:txBody>
      </p:sp>
      <p:sp>
        <p:nvSpPr>
          <p:cNvPr id="6" name="文本框 5">
            <a:extLst>
              <a:ext uri="{FF2B5EF4-FFF2-40B4-BE49-F238E27FC236}">
                <a16:creationId xmlns:a16="http://schemas.microsoft.com/office/drawing/2014/main" id="{46CE146B-4E14-4D49-8161-C9D4CEBCC19B}"/>
              </a:ext>
            </a:extLst>
          </p:cNvPr>
          <p:cNvSpPr txBox="1"/>
          <p:nvPr/>
        </p:nvSpPr>
        <p:spPr>
          <a:xfrm>
            <a:off x="323528" y="656849"/>
            <a:ext cx="9163018" cy="6063198"/>
          </a:xfrm>
          <a:prstGeom prst="rect">
            <a:avLst/>
          </a:prstGeom>
          <a:noFill/>
        </p:spPr>
        <p:txBody>
          <a:bodyPr wrap="square" rtlCol="0">
            <a:spAutoFit/>
          </a:bodyPr>
          <a:lstStyle/>
          <a:p>
            <a:r>
              <a:rPr lang="en-US" altLang="zh-CN" sz="2000" b="1" dirty="0">
                <a:latin typeface="Consolas" panose="020B0609020204030204" pitchFamily="49" charset="0"/>
              </a:rPr>
              <a:t>#include &lt;memory&gt;</a:t>
            </a:r>
          </a:p>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using namespace std;</a:t>
            </a:r>
          </a:p>
          <a:p>
            <a:r>
              <a:rPr lang="en-US" altLang="zh-CN" sz="2000" b="1" dirty="0">
                <a:latin typeface="Consolas" panose="020B0609020204030204" pitchFamily="49" charset="0"/>
              </a:rPr>
              <a:t>int main()</a:t>
            </a:r>
          </a:p>
          <a:p>
            <a:r>
              <a:rPr lang="en-US" altLang="zh-CN" sz="2000" b="1" dirty="0">
                <a:latin typeface="Consolas" panose="020B0609020204030204" pitchFamily="49" charset="0"/>
              </a:rPr>
              <a:t>{</a:t>
            </a:r>
          </a:p>
          <a:p>
            <a:pPr lvl="1"/>
            <a:r>
              <a:rPr lang="en-US" altLang="zh-CN" sz="2000" b="1" dirty="0">
                <a:latin typeface="Consolas" panose="020B0609020204030204" pitchFamily="49" charset="0"/>
              </a:rPr>
              <a:t>std::</a:t>
            </a:r>
            <a:r>
              <a:rPr lang="en-US" altLang="zh-CN" sz="2000" b="1" dirty="0" err="1">
                <a:latin typeface="Consolas" panose="020B0609020204030204" pitchFamily="49" charset="0"/>
              </a:rPr>
              <a:t>weak_ptr</a:t>
            </a:r>
            <a:r>
              <a:rPr lang="en-US" altLang="zh-CN" sz="2000" b="1" dirty="0">
                <a:latin typeface="Consolas" panose="020B0609020204030204" pitchFamily="49" charset="0"/>
              </a:rPr>
              <a:t>&lt;int&gt; wp;</a:t>
            </a:r>
          </a:p>
          <a:p>
            <a:pPr lvl="1"/>
            <a:r>
              <a:rPr lang="en-US" altLang="zh-CN" sz="2000" b="1" dirty="0">
                <a:latin typeface="Consolas" panose="020B0609020204030204" pitchFamily="49" charset="0"/>
              </a:rPr>
              <a:t>{</a:t>
            </a:r>
          </a:p>
          <a:p>
            <a:pPr lvl="2"/>
            <a:r>
              <a:rPr lang="en-US" altLang="zh-CN" sz="2000" b="1" dirty="0">
                <a:latin typeface="Consolas" panose="020B0609020204030204" pitchFamily="49" charset="0"/>
              </a:rPr>
              <a:t>auto sp1 = </a:t>
            </a:r>
            <a:r>
              <a:rPr lang="en-US" altLang="zh-CN" sz="2000" b="1" dirty="0" err="1">
                <a:latin typeface="Consolas" panose="020B0609020204030204" pitchFamily="49" charset="0"/>
              </a:rPr>
              <a:t>std</a:t>
            </a:r>
            <a:r>
              <a:rPr lang="en-US" altLang="zh-CN" sz="2000" b="1" dirty="0">
                <a:latin typeface="Consolas" panose="020B0609020204030204" pitchFamily="49" charset="0"/>
              </a:rPr>
              <a:t>::</a:t>
            </a:r>
            <a:r>
              <a:rPr lang="en-US" altLang="zh-CN" sz="2000" b="1" dirty="0" err="1">
                <a:latin typeface="Consolas" panose="020B0609020204030204" pitchFamily="49" charset="0"/>
              </a:rPr>
              <a:t>make_shared</a:t>
            </a:r>
            <a:r>
              <a:rPr lang="en-US" altLang="zh-CN" sz="2000" b="1" dirty="0">
                <a:latin typeface="Consolas" panose="020B0609020204030204" pitchFamily="49" charset="0"/>
              </a:rPr>
              <a:t>&lt;</a:t>
            </a:r>
            <a:r>
              <a:rPr lang="en-US" altLang="zh-CN" sz="2000" b="1" dirty="0" err="1">
                <a:latin typeface="Consolas" panose="020B0609020204030204" pitchFamily="49" charset="0"/>
              </a:rPr>
              <a:t>int</a:t>
            </a:r>
            <a:r>
              <a:rPr lang="en-US" altLang="zh-CN" sz="2000" b="1" dirty="0">
                <a:latin typeface="Consolas" panose="020B0609020204030204" pitchFamily="49" charset="0"/>
              </a:rPr>
              <a:t>&gt;(20);</a:t>
            </a:r>
          </a:p>
          <a:p>
            <a:pPr lvl="2"/>
            <a:r>
              <a:rPr lang="en-US" altLang="zh-CN" sz="2000" b="1" dirty="0" err="1">
                <a:latin typeface="Consolas" panose="020B0609020204030204" pitchFamily="49" charset="0"/>
              </a:rPr>
              <a:t>wp</a:t>
            </a:r>
            <a:r>
              <a:rPr lang="en-US" altLang="zh-CN" sz="2000" b="1" dirty="0">
                <a:latin typeface="Consolas" panose="020B0609020204030204" pitchFamily="49" charset="0"/>
              </a:rPr>
              <a:t> = sp1;</a:t>
            </a:r>
          </a:p>
          <a:p>
            <a:pPr lvl="2"/>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wp.use_count</a:t>
            </a:r>
            <a:r>
              <a:rPr lang="en-US" altLang="zh-CN" sz="2000" b="1" dirty="0">
                <a:latin typeface="Consolas" panose="020B0609020204030204" pitchFamily="49" charset="0"/>
              </a:rPr>
              <a:t>()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//1</a:t>
            </a:r>
          </a:p>
          <a:p>
            <a:pPr lvl="2"/>
            <a:r>
              <a:rPr lang="en-US" altLang="zh-CN" sz="2000" b="1" dirty="0">
                <a:latin typeface="Consolas" panose="020B0609020204030204" pitchFamily="49" charset="0"/>
              </a:rPr>
              <a:t>auto sp2 = </a:t>
            </a:r>
            <a:r>
              <a:rPr lang="en-US" altLang="zh-CN" sz="2000" b="1" dirty="0" err="1">
                <a:latin typeface="Consolas" panose="020B0609020204030204" pitchFamily="49" charset="0"/>
              </a:rPr>
              <a:t>wp.lock</a:t>
            </a:r>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a:t>
            </a:r>
            <a:r>
              <a:rPr lang="zh-CN" altLang="en-US" sz="2000" b="1" dirty="0">
                <a:solidFill>
                  <a:srgbClr val="008000"/>
                </a:solidFill>
                <a:latin typeface="Consolas" panose="020B0609020204030204" pitchFamily="49" charset="0"/>
              </a:rPr>
              <a:t>从弱引用中获得一个</a:t>
            </a:r>
            <a:r>
              <a:rPr lang="en-US" altLang="zh-CN" sz="2000" b="1" dirty="0" err="1">
                <a:solidFill>
                  <a:srgbClr val="008000"/>
                </a:solidFill>
                <a:latin typeface="Consolas" panose="020B0609020204030204" pitchFamily="49" charset="0"/>
              </a:rPr>
              <a:t>shared_ptr</a:t>
            </a:r>
            <a:endParaRPr lang="en-US" altLang="zh-CN" sz="2000" b="1" dirty="0">
              <a:solidFill>
                <a:srgbClr val="008000"/>
              </a:solidFill>
              <a:latin typeface="Consolas" panose="020B0609020204030204" pitchFamily="49" charset="0"/>
            </a:endParaRPr>
          </a:p>
          <a:p>
            <a:pPr lvl="2"/>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wp.use_count</a:t>
            </a:r>
            <a:r>
              <a:rPr lang="en-US" altLang="zh-CN" sz="2000" b="1" dirty="0">
                <a:latin typeface="Consolas" panose="020B0609020204030204" pitchFamily="49" charset="0"/>
              </a:rPr>
              <a:t>()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//2</a:t>
            </a:r>
          </a:p>
          <a:p>
            <a:pPr lvl="2"/>
            <a:r>
              <a:rPr lang="en-US" altLang="zh-CN" sz="2000" b="1" dirty="0">
                <a:latin typeface="Consolas" panose="020B0609020204030204" pitchFamily="49" charset="0"/>
              </a:rPr>
              <a:t>sp1.reset();							</a:t>
            </a:r>
            <a:r>
              <a:rPr lang="en-US" altLang="zh-CN" sz="2000" b="1" dirty="0">
                <a:solidFill>
                  <a:srgbClr val="008000"/>
                </a:solidFill>
                <a:latin typeface="Consolas" panose="020B0609020204030204" pitchFamily="49" charset="0"/>
              </a:rPr>
              <a:t>//sp1</a:t>
            </a:r>
            <a:r>
              <a:rPr lang="zh-CN" altLang="en-US" sz="2000" b="1" dirty="0">
                <a:solidFill>
                  <a:srgbClr val="008000"/>
                </a:solidFill>
                <a:latin typeface="Consolas" panose="020B0609020204030204" pitchFamily="49" charset="0"/>
              </a:rPr>
              <a:t>释放指针</a:t>
            </a:r>
            <a:endParaRPr lang="en-US" altLang="zh-CN" sz="2000" b="1" dirty="0">
              <a:latin typeface="Consolas" panose="020B0609020204030204" pitchFamily="49" charset="0"/>
            </a:endParaRPr>
          </a:p>
          <a:p>
            <a:pPr lvl="2"/>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wp.use_count</a:t>
            </a:r>
            <a:r>
              <a:rPr lang="en-US" altLang="zh-CN" sz="2000" b="1" dirty="0">
                <a:latin typeface="Consolas" panose="020B0609020204030204" pitchFamily="49" charset="0"/>
              </a:rPr>
              <a:t>()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//1</a:t>
            </a:r>
          </a:p>
          <a:p>
            <a:pPr lvl="1"/>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//sp2</a:t>
            </a:r>
            <a:r>
              <a:rPr lang="zh-CN" altLang="en-US" sz="2000" b="1" dirty="0">
                <a:solidFill>
                  <a:srgbClr val="008000"/>
                </a:solidFill>
                <a:latin typeface="Consolas" panose="020B0609020204030204" pitchFamily="49" charset="0"/>
              </a:rPr>
              <a:t>销毁</a:t>
            </a:r>
            <a:endParaRPr lang="en-US" altLang="zh-CN" sz="2000" b="1" dirty="0">
              <a:solidFill>
                <a:srgbClr val="008000"/>
              </a:solidFill>
              <a:latin typeface="Consolas" panose="020B0609020204030204" pitchFamily="49" charset="0"/>
            </a:endParaRP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wp.use_count</a:t>
            </a:r>
            <a:r>
              <a:rPr lang="en-US" altLang="zh-CN" sz="2000" b="1" dirty="0">
                <a:latin typeface="Consolas" panose="020B0609020204030204" pitchFamily="49" charset="0"/>
              </a:rPr>
              <a:t>()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//0</a:t>
            </a:r>
          </a:p>
          <a:p>
            <a:pPr lvl="1"/>
            <a:r>
              <a:rPr lang="en-US" altLang="zh-CN" sz="2000" b="1" dirty="0" err="1">
                <a:latin typeface="Consolas" panose="020B0609020204030204" pitchFamily="49" charset="0"/>
              </a:rPr>
              <a:t>cout</a:t>
            </a:r>
            <a:r>
              <a:rPr lang="en-US" altLang="zh-CN" sz="2000" b="1" dirty="0">
                <a:latin typeface="Consolas" panose="020B0609020204030204" pitchFamily="49" charset="0"/>
              </a:rPr>
              <a:t> &lt;&lt; </a:t>
            </a:r>
            <a:r>
              <a:rPr lang="en-US" altLang="zh-CN" sz="2000" b="1" dirty="0" err="1">
                <a:latin typeface="Consolas" panose="020B0609020204030204" pitchFamily="49" charset="0"/>
              </a:rPr>
              <a:t>wp.expired</a:t>
            </a:r>
            <a:r>
              <a:rPr lang="en-US" altLang="zh-CN" sz="2000" b="1" dirty="0">
                <a:latin typeface="Consolas" panose="020B0609020204030204" pitchFamily="49" charset="0"/>
              </a:rPr>
              <a:t>()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	  </a:t>
            </a:r>
            <a:r>
              <a:rPr lang="en-US" altLang="zh-CN" sz="2000" b="1" dirty="0">
                <a:solidFill>
                  <a:srgbClr val="008000"/>
                </a:solidFill>
                <a:latin typeface="Consolas" panose="020B0609020204030204" pitchFamily="49" charset="0"/>
              </a:rPr>
              <a:t>//</a:t>
            </a:r>
            <a:r>
              <a:rPr lang="zh-CN" altLang="en-US" sz="2000" b="1" dirty="0">
                <a:solidFill>
                  <a:srgbClr val="008000"/>
                </a:solidFill>
                <a:latin typeface="Consolas" panose="020B0609020204030204" pitchFamily="49" charset="0"/>
              </a:rPr>
              <a:t>检查弱引用是否失效：</a:t>
            </a:r>
            <a:r>
              <a:rPr lang="en-US" altLang="zh-CN" sz="2000" b="1" dirty="0">
                <a:solidFill>
                  <a:srgbClr val="008000"/>
                </a:solidFill>
                <a:latin typeface="Consolas" panose="020B0609020204030204" pitchFamily="49" charset="0"/>
              </a:rPr>
              <a:t>True</a:t>
            </a:r>
          </a:p>
          <a:p>
            <a:r>
              <a:rPr lang="en-US" altLang="zh-CN" sz="2000" b="1" dirty="0">
                <a:latin typeface="Consolas" panose="020B0609020204030204" pitchFamily="49" charset="0"/>
              </a:rPr>
              <a:t>	return 0;</a:t>
            </a:r>
          </a:p>
          <a:p>
            <a:r>
              <a:rPr lang="en-US" altLang="zh-CN" sz="2000" b="1" dirty="0">
                <a:latin typeface="Consolas" panose="020B0609020204030204" pitchFamily="49" charset="0"/>
              </a:rPr>
              <a:t>}</a:t>
            </a:r>
          </a:p>
        </p:txBody>
      </p:sp>
    </p:spTree>
    <p:extLst>
      <p:ext uri="{BB962C8B-B14F-4D97-AF65-F5344CB8AC3E}">
        <p14:creationId xmlns:p14="http://schemas.microsoft.com/office/powerpoint/2010/main" val="394652258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26559E-6362-46AF-B0B9-111DE2D246EA}"/>
              </a:ext>
            </a:extLst>
          </p:cNvPr>
          <p:cNvSpPr>
            <a:spLocks noGrp="1"/>
          </p:cNvSpPr>
          <p:nvPr>
            <p:ph type="title"/>
          </p:nvPr>
        </p:nvSpPr>
        <p:spPr/>
        <p:txBody>
          <a:bodyPr/>
          <a:lstStyle/>
          <a:p>
            <a:r>
              <a:rPr lang="zh-CN" altLang="en-US" dirty="0">
                <a:solidFill>
                  <a:schemeClr val="accent4"/>
                </a:solidFill>
              </a:rPr>
              <a:t>独享</a:t>
            </a:r>
            <a:r>
              <a:rPr lang="zh-CN" altLang="en-US" dirty="0"/>
              <a:t>所有权</a:t>
            </a:r>
          </a:p>
        </p:txBody>
      </p:sp>
      <p:sp>
        <p:nvSpPr>
          <p:cNvPr id="3" name="内容占位符 2">
            <a:extLst>
              <a:ext uri="{FF2B5EF4-FFF2-40B4-BE49-F238E27FC236}">
                <a16:creationId xmlns:a16="http://schemas.microsoft.com/office/drawing/2014/main" id="{E0D381E7-A16D-4C2C-8782-42C575F71DE3}"/>
              </a:ext>
            </a:extLst>
          </p:cNvPr>
          <p:cNvSpPr>
            <a:spLocks noGrp="1"/>
          </p:cNvSpPr>
          <p:nvPr>
            <p:ph idx="1"/>
          </p:nvPr>
        </p:nvSpPr>
        <p:spPr>
          <a:xfrm>
            <a:off x="628650" y="1196752"/>
            <a:ext cx="8047806" cy="4749029"/>
          </a:xfrm>
        </p:spPr>
        <p:txBody>
          <a:bodyPr/>
          <a:lstStyle/>
          <a:p>
            <a:r>
              <a:rPr lang="en-US" altLang="zh-CN" dirty="0" err="1"/>
              <a:t>shared_ptr</a:t>
            </a:r>
            <a:r>
              <a:rPr lang="zh-CN" altLang="en-US" dirty="0"/>
              <a:t>涉及引用计数，性能较差</a:t>
            </a:r>
            <a:endParaRPr lang="en-US" altLang="zh-CN" dirty="0"/>
          </a:p>
          <a:p>
            <a:r>
              <a:rPr lang="zh-CN" altLang="en-US" dirty="0"/>
              <a:t>如果要保证一个对象只被一个指针引用</a:t>
            </a:r>
            <a:endParaRPr lang="en-US" altLang="zh-CN" dirty="0"/>
          </a:p>
          <a:p>
            <a:r>
              <a:rPr lang="en-US" altLang="zh-CN" dirty="0" err="1"/>
              <a:t>unique_ptr</a:t>
            </a:r>
            <a:endParaRPr lang="zh-CN" altLang="en-US" dirty="0"/>
          </a:p>
        </p:txBody>
      </p:sp>
      <p:sp>
        <p:nvSpPr>
          <p:cNvPr id="4" name="灯片编号占位符 3">
            <a:extLst>
              <a:ext uri="{FF2B5EF4-FFF2-40B4-BE49-F238E27FC236}">
                <a16:creationId xmlns:a16="http://schemas.microsoft.com/office/drawing/2014/main" id="{9DA96689-F9D2-485F-8BB4-6C51AD6B7369}"/>
              </a:ext>
            </a:extLst>
          </p:cNvPr>
          <p:cNvSpPr>
            <a:spLocks noGrp="1"/>
          </p:cNvSpPr>
          <p:nvPr>
            <p:ph type="sldNum" sz="quarter" idx="12"/>
          </p:nvPr>
        </p:nvSpPr>
        <p:spPr/>
        <p:txBody>
          <a:bodyPr/>
          <a:lstStyle/>
          <a:p>
            <a:pPr>
              <a:defRPr/>
            </a:pPr>
            <a:fld id="{BFD7BE51-03DD-4CCA-8227-D775462981B4}" type="slidenum">
              <a:rPr lang="en-US" altLang="zh-CN" smtClean="0"/>
              <a:pPr>
                <a:defRPr/>
              </a:pPr>
              <a:t>80</a:t>
            </a:fld>
            <a:endParaRPr lang="en-US" altLang="zh-CN"/>
          </a:p>
        </p:txBody>
      </p:sp>
      <p:sp>
        <p:nvSpPr>
          <p:cNvPr id="5" name="文本框 4">
            <a:extLst>
              <a:ext uri="{FF2B5EF4-FFF2-40B4-BE49-F238E27FC236}">
                <a16:creationId xmlns:a16="http://schemas.microsoft.com/office/drawing/2014/main" id="{98B4F9DB-7CAC-42B6-B431-96F6BFB46C67}"/>
              </a:ext>
            </a:extLst>
          </p:cNvPr>
          <p:cNvSpPr txBox="1"/>
          <p:nvPr/>
        </p:nvSpPr>
        <p:spPr>
          <a:xfrm>
            <a:off x="944141" y="2636912"/>
            <a:ext cx="7416824" cy="4124206"/>
          </a:xfrm>
          <a:prstGeom prst="rect">
            <a:avLst/>
          </a:prstGeom>
          <a:noFill/>
        </p:spPr>
        <p:txBody>
          <a:bodyPr wrap="square" rtlCol="0">
            <a:spAutoFit/>
          </a:bodyPr>
          <a:lstStyle/>
          <a:p>
            <a:pPr marL="0" lvl="5"/>
            <a:r>
              <a:rPr lang="en-US" altLang="zh-CN" b="1" dirty="0">
                <a:latin typeface="Consolas" panose="020B0609020204030204" pitchFamily="49" charset="0"/>
              </a:rPr>
              <a:t>#include &lt;memory&gt;</a:t>
            </a:r>
          </a:p>
          <a:p>
            <a:pPr marL="0" lvl="5"/>
            <a:r>
              <a:rPr lang="en-US" altLang="zh-CN" b="1" dirty="0">
                <a:latin typeface="Consolas" panose="020B0609020204030204" pitchFamily="49" charset="0"/>
              </a:rPr>
              <a:t>#include &lt;utility&gt;</a:t>
            </a:r>
          </a:p>
          <a:p>
            <a:pPr marL="0" lvl="5"/>
            <a:r>
              <a:rPr lang="en-US" altLang="zh-CN" b="1" dirty="0">
                <a:latin typeface="Consolas" panose="020B0609020204030204" pitchFamily="49" charset="0"/>
              </a:rPr>
              <a:t>using namespace std;</a:t>
            </a:r>
          </a:p>
          <a:p>
            <a:r>
              <a:rPr lang="en-US" altLang="zh-CN" b="1" dirty="0">
                <a:latin typeface="Consolas" panose="020B0609020204030204" pitchFamily="49" charset="0"/>
              </a:rPr>
              <a:t>int main() {</a:t>
            </a:r>
          </a:p>
          <a:p>
            <a:pPr lvl="1"/>
            <a:r>
              <a:rPr lang="en-US" altLang="zh-CN" b="1" dirty="0">
                <a:latin typeface="Consolas" panose="020B0609020204030204" pitchFamily="49" charset="0"/>
              </a:rPr>
              <a:t>auto up1 = std::</a:t>
            </a:r>
            <a:r>
              <a:rPr lang="en-US" altLang="zh-CN" b="1" dirty="0" err="1">
                <a:latin typeface="Consolas" panose="020B0609020204030204" pitchFamily="49" charset="0"/>
              </a:rPr>
              <a:t>make_unique</a:t>
            </a:r>
            <a:r>
              <a:rPr lang="en-US" altLang="zh-CN" b="1" dirty="0">
                <a:latin typeface="Consolas" panose="020B0609020204030204" pitchFamily="49" charset="0"/>
              </a:rPr>
              <a:t>&lt;int&gt;(20);</a:t>
            </a:r>
          </a:p>
          <a:p>
            <a:pPr lvl="1"/>
            <a:r>
              <a:rPr lang="en-US" altLang="zh-CN" b="1" dirty="0">
                <a:solidFill>
                  <a:srgbClr val="008000"/>
                </a:solidFill>
                <a:latin typeface="Consolas" panose="020B0609020204030204" pitchFamily="49" charset="0"/>
              </a:rPr>
              <a:t>//</a:t>
            </a:r>
            <a:r>
              <a:rPr lang="en-US" altLang="zh-CN" b="1" dirty="0" err="1">
                <a:solidFill>
                  <a:srgbClr val="008000"/>
                </a:solidFill>
                <a:latin typeface="Consolas" panose="020B0609020204030204" pitchFamily="49" charset="0"/>
              </a:rPr>
              <a:t>unique_ptr</a:t>
            </a:r>
            <a:r>
              <a:rPr lang="en-US" altLang="zh-CN" b="1" dirty="0">
                <a:solidFill>
                  <a:srgbClr val="008000"/>
                </a:solidFill>
                <a:latin typeface="Consolas" panose="020B0609020204030204" pitchFamily="49" charset="0"/>
              </a:rPr>
              <a:t>&lt;int&gt; up2 = up1; </a:t>
            </a:r>
          </a:p>
          <a:p>
            <a:pPr lvl="1"/>
            <a:r>
              <a:rPr lang="en-US" altLang="zh-CN" b="1" dirty="0">
                <a:latin typeface="Consolas" panose="020B0609020204030204" pitchFamily="49" charset="0"/>
              </a:rPr>
              <a:t>			</a:t>
            </a:r>
            <a:r>
              <a:rPr lang="en-US" altLang="zh-CN" b="1" dirty="0">
                <a:solidFill>
                  <a:srgbClr val="1D9A78"/>
                </a:solidFill>
                <a:latin typeface="Consolas" panose="020B0609020204030204" pitchFamily="49" charset="0"/>
              </a:rPr>
              <a:t>//</a:t>
            </a:r>
            <a:r>
              <a:rPr lang="zh-CN" altLang="en-US" b="1" dirty="0">
                <a:solidFill>
                  <a:srgbClr val="1D9A78"/>
                </a:solidFill>
                <a:latin typeface="Consolas" panose="020B0609020204030204" pitchFamily="49" charset="0"/>
              </a:rPr>
              <a:t>错误，不能复制</a:t>
            </a:r>
            <a:r>
              <a:rPr lang="en-US" altLang="zh-CN" b="1" dirty="0">
                <a:solidFill>
                  <a:srgbClr val="1D9A78"/>
                </a:solidFill>
                <a:latin typeface="Consolas" panose="020B0609020204030204" pitchFamily="49" charset="0"/>
              </a:rPr>
              <a:t>unique</a:t>
            </a:r>
            <a:r>
              <a:rPr lang="zh-CN" altLang="en-US" b="1" dirty="0">
                <a:solidFill>
                  <a:srgbClr val="1D9A78"/>
                </a:solidFill>
                <a:latin typeface="Consolas" panose="020B0609020204030204" pitchFamily="49" charset="0"/>
              </a:rPr>
              <a:t>指针</a:t>
            </a:r>
          </a:p>
          <a:p>
            <a:pPr lvl="1"/>
            <a:r>
              <a:rPr lang="en-US" altLang="zh-CN" b="1" dirty="0" err="1">
                <a:latin typeface="Consolas" panose="020B0609020204030204" pitchFamily="49" charset="0"/>
              </a:rPr>
              <a:t>unique_ptr</a:t>
            </a:r>
            <a:r>
              <a:rPr lang="en-US" altLang="zh-CN" b="1" dirty="0">
                <a:latin typeface="Consolas" panose="020B0609020204030204" pitchFamily="49" charset="0"/>
              </a:rPr>
              <a:t>&lt;</a:t>
            </a:r>
            <a:r>
              <a:rPr lang="en-US" altLang="zh-CN" b="1" dirty="0" err="1">
                <a:latin typeface="Consolas" panose="020B0609020204030204" pitchFamily="49" charset="0"/>
              </a:rPr>
              <a:t>int</a:t>
            </a:r>
            <a:r>
              <a:rPr lang="en-US" altLang="zh-CN" b="1" dirty="0">
                <a:latin typeface="Consolas" panose="020B0609020204030204" pitchFamily="49" charset="0"/>
              </a:rPr>
              <a:t>&gt; up2 = </a:t>
            </a:r>
            <a:r>
              <a:rPr lang="en-US" altLang="zh-CN" b="1" dirty="0" err="1">
                <a:latin typeface="Consolas" panose="020B0609020204030204" pitchFamily="49" charset="0"/>
              </a:rPr>
              <a:t>std</a:t>
            </a:r>
            <a:r>
              <a:rPr lang="en-US" altLang="zh-CN" b="1" dirty="0">
                <a:latin typeface="Consolas" panose="020B0609020204030204" pitchFamily="49" charset="0"/>
              </a:rPr>
              <a:t>::move(up1);</a:t>
            </a:r>
          </a:p>
          <a:p>
            <a:pPr lvl="1"/>
            <a:r>
              <a:rPr lang="en-US" altLang="zh-CN" b="1" dirty="0">
                <a:latin typeface="Consolas" panose="020B0609020204030204" pitchFamily="49" charset="0"/>
              </a:rPr>
              <a:t>			</a:t>
            </a:r>
            <a:r>
              <a:rPr lang="en-US" altLang="zh-CN" b="1" dirty="0">
                <a:solidFill>
                  <a:srgbClr val="1D9A78"/>
                </a:solidFill>
                <a:latin typeface="Consolas" panose="020B0609020204030204" pitchFamily="49" charset="0"/>
              </a:rPr>
              <a:t>//</a:t>
            </a:r>
            <a:r>
              <a:rPr lang="zh-CN" altLang="en-US" b="1" dirty="0">
                <a:solidFill>
                  <a:srgbClr val="1D9A78"/>
                </a:solidFill>
                <a:latin typeface="Consolas" panose="020B0609020204030204" pitchFamily="49" charset="0"/>
              </a:rPr>
              <a:t>可以移动</a:t>
            </a:r>
            <a:r>
              <a:rPr lang="en-US" altLang="zh-CN" b="1" dirty="0">
                <a:solidFill>
                  <a:srgbClr val="1D9A78"/>
                </a:solidFill>
                <a:latin typeface="Consolas" panose="020B0609020204030204" pitchFamily="49" charset="0"/>
              </a:rPr>
              <a:t>unique</a:t>
            </a:r>
            <a:r>
              <a:rPr lang="zh-CN" altLang="en-US" b="1" dirty="0">
                <a:solidFill>
                  <a:srgbClr val="1D9A78"/>
                </a:solidFill>
                <a:latin typeface="Consolas" panose="020B0609020204030204" pitchFamily="49" charset="0"/>
              </a:rPr>
              <a:t>指针</a:t>
            </a:r>
          </a:p>
          <a:p>
            <a:pPr lvl="1"/>
            <a:r>
              <a:rPr lang="en-US" altLang="zh-CN" b="1" dirty="0" err="1">
                <a:latin typeface="Consolas" panose="020B0609020204030204" pitchFamily="49" charset="0"/>
              </a:rPr>
              <a:t>int</a:t>
            </a:r>
            <a:r>
              <a:rPr lang="en-US" altLang="zh-CN" b="1" dirty="0">
                <a:latin typeface="Consolas" panose="020B0609020204030204" pitchFamily="49" charset="0"/>
              </a:rPr>
              <a:t>* p = up2.release();</a:t>
            </a:r>
          </a:p>
          <a:p>
            <a:pPr lvl="1"/>
            <a:r>
              <a:rPr lang="en-US" altLang="zh-CN" b="1" dirty="0">
                <a:latin typeface="Consolas" panose="020B0609020204030204" pitchFamily="49" charset="0"/>
              </a:rPr>
              <a:t>			</a:t>
            </a:r>
            <a:r>
              <a:rPr lang="en-US" altLang="zh-CN" b="1" dirty="0">
                <a:solidFill>
                  <a:srgbClr val="1D9A78"/>
                </a:solidFill>
                <a:latin typeface="Consolas" panose="020B0609020204030204" pitchFamily="49" charset="0"/>
              </a:rPr>
              <a:t>//</a:t>
            </a:r>
            <a:r>
              <a:rPr lang="zh-CN" altLang="en-US" b="1" dirty="0">
                <a:solidFill>
                  <a:srgbClr val="1D9A78"/>
                </a:solidFill>
                <a:latin typeface="Consolas" panose="020B0609020204030204" pitchFamily="49" charset="0"/>
              </a:rPr>
              <a:t>放弃指针控制权，返回裸指针</a:t>
            </a:r>
            <a:endParaRPr lang="en-US" altLang="zh-CN" b="1" dirty="0">
              <a:solidFill>
                <a:srgbClr val="1D9A78"/>
              </a:solidFill>
              <a:latin typeface="Consolas" panose="020B0609020204030204" pitchFamily="49" charset="0"/>
            </a:endParaRPr>
          </a:p>
          <a:p>
            <a:pPr lvl="1"/>
            <a:r>
              <a:rPr lang="en-US" altLang="zh-CN" b="1" dirty="0">
                <a:latin typeface="Consolas" panose="020B0609020204030204" pitchFamily="49" charset="0"/>
              </a:rPr>
              <a:t>delete p;</a:t>
            </a:r>
          </a:p>
          <a:p>
            <a:pPr lvl="1"/>
            <a:r>
              <a:rPr lang="en-US" altLang="zh-CN" b="1" dirty="0">
                <a:latin typeface="Consolas" panose="020B0609020204030204" pitchFamily="49" charset="0"/>
              </a:rPr>
              <a:t>return 0;</a:t>
            </a:r>
          </a:p>
          <a:p>
            <a:pPr marL="0" lvl="1"/>
            <a:r>
              <a:rPr lang="en-US" altLang="zh-CN" b="1" dirty="0">
                <a:latin typeface="Consolas" panose="020B0609020204030204" pitchFamily="49" charset="0"/>
              </a:rPr>
              <a:t>}</a:t>
            </a:r>
            <a:endParaRPr lang="zh-CN" altLang="en-US" sz="2800" b="1" dirty="0">
              <a:latin typeface="Consolas" panose="020B0609020204030204" pitchFamily="49" charset="0"/>
            </a:endParaRPr>
          </a:p>
        </p:txBody>
      </p:sp>
    </p:spTree>
    <p:extLst>
      <p:ext uri="{BB962C8B-B14F-4D97-AF65-F5344CB8AC3E}">
        <p14:creationId xmlns:p14="http://schemas.microsoft.com/office/powerpoint/2010/main" val="71216893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9E57F0-EEA7-47E1-B989-2D06C22EF375}"/>
              </a:ext>
            </a:extLst>
          </p:cNvPr>
          <p:cNvSpPr>
            <a:spLocks noGrp="1"/>
          </p:cNvSpPr>
          <p:nvPr>
            <p:ph type="title"/>
          </p:nvPr>
        </p:nvSpPr>
        <p:spPr/>
        <p:txBody>
          <a:bodyPr/>
          <a:lstStyle/>
          <a:p>
            <a:r>
              <a:rPr lang="zh-CN" altLang="en-US" dirty="0"/>
              <a:t>智能指针总结</a:t>
            </a:r>
          </a:p>
        </p:txBody>
      </p:sp>
      <p:sp>
        <p:nvSpPr>
          <p:cNvPr id="3" name="内容占位符 2">
            <a:extLst>
              <a:ext uri="{FF2B5EF4-FFF2-40B4-BE49-F238E27FC236}">
                <a16:creationId xmlns:a16="http://schemas.microsoft.com/office/drawing/2014/main" id="{C7C72290-74AD-4276-A7BC-501FF9297B4B}"/>
              </a:ext>
            </a:extLst>
          </p:cNvPr>
          <p:cNvSpPr>
            <a:spLocks noGrp="1"/>
          </p:cNvSpPr>
          <p:nvPr>
            <p:ph idx="1"/>
          </p:nvPr>
        </p:nvSpPr>
        <p:spPr/>
        <p:txBody>
          <a:bodyPr/>
          <a:lstStyle/>
          <a:p>
            <a:r>
              <a:rPr lang="zh-CN" altLang="en-US" dirty="0"/>
              <a:t>优点</a:t>
            </a:r>
            <a:endParaRPr lang="en-US" altLang="zh-CN" dirty="0"/>
          </a:p>
          <a:p>
            <a:pPr lvl="1"/>
            <a:r>
              <a:rPr lang="zh-CN" altLang="en-US" dirty="0"/>
              <a:t>智能指针可以帮助管理内存，避免内存泄露</a:t>
            </a:r>
            <a:endParaRPr lang="en-US" altLang="zh-CN" dirty="0"/>
          </a:p>
          <a:p>
            <a:pPr lvl="1"/>
            <a:r>
              <a:rPr lang="zh-CN" altLang="en-US" dirty="0"/>
              <a:t>区分</a:t>
            </a:r>
            <a:r>
              <a:rPr lang="en-US" altLang="zh-CN" dirty="0" err="1"/>
              <a:t>unique_ptr</a:t>
            </a:r>
            <a:r>
              <a:rPr lang="zh-CN" altLang="en-US" dirty="0"/>
              <a:t>和</a:t>
            </a:r>
            <a:r>
              <a:rPr lang="en-US" altLang="zh-CN" dirty="0" err="1"/>
              <a:t>shared_ptr</a:t>
            </a:r>
            <a:r>
              <a:rPr lang="zh-CN" altLang="en-US" dirty="0"/>
              <a:t>能够明确语义</a:t>
            </a:r>
            <a:endParaRPr lang="en-US" altLang="zh-CN" dirty="0"/>
          </a:p>
          <a:p>
            <a:pPr lvl="1"/>
            <a:r>
              <a:rPr lang="zh-CN" altLang="en-US" dirty="0"/>
              <a:t>在手动维护指针不可行，复制对象开销太大时，智能指针是唯一选择。</a:t>
            </a:r>
            <a:endParaRPr lang="en-US" altLang="zh-CN" dirty="0"/>
          </a:p>
          <a:p>
            <a:pPr lvl="1"/>
            <a:endParaRPr lang="en-US" altLang="zh-CN" dirty="0"/>
          </a:p>
          <a:p>
            <a:r>
              <a:rPr lang="zh-CN" altLang="en-US" dirty="0"/>
              <a:t>缺点</a:t>
            </a:r>
            <a:endParaRPr lang="en-US" altLang="zh-CN" dirty="0"/>
          </a:p>
          <a:p>
            <a:pPr lvl="1"/>
            <a:r>
              <a:rPr lang="zh-CN" altLang="en-US" dirty="0"/>
              <a:t>引用计数会影响性能</a:t>
            </a:r>
            <a:endParaRPr lang="en-US" altLang="zh-CN" dirty="0"/>
          </a:p>
          <a:p>
            <a:pPr lvl="1"/>
            <a:r>
              <a:rPr lang="zh-CN" altLang="en-US" dirty="0"/>
              <a:t>智能指针不总是智能，需要了解内部原理</a:t>
            </a:r>
            <a:endParaRPr lang="en-US" altLang="zh-CN" dirty="0"/>
          </a:p>
          <a:p>
            <a:pPr lvl="1"/>
            <a:r>
              <a:rPr lang="zh-CN" altLang="en-US" dirty="0"/>
              <a:t>需要小心环状结构和数组指针</a:t>
            </a:r>
            <a:endParaRPr lang="en-US" altLang="zh-CN" dirty="0"/>
          </a:p>
          <a:p>
            <a:pPr lvl="1"/>
            <a:endParaRPr lang="zh-CN" altLang="en-US" dirty="0"/>
          </a:p>
        </p:txBody>
      </p:sp>
      <p:sp>
        <p:nvSpPr>
          <p:cNvPr id="4" name="灯片编号占位符 3">
            <a:extLst>
              <a:ext uri="{FF2B5EF4-FFF2-40B4-BE49-F238E27FC236}">
                <a16:creationId xmlns:a16="http://schemas.microsoft.com/office/drawing/2014/main" id="{19110C41-BEFB-43AE-80DB-A238A182E7E7}"/>
              </a:ext>
            </a:extLst>
          </p:cNvPr>
          <p:cNvSpPr>
            <a:spLocks noGrp="1"/>
          </p:cNvSpPr>
          <p:nvPr>
            <p:ph type="sldNum" sz="quarter" idx="12"/>
          </p:nvPr>
        </p:nvSpPr>
        <p:spPr/>
        <p:txBody>
          <a:bodyPr/>
          <a:lstStyle/>
          <a:p>
            <a:pPr>
              <a:defRPr/>
            </a:pPr>
            <a:fld id="{BFD7BE51-03DD-4CCA-8227-D775462981B4}" type="slidenum">
              <a:rPr lang="en-US" altLang="zh-CN" smtClean="0"/>
              <a:pPr>
                <a:defRPr/>
              </a:pPr>
              <a:t>81</a:t>
            </a:fld>
            <a:endParaRPr lang="en-US" altLang="zh-CN"/>
          </a:p>
        </p:txBody>
      </p:sp>
    </p:spTree>
    <p:extLst>
      <p:ext uri="{BB962C8B-B14F-4D97-AF65-F5344CB8AC3E}">
        <p14:creationId xmlns:p14="http://schemas.microsoft.com/office/powerpoint/2010/main" val="7007790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ctrTitle"/>
          </p:nvPr>
        </p:nvSpPr>
        <p:spPr>
          <a:xfrm>
            <a:off x="684213" y="2420938"/>
            <a:ext cx="7772400" cy="1800225"/>
          </a:xfrm>
        </p:spPr>
        <p:txBody>
          <a:bodyPr/>
          <a:lstStyle/>
          <a:p>
            <a:r>
              <a:rPr lang="zh-TW" altLang="en-US" sz="11500">
                <a:solidFill>
                  <a:srgbClr val="0070C0"/>
                </a:solidFill>
              </a:rPr>
              <a:t>结 束</a:t>
            </a:r>
            <a:endParaRPr lang="en-US" altLang="zh-CN" sz="11500">
              <a:solidFill>
                <a:srgbClr val="0070C0"/>
              </a:solidFill>
            </a:endParaRPr>
          </a:p>
        </p:txBody>
      </p:sp>
    </p:spTree>
    <p:extLst>
      <p:ext uri="{BB962C8B-B14F-4D97-AF65-F5344CB8AC3E}">
        <p14:creationId xmlns:p14="http://schemas.microsoft.com/office/powerpoint/2010/main" val="20364957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ctrTitle" idx="4294967295"/>
          </p:nvPr>
        </p:nvSpPr>
        <p:spPr>
          <a:xfrm>
            <a:off x="683568" y="2564904"/>
            <a:ext cx="7772400" cy="1470025"/>
          </a:xfrm>
        </p:spPr>
        <p:txBody>
          <a:bodyPr/>
          <a:lstStyle/>
          <a:p>
            <a:pPr algn="ctr" eaLnBrk="1" hangingPunct="1"/>
            <a:r>
              <a:rPr lang="zh-CN" altLang="en-US"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字符串处理与</a:t>
            </a:r>
            <a:br>
              <a:rPr lang="en-US" altLang="zh-CN"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br>
            <a:r>
              <a:rPr lang="zh-CN" altLang="en-US" sz="5400"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rPr>
              <a:t>正则表达式（自学）</a:t>
            </a:r>
            <a:endParaRPr lang="en-US" altLang="zh-CN" sz="5400" b="1" dirty="0">
              <a:solidFill>
                <a:srgbClr val="003366"/>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4579" name="灯片编号占位符 5"/>
          <p:cNvSpPr>
            <a:spLocks noGrp="1"/>
          </p:cNvSpPr>
          <p:nvPr>
            <p:ph type="sldNum" sz="quarter" idx="12"/>
          </p:nvPr>
        </p:nvSpPr>
        <p:spPr>
          <a:xfrm>
            <a:off x="6991350" y="6524625"/>
            <a:ext cx="2133600" cy="333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华文中宋" panose="02010600040101010101" pitchFamily="2" charset="-122"/>
              </a:defRPr>
            </a:lvl1pPr>
            <a:lvl2pPr marL="742950" indent="-285750">
              <a:spcBef>
                <a:spcPct val="20000"/>
              </a:spcBef>
              <a:buChar char="–"/>
              <a:defRPr sz="28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4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0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000">
                <a:solidFill>
                  <a:schemeClr val="tx1"/>
                </a:solidFill>
                <a:latin typeface="Arial" panose="020B0604020202020204" pitchFamily="34" charset="0"/>
                <a:ea typeface="华文中宋" panose="0201060004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华文中宋" panose="02010600040101010101" pitchFamily="2" charset="-122"/>
              </a:defRPr>
            </a:lvl9pPr>
          </a:lstStyle>
          <a:p>
            <a:pPr>
              <a:spcBef>
                <a:spcPct val="0"/>
              </a:spcBef>
              <a:buFontTx/>
              <a:buNone/>
            </a:pPr>
            <a:fld id="{B6D092EB-5C25-4AA2-B2CD-B9A2BCD4DB8F}" type="slidenum">
              <a:rPr lang="en-US" altLang="zh-CN" sz="1400">
                <a:solidFill>
                  <a:schemeClr val="hlink"/>
                </a:solidFill>
                <a:ea typeface="宋体" panose="02010600030101010101" pitchFamily="2" charset="-122"/>
              </a:rPr>
              <a:t>83</a:t>
            </a:fld>
            <a:endParaRPr lang="en-US" altLang="zh-CN" sz="1400">
              <a:solidFill>
                <a:schemeClr val="hlink"/>
              </a:solidFill>
              <a:ea typeface="宋体" panose="02010600030101010101" pitchFamily="2"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用户名注册</a:t>
            </a:r>
          </a:p>
        </p:txBody>
      </p:sp>
      <p:sp>
        <p:nvSpPr>
          <p:cNvPr id="3" name="内容占位符 2"/>
          <p:cNvSpPr>
            <a:spLocks noGrp="1"/>
          </p:cNvSpPr>
          <p:nvPr>
            <p:ph idx="1"/>
          </p:nvPr>
        </p:nvSpPr>
        <p:spPr>
          <a:xfrm>
            <a:off x="685166" y="1442195"/>
            <a:ext cx="8047806" cy="4968552"/>
          </a:xfrm>
        </p:spPr>
        <p:txBody>
          <a:bodyPr/>
          <a:lstStyle/>
          <a:p>
            <a:r>
              <a:rPr lang="zh-CN" altLang="en-US" dirty="0"/>
              <a:t>场景：用户名注册</a:t>
            </a:r>
            <a:endParaRPr lang="en-US" altLang="zh-CN" dirty="0"/>
          </a:p>
          <a:p>
            <a:pPr lvl="1"/>
            <a:r>
              <a:rPr lang="zh-CN" altLang="en-US" dirty="0"/>
              <a:t>只能包含小写字母、数字、下划线，并且限制用户名长度在</a:t>
            </a:r>
            <a:r>
              <a:rPr lang="en-US" altLang="zh-CN" dirty="0"/>
              <a:t>3~15</a:t>
            </a:r>
            <a:r>
              <a:rPr lang="zh-CN" altLang="en-US" dirty="0"/>
              <a:t>个字符之间</a:t>
            </a:r>
            <a:endParaRPr lang="en-US" altLang="zh-CN" dirty="0"/>
          </a:p>
          <a:p>
            <a:pPr marL="457200" lvl="1" indent="0">
              <a:buNone/>
            </a:pPr>
            <a:r>
              <a:rPr lang="en-US" altLang="zh-CN" dirty="0"/>
              <a:t>	</a:t>
            </a:r>
            <a:r>
              <a:rPr lang="zh-CN" altLang="en-US" dirty="0"/>
              <a:t>合法例子： </a:t>
            </a:r>
            <a:r>
              <a:rPr lang="en-US" altLang="zh-CN" dirty="0"/>
              <a:t>john_123</a:t>
            </a:r>
          </a:p>
          <a:p>
            <a:pPr marL="457200" lvl="1" indent="0">
              <a:buNone/>
            </a:pPr>
            <a:r>
              <a:rPr lang="en-US" altLang="zh-CN" dirty="0"/>
              <a:t>	</a:t>
            </a:r>
            <a:r>
              <a:rPr lang="zh-CN" altLang="en-US" dirty="0"/>
              <a:t>非法例子： </a:t>
            </a:r>
            <a:r>
              <a:rPr lang="en-US" altLang="zh-CN" dirty="0"/>
              <a:t>John_123 / jo / @john</a:t>
            </a:r>
          </a:p>
          <a:p>
            <a:pPr lvl="1"/>
            <a:r>
              <a:rPr lang="zh-CN" altLang="en-US" dirty="0"/>
              <a:t>如何处理？</a:t>
            </a:r>
            <a:endParaRPr lang="en-US" altLang="zh-CN" dirty="0"/>
          </a:p>
          <a:p>
            <a:pPr marL="457200" lvl="1" indent="0">
              <a:buNone/>
            </a:pPr>
            <a:endParaRPr lang="en-US" altLang="zh-CN" dirty="0"/>
          </a:p>
          <a:p>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84</a:t>
            </a:fld>
            <a:endParaRPr lang="en-US" altLang="zh-CN"/>
          </a:p>
        </p:txBody>
      </p:sp>
      <p:sp>
        <p:nvSpPr>
          <p:cNvPr id="7" name="文本框 6"/>
          <p:cNvSpPr txBox="1"/>
          <p:nvPr/>
        </p:nvSpPr>
        <p:spPr>
          <a:xfrm>
            <a:off x="1014374" y="3901100"/>
            <a:ext cx="7991290" cy="2585323"/>
          </a:xfrm>
          <a:prstGeom prst="rect">
            <a:avLst/>
          </a:prstGeom>
          <a:noFill/>
        </p:spPr>
        <p:txBody>
          <a:bodyPr wrap="none" rtlCol="0">
            <a:spAutoFit/>
          </a:bodyPr>
          <a:lstStyle/>
          <a:p>
            <a:r>
              <a:rPr lang="en-US" altLang="zh-CN" b="1" dirty="0">
                <a:latin typeface="Consolas" panose="020B0609020204030204" pitchFamily="49" charset="0"/>
              </a:rPr>
              <a:t>bool check(string name){</a:t>
            </a:r>
          </a:p>
          <a:p>
            <a:pPr lvl="1"/>
            <a:r>
              <a:rPr lang="en-US" altLang="zh-CN" b="1" dirty="0">
                <a:latin typeface="Consolas" panose="020B0609020204030204" pitchFamily="49" charset="0"/>
              </a:rPr>
              <a:t>if (</a:t>
            </a:r>
            <a:r>
              <a:rPr lang="en-US" altLang="zh-CN" b="1" dirty="0" err="1">
                <a:latin typeface="Consolas" panose="020B0609020204030204" pitchFamily="49" charset="0"/>
              </a:rPr>
              <a:t>name.length</a:t>
            </a:r>
            <a:r>
              <a:rPr lang="en-US" altLang="zh-CN" b="1" dirty="0">
                <a:latin typeface="Consolas" panose="020B0609020204030204" pitchFamily="49" charset="0"/>
              </a:rPr>
              <a:t>() &lt; 3 || </a:t>
            </a:r>
            <a:r>
              <a:rPr lang="en-US" altLang="zh-CN" b="1" dirty="0" err="1">
                <a:latin typeface="Consolas" panose="020B0609020204030204" pitchFamily="49" charset="0"/>
              </a:rPr>
              <a:t>name.length</a:t>
            </a:r>
            <a:r>
              <a:rPr lang="en-US" altLang="zh-CN" b="1" dirty="0">
                <a:latin typeface="Consolas" panose="020B0609020204030204" pitchFamily="49" charset="0"/>
              </a:rPr>
              <a:t>() &gt; 15) return false;</a:t>
            </a:r>
          </a:p>
          <a:p>
            <a:pPr lvl="1"/>
            <a:r>
              <a:rPr lang="en-US" altLang="zh-CN" b="1" dirty="0">
                <a:latin typeface="Consolas" panose="020B0609020204030204" pitchFamily="49" charset="0"/>
              </a:rPr>
              <a:t>for(char c: name){</a:t>
            </a:r>
          </a:p>
          <a:p>
            <a:pPr lvl="1"/>
            <a:r>
              <a:rPr lang="en-US" altLang="zh-CN" b="1" dirty="0">
                <a:latin typeface="Consolas" panose="020B0609020204030204" pitchFamily="49" charset="0"/>
              </a:rPr>
              <a:t>	if(!((c &gt;= 'a' &amp;&amp; c &lt;= 'z') || </a:t>
            </a:r>
            <a:r>
              <a:rPr lang="en-US" altLang="zh-CN" b="1" dirty="0">
                <a:solidFill>
                  <a:srgbClr val="008000"/>
                </a:solidFill>
                <a:latin typeface="Consolas" panose="020B0609020204030204" pitchFamily="49" charset="0"/>
              </a:rPr>
              <a:t>//</a:t>
            </a:r>
            <a:r>
              <a:rPr lang="zh-CN" altLang="en-US" b="1" dirty="0">
                <a:solidFill>
                  <a:srgbClr val="008000"/>
                </a:solidFill>
                <a:latin typeface="Consolas" panose="020B0609020204030204" pitchFamily="49" charset="0"/>
              </a:rPr>
              <a:t>小写字母</a:t>
            </a:r>
            <a:endParaRPr lang="en-US" altLang="zh-CN" b="1" dirty="0">
              <a:solidFill>
                <a:srgbClr val="008000"/>
              </a:solidFill>
              <a:latin typeface="Consolas" panose="020B0609020204030204" pitchFamily="49" charset="0"/>
            </a:endParaRPr>
          </a:p>
          <a:p>
            <a:pPr lvl="1"/>
            <a:r>
              <a:rPr lang="en-US" altLang="zh-CN" b="1" dirty="0">
                <a:latin typeface="Consolas" panose="020B0609020204030204" pitchFamily="49" charset="0"/>
              </a:rPr>
              <a:t>		(c</a:t>
            </a:r>
            <a:r>
              <a:rPr lang="zh-CN" altLang="en-US" b="1" dirty="0">
                <a:latin typeface="Consolas" panose="020B0609020204030204" pitchFamily="49" charset="0"/>
              </a:rPr>
              <a:t> </a:t>
            </a:r>
            <a:r>
              <a:rPr lang="en-US" altLang="zh-CN" b="1" dirty="0">
                <a:latin typeface="Consolas" panose="020B0609020204030204" pitchFamily="49" charset="0"/>
              </a:rPr>
              <a:t>&gt;= '0' &amp;&amp; c &lt;= '9') ||  </a:t>
            </a:r>
            <a:r>
              <a:rPr lang="en-US" altLang="zh-CN" b="1" dirty="0">
                <a:solidFill>
                  <a:srgbClr val="008000"/>
                </a:solidFill>
                <a:latin typeface="Consolas" panose="020B0609020204030204" pitchFamily="49" charset="0"/>
              </a:rPr>
              <a:t>//</a:t>
            </a:r>
            <a:r>
              <a:rPr lang="zh-CN" altLang="en-US" b="1" dirty="0">
                <a:solidFill>
                  <a:srgbClr val="008000"/>
                </a:solidFill>
                <a:latin typeface="Consolas" panose="020B0609020204030204" pitchFamily="49" charset="0"/>
              </a:rPr>
              <a:t>数字</a:t>
            </a:r>
            <a:endParaRPr lang="en-US" altLang="zh-CN" b="1" dirty="0">
              <a:solidFill>
                <a:srgbClr val="008000"/>
              </a:solidFill>
              <a:latin typeface="Consolas" panose="020B0609020204030204" pitchFamily="49" charset="0"/>
            </a:endParaRPr>
          </a:p>
          <a:p>
            <a:pPr lvl="1"/>
            <a:r>
              <a:rPr lang="en-US" altLang="zh-CN" b="1" dirty="0">
                <a:latin typeface="Consolas" panose="020B0609020204030204" pitchFamily="49" charset="0"/>
              </a:rPr>
              <a:t>		c == '_'))  return false;</a:t>
            </a:r>
          </a:p>
          <a:p>
            <a:pPr lvl="1"/>
            <a:r>
              <a:rPr lang="en-US" altLang="zh-CN" b="1" dirty="0">
                <a:latin typeface="Consolas" panose="020B0609020204030204" pitchFamily="49" charset="0"/>
              </a:rPr>
              <a:t>}</a:t>
            </a:r>
          </a:p>
          <a:p>
            <a:pPr lvl="1"/>
            <a:r>
              <a:rPr lang="en-US" altLang="zh-CN" b="1" dirty="0">
                <a:latin typeface="Consolas" panose="020B0609020204030204" pitchFamily="49" charset="0"/>
              </a:rPr>
              <a:t>return true;</a:t>
            </a:r>
          </a:p>
          <a:p>
            <a:pPr marL="0" lvl="1"/>
            <a:r>
              <a:rPr lang="en-US" altLang="zh-CN" b="1" dirty="0">
                <a:latin typeface="Consolas" panose="020B0609020204030204" pitchFamily="49" charset="0"/>
              </a:rPr>
              <a:t>}</a:t>
            </a:r>
            <a:endParaRPr lang="zh-CN" altLang="en-US" b="1" dirty="0">
              <a:latin typeface="Consolas" panose="020B0609020204030204" pitchFamily="49" charset="0"/>
            </a:endParaRPr>
          </a:p>
        </p:txBody>
      </p:sp>
      <p:sp>
        <p:nvSpPr>
          <p:cNvPr id="9" name="文本框 8"/>
          <p:cNvSpPr txBox="1"/>
          <p:nvPr/>
        </p:nvSpPr>
        <p:spPr>
          <a:xfrm>
            <a:off x="4017530" y="5874779"/>
            <a:ext cx="3416320" cy="523220"/>
          </a:xfrm>
          <a:prstGeom prst="rect">
            <a:avLst/>
          </a:prstGeom>
          <a:noFill/>
        </p:spPr>
        <p:txBody>
          <a:bodyPr wrap="none" rtlCol="0">
            <a:spAutoFit/>
          </a:bodyPr>
          <a:lstStyle/>
          <a:p>
            <a:r>
              <a:rPr lang="zh-CN" altLang="en-US" sz="2800" b="1" dirty="0">
                <a:solidFill>
                  <a:srgbClr val="C00000"/>
                </a:solidFill>
              </a:rPr>
              <a:t>太过复杂，不易修改</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a:t>
            </a:r>
          </a:p>
        </p:txBody>
      </p:sp>
      <p:sp>
        <p:nvSpPr>
          <p:cNvPr id="3" name="内容占位符 2"/>
          <p:cNvSpPr>
            <a:spLocks noGrp="1"/>
          </p:cNvSpPr>
          <p:nvPr>
            <p:ph idx="1"/>
          </p:nvPr>
        </p:nvSpPr>
        <p:spPr>
          <a:xfrm>
            <a:off x="628650" y="1628800"/>
            <a:ext cx="8047806" cy="4968552"/>
          </a:xfrm>
        </p:spPr>
        <p:txBody>
          <a:bodyPr/>
          <a:lstStyle/>
          <a:p>
            <a:r>
              <a:rPr lang="zh-CN" altLang="en-US" dirty="0"/>
              <a:t>正则表达式：由字母和符号组成的特殊文本，搜索文本时定义的一种规则</a:t>
            </a:r>
            <a:endParaRPr lang="en-US" altLang="zh-CN" dirty="0"/>
          </a:p>
          <a:p>
            <a:r>
              <a:rPr lang="zh-CN" altLang="en-US" dirty="0"/>
              <a:t>场景：用户名注册</a:t>
            </a:r>
            <a:endParaRPr lang="en-US" altLang="zh-CN" dirty="0"/>
          </a:p>
          <a:p>
            <a:pPr lvl="1"/>
            <a:r>
              <a:rPr lang="zh-CN" altLang="en-US" dirty="0"/>
              <a:t>只能包含小写字母、数字、下划线和连字符，并且限制用户名长度在</a:t>
            </a:r>
            <a:r>
              <a:rPr lang="en-US" altLang="zh-CN" dirty="0"/>
              <a:t>3~15</a:t>
            </a:r>
            <a:r>
              <a:rPr lang="zh-CN" altLang="en-US" dirty="0"/>
              <a:t>个字符之间</a:t>
            </a:r>
            <a:endParaRPr lang="en-US" altLang="zh-CN" dirty="0"/>
          </a:p>
          <a:p>
            <a:pPr lvl="1"/>
            <a:r>
              <a:rPr lang="zh-CN" altLang="en-US" dirty="0"/>
              <a:t>使用正则表达式表示规则</a:t>
            </a:r>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85</a:t>
            </a:fld>
            <a:endParaRPr lang="en-US" altLang="zh-CN"/>
          </a:p>
        </p:txBody>
      </p:sp>
      <p:grpSp>
        <p:nvGrpSpPr>
          <p:cNvPr id="26" name="组合 25"/>
          <p:cNvGrpSpPr/>
          <p:nvPr/>
        </p:nvGrpSpPr>
        <p:grpSpPr>
          <a:xfrm>
            <a:off x="2060759" y="4231389"/>
            <a:ext cx="4124206" cy="2307897"/>
            <a:chOff x="1691680" y="4270163"/>
            <a:chExt cx="4124206" cy="2307897"/>
          </a:xfrm>
        </p:grpSpPr>
        <p:sp>
          <p:nvSpPr>
            <p:cNvPr id="5" name="文本框 4"/>
            <p:cNvSpPr txBox="1"/>
            <p:nvPr/>
          </p:nvSpPr>
          <p:spPr>
            <a:xfrm>
              <a:off x="2689617" y="5100219"/>
              <a:ext cx="2755883" cy="523220"/>
            </a:xfrm>
            <a:prstGeom prst="rect">
              <a:avLst/>
            </a:prstGeom>
            <a:noFill/>
          </p:spPr>
          <p:txBody>
            <a:bodyPr wrap="none" rtlCol="0">
              <a:spAutoFit/>
            </a:bodyPr>
            <a:lstStyle/>
            <a:p>
              <a:r>
                <a:rPr kumimoji="1" lang="en-US" altLang="zh-CN" sz="2800" b="1" dirty="0"/>
                <a:t>^[a-z0-9_]{3,15}$</a:t>
              </a:r>
              <a:endParaRPr kumimoji="1" lang="zh-CN" altLang="en-US" sz="2800" b="1" dirty="0"/>
            </a:p>
          </p:txBody>
        </p:sp>
        <p:sp>
          <p:nvSpPr>
            <p:cNvPr id="6" name="文本框 5"/>
            <p:cNvSpPr txBox="1"/>
            <p:nvPr/>
          </p:nvSpPr>
          <p:spPr>
            <a:xfrm>
              <a:off x="2267744" y="4270163"/>
              <a:ext cx="1210588" cy="400110"/>
            </a:xfrm>
            <a:prstGeom prst="rect">
              <a:avLst/>
            </a:prstGeom>
            <a:noFill/>
          </p:spPr>
          <p:txBody>
            <a:bodyPr wrap="none" rtlCol="0">
              <a:spAutoFit/>
            </a:bodyPr>
            <a:lstStyle/>
            <a:p>
              <a:r>
                <a:rPr kumimoji="1" lang="zh-CN" altLang="en-US" sz="2000" b="1" dirty="0"/>
                <a:t>开始标记</a:t>
              </a:r>
            </a:p>
          </p:txBody>
        </p:sp>
        <p:sp>
          <p:nvSpPr>
            <p:cNvPr id="13" name="文本框 12"/>
            <p:cNvSpPr txBox="1"/>
            <p:nvPr/>
          </p:nvSpPr>
          <p:spPr>
            <a:xfrm>
              <a:off x="1691680" y="6177950"/>
              <a:ext cx="3518912" cy="400110"/>
            </a:xfrm>
            <a:prstGeom prst="rect">
              <a:avLst/>
            </a:prstGeom>
            <a:noFill/>
          </p:spPr>
          <p:txBody>
            <a:bodyPr wrap="none" rtlCol="0">
              <a:spAutoFit/>
            </a:bodyPr>
            <a:lstStyle/>
            <a:p>
              <a:r>
                <a:rPr kumimoji="1" lang="zh-CN" altLang="en-US" sz="2000" b="1" dirty="0"/>
                <a:t>字母、数字、下划线、连字符</a:t>
              </a:r>
            </a:p>
          </p:txBody>
        </p:sp>
        <p:sp>
          <p:nvSpPr>
            <p:cNvPr id="14" name="文本框 13"/>
            <p:cNvSpPr txBox="1"/>
            <p:nvPr/>
          </p:nvSpPr>
          <p:spPr>
            <a:xfrm>
              <a:off x="3660133" y="4399144"/>
              <a:ext cx="1984839" cy="400110"/>
            </a:xfrm>
            <a:prstGeom prst="rect">
              <a:avLst/>
            </a:prstGeom>
            <a:noFill/>
          </p:spPr>
          <p:txBody>
            <a:bodyPr wrap="none" rtlCol="0">
              <a:spAutoFit/>
            </a:bodyPr>
            <a:lstStyle/>
            <a:p>
              <a:r>
                <a:rPr kumimoji="1" lang="en-US" altLang="zh-CN" sz="2000" b="1" dirty="0"/>
                <a:t>3~15</a:t>
              </a:r>
              <a:r>
                <a:rPr kumimoji="1" lang="zh-CN" altLang="en-US" sz="2000" b="1" dirty="0"/>
                <a:t>个字符长度</a:t>
              </a:r>
            </a:p>
          </p:txBody>
        </p:sp>
        <p:sp>
          <p:nvSpPr>
            <p:cNvPr id="17" name="文本框 16"/>
            <p:cNvSpPr txBox="1"/>
            <p:nvPr/>
          </p:nvSpPr>
          <p:spPr>
            <a:xfrm>
              <a:off x="4605298" y="5774813"/>
              <a:ext cx="1210588" cy="400110"/>
            </a:xfrm>
            <a:prstGeom prst="rect">
              <a:avLst/>
            </a:prstGeom>
            <a:noFill/>
          </p:spPr>
          <p:txBody>
            <a:bodyPr wrap="none" rtlCol="0">
              <a:spAutoFit/>
            </a:bodyPr>
            <a:lstStyle/>
            <a:p>
              <a:r>
                <a:rPr kumimoji="1" lang="zh-CN" altLang="en-US" sz="2000" b="1" dirty="0"/>
                <a:t>结束标记</a:t>
              </a:r>
            </a:p>
          </p:txBody>
        </p:sp>
        <p:cxnSp>
          <p:nvCxnSpPr>
            <p:cNvPr id="8" name="直线箭头连接符 7"/>
            <p:cNvCxnSpPr>
              <a:stCxn id="6" idx="2"/>
            </p:cNvCxnSpPr>
            <p:nvPr/>
          </p:nvCxnSpPr>
          <p:spPr>
            <a:xfrm>
              <a:off x="2873038" y="4670273"/>
              <a:ext cx="0" cy="342903"/>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8" name="直线箭头连接符 17"/>
            <p:cNvCxnSpPr>
              <a:stCxn id="14" idx="2"/>
            </p:cNvCxnSpPr>
            <p:nvPr/>
          </p:nvCxnSpPr>
          <p:spPr>
            <a:xfrm>
              <a:off x="4652553" y="4799254"/>
              <a:ext cx="0" cy="30096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直线箭头连接符 19"/>
            <p:cNvCxnSpPr>
              <a:stCxn id="13" idx="0"/>
            </p:cNvCxnSpPr>
            <p:nvPr/>
          </p:nvCxnSpPr>
          <p:spPr>
            <a:xfrm flipV="1">
              <a:off x="3451136" y="5710482"/>
              <a:ext cx="0" cy="467468"/>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直线箭头连接符 22"/>
            <p:cNvCxnSpPr>
              <a:stCxn id="17" idx="0"/>
            </p:cNvCxnSpPr>
            <p:nvPr/>
          </p:nvCxnSpPr>
          <p:spPr>
            <a:xfrm flipV="1">
              <a:off x="5210592" y="5569473"/>
              <a:ext cx="0" cy="205340"/>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a:t>
            </a:r>
          </a:p>
        </p:txBody>
      </p:sp>
      <p:sp>
        <p:nvSpPr>
          <p:cNvPr id="3" name="内容占位符 2"/>
          <p:cNvSpPr>
            <a:spLocks noGrp="1"/>
          </p:cNvSpPr>
          <p:nvPr>
            <p:ph idx="1"/>
          </p:nvPr>
        </p:nvSpPr>
        <p:spPr>
          <a:xfrm>
            <a:off x="548096" y="1442611"/>
            <a:ext cx="8047806" cy="4749029"/>
          </a:xfrm>
        </p:spPr>
        <p:txBody>
          <a:bodyPr/>
          <a:lstStyle/>
          <a:p>
            <a:r>
              <a:rPr lang="zh-CN" altLang="en-US" dirty="0"/>
              <a:t>正则表达式的三种模式</a:t>
            </a:r>
            <a:endParaRPr lang="en-US" altLang="zh-CN" dirty="0"/>
          </a:p>
          <a:p>
            <a:pPr lvl="1"/>
            <a:r>
              <a:rPr lang="zh-CN" altLang="en-US" dirty="0"/>
              <a:t>匹配：判断整个字符串是否满足条件</a:t>
            </a:r>
            <a:endParaRPr lang="en-US" altLang="zh-CN" dirty="0"/>
          </a:p>
          <a:p>
            <a:pPr marL="457200" lvl="1" indent="0">
              <a:buNone/>
            </a:pPr>
            <a:r>
              <a:rPr lang="en-US" altLang="zh-CN" dirty="0"/>
              <a:t>	</a:t>
            </a:r>
            <a:r>
              <a:rPr lang="en-US" altLang="zh-CN" sz="2000" dirty="0"/>
              <a:t>	</a:t>
            </a:r>
            <a:r>
              <a:rPr lang="en-US" altLang="zh-CN" sz="2000" b="1" dirty="0"/>
              <a:t>^[a-z0-9_]{3,15}$</a:t>
            </a:r>
          </a:p>
          <a:p>
            <a:pPr marL="457200" lvl="1" indent="0">
              <a:buNone/>
            </a:pPr>
            <a:r>
              <a:rPr lang="en-US" altLang="zh-CN" sz="2000" dirty="0"/>
              <a:t>	</a:t>
            </a:r>
            <a:r>
              <a:rPr lang="zh-CN" altLang="en-US" sz="2000" dirty="0"/>
              <a:t>能与</a:t>
            </a:r>
            <a:r>
              <a:rPr lang="en-US" altLang="zh-CN" sz="2000" dirty="0"/>
              <a:t>john_123</a:t>
            </a:r>
            <a:r>
              <a:rPr lang="zh-CN" altLang="en-US" sz="2000" dirty="0"/>
              <a:t>匹配，不能与</a:t>
            </a:r>
            <a:r>
              <a:rPr lang="en-US" altLang="zh-CN" sz="2000" dirty="0"/>
              <a:t>Jo</a:t>
            </a:r>
            <a:r>
              <a:rPr lang="zh-CN" altLang="en-US" sz="2000" dirty="0"/>
              <a:t>匹配</a:t>
            </a:r>
            <a:endParaRPr lang="en-US" altLang="zh-CN" sz="2000" dirty="0"/>
          </a:p>
          <a:p>
            <a:pPr lvl="1"/>
            <a:endParaRPr lang="en-US" altLang="zh-CN" sz="1100" dirty="0"/>
          </a:p>
          <a:p>
            <a:pPr lvl="1"/>
            <a:r>
              <a:rPr lang="zh-CN" altLang="en-US" dirty="0"/>
              <a:t>搜索：符合正则表达式的子串</a:t>
            </a:r>
            <a:endParaRPr lang="en-US" altLang="zh-CN" dirty="0"/>
          </a:p>
          <a:p>
            <a:pPr marL="457200" lvl="1" indent="0">
              <a:buNone/>
            </a:pPr>
            <a:r>
              <a:rPr lang="en-US" altLang="zh-CN" dirty="0"/>
              <a:t>	</a:t>
            </a:r>
            <a:r>
              <a:rPr lang="zh-CN" altLang="en-US" sz="2000" dirty="0"/>
              <a:t>在</a:t>
            </a:r>
            <a:r>
              <a:rPr lang="en-US" altLang="zh-CN" sz="2000" dirty="0"/>
              <a:t>"q123e456w"</a:t>
            </a:r>
            <a:r>
              <a:rPr lang="zh-CN" altLang="en-US" sz="2000" dirty="0"/>
              <a:t>找出所有数字串 </a:t>
            </a:r>
            <a:r>
              <a:rPr lang="en-US" altLang="zh-CN" sz="2000" b="1" dirty="0"/>
              <a:t>[0-9]+</a:t>
            </a:r>
          </a:p>
          <a:p>
            <a:pPr marL="457200" lvl="1" indent="0">
              <a:buNone/>
            </a:pPr>
            <a:r>
              <a:rPr lang="en-US" altLang="zh-CN" sz="2000" dirty="0"/>
              <a:t>	</a:t>
            </a:r>
            <a:r>
              <a:rPr lang="zh-CN" altLang="en-US" sz="2000" dirty="0"/>
              <a:t>搜索结果 </a:t>
            </a:r>
            <a:r>
              <a:rPr lang="en-US" altLang="zh-CN" sz="2000" dirty="0"/>
              <a:t>123,</a:t>
            </a:r>
            <a:r>
              <a:rPr lang="zh-CN" altLang="en-US" sz="2000" dirty="0"/>
              <a:t> </a:t>
            </a:r>
            <a:r>
              <a:rPr lang="en-US" altLang="zh-CN" sz="2000" dirty="0"/>
              <a:t>456</a:t>
            </a:r>
          </a:p>
          <a:p>
            <a:pPr marL="457200" lvl="1" indent="0">
              <a:buNone/>
            </a:pPr>
            <a:endParaRPr lang="en-US" altLang="zh-CN" sz="1050" dirty="0"/>
          </a:p>
          <a:p>
            <a:pPr lvl="1"/>
            <a:r>
              <a:rPr lang="zh-CN" altLang="en-US" dirty="0"/>
              <a:t>替换：按规则替换字符串的子串</a:t>
            </a:r>
            <a:endParaRPr lang="en-US" altLang="zh-CN" dirty="0"/>
          </a:p>
          <a:p>
            <a:pPr marL="457200" lvl="1" indent="0">
              <a:buNone/>
            </a:pPr>
            <a:r>
              <a:rPr lang="en-US" altLang="zh-CN" sz="2000" dirty="0"/>
              <a:t>	</a:t>
            </a:r>
            <a:r>
              <a:rPr lang="zh-CN" altLang="en-US" sz="2000" dirty="0"/>
              <a:t>给定</a:t>
            </a:r>
            <a:r>
              <a:rPr lang="en-US" altLang="zh-CN" sz="2000" dirty="0"/>
              <a:t>"q123e456w"</a:t>
            </a:r>
            <a:r>
              <a:rPr lang="zh-CN" altLang="en-US" sz="2000" dirty="0"/>
              <a:t>将所有数字串替换为</a:t>
            </a:r>
            <a:r>
              <a:rPr lang="en-US" altLang="zh-CN" sz="2000" dirty="0"/>
              <a:t>(number)</a:t>
            </a:r>
          </a:p>
          <a:p>
            <a:pPr marL="457200" lvl="1" indent="0">
              <a:buNone/>
            </a:pPr>
            <a:r>
              <a:rPr lang="en-US" altLang="zh-CN" sz="2000" dirty="0"/>
              <a:t>	</a:t>
            </a:r>
            <a:r>
              <a:rPr lang="zh-CN" altLang="en-US" sz="2000" dirty="0"/>
              <a:t>替换结果 </a:t>
            </a:r>
            <a:r>
              <a:rPr lang="en-US" altLang="zh-CN" sz="2000" dirty="0"/>
              <a:t>q(123)e(456)w</a:t>
            </a:r>
          </a:p>
          <a:p>
            <a:endParaRPr lang="en-US" altLang="zh-CN" dirty="0"/>
          </a:p>
          <a:p>
            <a:endParaRPr lang="en-US" altLang="zh-CN" dirty="0"/>
          </a:p>
          <a:p>
            <a:pPr lvl="1"/>
            <a:endParaRPr lang="en-US" altLang="zh-CN" dirty="0"/>
          </a:p>
        </p:txBody>
      </p:sp>
      <p:sp>
        <p:nvSpPr>
          <p:cNvPr id="10" name="文本框 9"/>
          <p:cNvSpPr txBox="1"/>
          <p:nvPr/>
        </p:nvSpPr>
        <p:spPr>
          <a:xfrm>
            <a:off x="2684303" y="6007691"/>
            <a:ext cx="3775393" cy="523220"/>
          </a:xfrm>
          <a:prstGeom prst="rect">
            <a:avLst/>
          </a:prstGeom>
          <a:noFill/>
        </p:spPr>
        <p:txBody>
          <a:bodyPr wrap="none" rtlCol="0">
            <a:spAutoFit/>
          </a:bodyPr>
          <a:lstStyle/>
          <a:p>
            <a:r>
              <a:rPr lang="zh-CN" altLang="en-US" sz="2800" b="1" dirty="0">
                <a:solidFill>
                  <a:srgbClr val="C00000"/>
                </a:solidFill>
              </a:rPr>
              <a:t>如何编写正则表达式？</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字符簇</a:t>
            </a:r>
            <a:endParaRPr lang="en-US" altLang="zh-CN" dirty="0"/>
          </a:p>
        </p:txBody>
      </p:sp>
      <p:sp>
        <p:nvSpPr>
          <p:cNvPr id="3" name="内容占位符 2"/>
          <p:cNvSpPr>
            <a:spLocks noGrp="1"/>
          </p:cNvSpPr>
          <p:nvPr>
            <p:ph idx="1"/>
          </p:nvPr>
        </p:nvSpPr>
        <p:spPr>
          <a:xfrm>
            <a:off x="548097" y="1443897"/>
            <a:ext cx="8047806" cy="4968552"/>
          </a:xfrm>
        </p:spPr>
        <p:txBody>
          <a:bodyPr/>
          <a:lstStyle/>
          <a:p>
            <a:r>
              <a:rPr lang="zh-CN" altLang="en-US" dirty="0"/>
              <a:t>字符代表其本身</a:t>
            </a:r>
            <a:endParaRPr lang="en-US" altLang="zh-CN" dirty="0"/>
          </a:p>
          <a:p>
            <a:pPr lvl="1"/>
            <a:r>
              <a:rPr lang="zh-CN" altLang="en-US" dirty="0"/>
              <a:t>如：使用</a:t>
            </a:r>
            <a:r>
              <a:rPr lang="en-US" altLang="zh-CN" dirty="0"/>
              <a:t>the</a:t>
            </a:r>
            <a:r>
              <a:rPr lang="zh-CN" altLang="en-US" dirty="0"/>
              <a:t>进行搜索，可以找到句中所有的</a:t>
            </a:r>
            <a:r>
              <a:rPr lang="en-US" altLang="zh-CN" dirty="0"/>
              <a:t>"the"</a:t>
            </a:r>
          </a:p>
          <a:p>
            <a:pPr marL="457200" lvl="1" indent="0">
              <a:buNone/>
            </a:pPr>
            <a:r>
              <a:rPr lang="en-GB" altLang="zh-CN" dirty="0"/>
              <a:t>	The car</a:t>
            </a:r>
            <a:r>
              <a:rPr lang="zh-CN" altLang="en-US" dirty="0"/>
              <a:t> </a:t>
            </a:r>
            <a:r>
              <a:rPr lang="en-US" altLang="zh-CN" dirty="0"/>
              <a:t>parked</a:t>
            </a:r>
            <a:r>
              <a:rPr lang="zh-CN" altLang="en-US" dirty="0"/>
              <a:t> </a:t>
            </a:r>
            <a:r>
              <a:rPr lang="en-US" altLang="zh-CN" dirty="0"/>
              <a:t>in</a:t>
            </a:r>
            <a:r>
              <a:rPr lang="zh-CN" altLang="en-US" dirty="0"/>
              <a:t> </a:t>
            </a:r>
            <a:r>
              <a:rPr lang="en-US" altLang="zh-CN" b="1" dirty="0">
                <a:solidFill>
                  <a:srgbClr val="0070C0"/>
                </a:solidFill>
              </a:rPr>
              <a:t>the</a:t>
            </a:r>
            <a:r>
              <a:rPr lang="zh-CN" altLang="en-US" dirty="0"/>
              <a:t> </a:t>
            </a:r>
            <a:r>
              <a:rPr lang="en-US" altLang="zh-CN" dirty="0"/>
              <a:t>garage.</a:t>
            </a:r>
          </a:p>
          <a:p>
            <a:endParaRPr lang="en-US" altLang="zh-CN" dirty="0"/>
          </a:p>
          <a:p>
            <a:r>
              <a:rPr lang="zh-CN" altLang="en-US" dirty="0"/>
              <a:t>匹配的单个字符在某个范围中</a:t>
            </a:r>
            <a:endParaRPr lang="en-US" altLang="zh-CN" dirty="0"/>
          </a:p>
          <a:p>
            <a:pPr lvl="1"/>
            <a:r>
              <a:rPr lang="en-US" altLang="zh-CN" dirty="0"/>
              <a:t>[a-z] </a:t>
            </a:r>
            <a:r>
              <a:rPr lang="zh-CN" altLang="en-US" dirty="0"/>
              <a:t>匹配所有</a:t>
            </a:r>
            <a:r>
              <a:rPr lang="zh-CN" altLang="en-US" dirty="0">
                <a:solidFill>
                  <a:srgbClr val="FF0000"/>
                </a:solidFill>
              </a:rPr>
              <a:t>单个</a:t>
            </a:r>
            <a:r>
              <a:rPr lang="zh-CN" altLang="en-US" dirty="0"/>
              <a:t>小写字母</a:t>
            </a:r>
            <a:endParaRPr lang="en-US" altLang="zh-CN" dirty="0"/>
          </a:p>
          <a:p>
            <a:pPr lvl="1"/>
            <a:r>
              <a:rPr lang="en-US" altLang="zh-CN" dirty="0"/>
              <a:t>[0-9] </a:t>
            </a:r>
            <a:r>
              <a:rPr lang="zh-CN" altLang="en-US" dirty="0"/>
              <a:t>匹配所有</a:t>
            </a:r>
            <a:r>
              <a:rPr lang="zh-CN" altLang="en-US" dirty="0">
                <a:solidFill>
                  <a:srgbClr val="FF0000"/>
                </a:solidFill>
              </a:rPr>
              <a:t>单个</a:t>
            </a:r>
            <a:r>
              <a:rPr lang="zh-CN" altLang="en-US" dirty="0"/>
              <a:t>数字</a:t>
            </a:r>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87</a:t>
            </a:fld>
            <a:endParaRPr lang="en-US" altLang="zh-CN"/>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字符簇</a:t>
            </a:r>
          </a:p>
        </p:txBody>
      </p:sp>
      <p:sp>
        <p:nvSpPr>
          <p:cNvPr id="3" name="内容占位符 2"/>
          <p:cNvSpPr>
            <a:spLocks noGrp="1"/>
          </p:cNvSpPr>
          <p:nvPr>
            <p:ph idx="1"/>
          </p:nvPr>
        </p:nvSpPr>
        <p:spPr>
          <a:xfrm>
            <a:off x="383493" y="1442195"/>
            <a:ext cx="8377014" cy="4968552"/>
          </a:xfrm>
        </p:spPr>
        <p:txBody>
          <a:bodyPr/>
          <a:lstStyle/>
          <a:p>
            <a:r>
              <a:rPr lang="zh-CN" altLang="en-US" dirty="0"/>
              <a:t>连用</a:t>
            </a:r>
            <a:endParaRPr lang="en-US" altLang="zh-CN" dirty="0"/>
          </a:p>
          <a:p>
            <a:pPr lvl="1"/>
            <a:r>
              <a:rPr lang="en-US" altLang="zh-CN" dirty="0"/>
              <a:t>[a-z][0-9] </a:t>
            </a:r>
            <a:r>
              <a:rPr lang="zh-CN" altLang="en-US" dirty="0"/>
              <a:t>匹配所有字母</a:t>
            </a:r>
            <a:r>
              <a:rPr lang="en-US" altLang="zh-CN" dirty="0"/>
              <a:t>+</a:t>
            </a:r>
            <a:r>
              <a:rPr lang="zh-CN" altLang="en-US" dirty="0"/>
              <a:t>数字的组合，比如</a:t>
            </a:r>
            <a:r>
              <a:rPr lang="en-US" altLang="zh-CN" dirty="0"/>
              <a:t>a1</a:t>
            </a:r>
            <a:r>
              <a:rPr lang="zh-CN" altLang="en-US" dirty="0"/>
              <a:t>、</a:t>
            </a:r>
            <a:r>
              <a:rPr lang="en-US" altLang="zh-CN" dirty="0"/>
              <a:t>b9</a:t>
            </a:r>
          </a:p>
          <a:p>
            <a:pPr lvl="1"/>
            <a:r>
              <a:rPr lang="en-US" altLang="zh-CN" dirty="0"/>
              <a:t>[Tt]he:</a:t>
            </a:r>
            <a:r>
              <a:rPr lang="zh-CN" altLang="en-US" dirty="0"/>
              <a:t> </a:t>
            </a:r>
            <a:r>
              <a:rPr lang="en-GB" altLang="zh-CN" b="1" dirty="0">
                <a:solidFill>
                  <a:srgbClr val="0070C0"/>
                </a:solidFill>
              </a:rPr>
              <a:t>The</a:t>
            </a:r>
            <a:r>
              <a:rPr lang="en-GB" altLang="zh-CN" dirty="0"/>
              <a:t> car</a:t>
            </a:r>
            <a:r>
              <a:rPr lang="zh-CN" altLang="en-US" dirty="0"/>
              <a:t> </a:t>
            </a:r>
            <a:r>
              <a:rPr lang="en-US" altLang="zh-CN" dirty="0"/>
              <a:t>parked</a:t>
            </a:r>
            <a:r>
              <a:rPr lang="zh-CN" altLang="en-US" dirty="0"/>
              <a:t> </a:t>
            </a:r>
            <a:r>
              <a:rPr lang="en-US" altLang="zh-CN" dirty="0"/>
              <a:t>in</a:t>
            </a:r>
            <a:r>
              <a:rPr lang="zh-CN" altLang="en-US" dirty="0"/>
              <a:t> </a:t>
            </a:r>
            <a:r>
              <a:rPr lang="en-US" altLang="zh-CN" b="1" dirty="0">
                <a:solidFill>
                  <a:srgbClr val="0070C0"/>
                </a:solidFill>
              </a:rPr>
              <a:t>the</a:t>
            </a:r>
            <a:r>
              <a:rPr lang="zh-CN" altLang="en-US" dirty="0"/>
              <a:t> </a:t>
            </a:r>
            <a:r>
              <a:rPr lang="en-US" altLang="zh-CN" dirty="0"/>
              <a:t>garage.</a:t>
            </a:r>
          </a:p>
          <a:p>
            <a:endParaRPr lang="en-US" altLang="zh-CN" dirty="0"/>
          </a:p>
          <a:p>
            <a:r>
              <a:rPr lang="zh-CN" altLang="en-US" dirty="0"/>
              <a:t>特殊字符</a:t>
            </a:r>
            <a:endParaRPr lang="en-US" altLang="zh-CN" dirty="0"/>
          </a:p>
          <a:p>
            <a:pPr lvl="1"/>
            <a:r>
              <a:rPr lang="en-US" altLang="zh-CN" dirty="0"/>
              <a:t>\S 匹配所有非空白字符</a:t>
            </a:r>
          </a:p>
          <a:p>
            <a:pPr lvl="1"/>
            <a:r>
              <a:rPr lang="en-US" altLang="zh-CN" dirty="0"/>
              <a:t>\d </a:t>
            </a:r>
            <a:r>
              <a:rPr lang="zh-CN" altLang="en-US" dirty="0"/>
              <a:t>等价</a:t>
            </a:r>
            <a:r>
              <a:rPr lang="en-US" altLang="zh-CN" dirty="0"/>
              <a:t>[0-9]</a:t>
            </a:r>
            <a:r>
              <a:rPr lang="zh-CN" altLang="en-US" dirty="0"/>
              <a:t>，匹配所有单个数字</a:t>
            </a:r>
            <a:endParaRPr lang="en-GB" altLang="zh-CN" dirty="0"/>
          </a:p>
          <a:p>
            <a:pPr lvl="1"/>
            <a:r>
              <a:rPr lang="en-US" altLang="zh-CN" dirty="0"/>
              <a:t>\w </a:t>
            </a:r>
            <a:r>
              <a:rPr lang="zh-CN" altLang="en-US" dirty="0"/>
              <a:t>匹配字母、数字、下划线，等价</a:t>
            </a:r>
            <a:r>
              <a:rPr lang="en-US" altLang="zh-CN" dirty="0"/>
              <a:t>[a-zA-Z0-9_]</a:t>
            </a:r>
          </a:p>
          <a:p>
            <a:pPr lvl="1"/>
            <a:r>
              <a:rPr lang="en-US" altLang="zh-CN" dirty="0"/>
              <a:t>.</a:t>
            </a:r>
            <a:r>
              <a:rPr lang="zh-CN" altLang="en-US" dirty="0"/>
              <a:t>匹配除换行以外任意字符</a:t>
            </a:r>
            <a:endParaRPr lang="en-US" altLang="zh-CN" dirty="0"/>
          </a:p>
          <a:p>
            <a:pPr lvl="2"/>
            <a:r>
              <a:rPr lang="en-US" altLang="zh-CN" dirty="0"/>
              <a:t>.</a:t>
            </a:r>
            <a:r>
              <a:rPr lang="en-US" altLang="zh-CN" dirty="0" err="1"/>
              <a:t>ar</a:t>
            </a:r>
            <a:r>
              <a:rPr lang="en-US" altLang="zh-CN" dirty="0"/>
              <a:t>:</a:t>
            </a:r>
            <a:r>
              <a:rPr lang="zh-CN" altLang="en-US" dirty="0"/>
              <a:t> </a:t>
            </a:r>
            <a:r>
              <a:rPr lang="en-US" altLang="zh-CN" dirty="0"/>
              <a:t>The </a:t>
            </a:r>
            <a:r>
              <a:rPr lang="en-US" altLang="zh-CN" b="1" dirty="0">
                <a:solidFill>
                  <a:srgbClr val="0070C0"/>
                </a:solidFill>
              </a:rPr>
              <a:t>car</a:t>
            </a:r>
            <a:r>
              <a:rPr lang="en-US" altLang="zh-CN" dirty="0"/>
              <a:t> </a:t>
            </a:r>
            <a:r>
              <a:rPr lang="en-US" altLang="zh-CN" b="1" dirty="0">
                <a:solidFill>
                  <a:srgbClr val="0070C0"/>
                </a:solidFill>
              </a:rPr>
              <a:t>par</a:t>
            </a:r>
            <a:r>
              <a:rPr lang="en-US" altLang="zh-CN" dirty="0"/>
              <a:t>ked in the </a:t>
            </a:r>
            <a:r>
              <a:rPr lang="en-US" altLang="zh-CN" b="1" dirty="0">
                <a:solidFill>
                  <a:srgbClr val="0070C0"/>
                </a:solidFill>
              </a:rPr>
              <a:t>gar</a:t>
            </a:r>
            <a:r>
              <a:rPr lang="en-US" altLang="zh-CN" dirty="0"/>
              <a:t>age.</a:t>
            </a:r>
          </a:p>
          <a:p>
            <a:pPr lvl="1"/>
            <a:r>
              <a:rPr lang="en-US" altLang="zh-CN" dirty="0"/>
              <a:t>\.</a:t>
            </a:r>
            <a:r>
              <a:rPr lang="zh-CN" altLang="en-US" dirty="0"/>
              <a:t>可表示匹配句号</a:t>
            </a:r>
            <a:endParaRPr lang="en-US" altLang="zh-CN" dirty="0"/>
          </a:p>
          <a:p>
            <a:pPr lvl="2"/>
            <a:r>
              <a:rPr lang="en-US" altLang="zh-CN" dirty="0" err="1"/>
              <a:t>ge</a:t>
            </a:r>
            <a:r>
              <a:rPr lang="en-US" altLang="zh-CN" dirty="0"/>
              <a:t>\.:</a:t>
            </a:r>
            <a:r>
              <a:rPr lang="zh-CN" altLang="en-US" dirty="0"/>
              <a:t> </a:t>
            </a:r>
            <a:r>
              <a:rPr lang="en-US" altLang="zh-CN" dirty="0"/>
              <a:t>The car parked in the gara</a:t>
            </a:r>
            <a:r>
              <a:rPr lang="en-US" altLang="zh-CN" b="1" dirty="0">
                <a:solidFill>
                  <a:srgbClr val="0070C0"/>
                </a:solidFill>
              </a:rPr>
              <a:t>ge.</a:t>
            </a:r>
          </a:p>
          <a:p>
            <a:pPr marL="685800" lvl="1" indent="-228600">
              <a:buFont typeface="Arial" panose="020B0604020202020204" pitchFamily="34" charset="0"/>
              <a:buChar char="•"/>
            </a:pPr>
            <a:endParaRPr lang="en-US" altLang="zh-CN" dirty="0">
              <a:solidFill>
                <a:srgbClr val="0070C0"/>
              </a:solidFill>
            </a:endParaRPr>
          </a:p>
          <a:p>
            <a:pPr marL="457200" lvl="1" indent="0">
              <a:buNone/>
            </a:pPr>
            <a:r>
              <a:rPr lang="en-US" altLang="zh-CN" dirty="0"/>
              <a:t>	</a:t>
            </a:r>
          </a:p>
          <a:p>
            <a:pPr lvl="1"/>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88</a:t>
            </a:fld>
            <a:endParaRPr lang="en-US" altLang="zh-CN"/>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重复模式</a:t>
            </a:r>
          </a:p>
        </p:txBody>
      </p:sp>
      <p:sp>
        <p:nvSpPr>
          <p:cNvPr id="3" name="内容占位符 2"/>
          <p:cNvSpPr>
            <a:spLocks noGrp="1"/>
          </p:cNvSpPr>
          <p:nvPr>
            <p:ph idx="1"/>
          </p:nvPr>
        </p:nvSpPr>
        <p:spPr>
          <a:xfrm>
            <a:off x="633880" y="1639881"/>
            <a:ext cx="8510120" cy="4968552"/>
          </a:xfrm>
        </p:spPr>
        <p:txBody>
          <a:bodyPr/>
          <a:lstStyle/>
          <a:p>
            <a:r>
              <a:rPr lang="en-US" altLang="zh-CN" dirty="0"/>
              <a:t>x{</a:t>
            </a:r>
            <a:r>
              <a:rPr lang="en-US" altLang="zh-CN" dirty="0" err="1"/>
              <a:t>n,m</a:t>
            </a:r>
            <a:r>
              <a:rPr lang="en-US" altLang="zh-CN" dirty="0"/>
              <a:t>}</a:t>
            </a:r>
            <a:r>
              <a:rPr lang="zh-CN" altLang="en-US" dirty="0"/>
              <a:t>代表前面内容出现次数重复</a:t>
            </a:r>
            <a:r>
              <a:rPr lang="en-US" altLang="zh-CN" dirty="0" err="1"/>
              <a:t>n~m</a:t>
            </a:r>
            <a:r>
              <a:rPr lang="zh-CN" altLang="en-US" dirty="0"/>
              <a:t>次</a:t>
            </a:r>
            <a:endParaRPr lang="en-US" altLang="zh-CN" dirty="0"/>
          </a:p>
          <a:p>
            <a:pPr lvl="1"/>
            <a:r>
              <a:rPr lang="en-US" altLang="zh-CN" dirty="0"/>
              <a:t>a{4} </a:t>
            </a:r>
            <a:r>
              <a:rPr lang="zh-CN" altLang="en-US" dirty="0"/>
              <a:t>匹配</a:t>
            </a:r>
            <a:r>
              <a:rPr lang="en-US" altLang="zh-CN" dirty="0" err="1"/>
              <a:t>aaaa</a:t>
            </a:r>
            <a:endParaRPr lang="en-US" altLang="zh-CN" dirty="0"/>
          </a:p>
          <a:p>
            <a:pPr lvl="1"/>
            <a:r>
              <a:rPr lang="en-US" altLang="zh-CN" dirty="0"/>
              <a:t>a{2,4} </a:t>
            </a:r>
            <a:r>
              <a:rPr lang="zh-CN" altLang="en-US" dirty="0"/>
              <a:t>匹配</a:t>
            </a:r>
            <a:r>
              <a:rPr lang="en-US" altLang="zh-CN" dirty="0"/>
              <a:t>aa</a:t>
            </a:r>
            <a:r>
              <a:rPr lang="zh-CN" altLang="en-US" dirty="0"/>
              <a:t>、</a:t>
            </a:r>
            <a:r>
              <a:rPr lang="en-US" altLang="zh-CN" dirty="0" err="1"/>
              <a:t>aaa</a:t>
            </a:r>
            <a:r>
              <a:rPr lang="zh-CN" altLang="en-US" dirty="0"/>
              <a:t>、</a:t>
            </a:r>
            <a:r>
              <a:rPr lang="en-US" altLang="zh-CN" dirty="0" err="1"/>
              <a:t>aaaa</a:t>
            </a:r>
            <a:endParaRPr lang="en-US" altLang="zh-CN" dirty="0"/>
          </a:p>
          <a:p>
            <a:pPr lvl="1"/>
            <a:r>
              <a:rPr lang="en-US" altLang="zh-CN" dirty="0"/>
              <a:t>a{2,} </a:t>
            </a:r>
            <a:r>
              <a:rPr lang="zh-CN" altLang="en-US" dirty="0"/>
              <a:t>匹配长度大于等于</a:t>
            </a:r>
            <a:r>
              <a:rPr lang="en-US" altLang="zh-CN" dirty="0"/>
              <a:t>2</a:t>
            </a:r>
            <a:r>
              <a:rPr lang="zh-CN" altLang="en-US" dirty="0"/>
              <a:t>的</a:t>
            </a:r>
            <a:r>
              <a:rPr lang="en-US" altLang="zh-CN" dirty="0"/>
              <a:t>a</a:t>
            </a:r>
          </a:p>
          <a:p>
            <a:endParaRPr lang="en-US" altLang="zh-CN" dirty="0"/>
          </a:p>
          <a:p>
            <a:r>
              <a:rPr lang="zh-CN" altLang="en-US" dirty="0"/>
              <a:t>特殊字符</a:t>
            </a:r>
            <a:endParaRPr lang="en-US" altLang="zh-CN" dirty="0"/>
          </a:p>
          <a:p>
            <a:pPr lvl="1"/>
            <a:r>
              <a:rPr lang="en-US" altLang="zh-CN" dirty="0"/>
              <a:t>+</a:t>
            </a:r>
            <a:r>
              <a:rPr lang="zh-CN" altLang="en-US" dirty="0"/>
              <a:t> 前一个字符至少连续出现</a:t>
            </a:r>
            <a:r>
              <a:rPr lang="en-US" altLang="zh-CN" dirty="0"/>
              <a:t>1</a:t>
            </a:r>
            <a:r>
              <a:rPr lang="zh-CN" altLang="en-US" dirty="0"/>
              <a:t>次及以上</a:t>
            </a:r>
            <a:endParaRPr lang="en-US" altLang="zh-CN" dirty="0"/>
          </a:p>
          <a:p>
            <a:pPr lvl="2"/>
            <a:r>
              <a:rPr lang="en-US" altLang="zh-CN" dirty="0"/>
              <a:t>a\w+:</a:t>
            </a:r>
            <a:r>
              <a:rPr lang="zh-CN" altLang="en-US" dirty="0"/>
              <a:t> </a:t>
            </a:r>
            <a:r>
              <a:rPr lang="en-US" altLang="zh-CN" dirty="0"/>
              <a:t>The c</a:t>
            </a:r>
            <a:r>
              <a:rPr lang="en-US" altLang="zh-CN" b="1" dirty="0">
                <a:solidFill>
                  <a:srgbClr val="0070C0"/>
                </a:solidFill>
              </a:rPr>
              <a:t>ar </a:t>
            </a:r>
            <a:r>
              <a:rPr lang="en-US" altLang="zh-CN" dirty="0"/>
              <a:t>p</a:t>
            </a:r>
            <a:r>
              <a:rPr lang="en-US" altLang="zh-CN" b="1" dirty="0">
                <a:solidFill>
                  <a:srgbClr val="0070C0"/>
                </a:solidFill>
              </a:rPr>
              <a:t>arked </a:t>
            </a:r>
            <a:r>
              <a:rPr lang="en-US" altLang="zh-CN" dirty="0"/>
              <a:t>in a g</a:t>
            </a:r>
            <a:r>
              <a:rPr lang="en-US" altLang="zh-CN" b="1" dirty="0">
                <a:solidFill>
                  <a:srgbClr val="0070C0"/>
                </a:solidFill>
              </a:rPr>
              <a:t>arage</a:t>
            </a:r>
            <a:r>
              <a:rPr lang="en-US" altLang="zh-CN" dirty="0"/>
              <a:t>.</a:t>
            </a:r>
          </a:p>
          <a:p>
            <a:pPr lvl="1"/>
            <a:r>
              <a:rPr lang="en-US" altLang="zh-CN" sz="2400" dirty="0">
                <a:sym typeface="+mn-ea"/>
              </a:rPr>
              <a:t>*</a:t>
            </a:r>
            <a:r>
              <a:rPr lang="zh-CN" altLang="en-US" sz="2400" dirty="0">
                <a:sym typeface="+mn-ea"/>
              </a:rPr>
              <a:t> 前一个字符至少连续出现</a:t>
            </a:r>
            <a:r>
              <a:rPr lang="en-US" altLang="zh-CN" sz="2400" dirty="0">
                <a:sym typeface="+mn-ea"/>
              </a:rPr>
              <a:t>0</a:t>
            </a:r>
            <a:r>
              <a:rPr lang="zh-CN" altLang="en-US" sz="2400" dirty="0">
                <a:sym typeface="+mn-ea"/>
              </a:rPr>
              <a:t>次及以上</a:t>
            </a:r>
            <a:endParaRPr lang="en-US" altLang="zh-CN" sz="2400" dirty="0"/>
          </a:p>
          <a:p>
            <a:pPr lvl="2" algn="l">
              <a:buClrTx/>
              <a:buSzTx/>
            </a:pPr>
            <a:r>
              <a:rPr lang="en-US" altLang="zh-CN" sz="2000" dirty="0">
                <a:sym typeface="+mn-ea"/>
              </a:rPr>
              <a:t>a\w*: The </a:t>
            </a:r>
            <a:r>
              <a:rPr lang="en-US" altLang="zh-CN" dirty="0">
                <a:sym typeface="+mn-ea"/>
              </a:rPr>
              <a:t>c</a:t>
            </a:r>
            <a:r>
              <a:rPr lang="en-US" altLang="zh-CN" b="1" dirty="0">
                <a:solidFill>
                  <a:srgbClr val="0070C0"/>
                </a:solidFill>
                <a:sym typeface="+mn-ea"/>
              </a:rPr>
              <a:t>ar </a:t>
            </a:r>
            <a:r>
              <a:rPr lang="en-US" altLang="zh-CN" dirty="0">
                <a:sym typeface="+mn-ea"/>
              </a:rPr>
              <a:t>p</a:t>
            </a:r>
            <a:r>
              <a:rPr lang="en-US" altLang="zh-CN" b="1" dirty="0">
                <a:solidFill>
                  <a:srgbClr val="0070C0"/>
                </a:solidFill>
                <a:sym typeface="+mn-ea"/>
              </a:rPr>
              <a:t>arked</a:t>
            </a:r>
            <a:r>
              <a:rPr lang="en-US" altLang="zh-CN" sz="2000" dirty="0">
                <a:sym typeface="+mn-ea"/>
              </a:rPr>
              <a:t> in </a:t>
            </a:r>
            <a:r>
              <a:rPr lang="en-US" altLang="zh-CN" sz="2000" b="1" dirty="0">
                <a:solidFill>
                  <a:srgbClr val="0070C0"/>
                </a:solidFill>
                <a:sym typeface="+mn-ea"/>
              </a:rPr>
              <a:t>a</a:t>
            </a:r>
            <a:r>
              <a:rPr lang="en-US" altLang="zh-CN" sz="2000" dirty="0">
                <a:sym typeface="+mn-ea"/>
              </a:rPr>
              <a:t> </a:t>
            </a:r>
            <a:r>
              <a:rPr lang="en-US" altLang="zh-CN" dirty="0">
                <a:sym typeface="+mn-ea"/>
              </a:rPr>
              <a:t>g</a:t>
            </a:r>
            <a:r>
              <a:rPr lang="en-US" altLang="zh-CN" b="1" dirty="0">
                <a:solidFill>
                  <a:srgbClr val="0070C0"/>
                </a:solidFill>
                <a:sym typeface="+mn-ea"/>
              </a:rPr>
              <a:t>arage</a:t>
            </a:r>
            <a:r>
              <a:rPr lang="en-US" altLang="zh-CN" sz="2000" dirty="0">
                <a:sym typeface="+mn-ea"/>
              </a:rPr>
              <a:t>.</a:t>
            </a:r>
            <a:endParaRPr lang="en-US" altLang="zh-CN" sz="2000" dirty="0"/>
          </a:p>
          <a:p>
            <a:pPr marL="685800" lvl="1" indent="-228600">
              <a:buFont typeface="Arial" panose="020B0604020202020204" pitchFamily="34" charset="0"/>
              <a:buChar char="•"/>
            </a:pPr>
            <a:endParaRPr lang="en-US" altLang="zh-CN" dirty="0">
              <a:solidFill>
                <a:schemeClr val="tx1"/>
              </a:solidFill>
            </a:endParaRP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89</a:t>
            </a:fld>
            <a:endParaRPr lang="en-US" altLang="zh-CN"/>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正则表达式辅助工具</a:t>
            </a:r>
          </a:p>
        </p:txBody>
      </p:sp>
      <p:sp>
        <p:nvSpPr>
          <p:cNvPr id="3" name="内容占位符 2"/>
          <p:cNvSpPr>
            <a:spLocks noGrp="1"/>
          </p:cNvSpPr>
          <p:nvPr>
            <p:ph idx="1"/>
          </p:nvPr>
        </p:nvSpPr>
        <p:spPr/>
        <p:txBody>
          <a:bodyPr/>
          <a:lstStyle/>
          <a:p>
            <a:r>
              <a:rPr lang="zh-CN" altLang="en-US" dirty="0"/>
              <a:t>动态匹配</a:t>
            </a:r>
            <a:endParaRPr lang="en-US" altLang="zh-CN" dirty="0"/>
          </a:p>
          <a:p>
            <a:pPr lvl="1"/>
            <a:r>
              <a:rPr lang="zh-CN" altLang="en-US" dirty="0"/>
              <a:t>可以反复测试</a:t>
            </a:r>
            <a:endParaRPr lang="en-US" altLang="zh-CN" dirty="0"/>
          </a:p>
          <a:p>
            <a:pPr lvl="1"/>
            <a:r>
              <a:rPr lang="zh-CN" altLang="en-US" dirty="0"/>
              <a:t>以染色区分匹配部分</a:t>
            </a:r>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pPr marL="0" indent="0">
              <a:buNone/>
            </a:pPr>
            <a:r>
              <a:rPr lang="en-US" altLang="zh-CN" sz="1800" dirty="0"/>
              <a:t>http://tool.chinaz.com/regex/</a:t>
            </a:r>
            <a:endParaRPr lang="zh-CN" altLang="en-US" sz="1800"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90</a:t>
            </a:fld>
            <a:endParaRPr lang="en-US" altLang="zh-CN"/>
          </a:p>
        </p:txBody>
      </p:sp>
      <p:pic>
        <p:nvPicPr>
          <p:cNvPr id="7" name="图片 6"/>
          <p:cNvPicPr>
            <a:picLocks noChangeAspect="1"/>
          </p:cNvPicPr>
          <p:nvPr/>
        </p:nvPicPr>
        <p:blipFill>
          <a:blip r:embed="rId2"/>
          <a:stretch>
            <a:fillRect/>
          </a:stretch>
        </p:blipFill>
        <p:spPr>
          <a:xfrm>
            <a:off x="4835073" y="1196752"/>
            <a:ext cx="3820058" cy="4763165"/>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正则表达式库 </a:t>
            </a:r>
            <a:r>
              <a:rPr lang="en-US" altLang="zh-CN" dirty="0"/>
              <a:t>&lt;regex&gt;</a:t>
            </a:r>
            <a:endParaRPr lang="zh-CN" altLang="en-US" dirty="0"/>
          </a:p>
        </p:txBody>
      </p:sp>
      <p:sp>
        <p:nvSpPr>
          <p:cNvPr id="3" name="内容占位符 2"/>
          <p:cNvSpPr>
            <a:spLocks noGrp="1"/>
          </p:cNvSpPr>
          <p:nvPr>
            <p:ph idx="1"/>
          </p:nvPr>
        </p:nvSpPr>
        <p:spPr/>
        <p:txBody>
          <a:bodyPr/>
          <a:lstStyle/>
          <a:p>
            <a:r>
              <a:rPr lang="zh-CN" altLang="en-US" dirty="0"/>
              <a:t>如何在</a:t>
            </a:r>
            <a:r>
              <a:rPr lang="en-US" altLang="zh-CN" dirty="0"/>
              <a:t>C++</a:t>
            </a:r>
            <a:r>
              <a:rPr lang="zh-CN" altLang="en-US" dirty="0"/>
              <a:t>中使用正则表达式</a:t>
            </a:r>
            <a:endParaRPr lang="en-US" altLang="zh-CN" dirty="0"/>
          </a:p>
          <a:p>
            <a:pPr lvl="1"/>
            <a:r>
              <a:rPr lang="en-US" altLang="zh-CN" dirty="0"/>
              <a:t>&lt;regex&gt;</a:t>
            </a:r>
            <a:r>
              <a:rPr lang="zh-CN" altLang="en-US" dirty="0"/>
              <a:t>库</a:t>
            </a:r>
            <a:endParaRPr lang="en-US" altLang="zh-CN" dirty="0"/>
          </a:p>
          <a:p>
            <a:pPr lvl="1"/>
            <a:endParaRPr lang="en-US" altLang="zh-CN" dirty="0"/>
          </a:p>
          <a:p>
            <a:r>
              <a:rPr lang="zh-CN" altLang="en-US" dirty="0"/>
              <a:t>创建一个正则表达式对象</a:t>
            </a:r>
            <a:endParaRPr lang="en-US" altLang="zh-CN" dirty="0"/>
          </a:p>
          <a:p>
            <a:pPr lvl="1"/>
            <a:r>
              <a:rPr lang="en-US" altLang="zh-CN" dirty="0"/>
              <a:t>regex re("^[1-9][0-9]{10}$")  11</a:t>
            </a:r>
            <a:r>
              <a:rPr lang="zh-CN" altLang="en-US" dirty="0"/>
              <a:t>位数</a:t>
            </a:r>
            <a:endParaRPr lang="en-US" altLang="zh-CN" dirty="0"/>
          </a:p>
          <a:p>
            <a:pPr lvl="1"/>
            <a:endParaRPr lang="en-US" altLang="zh-CN" dirty="0"/>
          </a:p>
          <a:p>
            <a:pPr lvl="1"/>
            <a:r>
              <a:rPr lang="zh-CN" altLang="en-US" sz="2800" dirty="0"/>
              <a:t>注意：</a:t>
            </a:r>
            <a:r>
              <a:rPr lang="en-US" altLang="zh-CN" sz="2800" dirty="0"/>
              <a:t>C++</a:t>
            </a:r>
            <a:r>
              <a:rPr lang="zh-CN" altLang="en-US" sz="2800" dirty="0"/>
              <a:t>的字符串中</a:t>
            </a:r>
            <a:r>
              <a:rPr lang="en-US" altLang="zh-CN" sz="2800" dirty="0"/>
              <a:t>"\"</a:t>
            </a:r>
            <a:r>
              <a:rPr lang="zh-CN" altLang="en-US" sz="2800" dirty="0"/>
              <a:t>也是转义字符</a:t>
            </a:r>
            <a:endParaRPr lang="en-US" altLang="zh-CN" sz="2800" dirty="0"/>
          </a:p>
          <a:p>
            <a:pPr lvl="2"/>
            <a:r>
              <a:rPr lang="zh-CN" altLang="en-US" sz="2400" dirty="0"/>
              <a:t>如果需要创建正则表达式</a:t>
            </a:r>
            <a:r>
              <a:rPr lang="en-US" altLang="zh-CN" sz="2400" dirty="0"/>
              <a:t>"\d+"</a:t>
            </a:r>
            <a:r>
              <a:rPr lang="zh-CN" altLang="en-US" sz="2400" dirty="0"/>
              <a:t>，应该写成</a:t>
            </a:r>
            <a:endParaRPr lang="en-US" altLang="zh-CN" sz="2400" dirty="0"/>
          </a:p>
          <a:p>
            <a:pPr lvl="2"/>
            <a:r>
              <a:rPr lang="en-US" altLang="zh-CN" sz="2400" dirty="0"/>
              <a:t>regex re("\\d+")</a:t>
            </a:r>
            <a:endParaRPr lang="zh-CN" altLang="en-US" sz="2400"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91</a:t>
            </a:fld>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原生字符串</a:t>
            </a:r>
            <a:endParaRPr lang="en-US" altLang="zh-CN" dirty="0"/>
          </a:p>
        </p:txBody>
      </p:sp>
      <p:sp>
        <p:nvSpPr>
          <p:cNvPr id="3" name="内容占位符 2"/>
          <p:cNvSpPr>
            <a:spLocks noGrp="1"/>
          </p:cNvSpPr>
          <p:nvPr>
            <p:ph idx="1"/>
          </p:nvPr>
        </p:nvSpPr>
        <p:spPr>
          <a:xfrm>
            <a:off x="628650" y="1628800"/>
            <a:ext cx="8515350" cy="4749029"/>
          </a:xfrm>
        </p:spPr>
        <p:txBody>
          <a:bodyPr/>
          <a:lstStyle/>
          <a:p>
            <a:r>
              <a:rPr lang="zh-CN" altLang="en-US" dirty="0"/>
              <a:t>原生字符串</a:t>
            </a:r>
            <a:endParaRPr lang="en-US" altLang="zh-CN" dirty="0"/>
          </a:p>
          <a:p>
            <a:pPr lvl="1"/>
            <a:r>
              <a:rPr lang="zh-CN" altLang="en-US" dirty="0"/>
              <a:t>原生字符串可以取消转义，保留字面值</a:t>
            </a:r>
            <a:endParaRPr lang="en-US" altLang="zh-CN" dirty="0"/>
          </a:p>
          <a:p>
            <a:pPr lvl="1"/>
            <a:r>
              <a:rPr lang="zh-CN" altLang="en-US" dirty="0"/>
              <a:t>语法：</a:t>
            </a:r>
            <a:r>
              <a:rPr lang="en-US" altLang="zh-CN" b="1" dirty="0">
                <a:solidFill>
                  <a:srgbClr val="FF0000"/>
                </a:solidFill>
              </a:rPr>
              <a:t>R"(</a:t>
            </a:r>
            <a:r>
              <a:rPr lang="en-US" altLang="zh-CN" dirty="0" err="1"/>
              <a:t>str</a:t>
            </a:r>
            <a:r>
              <a:rPr lang="en-US" altLang="zh-CN" b="1" dirty="0">
                <a:solidFill>
                  <a:srgbClr val="FF0000"/>
                </a:solidFill>
              </a:rPr>
              <a:t>)"</a:t>
            </a:r>
            <a:r>
              <a:rPr lang="en-US" altLang="zh-CN" dirty="0"/>
              <a:t> </a:t>
            </a:r>
            <a:r>
              <a:rPr lang="zh-CN" altLang="en-US" dirty="0"/>
              <a:t>表示</a:t>
            </a:r>
            <a:r>
              <a:rPr lang="en-US" altLang="zh-CN" dirty="0" err="1"/>
              <a:t>str</a:t>
            </a:r>
            <a:r>
              <a:rPr lang="zh-CN" altLang="en-US" dirty="0"/>
              <a:t>的字面值</a:t>
            </a:r>
            <a:endParaRPr lang="en-US" altLang="zh-CN" dirty="0"/>
          </a:p>
          <a:p>
            <a:pPr lvl="1"/>
            <a:endParaRPr lang="en-US" altLang="zh-CN" dirty="0">
              <a:solidFill>
                <a:srgbClr val="FF0000"/>
              </a:solidFill>
            </a:endParaRPr>
          </a:p>
          <a:p>
            <a:pPr lvl="1"/>
            <a:r>
              <a:rPr lang="en-US" altLang="zh-CN" dirty="0"/>
              <a:t>"\\d+" = R"(\d+)" = \d+</a:t>
            </a:r>
          </a:p>
          <a:p>
            <a:pPr lvl="1"/>
            <a:endParaRPr lang="en-US" altLang="zh-CN" dirty="0"/>
          </a:p>
          <a:p>
            <a:pPr lvl="1"/>
            <a:r>
              <a:rPr lang="zh-CN" altLang="en-US" dirty="0"/>
              <a:t>原生字符串能换行，比如</a:t>
            </a:r>
            <a:endParaRPr lang="en-US" altLang="zh-CN" dirty="0"/>
          </a:p>
          <a:p>
            <a:pPr marL="457200" lvl="1" indent="0">
              <a:buNone/>
            </a:pPr>
            <a:r>
              <a:rPr lang="en-US" altLang="zh-CN" dirty="0"/>
              <a:t>	string str = R"(Hello</a:t>
            </a:r>
          </a:p>
          <a:p>
            <a:pPr marL="457200" lvl="1" indent="0">
              <a:buNone/>
            </a:pPr>
            <a:r>
              <a:rPr lang="en-US" altLang="zh-CN" dirty="0"/>
              <a:t>World)";</a:t>
            </a:r>
          </a:p>
          <a:p>
            <a:pPr lvl="1"/>
            <a:endParaRPr lang="en-US" altLang="zh-CN" dirty="0"/>
          </a:p>
          <a:p>
            <a:pPr lvl="1"/>
            <a:r>
              <a:rPr lang="zh-CN" altLang="en-US" dirty="0"/>
              <a:t>结果</a:t>
            </a:r>
            <a:r>
              <a:rPr lang="en-US" altLang="zh-CN" dirty="0" err="1"/>
              <a:t>str</a:t>
            </a:r>
            <a:r>
              <a:rPr lang="en-US" altLang="zh-CN" dirty="0"/>
              <a:t> = "hello\</a:t>
            </a:r>
            <a:r>
              <a:rPr lang="en-US" altLang="zh-CN" dirty="0" err="1"/>
              <a:t>nWorld</a:t>
            </a:r>
            <a:r>
              <a:rPr lang="en-US" altLang="zh-CN" dirty="0"/>
              <a:t>"</a:t>
            </a:r>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92</a:t>
            </a:fld>
            <a:endParaRPr lang="en-US" altLang="zh-CN"/>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正则表达式库 </a:t>
            </a:r>
            <a:r>
              <a:rPr lang="en-US" altLang="zh-CN" dirty="0"/>
              <a:t>&lt;regex&gt;</a:t>
            </a:r>
            <a:endParaRPr lang="zh-CN" altLang="en-US" dirty="0"/>
          </a:p>
        </p:txBody>
      </p:sp>
      <p:sp>
        <p:nvSpPr>
          <p:cNvPr id="3" name="内容占位符 2"/>
          <p:cNvSpPr>
            <a:spLocks noGrp="1"/>
          </p:cNvSpPr>
          <p:nvPr>
            <p:ph idx="1"/>
          </p:nvPr>
        </p:nvSpPr>
        <p:spPr>
          <a:xfrm>
            <a:off x="643222" y="1442195"/>
            <a:ext cx="8047806" cy="4749029"/>
          </a:xfrm>
        </p:spPr>
        <p:txBody>
          <a:bodyPr/>
          <a:lstStyle/>
          <a:p>
            <a:r>
              <a:rPr lang="zh-CN" altLang="en-US" dirty="0"/>
              <a:t>匹配</a:t>
            </a:r>
            <a:endParaRPr lang="en-US" altLang="zh-CN" dirty="0"/>
          </a:p>
          <a:p>
            <a:pPr lvl="1"/>
            <a:r>
              <a:rPr lang="en-US" altLang="zh-CN" b="1" dirty="0" err="1">
                <a:solidFill>
                  <a:srgbClr val="FF0000"/>
                </a:solidFill>
              </a:rPr>
              <a:t>regex_match</a:t>
            </a:r>
            <a:r>
              <a:rPr lang="en-US" altLang="zh-CN" dirty="0"/>
              <a:t>(s,</a:t>
            </a:r>
            <a:r>
              <a:rPr lang="zh-CN" altLang="en-US" dirty="0"/>
              <a:t> </a:t>
            </a:r>
            <a:r>
              <a:rPr lang="en-US" altLang="zh-CN" dirty="0"/>
              <a:t>re)</a:t>
            </a:r>
            <a:r>
              <a:rPr lang="zh-CN" altLang="en-US" dirty="0"/>
              <a:t>：询问字符串</a:t>
            </a:r>
            <a:r>
              <a:rPr lang="en-US" altLang="zh-CN" dirty="0"/>
              <a:t>s</a:t>
            </a:r>
            <a:r>
              <a:rPr lang="zh-CN" altLang="en-US" dirty="0"/>
              <a:t>是否能完全匹配正则表达式</a:t>
            </a:r>
            <a:r>
              <a:rPr lang="en-US" altLang="zh-CN" dirty="0"/>
              <a:t>re</a:t>
            </a:r>
          </a:p>
          <a:p>
            <a:pPr lvl="1"/>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93</a:t>
            </a:fld>
            <a:endParaRPr lang="en-US" altLang="zh-CN"/>
          </a:p>
        </p:txBody>
      </p:sp>
      <p:sp>
        <p:nvSpPr>
          <p:cNvPr id="5" name="文本框 4"/>
          <p:cNvSpPr txBox="1"/>
          <p:nvPr/>
        </p:nvSpPr>
        <p:spPr>
          <a:xfrm>
            <a:off x="811563" y="2764572"/>
            <a:ext cx="4729480" cy="3784600"/>
          </a:xfrm>
          <a:prstGeom prst="rect">
            <a:avLst/>
          </a:prstGeom>
          <a:noFill/>
        </p:spPr>
        <p:txBody>
          <a:bodyPr wrap="non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&lt;string&gt;</a:t>
            </a:r>
          </a:p>
          <a:p>
            <a:r>
              <a:rPr lang="en-US" altLang="zh-CN" sz="2000" b="1" dirty="0">
                <a:latin typeface="Consolas" panose="020B0609020204030204" pitchFamily="49" charset="0"/>
              </a:rPr>
              <a:t>#include &lt;regex&gt;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p>
          <a:p>
            <a:pPr lvl="1"/>
            <a:r>
              <a:rPr lang="en-US" altLang="zh-CN" sz="2000" b="1" dirty="0">
                <a:latin typeface="Consolas" panose="020B0609020204030204" pitchFamily="49" charset="0"/>
              </a:rPr>
              <a:t>string s("subject");</a:t>
            </a:r>
          </a:p>
          <a:p>
            <a:pPr lvl="1"/>
            <a:r>
              <a:rPr lang="en-US" altLang="zh-CN" sz="2000" b="1" dirty="0">
                <a:solidFill>
                  <a:srgbClr val="FF0000"/>
                </a:solidFill>
                <a:latin typeface="Consolas" panose="020B0609020204030204" pitchFamily="49" charset="0"/>
              </a:rPr>
              <a:t>regex</a:t>
            </a:r>
            <a:r>
              <a:rPr lang="en-US" altLang="zh-CN" sz="2000" b="1" dirty="0">
                <a:latin typeface="Consolas" panose="020B0609020204030204" pitchFamily="49" charset="0"/>
              </a:rPr>
              <a:t> e("sub.*");</a:t>
            </a:r>
          </a:p>
          <a:p>
            <a:pPr lvl="1"/>
            <a:r>
              <a:rPr lang="en-US" altLang="zh-CN" sz="2000" b="1" dirty="0">
                <a:latin typeface="Consolas" panose="020B0609020204030204" pitchFamily="49" charset="0"/>
              </a:rPr>
              <a:t>if(</a:t>
            </a:r>
            <a:r>
              <a:rPr lang="en-US" altLang="zh-CN" sz="2000" b="1" dirty="0" err="1">
                <a:solidFill>
                  <a:srgbClr val="FF0000"/>
                </a:solidFill>
                <a:latin typeface="Consolas" panose="020B0609020204030204" pitchFamily="49" charset="0"/>
              </a:rPr>
              <a:t>regex_match</a:t>
            </a:r>
            <a:r>
              <a:rPr lang="en-US" altLang="zh-CN" sz="2000" b="1" dirty="0">
                <a:latin typeface="Consolas" panose="020B0609020204030204" pitchFamily="49" charset="0"/>
              </a:rPr>
              <a:t>(</a:t>
            </a:r>
            <a:r>
              <a:rPr lang="en-US" altLang="zh-CN" sz="2000" b="1" dirty="0" err="1">
                <a:latin typeface="Consolas" panose="020B0609020204030204" pitchFamily="49" charset="0"/>
              </a:rPr>
              <a:t>s,e</a:t>
            </a:r>
            <a:r>
              <a:rPr lang="en-US" altLang="zh-CN" sz="2000" b="1" dirty="0">
                <a:latin typeface="Consolas" panose="020B0609020204030204" pitchFamily="49" charset="0"/>
              </a:rPr>
              <a:t>))</a:t>
            </a:r>
          </a:p>
          <a:p>
            <a:pPr lvl="1"/>
            <a:r>
              <a:rPr lang="en-US" altLang="zh-CN" sz="2000" b="1" dirty="0">
                <a:latin typeface="Consolas" panose="020B0609020204030204" pitchFamily="49" charset="0"/>
              </a:rPr>
              <a:t>	</a:t>
            </a:r>
            <a:r>
              <a:rPr lang="en-US" altLang="zh-CN" sz="2000" b="1" dirty="0" err="1">
                <a:latin typeface="Consolas" panose="020B0609020204030204" pitchFamily="49" charset="0"/>
              </a:rPr>
              <a:t>cout</a:t>
            </a:r>
            <a:r>
              <a:rPr lang="en-US" altLang="zh-CN" sz="2000" b="1" dirty="0">
                <a:latin typeface="Consolas" panose="020B0609020204030204" pitchFamily="49" charset="0"/>
              </a:rPr>
              <a:t> &lt;&lt; "matched" &lt;&lt;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pPr lvl="1"/>
            <a:r>
              <a:rPr lang="en-US" altLang="zh-CN" sz="2000" b="1" dirty="0">
                <a:latin typeface="Consolas" panose="020B0609020204030204" pitchFamily="49" charset="0"/>
              </a:rPr>
              <a:t>return 0;</a:t>
            </a:r>
          </a:p>
          <a:p>
            <a:r>
              <a:rPr lang="en-US" altLang="zh-CN" sz="2000" b="1" dirty="0">
                <a:latin typeface="Consolas" panose="020B0609020204030204" pitchFamily="49" charset="0"/>
              </a:rPr>
              <a:t>}</a:t>
            </a:r>
            <a:endParaRPr lang="zh-CN" altLang="en-US" sz="2000" b="1" dirty="0">
              <a:latin typeface="Consolas" panose="020B0609020204030204" pitchFamily="49" charset="0"/>
            </a:endParaRPr>
          </a:p>
        </p:txBody>
      </p:sp>
      <p:sp>
        <p:nvSpPr>
          <p:cNvPr id="6" name="文本框 5"/>
          <p:cNvSpPr txBox="1"/>
          <p:nvPr/>
        </p:nvSpPr>
        <p:spPr>
          <a:xfrm>
            <a:off x="5767376" y="5579353"/>
            <a:ext cx="2565061" cy="523220"/>
          </a:xfrm>
          <a:prstGeom prst="rect">
            <a:avLst/>
          </a:prstGeom>
          <a:noFill/>
        </p:spPr>
        <p:txBody>
          <a:bodyPr wrap="none" rtlCol="0">
            <a:spAutoFit/>
          </a:bodyPr>
          <a:lstStyle/>
          <a:p>
            <a:r>
              <a:rPr lang="zh-CN" altLang="en-US" sz="2800" b="1" dirty="0">
                <a:solidFill>
                  <a:srgbClr val="00B050"/>
                </a:solidFill>
              </a:rPr>
              <a:t>输出：</a:t>
            </a:r>
            <a:r>
              <a:rPr lang="en-US" altLang="zh-CN" sz="2800" b="1" dirty="0">
                <a:solidFill>
                  <a:srgbClr val="00B050"/>
                </a:solidFill>
              </a:rPr>
              <a:t>matched</a:t>
            </a:r>
            <a:endParaRPr lang="zh-CN" altLang="en-US" sz="2800" b="1" dirty="0">
              <a:solidFill>
                <a:srgbClr val="00B050"/>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捕获和分组</a:t>
            </a:r>
          </a:p>
        </p:txBody>
      </p:sp>
      <p:sp>
        <p:nvSpPr>
          <p:cNvPr id="3" name="内容占位符 2"/>
          <p:cNvSpPr>
            <a:spLocks noGrp="1"/>
          </p:cNvSpPr>
          <p:nvPr>
            <p:ph idx="1"/>
          </p:nvPr>
        </p:nvSpPr>
        <p:spPr/>
        <p:txBody>
          <a:bodyPr/>
          <a:lstStyle/>
          <a:p>
            <a:r>
              <a:rPr lang="zh-CN" altLang="en-US" dirty="0"/>
              <a:t>有时我们想要获取匹配每一个部分的细节</a:t>
            </a:r>
            <a:endParaRPr lang="en-US" altLang="zh-CN" dirty="0"/>
          </a:p>
          <a:p>
            <a:pPr lvl="1"/>
            <a:r>
              <a:rPr lang="zh-CN" altLang="en-US" dirty="0"/>
              <a:t>例如：在 </a:t>
            </a:r>
            <a:r>
              <a:rPr lang="en-US" altLang="zh-CN" b="1" dirty="0"/>
              <a:t>\w*\d* </a:t>
            </a:r>
            <a:r>
              <a:rPr lang="zh-CN" altLang="en-US" dirty="0"/>
              <a:t>中，我们想知道 </a:t>
            </a:r>
            <a:r>
              <a:rPr lang="en-US" altLang="zh-CN" dirty="0"/>
              <a:t>\w*</a:t>
            </a:r>
            <a:r>
              <a:rPr lang="zh-CN" altLang="en-US" dirty="0"/>
              <a:t>和</a:t>
            </a:r>
            <a:r>
              <a:rPr lang="en-US" altLang="zh-CN" dirty="0"/>
              <a:t>\d*</a:t>
            </a:r>
            <a:r>
              <a:rPr lang="zh-CN" altLang="en-US" dirty="0"/>
              <a:t>分别匹配了什么</a:t>
            </a:r>
            <a:endParaRPr lang="en-US" altLang="zh-CN" dirty="0"/>
          </a:p>
          <a:p>
            <a:endParaRPr lang="en-US" altLang="zh-CN" dirty="0"/>
          </a:p>
          <a:p>
            <a:r>
              <a:rPr lang="zh-CN" altLang="en-US" dirty="0"/>
              <a:t>使用</a:t>
            </a:r>
            <a:r>
              <a:rPr lang="en-US" altLang="zh-CN" dirty="0"/>
              <a:t>()</a:t>
            </a:r>
            <a:r>
              <a:rPr lang="zh-CN" altLang="en-US" dirty="0"/>
              <a:t>进行标识，每个标识的内容被称作分组</a:t>
            </a:r>
            <a:endParaRPr lang="en-US" altLang="zh-CN" dirty="0"/>
          </a:p>
          <a:p>
            <a:pPr lvl="1"/>
            <a:r>
              <a:rPr lang="zh-CN" altLang="en-US" dirty="0"/>
              <a:t>正则表达式匹配后，每个分组的内容将被捕获</a:t>
            </a:r>
            <a:endParaRPr lang="en-US" altLang="zh-CN" dirty="0"/>
          </a:p>
          <a:p>
            <a:pPr lvl="1"/>
            <a:r>
              <a:rPr lang="zh-CN" altLang="en-US" dirty="0"/>
              <a:t>用于提取关键信息，例如</a:t>
            </a:r>
            <a:r>
              <a:rPr lang="en-US" altLang="zh-CN" dirty="0"/>
              <a:t>version(\d+)</a:t>
            </a:r>
            <a:r>
              <a:rPr lang="zh-CN" altLang="en-US" dirty="0"/>
              <a:t>即可捕获版本号</a:t>
            </a:r>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94</a:t>
            </a:fld>
            <a:endParaRPr lang="en-US" altLang="zh-CN"/>
          </a:p>
        </p:txBody>
      </p:sp>
    </p:spTree>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正则表达式库 </a:t>
            </a:r>
            <a:r>
              <a:rPr lang="en-US" altLang="zh-CN" dirty="0"/>
              <a:t>&lt;regex&gt;</a:t>
            </a:r>
            <a:endParaRPr lang="zh-CN" altLang="en-US" dirty="0"/>
          </a:p>
        </p:txBody>
      </p:sp>
      <p:sp>
        <p:nvSpPr>
          <p:cNvPr id="3" name="内容占位符 2"/>
          <p:cNvSpPr>
            <a:spLocks noGrp="1"/>
          </p:cNvSpPr>
          <p:nvPr>
            <p:ph idx="1"/>
          </p:nvPr>
        </p:nvSpPr>
        <p:spPr>
          <a:xfrm>
            <a:off x="548097" y="1054485"/>
            <a:ext cx="8047806" cy="4749029"/>
          </a:xfrm>
        </p:spPr>
        <p:txBody>
          <a:bodyPr/>
          <a:lstStyle/>
          <a:p>
            <a:r>
              <a:rPr lang="zh-CN" altLang="en-US" dirty="0"/>
              <a:t>捕获和分组</a:t>
            </a:r>
            <a:endParaRPr lang="en-US" altLang="zh-CN" dirty="0"/>
          </a:p>
          <a:p>
            <a:pPr lvl="1"/>
            <a:r>
              <a:rPr lang="en-US" altLang="zh-CN" dirty="0" err="1"/>
              <a:t>regex_match</a:t>
            </a:r>
            <a:r>
              <a:rPr lang="en-US" altLang="zh-CN" dirty="0"/>
              <a:t>(s,</a:t>
            </a:r>
            <a:r>
              <a:rPr lang="zh-CN" altLang="en-US" dirty="0"/>
              <a:t> </a:t>
            </a:r>
            <a:r>
              <a:rPr lang="en-US" altLang="zh-CN" dirty="0"/>
              <a:t>result,</a:t>
            </a:r>
            <a:r>
              <a:rPr lang="zh-CN" altLang="en-US" dirty="0"/>
              <a:t> </a:t>
            </a:r>
            <a:r>
              <a:rPr lang="en-US" altLang="zh-CN" dirty="0"/>
              <a:t>re)</a:t>
            </a:r>
            <a:r>
              <a:rPr lang="zh-CN" altLang="en-US" dirty="0"/>
              <a:t>：询问字符串</a:t>
            </a:r>
            <a:r>
              <a:rPr lang="en-US" altLang="zh-CN" dirty="0"/>
              <a:t>s</a:t>
            </a:r>
            <a:r>
              <a:rPr lang="zh-CN" altLang="en-US" dirty="0"/>
              <a:t>是否能完全匹配正则表达式</a:t>
            </a:r>
            <a:r>
              <a:rPr lang="en-US" altLang="zh-CN" dirty="0"/>
              <a:t>re</a:t>
            </a:r>
            <a:r>
              <a:rPr lang="zh-CN" altLang="en-US" dirty="0"/>
              <a:t>，并将捕获结果储存到</a:t>
            </a:r>
            <a:r>
              <a:rPr lang="en-US" altLang="zh-CN" dirty="0"/>
              <a:t>result</a:t>
            </a:r>
            <a:r>
              <a:rPr lang="zh-CN" altLang="en-US" dirty="0"/>
              <a:t>中</a:t>
            </a:r>
            <a:endParaRPr lang="en-US" altLang="zh-CN" dirty="0"/>
          </a:p>
          <a:p>
            <a:pPr lvl="1"/>
            <a:r>
              <a:rPr lang="en-US" altLang="zh-CN" dirty="0"/>
              <a:t>result</a:t>
            </a:r>
            <a:r>
              <a:rPr lang="zh-CN" altLang="en-US" dirty="0"/>
              <a:t>需要是</a:t>
            </a:r>
            <a:r>
              <a:rPr lang="en-US" altLang="zh-CN" dirty="0" err="1"/>
              <a:t>smatch</a:t>
            </a:r>
            <a:r>
              <a:rPr lang="zh-CN" altLang="en-US" dirty="0"/>
              <a:t>类型的对象</a:t>
            </a:r>
            <a:endParaRPr lang="en-US" altLang="zh-CN" dirty="0"/>
          </a:p>
          <a:p>
            <a:pPr lvl="1"/>
            <a:endParaRPr lang="en-US" altLang="zh-CN" dirty="0"/>
          </a:p>
          <a:p>
            <a:pPr lvl="1"/>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95</a:t>
            </a:fld>
            <a:endParaRPr lang="en-US" altLang="zh-CN"/>
          </a:p>
        </p:txBody>
      </p:sp>
      <p:sp>
        <p:nvSpPr>
          <p:cNvPr id="7" name="文本框 6"/>
          <p:cNvSpPr txBox="1"/>
          <p:nvPr/>
        </p:nvSpPr>
        <p:spPr>
          <a:xfrm>
            <a:off x="850044" y="2846208"/>
            <a:ext cx="5371983" cy="4031873"/>
          </a:xfrm>
          <a:prstGeom prst="rect">
            <a:avLst/>
          </a:prstGeom>
          <a:noFill/>
        </p:spPr>
        <p:txBody>
          <a:bodyPr wrap="none" rtlCol="0">
            <a:spAutoFit/>
          </a:bodyPr>
          <a:lstStyle/>
          <a:p>
            <a:r>
              <a:rPr lang="en-US" altLang="zh-CN" sz="1600" b="1" dirty="0">
                <a:latin typeface="Consolas" panose="020B0609020204030204" pitchFamily="49" charset="0"/>
              </a:rPr>
              <a:t>#include &lt;iostream&gt;</a:t>
            </a:r>
          </a:p>
          <a:p>
            <a:r>
              <a:rPr lang="en-US" altLang="zh-CN" sz="1600" b="1" dirty="0">
                <a:latin typeface="Consolas" panose="020B0609020204030204" pitchFamily="49" charset="0"/>
              </a:rPr>
              <a:t>#include &lt;string&gt;</a:t>
            </a:r>
          </a:p>
          <a:p>
            <a:r>
              <a:rPr lang="en-US" altLang="zh-CN" sz="1600" b="1" dirty="0">
                <a:latin typeface="Consolas" panose="020B0609020204030204" pitchFamily="49" charset="0"/>
              </a:rPr>
              <a:t>#include &lt;regex&gt;</a:t>
            </a:r>
          </a:p>
          <a:p>
            <a:r>
              <a:rPr lang="en-US" altLang="zh-CN" sz="1600" b="1" dirty="0">
                <a:latin typeface="Consolas" panose="020B0609020204030204" pitchFamily="49" charset="0"/>
              </a:rPr>
              <a:t>using namespace std;</a:t>
            </a:r>
          </a:p>
          <a:p>
            <a:r>
              <a:rPr lang="en-US" altLang="zh-CN" sz="1600" b="1" dirty="0">
                <a:latin typeface="Consolas" panose="020B0609020204030204" pitchFamily="49" charset="0"/>
              </a:rPr>
              <a:t>int main () {</a:t>
            </a:r>
          </a:p>
          <a:p>
            <a:pPr lvl="1"/>
            <a:r>
              <a:rPr lang="en-US" altLang="zh-CN" sz="1600" b="1" dirty="0">
                <a:latin typeface="Consolas" panose="020B0609020204030204" pitchFamily="49" charset="0"/>
              </a:rPr>
              <a:t>string s("version10");</a:t>
            </a:r>
          </a:p>
          <a:p>
            <a:pPr lvl="1"/>
            <a:r>
              <a:rPr lang="en-US" altLang="zh-CN" sz="1600" b="1" dirty="0">
                <a:solidFill>
                  <a:srgbClr val="FF0000"/>
                </a:solidFill>
                <a:latin typeface="Consolas" panose="020B0609020204030204" pitchFamily="49" charset="0"/>
              </a:rPr>
              <a:t>regex</a:t>
            </a:r>
            <a:r>
              <a:rPr lang="en-US" altLang="zh-CN" sz="1600" b="1" dirty="0">
                <a:latin typeface="Consolas" panose="020B0609020204030204" pitchFamily="49" charset="0"/>
              </a:rPr>
              <a:t> e(R"(version(\d+))"); </a:t>
            </a:r>
            <a:r>
              <a:rPr lang="en-US" altLang="zh-CN" sz="1600" b="1" dirty="0" err="1">
                <a:solidFill>
                  <a:srgbClr val="FF0000"/>
                </a:solidFill>
                <a:latin typeface="Consolas" panose="020B0609020204030204" pitchFamily="49" charset="0"/>
              </a:rPr>
              <a:t>smatch</a:t>
            </a:r>
            <a:r>
              <a:rPr lang="en-US" altLang="zh-CN" sz="1600" b="1" dirty="0">
                <a:latin typeface="Consolas" panose="020B0609020204030204" pitchFamily="49" charset="0"/>
              </a:rPr>
              <a:t> </a:t>
            </a:r>
            <a:r>
              <a:rPr lang="en-US" altLang="zh-CN" sz="1600" b="1" dirty="0" err="1">
                <a:latin typeface="Consolas" panose="020B0609020204030204" pitchFamily="49" charset="0"/>
              </a:rPr>
              <a:t>sm</a:t>
            </a:r>
            <a:r>
              <a:rPr lang="en-US" altLang="zh-CN" sz="1600" b="1" dirty="0">
                <a:latin typeface="Consolas" panose="020B0609020204030204" pitchFamily="49" charset="0"/>
              </a:rPr>
              <a:t>;</a:t>
            </a:r>
          </a:p>
          <a:p>
            <a:pPr lvl="1"/>
            <a:r>
              <a:rPr lang="en-US" altLang="zh-CN" sz="1600" b="1" dirty="0">
                <a:latin typeface="Consolas" panose="020B0609020204030204" pitchFamily="49" charset="0"/>
              </a:rPr>
              <a:t>if(</a:t>
            </a:r>
            <a:r>
              <a:rPr lang="en-US" altLang="zh-CN" sz="1600" b="1" dirty="0" err="1">
                <a:solidFill>
                  <a:srgbClr val="FF0000"/>
                </a:solidFill>
                <a:latin typeface="Consolas" panose="020B0609020204030204" pitchFamily="49" charset="0"/>
              </a:rPr>
              <a:t>regex_match</a:t>
            </a:r>
            <a:r>
              <a:rPr lang="en-US" altLang="zh-CN" sz="1600" b="1" dirty="0">
                <a:latin typeface="Consolas" panose="020B0609020204030204" pitchFamily="49" charset="0"/>
              </a:rPr>
              <a:t>(</a:t>
            </a:r>
            <a:r>
              <a:rPr lang="en-US" altLang="zh-CN" sz="1600" b="1" dirty="0" err="1">
                <a:latin typeface="Consolas" panose="020B0609020204030204" pitchFamily="49" charset="0"/>
              </a:rPr>
              <a:t>s,sm,e</a:t>
            </a:r>
            <a:r>
              <a:rPr lang="en-US" altLang="zh-CN" sz="1600" b="1" dirty="0">
                <a:latin typeface="Consolas" panose="020B0609020204030204" pitchFamily="49" charset="0"/>
              </a:rPr>
              <a:t>)) {</a:t>
            </a:r>
          </a:p>
          <a:p>
            <a:pPr lvl="1"/>
            <a:r>
              <a:rPr lang="en-US" altLang="zh-CN" sz="1600" b="1" dirty="0">
                <a:latin typeface="Consolas" panose="020B0609020204030204" pitchFamily="49" charset="0"/>
              </a:rPr>
              <a: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a:t>
            </a:r>
            <a:r>
              <a:rPr lang="en-US" altLang="zh-CN" sz="1600" b="1" dirty="0" err="1">
                <a:latin typeface="Consolas" panose="020B0609020204030204" pitchFamily="49" charset="0"/>
              </a:rPr>
              <a:t>sm.size</a:t>
            </a:r>
            <a:r>
              <a:rPr lang="en-US" altLang="zh-CN" sz="1600" b="1" dirty="0">
                <a:latin typeface="Consolas" panose="020B0609020204030204" pitchFamily="49" charset="0"/>
              </a:rPr>
              <a:t>() &lt;&lt; " matches\n";</a:t>
            </a:r>
          </a:p>
          <a:p>
            <a:pPr lvl="1"/>
            <a:r>
              <a:rPr lang="en-US" altLang="zh-CN" sz="1600" b="1" dirty="0">
                <a:latin typeface="Consolas" panose="020B0609020204030204" pitchFamily="49" charset="0"/>
              </a:rPr>
              <a: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"the matches were:"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a:t>
            </a:r>
          </a:p>
          <a:p>
            <a:pPr lvl="2"/>
            <a:r>
              <a:rPr lang="en-US" altLang="zh-CN" sz="1600" b="1" dirty="0">
                <a:latin typeface="Consolas" panose="020B0609020204030204" pitchFamily="49" charset="0"/>
              </a:rPr>
              <a:t>for (unsigned </a:t>
            </a:r>
            <a:r>
              <a:rPr lang="en-US" altLang="zh-CN" sz="1600" b="1" dirty="0" err="1">
                <a:latin typeface="Consolas" panose="020B0609020204030204" pitchFamily="49" charset="0"/>
              </a:rPr>
              <a:t>i</a:t>
            </a:r>
            <a:r>
              <a:rPr lang="en-US" altLang="zh-CN" sz="1600" b="1" dirty="0">
                <a:latin typeface="Consolas" panose="020B0609020204030204" pitchFamily="49" charset="0"/>
              </a:rPr>
              <a:t>=0; </a:t>
            </a:r>
            <a:r>
              <a:rPr lang="en-US" altLang="zh-CN" sz="1600" b="1" dirty="0" err="1">
                <a:latin typeface="Consolas" panose="020B0609020204030204" pitchFamily="49" charset="0"/>
              </a:rPr>
              <a:t>i</a:t>
            </a:r>
            <a:r>
              <a:rPr lang="en-US" altLang="zh-CN" sz="1600" b="1" dirty="0">
                <a:latin typeface="Consolas" panose="020B0609020204030204" pitchFamily="49" charset="0"/>
              </a:rPr>
              <a:t>&lt;</a:t>
            </a:r>
            <a:r>
              <a:rPr lang="en-US" altLang="zh-CN" sz="1600" b="1" dirty="0" err="1">
                <a:latin typeface="Consolas" panose="020B0609020204030204" pitchFamily="49" charset="0"/>
              </a:rPr>
              <a:t>sm.size</a:t>
            </a:r>
            <a:r>
              <a:rPr lang="en-US" altLang="zh-CN" sz="1600" b="1" dirty="0">
                <a:latin typeface="Consolas" panose="020B0609020204030204" pitchFamily="49" charset="0"/>
              </a:rPr>
              <a:t>(); ++</a:t>
            </a:r>
            <a:r>
              <a:rPr lang="en-US" altLang="zh-CN" sz="1600" b="1" dirty="0" err="1">
                <a:latin typeface="Consolas" panose="020B0609020204030204" pitchFamily="49" charset="0"/>
              </a:rPr>
              <a:t>i</a:t>
            </a:r>
            <a:r>
              <a:rPr lang="en-US" altLang="zh-CN" sz="1600" b="1" dirty="0">
                <a:latin typeface="Consolas" panose="020B0609020204030204" pitchFamily="49" charset="0"/>
              </a:rPr>
              <a:t>) {</a:t>
            </a:r>
          </a:p>
          <a:p>
            <a:pPr lvl="2"/>
            <a:r>
              <a:rPr lang="en-US" altLang="zh-CN" sz="1600" b="1" dirty="0">
                <a:latin typeface="Consolas" panose="020B0609020204030204" pitchFamily="49" charset="0"/>
              </a:rPr>
              <a:t>	</a:t>
            </a:r>
            <a:r>
              <a:rPr lang="en-US" altLang="zh-CN" sz="1600" b="1" dirty="0" err="1">
                <a:latin typeface="Consolas" panose="020B0609020204030204" pitchFamily="49" charset="0"/>
              </a:rPr>
              <a:t>cout</a:t>
            </a:r>
            <a:r>
              <a:rPr lang="en-US" altLang="zh-CN" sz="1600" b="1" dirty="0">
                <a:latin typeface="Consolas" panose="020B0609020204030204" pitchFamily="49" charset="0"/>
              </a:rPr>
              <a:t> &lt;&lt; </a:t>
            </a:r>
            <a:r>
              <a:rPr lang="en-US" altLang="zh-CN" sz="1600" b="1" dirty="0" err="1">
                <a:latin typeface="Consolas" panose="020B0609020204030204" pitchFamily="49" charset="0"/>
              </a:rPr>
              <a:t>sm</a:t>
            </a:r>
            <a:r>
              <a:rPr lang="en-US" altLang="zh-CN" sz="1600" b="1" dirty="0">
                <a:latin typeface="Consolas" panose="020B0609020204030204" pitchFamily="49" charset="0"/>
              </a:rPr>
              <a:t>[</a:t>
            </a:r>
            <a:r>
              <a:rPr lang="en-US" altLang="zh-CN" sz="1600" b="1" dirty="0" err="1">
                <a:latin typeface="Consolas" panose="020B0609020204030204" pitchFamily="49" charset="0"/>
              </a:rPr>
              <a:t>i</a:t>
            </a:r>
            <a:r>
              <a:rPr lang="en-US" altLang="zh-CN" sz="1600" b="1" dirty="0">
                <a:latin typeface="Consolas" panose="020B0609020204030204" pitchFamily="49" charset="0"/>
              </a:rPr>
              <a:t>] &lt;&lt; </a:t>
            </a:r>
            <a:r>
              <a:rPr lang="en-US" altLang="zh-CN" sz="1600" b="1" dirty="0" err="1">
                <a:latin typeface="Consolas" panose="020B0609020204030204" pitchFamily="49" charset="0"/>
              </a:rPr>
              <a:t>endl</a:t>
            </a:r>
            <a:r>
              <a:rPr lang="en-US" altLang="zh-CN" sz="1600" b="1" dirty="0">
                <a:latin typeface="Consolas" panose="020B0609020204030204" pitchFamily="49" charset="0"/>
              </a:rPr>
              <a:t>;</a:t>
            </a:r>
          </a:p>
          <a:p>
            <a:pPr lvl="2"/>
            <a:r>
              <a:rPr lang="en-US" altLang="zh-CN" sz="1600" b="1" dirty="0">
                <a:latin typeface="Consolas" panose="020B0609020204030204" pitchFamily="49" charset="0"/>
              </a:rPr>
              <a:t>}</a:t>
            </a:r>
          </a:p>
          <a:p>
            <a:pPr lvl="1"/>
            <a:r>
              <a:rPr lang="en-US" altLang="zh-CN" sz="1600" b="1" dirty="0">
                <a:latin typeface="Consolas" panose="020B0609020204030204" pitchFamily="49" charset="0"/>
              </a:rPr>
              <a:t>}</a:t>
            </a:r>
          </a:p>
          <a:p>
            <a:pPr lvl="1"/>
            <a:r>
              <a:rPr lang="en-US" altLang="zh-CN" sz="1600" b="1" dirty="0">
                <a:latin typeface="Consolas" panose="020B0609020204030204" pitchFamily="49" charset="0"/>
              </a:rPr>
              <a:t>return 0;</a:t>
            </a:r>
          </a:p>
          <a:p>
            <a:r>
              <a:rPr lang="en-US" altLang="zh-CN" sz="1600" b="1" dirty="0">
                <a:latin typeface="Consolas" panose="020B0609020204030204" pitchFamily="49" charset="0"/>
              </a:rPr>
              <a:t>}</a:t>
            </a:r>
          </a:p>
        </p:txBody>
      </p:sp>
      <p:sp>
        <p:nvSpPr>
          <p:cNvPr id="8" name="文本框 7"/>
          <p:cNvSpPr txBox="1"/>
          <p:nvPr/>
        </p:nvSpPr>
        <p:spPr>
          <a:xfrm>
            <a:off x="6720717" y="4077072"/>
            <a:ext cx="2158540" cy="1938992"/>
          </a:xfrm>
          <a:prstGeom prst="rect">
            <a:avLst/>
          </a:prstGeom>
          <a:noFill/>
        </p:spPr>
        <p:txBody>
          <a:bodyPr wrap="none" rtlCol="0">
            <a:spAutoFit/>
          </a:bodyPr>
          <a:lstStyle/>
          <a:p>
            <a:r>
              <a:rPr lang="zh-CN" altLang="en-US" sz="2000" b="1" dirty="0">
                <a:solidFill>
                  <a:srgbClr val="00B050"/>
                </a:solidFill>
              </a:rPr>
              <a:t>输出：</a:t>
            </a:r>
            <a:endParaRPr lang="en-US" altLang="zh-CN" sz="2000" b="1" dirty="0">
              <a:solidFill>
                <a:srgbClr val="00B050"/>
              </a:solidFill>
            </a:endParaRPr>
          </a:p>
          <a:p>
            <a:endParaRPr lang="en-US" altLang="zh-CN" sz="2000" b="1" dirty="0">
              <a:solidFill>
                <a:srgbClr val="00B050"/>
              </a:solidFill>
            </a:endParaRPr>
          </a:p>
          <a:p>
            <a:r>
              <a:rPr lang="en-US" altLang="zh-CN" sz="2000" b="1" dirty="0">
                <a:solidFill>
                  <a:srgbClr val="00B050"/>
                </a:solidFill>
              </a:rPr>
              <a:t>2 matches</a:t>
            </a:r>
          </a:p>
          <a:p>
            <a:r>
              <a:rPr lang="en-US" altLang="zh-CN" sz="2000" b="1" dirty="0">
                <a:solidFill>
                  <a:srgbClr val="00B050"/>
                </a:solidFill>
              </a:rPr>
              <a:t>the matches were:</a:t>
            </a:r>
          </a:p>
          <a:p>
            <a:r>
              <a:rPr lang="en-US" altLang="zh-CN" sz="2000" b="1" dirty="0">
                <a:solidFill>
                  <a:srgbClr val="00B050"/>
                </a:solidFill>
              </a:rPr>
              <a:t>version10</a:t>
            </a:r>
          </a:p>
          <a:p>
            <a:r>
              <a:rPr lang="en-US" altLang="zh-CN" sz="2000" b="1" dirty="0">
                <a:solidFill>
                  <a:srgbClr val="00B050"/>
                </a:solidFill>
              </a:rPr>
              <a:t>10</a:t>
            </a:r>
            <a:endParaRPr lang="zh-CN" altLang="en-US" sz="2000" b="1" dirty="0">
              <a:solidFill>
                <a:srgbClr val="00B050"/>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捕获和分组</a:t>
            </a:r>
          </a:p>
        </p:txBody>
      </p:sp>
      <p:sp>
        <p:nvSpPr>
          <p:cNvPr id="3" name="内容占位符 2"/>
          <p:cNvSpPr>
            <a:spLocks noGrp="1"/>
          </p:cNvSpPr>
          <p:nvPr>
            <p:ph idx="1"/>
          </p:nvPr>
        </p:nvSpPr>
        <p:spPr/>
        <p:txBody>
          <a:bodyPr/>
          <a:lstStyle/>
          <a:p>
            <a:r>
              <a:rPr lang="zh-CN" altLang="en-US" dirty="0"/>
              <a:t>分组会按顺序标号</a:t>
            </a:r>
            <a:endParaRPr lang="en-US" altLang="zh-CN" dirty="0"/>
          </a:p>
          <a:p>
            <a:pPr lvl="1"/>
            <a:r>
              <a:rPr lang="en-US" altLang="zh-CN" dirty="0"/>
              <a:t>0</a:t>
            </a:r>
            <a:r>
              <a:rPr lang="zh-CN" altLang="en-US" dirty="0"/>
              <a:t>号永远是匹配的字符串本身</a:t>
            </a:r>
            <a:endParaRPr lang="en-US" altLang="zh-CN" dirty="0"/>
          </a:p>
          <a:p>
            <a:pPr lvl="1"/>
            <a:r>
              <a:rPr lang="en-US" altLang="zh-CN" dirty="0"/>
              <a:t>(a)(</a:t>
            </a:r>
            <a:r>
              <a:rPr lang="en-US" altLang="zh-CN" dirty="0" err="1"/>
              <a:t>pple</a:t>
            </a:r>
            <a:r>
              <a:rPr lang="en-US" altLang="zh-CN" dirty="0"/>
              <a:t>)</a:t>
            </a:r>
            <a:r>
              <a:rPr lang="zh-CN" altLang="en-US" dirty="0"/>
              <a:t>：</a:t>
            </a:r>
            <a:r>
              <a:rPr lang="en-US" altLang="zh-CN" dirty="0"/>
              <a:t> 0</a:t>
            </a:r>
            <a:r>
              <a:rPr lang="zh-CN" altLang="en-US" dirty="0"/>
              <a:t>号为</a:t>
            </a:r>
            <a:r>
              <a:rPr lang="en-US" altLang="zh-CN" dirty="0"/>
              <a:t>apple</a:t>
            </a:r>
            <a:r>
              <a:rPr lang="zh-CN" altLang="en-US" dirty="0"/>
              <a:t>，</a:t>
            </a:r>
            <a:r>
              <a:rPr lang="en-US" altLang="zh-CN" dirty="0"/>
              <a:t>1</a:t>
            </a:r>
            <a:r>
              <a:rPr lang="zh-CN" altLang="en-US" dirty="0"/>
              <a:t>号为</a:t>
            </a:r>
            <a:r>
              <a:rPr lang="en-US" altLang="zh-CN" dirty="0"/>
              <a:t>a</a:t>
            </a:r>
            <a:r>
              <a:rPr lang="zh-CN" altLang="en-US" dirty="0"/>
              <a:t>，</a:t>
            </a:r>
            <a:r>
              <a:rPr lang="en-US" altLang="zh-CN" dirty="0"/>
              <a:t>2</a:t>
            </a:r>
            <a:r>
              <a:rPr lang="zh-CN" altLang="en-US" dirty="0"/>
              <a:t>号为</a:t>
            </a:r>
            <a:r>
              <a:rPr lang="en-US" altLang="zh-CN" dirty="0" err="1"/>
              <a:t>pple</a:t>
            </a:r>
            <a:endParaRPr lang="en-US" altLang="zh-CN" dirty="0"/>
          </a:p>
          <a:p>
            <a:pPr lvl="1"/>
            <a:r>
              <a:rPr lang="zh-CN" altLang="en-US" dirty="0"/>
              <a:t>用</a:t>
            </a:r>
            <a:r>
              <a:rPr lang="en-US" altLang="zh-CN" dirty="0"/>
              <a:t>(sub)(.*)</a:t>
            </a:r>
            <a:r>
              <a:rPr lang="zh-CN" altLang="en-US" dirty="0"/>
              <a:t>匹配</a:t>
            </a:r>
            <a:r>
              <a:rPr lang="en-US" altLang="zh-CN" dirty="0"/>
              <a:t>subject</a:t>
            </a:r>
            <a:r>
              <a:rPr lang="zh-CN" altLang="en-US" dirty="0"/>
              <a:t>：</a:t>
            </a:r>
            <a:r>
              <a:rPr lang="en-US" altLang="zh-CN" dirty="0"/>
              <a:t>0</a:t>
            </a:r>
            <a:r>
              <a:rPr lang="zh-CN" altLang="en-US" dirty="0"/>
              <a:t>号为</a:t>
            </a:r>
            <a:r>
              <a:rPr lang="en-US" altLang="zh-CN" dirty="0"/>
              <a:t>subject</a:t>
            </a:r>
            <a:r>
              <a:rPr lang="zh-CN" altLang="en-US" dirty="0"/>
              <a:t>，</a:t>
            </a:r>
            <a:r>
              <a:rPr lang="en-US" altLang="zh-CN" dirty="0"/>
              <a:t>1</a:t>
            </a:r>
            <a:r>
              <a:rPr lang="zh-CN" altLang="en-US" dirty="0"/>
              <a:t>号为</a:t>
            </a:r>
            <a:r>
              <a:rPr lang="en-US" altLang="zh-CN" dirty="0"/>
              <a:t>sub</a:t>
            </a:r>
            <a:r>
              <a:rPr lang="zh-CN" altLang="en-US" dirty="0"/>
              <a:t>，</a:t>
            </a:r>
            <a:r>
              <a:rPr lang="en-US" altLang="zh-CN" dirty="0"/>
              <a:t>2</a:t>
            </a:r>
            <a:r>
              <a:rPr lang="zh-CN" altLang="en-US" dirty="0"/>
              <a:t>号为</a:t>
            </a:r>
            <a:r>
              <a:rPr lang="en-US" altLang="zh-CN" dirty="0" err="1"/>
              <a:t>ject</a:t>
            </a:r>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96</a:t>
            </a:fld>
            <a:endParaRPr lang="en-US" altLang="zh-C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正则表达式库 </a:t>
            </a:r>
            <a:r>
              <a:rPr lang="en-US" altLang="zh-CN" dirty="0"/>
              <a:t>&lt;regex&gt;</a:t>
            </a:r>
            <a:endParaRPr lang="zh-CN" altLang="en-US" dirty="0"/>
          </a:p>
        </p:txBody>
      </p:sp>
      <p:sp>
        <p:nvSpPr>
          <p:cNvPr id="3" name="内容占位符 2"/>
          <p:cNvSpPr>
            <a:spLocks noGrp="1"/>
          </p:cNvSpPr>
          <p:nvPr>
            <p:ph idx="1"/>
          </p:nvPr>
        </p:nvSpPr>
        <p:spPr>
          <a:xfrm>
            <a:off x="628650" y="1628800"/>
            <a:ext cx="8377014" cy="4749029"/>
          </a:xfrm>
        </p:spPr>
        <p:txBody>
          <a:bodyPr/>
          <a:lstStyle/>
          <a:p>
            <a:r>
              <a:rPr lang="zh-CN" altLang="en-US" dirty="0"/>
              <a:t>搜索</a:t>
            </a:r>
            <a:endParaRPr lang="en-US" altLang="zh-CN" dirty="0"/>
          </a:p>
          <a:p>
            <a:pPr lvl="1"/>
            <a:r>
              <a:rPr lang="en-US" altLang="zh-CN" sz="2800" dirty="0" err="1"/>
              <a:t>regex_search</a:t>
            </a:r>
            <a:r>
              <a:rPr lang="en-US" altLang="zh-CN" sz="2800" dirty="0"/>
              <a:t>(s,</a:t>
            </a:r>
            <a:r>
              <a:rPr lang="zh-CN" altLang="en-US" sz="2800" dirty="0"/>
              <a:t> </a:t>
            </a:r>
            <a:r>
              <a:rPr lang="en-US" altLang="zh-CN" sz="2800" dirty="0"/>
              <a:t>result,</a:t>
            </a:r>
            <a:r>
              <a:rPr lang="zh-CN" altLang="en-US" sz="2800" dirty="0"/>
              <a:t> </a:t>
            </a:r>
            <a:r>
              <a:rPr lang="en-US" altLang="zh-CN" sz="2800" dirty="0"/>
              <a:t>re)</a:t>
            </a:r>
            <a:r>
              <a:rPr lang="zh-CN" altLang="en-US" sz="2800" dirty="0"/>
              <a:t>：搜索字符串</a:t>
            </a:r>
            <a:r>
              <a:rPr lang="en-US" altLang="zh-CN" sz="2800" dirty="0"/>
              <a:t>s</a:t>
            </a:r>
            <a:r>
              <a:rPr lang="zh-CN" altLang="en-US" sz="2800" dirty="0"/>
              <a:t>中能够匹配正则表达式</a:t>
            </a:r>
            <a:r>
              <a:rPr lang="en-US" altLang="zh-CN" sz="2800" dirty="0"/>
              <a:t>re</a:t>
            </a:r>
            <a:r>
              <a:rPr lang="zh-CN" altLang="en-US" sz="2800" dirty="0"/>
              <a:t>的</a:t>
            </a:r>
            <a:r>
              <a:rPr lang="zh-CN" altLang="en-US" sz="2800" b="1" dirty="0">
                <a:solidFill>
                  <a:srgbClr val="C00000"/>
                </a:solidFill>
              </a:rPr>
              <a:t>第一个</a:t>
            </a:r>
            <a:r>
              <a:rPr lang="zh-CN" altLang="en-US" sz="2800" dirty="0"/>
              <a:t>子串，并将结果存储在</a:t>
            </a:r>
            <a:r>
              <a:rPr lang="en-US" altLang="zh-CN" sz="2800" dirty="0"/>
              <a:t>result</a:t>
            </a:r>
            <a:r>
              <a:rPr lang="zh-CN" altLang="en-US" sz="2800" dirty="0"/>
              <a:t>中</a:t>
            </a:r>
            <a:endParaRPr lang="en-US" altLang="zh-CN" sz="2800" dirty="0"/>
          </a:p>
          <a:p>
            <a:pPr lvl="1"/>
            <a:endParaRPr lang="en-US" altLang="zh-CN" sz="2800" dirty="0"/>
          </a:p>
          <a:p>
            <a:pPr lvl="1"/>
            <a:r>
              <a:rPr lang="en-US" altLang="zh-CN" sz="2800" dirty="0"/>
              <a:t>result</a:t>
            </a:r>
            <a:r>
              <a:rPr lang="zh-CN" altLang="en-US" sz="2800" dirty="0"/>
              <a:t>是一个</a:t>
            </a:r>
            <a:r>
              <a:rPr lang="en-US" altLang="zh-CN" sz="2800" dirty="0" err="1"/>
              <a:t>smatch</a:t>
            </a:r>
            <a:r>
              <a:rPr lang="zh-CN" altLang="en-US" sz="2800" dirty="0"/>
              <a:t>对象</a:t>
            </a:r>
            <a:endParaRPr lang="en-US" altLang="zh-CN" sz="2800" dirty="0"/>
          </a:p>
          <a:p>
            <a:pPr lvl="1"/>
            <a:r>
              <a:rPr lang="zh-CN" altLang="en-US" sz="2800" dirty="0"/>
              <a:t>对于该子串，分组同样会被捕获</a:t>
            </a:r>
            <a:endParaRPr lang="en-US" altLang="zh-CN" sz="2800" dirty="0"/>
          </a:p>
          <a:p>
            <a:pPr marL="457200" lvl="1" indent="0">
              <a:buNone/>
            </a:pPr>
            <a:r>
              <a:rPr lang="en-US" altLang="zh-CN" dirty="0"/>
              <a:t>	</a:t>
            </a:r>
          </a:p>
          <a:p>
            <a:endParaRPr lang="en-US" altLang="zh-CN" sz="2400" dirty="0">
              <a:solidFill>
                <a:schemeClr val="tx1"/>
              </a:solidFill>
            </a:endParaRPr>
          </a:p>
          <a:p>
            <a:endParaRPr lang="en-US" altLang="zh-CN" sz="2400" dirty="0">
              <a:solidFill>
                <a:schemeClr val="tx1"/>
              </a:solidFill>
            </a:endParaRPr>
          </a:p>
          <a:p>
            <a:endParaRPr lang="en-US" altLang="zh-CN" sz="2400" dirty="0">
              <a:solidFill>
                <a:schemeClr val="tx1"/>
              </a:solidFill>
            </a:endParaRP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97</a:t>
            </a:fld>
            <a:endParaRPr lang="en-US" altLang="zh-CN"/>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搜索的例子</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98</a:t>
            </a:fld>
            <a:endParaRPr lang="en-US" altLang="zh-CN"/>
          </a:p>
        </p:txBody>
      </p:sp>
      <p:sp>
        <p:nvSpPr>
          <p:cNvPr id="5" name="文本框 4"/>
          <p:cNvSpPr txBox="1"/>
          <p:nvPr/>
        </p:nvSpPr>
        <p:spPr>
          <a:xfrm>
            <a:off x="193870" y="1225689"/>
            <a:ext cx="8439296" cy="5632311"/>
          </a:xfrm>
          <a:prstGeom prst="rect">
            <a:avLst/>
          </a:prstGeom>
          <a:noFill/>
        </p:spPr>
        <p:txBody>
          <a:bodyPr wrap="squar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&lt;string&gt;</a:t>
            </a:r>
          </a:p>
          <a:p>
            <a:r>
              <a:rPr lang="en-US" altLang="zh-CN" sz="2000" b="1" dirty="0">
                <a:latin typeface="Consolas" panose="020B0609020204030204" pitchFamily="49" charset="0"/>
              </a:rPr>
              <a:t>#include &lt;regex&gt;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endParaRPr lang="en-GB" altLang="zh-CN" sz="2000" b="1" dirty="0">
              <a:latin typeface="Consolas" panose="020B0609020204030204" pitchFamily="49" charset="0"/>
            </a:endParaRPr>
          </a:p>
          <a:p>
            <a:pPr lvl="1"/>
            <a:r>
              <a:rPr lang="en-GB" altLang="zh-CN" sz="2000" b="1" dirty="0">
                <a:latin typeface="Consolas" panose="020B0609020204030204" pitchFamily="49" charset="0"/>
              </a:rPr>
              <a:t>string s("this subject has a submarine");</a:t>
            </a:r>
          </a:p>
          <a:p>
            <a:pPr lvl="1"/>
            <a:r>
              <a:rPr lang="en-GB" altLang="zh-CN" sz="2000" b="1" dirty="0">
                <a:solidFill>
                  <a:srgbClr val="FF0000"/>
                </a:solidFill>
                <a:latin typeface="Consolas" panose="020B0609020204030204" pitchFamily="49" charset="0"/>
              </a:rPr>
              <a:t>regex</a:t>
            </a:r>
            <a:r>
              <a:rPr lang="en-GB" altLang="zh-CN" sz="2000" b="1" dirty="0">
                <a:latin typeface="Consolas" panose="020B0609020204030204" pitchFamily="49" charset="0"/>
              </a:rPr>
              <a:t> e(</a:t>
            </a:r>
            <a:r>
              <a:rPr lang="en-US" altLang="en-GB" sz="2000" b="1" dirty="0">
                <a:latin typeface="Consolas" panose="020B0609020204030204" pitchFamily="49" charset="0"/>
              </a:rPr>
              <a:t>R</a:t>
            </a:r>
            <a:r>
              <a:rPr lang="en-GB" altLang="zh-CN" sz="2000" b="1" dirty="0">
                <a:latin typeface="Consolas" panose="020B0609020204030204" pitchFamily="49" charset="0"/>
              </a:rPr>
              <a:t>"</a:t>
            </a:r>
            <a:r>
              <a:rPr lang="en-US" altLang="en-GB" sz="2000" b="1" dirty="0">
                <a:latin typeface="Consolas" panose="020B0609020204030204" pitchFamily="49" charset="0"/>
              </a:rPr>
              <a:t>(</a:t>
            </a:r>
            <a:r>
              <a:rPr lang="en-US" altLang="zh-CN" sz="2000" b="1" dirty="0">
                <a:latin typeface="Consolas" panose="020B0609020204030204" pitchFamily="49" charset="0"/>
              </a:rPr>
              <a:t>(</a:t>
            </a:r>
            <a:r>
              <a:rPr lang="en-GB" altLang="zh-CN" sz="2000" b="1" dirty="0">
                <a:latin typeface="Consolas" panose="020B0609020204030204" pitchFamily="49" charset="0"/>
              </a:rPr>
              <a:t>sub</a:t>
            </a:r>
            <a:r>
              <a:rPr lang="en-US" altLang="zh-CN" sz="2000" b="1" dirty="0">
                <a:latin typeface="Consolas" panose="020B0609020204030204" pitchFamily="49" charset="0"/>
              </a:rPr>
              <a:t>)(</a:t>
            </a:r>
            <a:r>
              <a:rPr lang="en-GB" altLang="zh-CN" sz="2000" b="1" dirty="0">
                <a:latin typeface="Consolas" panose="020B0609020204030204" pitchFamily="49" charset="0"/>
              </a:rPr>
              <a:t>[\S]*</a:t>
            </a:r>
            <a:r>
              <a:rPr lang="en-US" altLang="zh-CN" sz="2000" b="1" dirty="0">
                <a:latin typeface="Consolas" panose="020B0609020204030204" pitchFamily="49" charset="0"/>
              </a:rPr>
              <a:t>))</a:t>
            </a:r>
            <a:r>
              <a:rPr lang="en-GB" altLang="zh-CN" sz="2000" b="1" dirty="0">
                <a:latin typeface="Consolas" panose="020B0609020204030204" pitchFamily="49" charset="0"/>
              </a:rPr>
              <a:t>");</a:t>
            </a:r>
          </a:p>
          <a:p>
            <a:pPr lvl="1"/>
            <a:r>
              <a:rPr lang="en-GB" altLang="zh-CN" sz="2000" b="1" dirty="0" err="1">
                <a:solidFill>
                  <a:srgbClr val="FF0000"/>
                </a:solidFill>
                <a:latin typeface="Consolas" panose="020B0609020204030204" pitchFamily="49" charset="0"/>
              </a:rPr>
              <a:t>smatch</a:t>
            </a:r>
            <a:r>
              <a:rPr lang="en-GB" altLang="zh-CN" sz="2000" b="1" dirty="0">
                <a:latin typeface="Consolas" panose="020B0609020204030204" pitchFamily="49" charset="0"/>
              </a:rPr>
              <a:t> </a:t>
            </a:r>
            <a:r>
              <a:rPr lang="en-GB" altLang="zh-CN" sz="2000" b="1" dirty="0" err="1">
                <a:latin typeface="Consolas" panose="020B0609020204030204" pitchFamily="49" charset="0"/>
              </a:rPr>
              <a:t>sm</a:t>
            </a:r>
            <a:r>
              <a:rPr lang="en-GB" altLang="zh-CN" sz="2000" b="1" dirty="0">
                <a:latin typeface="Consolas" panose="020B0609020204030204" pitchFamily="49" charset="0"/>
              </a:rPr>
              <a:t>;</a:t>
            </a:r>
          </a:p>
          <a:p>
            <a:pPr lvl="1"/>
            <a:r>
              <a:rPr lang="en-US" altLang="zh-CN" sz="2000" b="1" dirty="0">
                <a:solidFill>
                  <a:srgbClr val="00B050"/>
                </a:solidFill>
                <a:latin typeface="Consolas" panose="020B0609020204030204" pitchFamily="49" charset="0"/>
              </a:rPr>
              <a:t>//</a:t>
            </a:r>
            <a:r>
              <a:rPr lang="zh-CN" altLang="en-GB" sz="2000" b="1" dirty="0">
                <a:solidFill>
                  <a:srgbClr val="00B050"/>
                </a:solidFill>
                <a:latin typeface="Consolas" panose="020B0609020204030204" pitchFamily="49" charset="0"/>
              </a:rPr>
              <a:t>每次</a:t>
            </a:r>
            <a:r>
              <a:rPr lang="zh-CN" altLang="en-US" sz="2000" b="1" dirty="0">
                <a:solidFill>
                  <a:srgbClr val="00B050"/>
                </a:solidFill>
                <a:latin typeface="Consolas" panose="020B0609020204030204" pitchFamily="49" charset="0"/>
              </a:rPr>
              <a:t>搜索时当仅保存第一个匹配到的子串</a:t>
            </a:r>
            <a:endParaRPr lang="en-GB" altLang="zh-CN" sz="2000" b="1" dirty="0">
              <a:solidFill>
                <a:srgbClr val="00B050"/>
              </a:solidFill>
              <a:latin typeface="Consolas" panose="020B0609020204030204" pitchFamily="49" charset="0"/>
            </a:endParaRPr>
          </a:p>
          <a:p>
            <a:pPr lvl="1"/>
            <a:r>
              <a:rPr lang="en-GB" altLang="zh-CN" sz="2000" b="1" dirty="0">
                <a:latin typeface="Consolas" panose="020B0609020204030204" pitchFamily="49" charset="0"/>
              </a:rPr>
              <a:t>while(</a:t>
            </a:r>
            <a:r>
              <a:rPr lang="en-GB" altLang="zh-CN" sz="2000" b="1" dirty="0" err="1">
                <a:solidFill>
                  <a:srgbClr val="FF0000"/>
                </a:solidFill>
                <a:latin typeface="Consolas" panose="020B0609020204030204" pitchFamily="49" charset="0"/>
              </a:rPr>
              <a:t>regex_search</a:t>
            </a:r>
            <a:r>
              <a:rPr lang="en-GB" altLang="zh-CN" sz="2000" b="1" dirty="0">
                <a:latin typeface="Consolas" panose="020B0609020204030204" pitchFamily="49" charset="0"/>
              </a:rPr>
              <a:t>(</a:t>
            </a:r>
            <a:r>
              <a:rPr lang="en-GB" altLang="zh-CN" sz="2000" b="1" dirty="0" err="1">
                <a:latin typeface="Consolas" panose="020B0609020204030204" pitchFamily="49" charset="0"/>
              </a:rPr>
              <a:t>s,sm,e</a:t>
            </a:r>
            <a:r>
              <a:rPr lang="en-GB" altLang="zh-CN" sz="2000" b="1" dirty="0">
                <a:latin typeface="Consolas" panose="020B0609020204030204" pitchFamily="49" charset="0"/>
              </a:rPr>
              <a:t>)){</a:t>
            </a:r>
          </a:p>
          <a:p>
            <a:pPr lvl="1"/>
            <a:r>
              <a:rPr lang="en-GB" altLang="zh-CN" sz="2000" b="1" dirty="0">
                <a:latin typeface="Consolas" panose="020B0609020204030204" pitchFamily="49" charset="0"/>
              </a:rPr>
              <a:t>	for (unsigned </a:t>
            </a:r>
            <a:r>
              <a:rPr lang="en-GB" altLang="zh-CN" sz="2000" b="1" dirty="0" err="1">
                <a:latin typeface="Consolas" panose="020B0609020204030204" pitchFamily="49" charset="0"/>
              </a:rPr>
              <a:t>i</a:t>
            </a:r>
            <a:r>
              <a:rPr lang="en-GB" altLang="zh-CN" sz="2000" b="1" dirty="0">
                <a:latin typeface="Consolas" panose="020B0609020204030204" pitchFamily="49" charset="0"/>
              </a:rPr>
              <a:t>=0; </a:t>
            </a:r>
            <a:r>
              <a:rPr lang="en-GB" altLang="zh-CN" sz="2000" b="1" dirty="0" err="1">
                <a:latin typeface="Consolas" panose="020B0609020204030204" pitchFamily="49" charset="0"/>
              </a:rPr>
              <a:t>i</a:t>
            </a:r>
            <a:r>
              <a:rPr lang="en-GB" altLang="zh-CN" sz="2000" b="1" dirty="0">
                <a:latin typeface="Consolas" panose="020B0609020204030204" pitchFamily="49" charset="0"/>
              </a:rPr>
              <a:t>&lt;</a:t>
            </a:r>
            <a:r>
              <a:rPr lang="en-GB" altLang="zh-CN" sz="2000" b="1" dirty="0" err="1">
                <a:latin typeface="Consolas" panose="020B0609020204030204" pitchFamily="49" charset="0"/>
              </a:rPr>
              <a:t>sm.size</a:t>
            </a:r>
            <a:r>
              <a:rPr lang="en-GB" altLang="zh-CN" sz="2000" b="1" dirty="0">
                <a:latin typeface="Consolas" panose="020B0609020204030204" pitchFamily="49" charset="0"/>
              </a:rPr>
              <a:t>(); ++</a:t>
            </a:r>
            <a:r>
              <a:rPr lang="en-GB" altLang="zh-CN" sz="2000" b="1" dirty="0" err="1">
                <a:latin typeface="Consolas" panose="020B0609020204030204" pitchFamily="49" charset="0"/>
              </a:rPr>
              <a:t>i</a:t>
            </a:r>
            <a:r>
              <a:rPr lang="en-GB" altLang="zh-CN" sz="2000" b="1" dirty="0">
                <a:latin typeface="Consolas" panose="020B0609020204030204" pitchFamily="49" charset="0"/>
              </a:rPr>
              <a:t>)</a:t>
            </a:r>
          </a:p>
          <a:p>
            <a:pPr lvl="1"/>
            <a:r>
              <a:rPr lang="en-GB" altLang="zh-CN" sz="2000" b="1" dirty="0">
                <a:latin typeface="Consolas" panose="020B0609020204030204" pitchFamily="49" charset="0"/>
              </a:rPr>
              <a:t>		</a:t>
            </a:r>
            <a:r>
              <a:rPr lang="en-GB" altLang="zh-CN" sz="2000" b="1" dirty="0" err="1">
                <a:latin typeface="Consolas" panose="020B0609020204030204" pitchFamily="49" charset="0"/>
              </a:rPr>
              <a:t>cout</a:t>
            </a:r>
            <a:r>
              <a:rPr lang="en-GB" altLang="zh-CN" sz="2000" b="1" dirty="0">
                <a:latin typeface="Consolas" panose="020B0609020204030204" pitchFamily="49" charset="0"/>
              </a:rPr>
              <a:t> &lt;&lt; "[" &lt;&lt; </a:t>
            </a:r>
            <a:r>
              <a:rPr lang="en-GB" altLang="zh-CN" sz="2000" b="1" dirty="0" err="1">
                <a:latin typeface="Consolas" panose="020B0609020204030204" pitchFamily="49" charset="0"/>
              </a:rPr>
              <a:t>sm</a:t>
            </a:r>
            <a:r>
              <a:rPr lang="en-GB" altLang="zh-CN" sz="2000" b="1" dirty="0">
                <a:latin typeface="Consolas" panose="020B0609020204030204" pitchFamily="49" charset="0"/>
              </a:rPr>
              <a:t>[</a:t>
            </a:r>
            <a:r>
              <a:rPr lang="en-GB" altLang="zh-CN" sz="2000" b="1" dirty="0" err="1">
                <a:latin typeface="Consolas" panose="020B0609020204030204" pitchFamily="49" charset="0"/>
              </a:rPr>
              <a:t>i</a:t>
            </a:r>
            <a:r>
              <a:rPr lang="en-GB" altLang="zh-CN" sz="2000" b="1" dirty="0">
                <a:latin typeface="Consolas" panose="020B0609020204030204" pitchFamily="49" charset="0"/>
              </a:rPr>
              <a:t>] &lt;&lt; "] ";</a:t>
            </a:r>
          </a:p>
          <a:p>
            <a:pPr lvl="1"/>
            <a:r>
              <a:rPr lang="en-GB" altLang="zh-CN" sz="2000" b="1" dirty="0">
                <a:latin typeface="Consolas" panose="020B0609020204030204" pitchFamily="49" charset="0"/>
              </a:rPr>
              <a:t>	</a:t>
            </a:r>
            <a:r>
              <a:rPr lang="en-GB" altLang="zh-CN" sz="2000" b="1" dirty="0" err="1">
                <a:latin typeface="Consolas" panose="020B0609020204030204" pitchFamily="49" charset="0"/>
              </a:rPr>
              <a:t>cout</a:t>
            </a:r>
            <a:r>
              <a:rPr lang="en-GB" altLang="zh-CN" sz="2000" b="1" dirty="0">
                <a:latin typeface="Consolas" panose="020B0609020204030204" pitchFamily="49" charset="0"/>
              </a:rPr>
              <a:t> &lt;&lt; </a:t>
            </a:r>
            <a:r>
              <a:rPr lang="en-GB" altLang="zh-CN" sz="2000" b="1" dirty="0" err="1">
                <a:latin typeface="Consolas" panose="020B0609020204030204" pitchFamily="49" charset="0"/>
              </a:rPr>
              <a:t>endl</a:t>
            </a:r>
            <a:r>
              <a:rPr lang="en-GB" altLang="zh-CN" sz="2000" b="1" dirty="0">
                <a:latin typeface="Consolas" panose="020B0609020204030204" pitchFamily="49" charset="0"/>
              </a:rPr>
              <a:t>;</a:t>
            </a:r>
          </a:p>
          <a:p>
            <a:pPr lvl="1"/>
            <a:r>
              <a:rPr lang="en-GB" altLang="zh-CN" sz="2000" b="1" dirty="0">
                <a:latin typeface="Consolas" panose="020B0609020204030204" pitchFamily="49" charset="0"/>
              </a:rPr>
              <a:t>	s = </a:t>
            </a:r>
            <a:r>
              <a:rPr lang="en-GB" altLang="zh-CN" sz="2000" b="1" dirty="0" err="1">
                <a:latin typeface="Consolas" panose="020B0609020204030204" pitchFamily="49" charset="0"/>
              </a:rPr>
              <a:t>sm.suffix</a:t>
            </a:r>
            <a:r>
              <a:rPr lang="en-GB" altLang="zh-CN" sz="2000" b="1" dirty="0">
                <a:latin typeface="Consolas" panose="020B0609020204030204" pitchFamily="49" charset="0"/>
              </a:rPr>
              <a:t>().str();</a:t>
            </a:r>
          </a:p>
          <a:p>
            <a:pPr lvl="1"/>
            <a:r>
              <a:rPr lang="en-GB" altLang="zh-CN" sz="2000" b="1" dirty="0">
                <a:latin typeface="Consolas" panose="020B0609020204030204" pitchFamily="49" charset="0"/>
              </a:rPr>
              <a:t>}</a:t>
            </a:r>
          </a:p>
          <a:p>
            <a:pPr lvl="1"/>
            <a:r>
              <a:rPr lang="en-GB" altLang="zh-CN" sz="2000" b="1" dirty="0">
                <a:latin typeface="Consolas" panose="020B0609020204030204" pitchFamily="49" charset="0"/>
              </a:rPr>
              <a:t>return 0;</a:t>
            </a:r>
          </a:p>
          <a:p>
            <a:r>
              <a:rPr lang="en-GB" altLang="zh-CN" sz="2000" b="1" dirty="0">
                <a:latin typeface="Consolas" panose="020B0609020204030204" pitchFamily="49" charset="0"/>
              </a:rPr>
              <a:t>}</a:t>
            </a:r>
            <a:endParaRPr lang="en-US" altLang="zh-CN" sz="2000" b="1" dirty="0">
              <a:latin typeface="Consolas" panose="020B0609020204030204" pitchFamily="49" charset="0"/>
            </a:endParaRPr>
          </a:p>
        </p:txBody>
      </p:sp>
      <p:sp>
        <p:nvSpPr>
          <p:cNvPr id="3" name="矩形 2"/>
          <p:cNvSpPr/>
          <p:nvPr/>
        </p:nvSpPr>
        <p:spPr>
          <a:xfrm>
            <a:off x="4622753" y="5561533"/>
            <a:ext cx="3902792" cy="1015663"/>
          </a:xfrm>
          <a:prstGeom prst="rect">
            <a:avLst/>
          </a:prstGeom>
        </p:spPr>
        <p:txBody>
          <a:bodyPr wrap="square">
            <a:spAutoFit/>
          </a:bodyPr>
          <a:lstStyle/>
          <a:p>
            <a:r>
              <a:rPr lang="zh-CN" altLang="en-US" sz="2000" b="1" dirty="0">
                <a:solidFill>
                  <a:srgbClr val="00B050"/>
                </a:solidFill>
                <a:latin typeface="Consolas" panose="020B0609020204030204" pitchFamily="49" charset="0"/>
              </a:rPr>
              <a:t>输出：</a:t>
            </a:r>
            <a:endParaRPr lang="en-US" altLang="zh-CN" sz="2000" b="1" dirty="0">
              <a:solidFill>
                <a:srgbClr val="00B050"/>
              </a:solidFill>
              <a:latin typeface="Consolas" panose="020B0609020204030204" pitchFamily="49" charset="0"/>
            </a:endParaRPr>
          </a:p>
          <a:p>
            <a:r>
              <a:rPr lang="en-GB" altLang="zh-CN" sz="2000" b="1" dirty="0">
                <a:solidFill>
                  <a:srgbClr val="00B050"/>
                </a:solidFill>
                <a:latin typeface="Consolas" panose="020B0609020204030204" pitchFamily="49" charset="0"/>
              </a:rPr>
              <a:t>[subject] [sub] [</a:t>
            </a:r>
            <a:r>
              <a:rPr lang="en-GB" altLang="zh-CN" sz="2000" b="1" dirty="0" err="1">
                <a:solidFill>
                  <a:srgbClr val="00B050"/>
                </a:solidFill>
                <a:latin typeface="Consolas" panose="020B0609020204030204" pitchFamily="49" charset="0"/>
              </a:rPr>
              <a:t>ject</a:t>
            </a:r>
            <a:r>
              <a:rPr lang="en-GB" altLang="zh-CN" sz="2000" b="1" dirty="0">
                <a:solidFill>
                  <a:srgbClr val="00B050"/>
                </a:solidFill>
                <a:latin typeface="Consolas" panose="020B0609020204030204" pitchFamily="49" charset="0"/>
              </a:rPr>
              <a:t>] </a:t>
            </a:r>
          </a:p>
          <a:p>
            <a:r>
              <a:rPr lang="en-GB" altLang="zh-CN" sz="2000" b="1" dirty="0">
                <a:solidFill>
                  <a:srgbClr val="00B050"/>
                </a:solidFill>
                <a:latin typeface="Consolas" panose="020B0609020204030204" pitchFamily="49" charset="0"/>
              </a:rPr>
              <a:t>[submarine] [sub] [marine]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正则表达式库 </a:t>
            </a:r>
            <a:r>
              <a:rPr lang="en-US" altLang="zh-CN" dirty="0"/>
              <a:t>&lt;regex&gt;</a:t>
            </a:r>
            <a:endParaRPr lang="zh-CN" altLang="en-US" dirty="0"/>
          </a:p>
        </p:txBody>
      </p:sp>
      <p:sp>
        <p:nvSpPr>
          <p:cNvPr id="3" name="内容占位符 2"/>
          <p:cNvSpPr>
            <a:spLocks noGrp="1"/>
          </p:cNvSpPr>
          <p:nvPr>
            <p:ph idx="1"/>
          </p:nvPr>
        </p:nvSpPr>
        <p:spPr>
          <a:xfrm>
            <a:off x="628650" y="1628800"/>
            <a:ext cx="8377014" cy="4749029"/>
          </a:xfrm>
        </p:spPr>
        <p:txBody>
          <a:bodyPr/>
          <a:lstStyle/>
          <a:p>
            <a:r>
              <a:rPr lang="zh-CN" altLang="en-US" dirty="0"/>
              <a:t>替换</a:t>
            </a:r>
            <a:endParaRPr lang="en-US" altLang="zh-CN" dirty="0"/>
          </a:p>
          <a:p>
            <a:pPr lvl="1"/>
            <a:r>
              <a:rPr lang="en-US" altLang="zh-CN" sz="2800" dirty="0" err="1"/>
              <a:t>regex_replace</a:t>
            </a:r>
            <a:r>
              <a:rPr lang="en-US" altLang="zh-CN" sz="2800" dirty="0"/>
              <a:t>(s,</a:t>
            </a:r>
            <a:r>
              <a:rPr lang="zh-CN" altLang="en-US" sz="2800" dirty="0"/>
              <a:t> </a:t>
            </a:r>
            <a:r>
              <a:rPr lang="en-US" altLang="zh-CN" sz="2800" dirty="0"/>
              <a:t>re,</a:t>
            </a:r>
            <a:r>
              <a:rPr lang="zh-CN" altLang="en-US" sz="2800" dirty="0"/>
              <a:t> </a:t>
            </a:r>
            <a:r>
              <a:rPr lang="en-US" altLang="zh-CN" sz="2800" dirty="0"/>
              <a:t>s1)</a:t>
            </a:r>
            <a:r>
              <a:rPr lang="zh-CN" altLang="en-US" sz="2800" dirty="0"/>
              <a:t>：替换字符串</a:t>
            </a:r>
            <a:r>
              <a:rPr lang="en-US" altLang="zh-CN" sz="2800" dirty="0"/>
              <a:t>s</a:t>
            </a:r>
            <a:r>
              <a:rPr lang="zh-CN" altLang="en-US" sz="2800" dirty="0"/>
              <a:t>中</a:t>
            </a:r>
            <a:r>
              <a:rPr lang="zh-CN" altLang="en-US" sz="2800" b="1" dirty="0">
                <a:solidFill>
                  <a:srgbClr val="C00000"/>
                </a:solidFill>
              </a:rPr>
              <a:t>所有</a:t>
            </a:r>
            <a:r>
              <a:rPr lang="zh-CN" altLang="en-US" sz="2800" dirty="0"/>
              <a:t>匹配正则表达式</a:t>
            </a:r>
            <a:r>
              <a:rPr lang="en-US" altLang="zh-CN" sz="2800" dirty="0"/>
              <a:t>re</a:t>
            </a:r>
            <a:r>
              <a:rPr lang="zh-CN" altLang="en-US" sz="2800" dirty="0"/>
              <a:t>的子串，并替换成</a:t>
            </a:r>
            <a:r>
              <a:rPr lang="en-US" altLang="zh-CN" sz="2800" dirty="0"/>
              <a:t>s1</a:t>
            </a:r>
          </a:p>
          <a:p>
            <a:pPr marL="457200" lvl="1" indent="0">
              <a:buNone/>
            </a:pPr>
            <a:r>
              <a:rPr lang="en-US" altLang="zh-CN" dirty="0"/>
              <a:t>	</a:t>
            </a:r>
          </a:p>
          <a:p>
            <a:pPr lvl="1"/>
            <a:r>
              <a:rPr lang="en-US" altLang="zh-CN" sz="2800" dirty="0"/>
              <a:t>s1</a:t>
            </a:r>
            <a:r>
              <a:rPr lang="zh-CN" altLang="en-US" sz="2800" dirty="0"/>
              <a:t>可以是一个普通文本</a:t>
            </a:r>
            <a:endParaRPr lang="en-US" altLang="zh-CN" sz="2800" dirty="0">
              <a:solidFill>
                <a:schemeClr val="tx1"/>
              </a:solidFill>
            </a:endParaRPr>
          </a:p>
          <a:p>
            <a:endParaRPr lang="en-US" altLang="zh-CN" sz="2400" dirty="0">
              <a:solidFill>
                <a:schemeClr val="tx1"/>
              </a:solidFill>
            </a:endParaRPr>
          </a:p>
          <a:p>
            <a:endParaRPr lang="en-US" altLang="zh-CN" sz="2400" dirty="0">
              <a:solidFill>
                <a:schemeClr val="tx1"/>
              </a:solidFill>
            </a:endParaRP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99</a:t>
            </a:fld>
            <a:endParaRPr lang="en-US" altLang="zh-CN"/>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替换的例子</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100</a:t>
            </a:fld>
            <a:endParaRPr lang="en-US" altLang="zh-CN"/>
          </a:p>
        </p:txBody>
      </p:sp>
      <p:sp>
        <p:nvSpPr>
          <p:cNvPr id="5" name="文本框 4"/>
          <p:cNvSpPr txBox="1"/>
          <p:nvPr/>
        </p:nvSpPr>
        <p:spPr>
          <a:xfrm>
            <a:off x="552008" y="1462923"/>
            <a:ext cx="8453656" cy="3785652"/>
          </a:xfrm>
          <a:prstGeom prst="rect">
            <a:avLst/>
          </a:prstGeom>
          <a:noFill/>
        </p:spPr>
        <p:txBody>
          <a:bodyPr wrap="squar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&lt;string&gt;</a:t>
            </a:r>
          </a:p>
          <a:p>
            <a:r>
              <a:rPr lang="en-US" altLang="zh-CN" sz="2000" b="1" dirty="0">
                <a:latin typeface="Consolas" panose="020B0609020204030204" pitchFamily="49" charset="0"/>
              </a:rPr>
              <a:t>#include &lt;regex&gt;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p>
          <a:p>
            <a:pPr lvl="1"/>
            <a:r>
              <a:rPr lang="en-US" altLang="zh-CN" sz="2000" b="1" dirty="0">
                <a:latin typeface="Consolas" panose="020B0609020204030204" pitchFamily="49" charset="0"/>
              </a:rPr>
              <a:t>string s("this subject has a submarine");</a:t>
            </a:r>
          </a:p>
          <a:p>
            <a:pPr lvl="1"/>
            <a:r>
              <a:rPr lang="en-US" altLang="zh-CN" sz="2000" b="1" dirty="0">
                <a:solidFill>
                  <a:srgbClr val="FF0000"/>
                </a:solidFill>
                <a:latin typeface="Consolas" panose="020B0609020204030204" pitchFamily="49" charset="0"/>
              </a:rPr>
              <a:t>regex</a:t>
            </a:r>
            <a:r>
              <a:rPr lang="en-US" altLang="zh-CN" sz="2000" b="1" dirty="0">
                <a:latin typeface="Consolas" panose="020B0609020204030204" pitchFamily="49" charset="0"/>
              </a:rPr>
              <a:t> e(</a:t>
            </a:r>
            <a:r>
              <a:rPr lang="en-US" altLang="zh-CN" sz="2000" b="1" dirty="0" err="1">
                <a:latin typeface="Consolas" panose="020B0609020204030204" pitchFamily="49" charset="0"/>
              </a:rPr>
              <a:t>R"(sub</a:t>
            </a:r>
            <a:r>
              <a:rPr lang="en-US" altLang="zh-CN" sz="2000" b="1" dirty="0">
                <a:latin typeface="Consolas" panose="020B0609020204030204" pitchFamily="49" charset="0"/>
              </a:rPr>
              <a:t>[\S]*)");</a:t>
            </a:r>
          </a:p>
          <a:p>
            <a:pPr lvl="1"/>
            <a:r>
              <a:rPr lang="en-US" altLang="zh-CN" sz="2000" b="1" dirty="0">
                <a:solidFill>
                  <a:srgbClr val="00B050"/>
                </a:solidFill>
                <a:latin typeface="Consolas" panose="020B0609020204030204" pitchFamily="49" charset="0"/>
              </a:rPr>
              <a:t>//</a:t>
            </a:r>
            <a:r>
              <a:rPr lang="en-GB" altLang="zh-CN" sz="2000" b="1" dirty="0" err="1">
                <a:solidFill>
                  <a:srgbClr val="00B050"/>
                </a:solidFill>
                <a:latin typeface="Consolas" panose="020B0609020204030204" pitchFamily="49" charset="0"/>
              </a:rPr>
              <a:t>regex_replace</a:t>
            </a:r>
            <a:r>
              <a:rPr lang="zh-CN" altLang="en-US" sz="2000" b="1" dirty="0">
                <a:solidFill>
                  <a:srgbClr val="00B050"/>
                </a:solidFill>
                <a:latin typeface="Consolas" panose="020B0609020204030204" pitchFamily="49" charset="0"/>
              </a:rPr>
              <a:t>返回值即为替换后的字符串 </a:t>
            </a:r>
            <a:endParaRPr lang="en-US" altLang="zh-CN" sz="2000" b="1" dirty="0">
              <a:solidFill>
                <a:srgbClr val="00B050"/>
              </a:solidFill>
              <a:latin typeface="Consolas" panose="020B0609020204030204" pitchFamily="49" charset="0"/>
            </a:endParaRPr>
          </a:p>
          <a:p>
            <a:pPr lvl="1"/>
            <a:r>
              <a:rPr lang="en-US" altLang="zh-CN" sz="2000" b="1" dirty="0" err="1">
                <a:latin typeface="Consolas" panose="020B0609020204030204" pitchFamily="49" charset="0"/>
              </a:rPr>
              <a:t>cout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GB" altLang="zh-CN" sz="2000" b="1" dirty="0" err="1">
                <a:solidFill>
                  <a:srgbClr val="FF0000"/>
                </a:solidFill>
                <a:latin typeface="Consolas" panose="020B0609020204030204" pitchFamily="49" charset="0"/>
              </a:rPr>
              <a:t>regex_replace</a:t>
            </a:r>
            <a:r>
              <a:rPr lang="en-GB" altLang="zh-CN" sz="2000" b="1" dirty="0">
                <a:latin typeface="Consolas" panose="020B0609020204030204" pitchFamily="49" charset="0"/>
              </a:rPr>
              <a:t>(</a:t>
            </a:r>
            <a:r>
              <a:rPr lang="en-US" altLang="zh-CN" sz="2000" b="1" dirty="0">
                <a:latin typeface="Consolas" panose="020B0609020204030204" pitchFamily="49" charset="0"/>
              </a:rPr>
              <a:t>s</a:t>
            </a:r>
            <a:r>
              <a:rPr lang="en-GB" altLang="zh-CN" sz="2000" b="1" dirty="0">
                <a:latin typeface="Consolas" panose="020B0609020204030204" pitchFamily="49" charset="0"/>
              </a:rPr>
              <a:t>,</a:t>
            </a:r>
            <a:r>
              <a:rPr lang="en-US" altLang="zh-CN" sz="2000" b="1" dirty="0">
                <a:latin typeface="Consolas" panose="020B0609020204030204" pitchFamily="49" charset="0"/>
              </a:rPr>
              <a:t>e</a:t>
            </a:r>
            <a:r>
              <a:rPr lang="en-GB" altLang="zh-CN" sz="2000" b="1" dirty="0">
                <a:latin typeface="Consolas" panose="020B0609020204030204" pitchFamily="49" charset="0"/>
              </a:rPr>
              <a:t>,</a:t>
            </a:r>
            <a:r>
              <a:rPr lang="en-US" altLang="zh-CN" sz="2000" b="1" dirty="0">
                <a:latin typeface="Consolas" panose="020B0609020204030204" pitchFamily="49" charset="0"/>
              </a:rPr>
              <a:t>"SUB"</a:t>
            </a:r>
            <a:r>
              <a:rPr lang="en-GB" altLang="zh-CN" sz="2000" b="1" dirty="0">
                <a:latin typeface="Consolas" panose="020B0609020204030204" pitchFamily="49" charset="0"/>
              </a:rPr>
              <a: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US" altLang="zh-CN" sz="2000" b="1" dirty="0">
                <a:latin typeface="Consolas" panose="020B0609020204030204" pitchFamily="49" charset="0"/>
              </a:rPr>
              <a:t>"\n";</a:t>
            </a:r>
          </a:p>
          <a:p>
            <a:pPr lvl="1"/>
            <a:r>
              <a:rPr lang="en-US" altLang="zh-CN" sz="2000" b="1" dirty="0">
                <a:latin typeface="Consolas" panose="020B0609020204030204" pitchFamily="49" charset="0"/>
              </a:rPr>
              <a:t>return 0;</a:t>
            </a:r>
          </a:p>
          <a:p>
            <a:r>
              <a:rPr lang="en-US" altLang="zh-CN" sz="2000" b="1" dirty="0">
                <a:latin typeface="Consolas" panose="020B0609020204030204" pitchFamily="49" charset="0"/>
              </a:rPr>
              <a:t>}</a:t>
            </a:r>
          </a:p>
        </p:txBody>
      </p:sp>
      <p:sp>
        <p:nvSpPr>
          <p:cNvPr id="3" name="矩形 2"/>
          <p:cNvSpPr/>
          <p:nvPr/>
        </p:nvSpPr>
        <p:spPr>
          <a:xfrm>
            <a:off x="3419812" y="5395077"/>
            <a:ext cx="2718048" cy="707886"/>
          </a:xfrm>
          <a:prstGeom prst="rect">
            <a:avLst/>
          </a:prstGeom>
        </p:spPr>
        <p:txBody>
          <a:bodyPr wrap="square">
            <a:spAutoFit/>
          </a:bodyPr>
          <a:lstStyle/>
          <a:p>
            <a:r>
              <a:rPr lang="zh-CN" altLang="en-US" sz="2000" b="1" dirty="0">
                <a:solidFill>
                  <a:srgbClr val="00B050"/>
                </a:solidFill>
                <a:latin typeface="Consolas" panose="020B0609020204030204" pitchFamily="49" charset="0"/>
              </a:rPr>
              <a:t>输出：</a:t>
            </a:r>
            <a:endParaRPr lang="en-US" altLang="zh-CN" sz="2000" b="1" dirty="0">
              <a:solidFill>
                <a:srgbClr val="00B050"/>
              </a:solidFill>
              <a:latin typeface="Consolas" panose="020B0609020204030204" pitchFamily="49" charset="0"/>
            </a:endParaRPr>
          </a:p>
          <a:p>
            <a:r>
              <a:rPr lang="en-US" altLang="zh-CN" sz="2000" b="1" dirty="0">
                <a:solidFill>
                  <a:srgbClr val="00B050"/>
                </a:solidFill>
                <a:latin typeface="Consolas" panose="020B0609020204030204" pitchFamily="49" charset="0"/>
              </a:rPr>
              <a:t>this SUB has a</a:t>
            </a:r>
            <a:r>
              <a:rPr lang="zh-CN" altLang="en-US" sz="2000" b="1" dirty="0">
                <a:solidFill>
                  <a:srgbClr val="00B050"/>
                </a:solidFill>
                <a:latin typeface="Consolas" panose="020B0609020204030204" pitchFamily="49" charset="0"/>
              </a:rPr>
              <a:t> </a:t>
            </a:r>
            <a:r>
              <a:rPr lang="en-US" altLang="zh-CN" sz="2000" b="1" dirty="0">
                <a:solidFill>
                  <a:srgbClr val="00B050"/>
                </a:solidFill>
                <a:latin typeface="Consolas" panose="020B0609020204030204" pitchFamily="49" charset="0"/>
              </a:rPr>
              <a:t>SUB</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正则表达式库 </a:t>
            </a:r>
            <a:r>
              <a:rPr lang="en-US" altLang="zh-CN" dirty="0"/>
              <a:t>&lt;regex&gt;</a:t>
            </a:r>
            <a:endParaRPr lang="zh-CN" altLang="en-US" dirty="0"/>
          </a:p>
        </p:txBody>
      </p:sp>
      <p:sp>
        <p:nvSpPr>
          <p:cNvPr id="3" name="内容占位符 2"/>
          <p:cNvSpPr>
            <a:spLocks noGrp="1"/>
          </p:cNvSpPr>
          <p:nvPr>
            <p:ph idx="1"/>
          </p:nvPr>
        </p:nvSpPr>
        <p:spPr>
          <a:xfrm>
            <a:off x="628650" y="1628800"/>
            <a:ext cx="8377014" cy="4749029"/>
          </a:xfrm>
        </p:spPr>
        <p:txBody>
          <a:bodyPr/>
          <a:lstStyle/>
          <a:p>
            <a:r>
              <a:rPr lang="zh-CN" altLang="en-US" dirty="0"/>
              <a:t>替换</a:t>
            </a:r>
            <a:endParaRPr lang="en-US" altLang="zh-CN" dirty="0"/>
          </a:p>
          <a:p>
            <a:pPr lvl="1"/>
            <a:r>
              <a:rPr lang="en-US" altLang="zh-CN" sz="2800" dirty="0" err="1"/>
              <a:t>regex_replace</a:t>
            </a:r>
            <a:r>
              <a:rPr lang="en-US" altLang="zh-CN" sz="2800" dirty="0"/>
              <a:t>(s,</a:t>
            </a:r>
            <a:r>
              <a:rPr lang="zh-CN" altLang="en-US" sz="2800" dirty="0"/>
              <a:t> </a:t>
            </a:r>
            <a:r>
              <a:rPr lang="en-US" altLang="zh-CN" sz="2800" dirty="0"/>
              <a:t>re,</a:t>
            </a:r>
            <a:r>
              <a:rPr lang="zh-CN" altLang="en-US" sz="2800" dirty="0"/>
              <a:t> </a:t>
            </a:r>
            <a:r>
              <a:rPr lang="en-US" altLang="zh-CN" sz="2800" dirty="0"/>
              <a:t>s1)</a:t>
            </a:r>
            <a:r>
              <a:rPr lang="zh-CN" altLang="en-US" sz="2800" dirty="0"/>
              <a:t>：替换字符串</a:t>
            </a:r>
            <a:r>
              <a:rPr lang="en-US" altLang="zh-CN" sz="2800" dirty="0"/>
              <a:t>s</a:t>
            </a:r>
            <a:r>
              <a:rPr lang="zh-CN" altLang="en-US" sz="2800" dirty="0"/>
              <a:t>中</a:t>
            </a:r>
            <a:r>
              <a:rPr lang="zh-CN" altLang="en-US" sz="2800" b="1" dirty="0">
                <a:solidFill>
                  <a:srgbClr val="C00000"/>
                </a:solidFill>
              </a:rPr>
              <a:t>所有</a:t>
            </a:r>
            <a:r>
              <a:rPr lang="zh-CN" altLang="en-US" sz="2800" dirty="0"/>
              <a:t>匹配正则表达式</a:t>
            </a:r>
            <a:r>
              <a:rPr lang="en-US" altLang="zh-CN" sz="2800" dirty="0"/>
              <a:t>re</a:t>
            </a:r>
            <a:r>
              <a:rPr lang="zh-CN" altLang="en-US" sz="2800" dirty="0"/>
              <a:t>的子串，并替换成</a:t>
            </a:r>
            <a:r>
              <a:rPr lang="en-US" altLang="zh-CN" sz="2800" dirty="0"/>
              <a:t>s1</a:t>
            </a:r>
          </a:p>
          <a:p>
            <a:pPr marL="457200" lvl="1" indent="0">
              <a:buNone/>
            </a:pPr>
            <a:r>
              <a:rPr lang="en-US" altLang="zh-CN" dirty="0"/>
              <a:t>	</a:t>
            </a:r>
          </a:p>
          <a:p>
            <a:pPr lvl="1"/>
            <a:r>
              <a:rPr lang="en-US" altLang="zh-CN" sz="2800" dirty="0"/>
              <a:t>s1</a:t>
            </a:r>
            <a:r>
              <a:rPr lang="zh-CN" altLang="en-US" sz="2800" dirty="0"/>
              <a:t>也可以使用一些</a:t>
            </a:r>
            <a:r>
              <a:rPr lang="zh-CN" altLang="en-US" sz="2800" dirty="0">
                <a:solidFill>
                  <a:srgbClr val="FF0000"/>
                </a:solidFill>
              </a:rPr>
              <a:t>特殊符号</a:t>
            </a:r>
            <a:r>
              <a:rPr lang="zh-CN" altLang="en-US" sz="2800" dirty="0"/>
              <a:t>，代表捕获的分组</a:t>
            </a:r>
            <a:endParaRPr lang="en-US" altLang="zh-CN" sz="2800" dirty="0"/>
          </a:p>
          <a:p>
            <a:pPr lvl="2"/>
            <a:r>
              <a:rPr lang="en-US" altLang="zh-CN" sz="2400" dirty="0">
                <a:solidFill>
                  <a:schemeClr val="tx1"/>
                </a:solidFill>
              </a:rPr>
              <a:t>$&amp; </a:t>
            </a:r>
            <a:r>
              <a:rPr lang="zh-CN" altLang="en-US" sz="2400" dirty="0">
                <a:solidFill>
                  <a:schemeClr val="tx1"/>
                </a:solidFill>
              </a:rPr>
              <a:t>代表</a:t>
            </a:r>
            <a:r>
              <a:rPr lang="en-US" altLang="zh-CN" sz="2400" dirty="0">
                <a:solidFill>
                  <a:schemeClr val="tx1"/>
                </a:solidFill>
              </a:rPr>
              <a:t>re</a:t>
            </a:r>
            <a:r>
              <a:rPr lang="zh-CN" altLang="en-US" sz="2400" dirty="0">
                <a:solidFill>
                  <a:schemeClr val="tx1"/>
                </a:solidFill>
              </a:rPr>
              <a:t>匹配的子串</a:t>
            </a:r>
            <a:endParaRPr lang="en-US" altLang="zh-CN" sz="2400" dirty="0">
              <a:solidFill>
                <a:schemeClr val="tx1"/>
              </a:solidFill>
            </a:endParaRPr>
          </a:p>
          <a:p>
            <a:pPr lvl="2"/>
            <a:r>
              <a:rPr lang="en-US" altLang="zh-CN" sz="2400" dirty="0">
                <a:solidFill>
                  <a:schemeClr val="tx1"/>
                </a:solidFill>
              </a:rPr>
              <a:t>$1, $2 </a:t>
            </a:r>
            <a:r>
              <a:rPr lang="zh-CN" altLang="en-US" sz="2400" dirty="0">
                <a:solidFill>
                  <a:schemeClr val="tx1"/>
                </a:solidFill>
              </a:rPr>
              <a:t>代表</a:t>
            </a:r>
            <a:r>
              <a:rPr lang="en-US" altLang="zh-CN" sz="2400" dirty="0">
                <a:solidFill>
                  <a:schemeClr val="tx1"/>
                </a:solidFill>
              </a:rPr>
              <a:t>re</a:t>
            </a:r>
            <a:r>
              <a:rPr lang="zh-CN" altLang="en-US" sz="2400" dirty="0">
                <a:solidFill>
                  <a:schemeClr val="tx1"/>
                </a:solidFill>
              </a:rPr>
              <a:t>匹配的第</a:t>
            </a:r>
            <a:r>
              <a:rPr lang="en-US" altLang="zh-CN" sz="2400" dirty="0">
                <a:solidFill>
                  <a:schemeClr val="tx1"/>
                </a:solidFill>
              </a:rPr>
              <a:t>1</a:t>
            </a:r>
            <a:r>
              <a:rPr lang="en-US" altLang="zh-CN" sz="2400" dirty="0"/>
              <a:t>/2</a:t>
            </a:r>
            <a:r>
              <a:rPr lang="zh-CN" altLang="en-US" sz="2400" dirty="0"/>
              <a:t>个</a:t>
            </a:r>
            <a:r>
              <a:rPr lang="zh-CN" altLang="en-US" sz="2400" dirty="0">
                <a:solidFill>
                  <a:schemeClr val="tx1"/>
                </a:solidFill>
              </a:rPr>
              <a:t>分组</a:t>
            </a:r>
            <a:endParaRPr lang="en-US" altLang="zh-CN" sz="2400" dirty="0">
              <a:solidFill>
                <a:schemeClr val="tx1"/>
              </a:solidFill>
            </a:endParaRPr>
          </a:p>
          <a:p>
            <a:endParaRPr lang="en-US" altLang="zh-CN" sz="2400" dirty="0">
              <a:solidFill>
                <a:schemeClr val="tx1"/>
              </a:solidFill>
            </a:endParaRPr>
          </a:p>
          <a:p>
            <a:endParaRPr lang="en-US" altLang="zh-CN" sz="2400" dirty="0">
              <a:solidFill>
                <a:schemeClr val="tx1"/>
              </a:solidFill>
            </a:endParaRPr>
          </a:p>
          <a:p>
            <a:endParaRPr lang="en-US" altLang="zh-CN" dirty="0"/>
          </a:p>
          <a:p>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101</a:t>
            </a:fld>
            <a:endParaRPr lang="en-US" altLang="zh-CN"/>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替换的例子</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102</a:t>
            </a:fld>
            <a:endParaRPr lang="en-US" altLang="zh-CN"/>
          </a:p>
        </p:txBody>
      </p:sp>
      <p:sp>
        <p:nvSpPr>
          <p:cNvPr id="5" name="文本框 4"/>
          <p:cNvSpPr txBox="1"/>
          <p:nvPr/>
        </p:nvSpPr>
        <p:spPr>
          <a:xfrm>
            <a:off x="161126" y="1275808"/>
            <a:ext cx="8453656" cy="5632311"/>
          </a:xfrm>
          <a:prstGeom prst="rect">
            <a:avLst/>
          </a:prstGeom>
          <a:noFill/>
        </p:spPr>
        <p:txBody>
          <a:bodyPr wrap="square" rtlCol="0">
            <a:spAutoFit/>
          </a:bodyPr>
          <a:lstStyle/>
          <a:p>
            <a:r>
              <a:rPr lang="en-US" altLang="zh-CN" sz="2000" b="1" dirty="0">
                <a:latin typeface="Consolas" panose="020B0609020204030204" pitchFamily="49" charset="0"/>
              </a:rPr>
              <a:t>#include &lt;iostream&gt;</a:t>
            </a:r>
          </a:p>
          <a:p>
            <a:r>
              <a:rPr lang="en-US" altLang="zh-CN" sz="2000" b="1" dirty="0">
                <a:latin typeface="Consolas" panose="020B0609020204030204" pitchFamily="49" charset="0"/>
              </a:rPr>
              <a:t>#include &lt;string&gt;</a:t>
            </a:r>
          </a:p>
          <a:p>
            <a:r>
              <a:rPr lang="en-US" altLang="zh-CN" sz="2000" b="1" dirty="0">
                <a:latin typeface="Consolas" panose="020B0609020204030204" pitchFamily="49" charset="0"/>
              </a:rPr>
              <a:t>#include &lt;regex&gt;</a:t>
            </a:r>
          </a:p>
          <a:p>
            <a:r>
              <a:rPr lang="en-US" altLang="zh-CN" sz="2000" b="1" dirty="0">
                <a:latin typeface="Consolas" panose="020B0609020204030204" pitchFamily="49" charset="0"/>
              </a:rPr>
              <a:t>using namespace std;</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int main() {</a:t>
            </a:r>
          </a:p>
          <a:p>
            <a:pPr lvl="1"/>
            <a:r>
              <a:rPr lang="en-US" altLang="zh-CN" sz="2000" b="1" dirty="0">
                <a:latin typeface="Consolas" panose="020B0609020204030204" pitchFamily="49" charset="0"/>
              </a:rPr>
              <a:t>string s("</a:t>
            </a:r>
            <a:r>
              <a:rPr lang="en-GB" altLang="zh-CN" sz="2000" b="1" dirty="0">
                <a:latin typeface="Consolas" panose="020B0609020204030204" pitchFamily="49" charset="0"/>
              </a:rPr>
              <a:t>this subject has a submarine</a:t>
            </a:r>
            <a:r>
              <a:rPr lang="en-US" altLang="zh-CN" sz="2000" b="1" dirty="0">
                <a:latin typeface="Consolas" panose="020B0609020204030204" pitchFamily="49" charset="0"/>
              </a:rPr>
              <a:t>");</a:t>
            </a:r>
          </a:p>
          <a:p>
            <a:pPr lvl="1"/>
            <a:r>
              <a:rPr lang="en-US" altLang="zh-CN" sz="2000" b="1" dirty="0">
                <a:solidFill>
                  <a:srgbClr val="FF0000"/>
                </a:solidFill>
                <a:latin typeface="Consolas" panose="020B0609020204030204" pitchFamily="49" charset="0"/>
              </a:rPr>
              <a:t>regex</a:t>
            </a:r>
            <a:r>
              <a:rPr lang="en-US" altLang="zh-CN" sz="2000" b="1" dirty="0">
                <a:latin typeface="Consolas" panose="020B0609020204030204" pitchFamily="49" charset="0"/>
              </a:rPr>
              <a:t> e(R"((sub)([\S]</a:t>
            </a:r>
            <a:r>
              <a:rPr lang="zh-CN" altLang="en-US" sz="2000" b="1" dirty="0">
                <a:latin typeface="Consolas" panose="020B0609020204030204" pitchFamily="49" charset="0"/>
              </a:rPr>
              <a:t>*</a:t>
            </a:r>
            <a:r>
              <a:rPr lang="en-US" altLang="zh-CN" sz="2000" b="1" dirty="0">
                <a:latin typeface="Consolas" panose="020B0609020204030204" pitchFamily="49" charset="0"/>
              </a:rPr>
              <a:t>))");</a:t>
            </a:r>
          </a:p>
          <a:p>
            <a:pPr lvl="1"/>
            <a:r>
              <a:rPr lang="en-US" altLang="zh-CN" sz="2000" b="1" dirty="0">
                <a:solidFill>
                  <a:srgbClr val="00CC00"/>
                </a:solidFill>
                <a:latin typeface="Consolas" panose="020B0609020204030204" pitchFamily="49" charset="0"/>
              </a:rPr>
              <a:t>//</a:t>
            </a:r>
            <a:r>
              <a:rPr lang="en-GB" altLang="zh-CN" sz="2000" b="1" dirty="0" err="1">
                <a:solidFill>
                  <a:srgbClr val="00CC00"/>
                </a:solidFill>
                <a:latin typeface="Consolas" panose="020B0609020204030204" pitchFamily="49" charset="0"/>
              </a:rPr>
              <a:t>regex_replace</a:t>
            </a:r>
            <a:r>
              <a:rPr lang="zh-CN" altLang="en-US" sz="2000" b="1" dirty="0">
                <a:solidFill>
                  <a:srgbClr val="00CC00"/>
                </a:solidFill>
                <a:latin typeface="Consolas" panose="020B0609020204030204" pitchFamily="49" charset="0"/>
              </a:rPr>
              <a:t>返回值即为替换后的字符串 </a:t>
            </a:r>
            <a:endParaRPr lang="en-US" altLang="zh-CN" sz="2000" b="1" dirty="0">
              <a:solidFill>
                <a:srgbClr val="00CC00"/>
              </a:solidFill>
              <a:latin typeface="Consolas" panose="020B0609020204030204" pitchFamily="49" charset="0"/>
            </a:endParaRPr>
          </a:p>
          <a:p>
            <a:pPr lvl="1"/>
            <a:r>
              <a:rPr lang="en-US" altLang="zh-CN" sz="2000" b="1" dirty="0" err="1">
                <a:latin typeface="Consolas" panose="020B0609020204030204" pitchFamily="49" charset="0"/>
              </a:rPr>
              <a:t>cout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GB" altLang="zh-CN" sz="2000" b="1" dirty="0" err="1">
                <a:solidFill>
                  <a:srgbClr val="FF0000"/>
                </a:solidFill>
                <a:latin typeface="Consolas" panose="020B0609020204030204" pitchFamily="49" charset="0"/>
              </a:rPr>
              <a:t>regex_replace</a:t>
            </a:r>
            <a:r>
              <a:rPr lang="en-GB" altLang="zh-CN" sz="2000" b="1" dirty="0">
                <a:latin typeface="Consolas" panose="020B0609020204030204" pitchFamily="49" charset="0"/>
              </a:rPr>
              <a:t>(</a:t>
            </a:r>
            <a:r>
              <a:rPr lang="en-US" altLang="zh-CN" sz="2000" b="1" dirty="0">
                <a:latin typeface="Consolas" panose="020B0609020204030204" pitchFamily="49" charset="0"/>
              </a:rPr>
              <a:t>s</a:t>
            </a:r>
            <a:r>
              <a:rPr lang="en-GB" altLang="zh-CN" sz="2000" b="1" dirty="0">
                <a:latin typeface="Consolas" panose="020B0609020204030204" pitchFamily="49" charset="0"/>
              </a:rPr>
              <a:t>,</a:t>
            </a:r>
            <a:r>
              <a:rPr lang="en-US" altLang="zh-CN" sz="2000" b="1" dirty="0">
                <a:latin typeface="Consolas" panose="020B0609020204030204" pitchFamily="49" charset="0"/>
              </a:rPr>
              <a:t>e</a:t>
            </a:r>
            <a:r>
              <a:rPr lang="en-GB" altLang="zh-CN" sz="2000" b="1" dirty="0">
                <a:latin typeface="Consolas" panose="020B0609020204030204" pitchFamily="49" charset="0"/>
              </a:rPr>
              <a:t>,</a:t>
            </a:r>
            <a:r>
              <a:rPr lang="en-US" altLang="zh-CN" sz="2000" b="1" dirty="0">
                <a:latin typeface="Consolas" panose="020B0609020204030204" pitchFamily="49" charset="0"/>
              </a:rPr>
              <a:t>"</a:t>
            </a:r>
            <a:r>
              <a:rPr lang="en-GB" altLang="zh-CN" sz="2000" b="1" dirty="0">
                <a:latin typeface="Consolas" panose="020B0609020204030204" pitchFamily="49" charset="0"/>
              </a:rPr>
              <a:t>SUBJECT</a:t>
            </a:r>
            <a:r>
              <a:rPr lang="en-US" altLang="zh-CN" sz="2000" b="1" dirty="0">
                <a:latin typeface="Consolas" panose="020B0609020204030204" pitchFamily="49" charset="0"/>
              </a:rPr>
              <a:t>"</a:t>
            </a:r>
            <a:r>
              <a:rPr lang="en-GB" altLang="zh-CN" sz="2000" b="1" dirty="0">
                <a:latin typeface="Consolas" panose="020B0609020204030204" pitchFamily="49" charset="0"/>
              </a:rPr>
              <a: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pPr lvl="1"/>
            <a:r>
              <a:rPr lang="en-US" altLang="zh-CN" sz="2000" b="1" dirty="0">
                <a:solidFill>
                  <a:srgbClr val="00CC00"/>
                </a:solidFill>
                <a:latin typeface="Consolas" panose="020B0609020204030204" pitchFamily="49" charset="0"/>
              </a:rPr>
              <a:t>//$&amp;</a:t>
            </a:r>
            <a:r>
              <a:rPr lang="zh-CN" altLang="en-US" sz="2000" b="1" dirty="0">
                <a:solidFill>
                  <a:srgbClr val="00CC00"/>
                </a:solidFill>
                <a:latin typeface="Consolas" panose="020B0609020204030204" pitchFamily="49" charset="0"/>
              </a:rPr>
              <a:t>表示所有匹配成功的部分，</a:t>
            </a:r>
            <a:r>
              <a:rPr lang="en-US" altLang="zh-CN" sz="2000" b="1" dirty="0">
                <a:solidFill>
                  <a:srgbClr val="00CC00"/>
                </a:solidFill>
                <a:latin typeface="Consolas" panose="020B0609020204030204" pitchFamily="49" charset="0"/>
              </a:rPr>
              <a:t>[$&amp;]</a:t>
            </a:r>
            <a:r>
              <a:rPr lang="zh-CN" altLang="en-US" sz="2000" b="1" dirty="0">
                <a:solidFill>
                  <a:srgbClr val="00CC00"/>
                </a:solidFill>
                <a:latin typeface="Consolas" panose="020B0609020204030204" pitchFamily="49" charset="0"/>
              </a:rPr>
              <a:t>表示将其用</a:t>
            </a:r>
            <a:r>
              <a:rPr lang="en-US" altLang="zh-CN" sz="2000" b="1" dirty="0">
                <a:solidFill>
                  <a:srgbClr val="00CC00"/>
                </a:solidFill>
                <a:latin typeface="Consolas" panose="020B0609020204030204" pitchFamily="49" charset="0"/>
              </a:rPr>
              <a:t>[]</a:t>
            </a:r>
            <a:r>
              <a:rPr lang="zh-CN" altLang="en-US" sz="2000" b="1" dirty="0">
                <a:solidFill>
                  <a:srgbClr val="00CC00"/>
                </a:solidFill>
                <a:latin typeface="Consolas" panose="020B0609020204030204" pitchFamily="49" charset="0"/>
              </a:rPr>
              <a:t>括起来</a:t>
            </a:r>
            <a:endParaRPr lang="en-US" altLang="zh-CN" sz="2000" b="1" dirty="0">
              <a:solidFill>
                <a:srgbClr val="00CC00"/>
              </a:solidFill>
              <a:latin typeface="Consolas" panose="020B0609020204030204" pitchFamily="49" charset="0"/>
            </a:endParaRPr>
          </a:p>
          <a:p>
            <a:pPr lvl="1"/>
            <a:r>
              <a:rPr lang="en-US" altLang="zh-CN" sz="2000" b="1" dirty="0" err="1">
                <a:latin typeface="Consolas" panose="020B0609020204030204" pitchFamily="49" charset="0"/>
              </a:rPr>
              <a:t>cout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GB" altLang="zh-CN" sz="2000" b="1" dirty="0" err="1">
                <a:solidFill>
                  <a:srgbClr val="FF0000"/>
                </a:solidFill>
                <a:latin typeface="Consolas" panose="020B0609020204030204" pitchFamily="49" charset="0"/>
              </a:rPr>
              <a:t>regex_replace</a:t>
            </a:r>
            <a:r>
              <a:rPr lang="en-GB" altLang="zh-CN" sz="2000" b="1" dirty="0">
                <a:latin typeface="Consolas" panose="020B0609020204030204" pitchFamily="49" charset="0"/>
              </a:rPr>
              <a:t>(</a:t>
            </a:r>
            <a:r>
              <a:rPr lang="en-US" altLang="zh-CN" sz="2000" b="1" dirty="0">
                <a:latin typeface="Consolas" panose="020B0609020204030204" pitchFamily="49" charset="0"/>
              </a:rPr>
              <a:t>s</a:t>
            </a:r>
            <a:r>
              <a:rPr lang="en-GB" altLang="zh-CN" sz="2000" b="1" dirty="0">
                <a:latin typeface="Consolas" panose="020B0609020204030204" pitchFamily="49" charset="0"/>
              </a:rPr>
              <a:t>,</a:t>
            </a:r>
            <a:r>
              <a:rPr lang="en-US" altLang="zh-CN" sz="2000" b="1" dirty="0">
                <a:latin typeface="Consolas" panose="020B0609020204030204" pitchFamily="49" charset="0"/>
              </a:rPr>
              <a:t>e</a:t>
            </a:r>
            <a:r>
              <a:rPr lang="en-GB" altLang="zh-CN" sz="2000" b="1" dirty="0">
                <a:latin typeface="Consolas" panose="020B0609020204030204" pitchFamily="49" charset="0"/>
              </a:rPr>
              <a:t>,</a:t>
            </a:r>
            <a:r>
              <a:rPr lang="en-US" altLang="zh-CN" sz="2000" b="1" dirty="0">
                <a:latin typeface="Consolas" panose="020B0609020204030204" pitchFamily="49" charset="0"/>
              </a:rPr>
              <a:t>"[$&amp;]"</a:t>
            </a:r>
            <a:r>
              <a:rPr lang="en-GB" altLang="zh-CN" sz="2000" b="1" dirty="0">
                <a:latin typeface="Consolas" panose="020B0609020204030204" pitchFamily="49" charset="0"/>
              </a:rPr>
              <a: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pPr lvl="1"/>
            <a:r>
              <a:rPr lang="en-US" altLang="zh-CN" sz="2000" b="1" dirty="0">
                <a:solidFill>
                  <a:srgbClr val="00CC00"/>
                </a:solidFill>
                <a:latin typeface="Consolas" panose="020B0609020204030204" pitchFamily="49" charset="0"/>
              </a:rPr>
              <a:t>//</a:t>
            </a:r>
            <a:r>
              <a:rPr lang="en-GB" altLang="zh-CN" sz="2000" b="1" dirty="0">
                <a:solidFill>
                  <a:srgbClr val="00CC00"/>
                </a:solidFill>
                <a:latin typeface="Consolas" panose="020B0609020204030204" pitchFamily="49" charset="0"/>
              </a:rPr>
              <a:t>$</a:t>
            </a:r>
            <a:r>
              <a:rPr lang="en-GB" altLang="zh-CN" sz="2000" b="1" dirty="0" err="1">
                <a:solidFill>
                  <a:srgbClr val="00CC00"/>
                </a:solidFill>
                <a:latin typeface="Consolas" panose="020B0609020204030204" pitchFamily="49" charset="0"/>
              </a:rPr>
              <a:t>i</a:t>
            </a:r>
            <a:r>
              <a:rPr lang="zh-CN" altLang="en-US" sz="2000" b="1" dirty="0">
                <a:solidFill>
                  <a:srgbClr val="00CC00"/>
                </a:solidFill>
                <a:latin typeface="Consolas" panose="020B0609020204030204" pitchFamily="49" charset="0"/>
              </a:rPr>
              <a:t>输出</a:t>
            </a:r>
            <a:r>
              <a:rPr lang="en-US" altLang="zh-CN" sz="2000" b="1" dirty="0">
                <a:solidFill>
                  <a:srgbClr val="00CC00"/>
                </a:solidFill>
                <a:latin typeface="Consolas" panose="020B0609020204030204" pitchFamily="49" charset="0"/>
              </a:rPr>
              <a:t>e</a:t>
            </a:r>
            <a:r>
              <a:rPr lang="zh-CN" altLang="en-US" sz="2000" b="1" dirty="0">
                <a:solidFill>
                  <a:srgbClr val="00CC00"/>
                </a:solidFill>
                <a:latin typeface="Consolas" panose="020B0609020204030204" pitchFamily="49" charset="0"/>
              </a:rPr>
              <a:t>中第</a:t>
            </a:r>
            <a:r>
              <a:rPr lang="en-GB" altLang="zh-CN" sz="2000" b="1" dirty="0" err="1">
                <a:solidFill>
                  <a:srgbClr val="00CC00"/>
                </a:solidFill>
                <a:latin typeface="Consolas" panose="020B0609020204030204" pitchFamily="49" charset="0"/>
              </a:rPr>
              <a:t>i</a:t>
            </a:r>
            <a:r>
              <a:rPr lang="zh-CN" altLang="en-US" sz="2000" b="1" dirty="0">
                <a:solidFill>
                  <a:srgbClr val="00CC00"/>
                </a:solidFill>
                <a:latin typeface="Consolas" panose="020B0609020204030204" pitchFamily="49" charset="0"/>
              </a:rPr>
              <a:t>个括号匹配到的值</a:t>
            </a:r>
            <a:endParaRPr lang="en-US" altLang="zh-CN" sz="2000" b="1" dirty="0">
              <a:solidFill>
                <a:srgbClr val="00CC00"/>
              </a:solidFill>
              <a:latin typeface="Consolas" panose="020B0609020204030204" pitchFamily="49" charset="0"/>
            </a:endParaRPr>
          </a:p>
          <a:p>
            <a:pPr lvl="1"/>
            <a:r>
              <a:rPr lang="en-US" altLang="zh-CN" sz="2000" b="1" dirty="0" err="1">
                <a:latin typeface="Consolas" panose="020B0609020204030204" pitchFamily="49" charset="0"/>
              </a:rPr>
              <a:t>cout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GB" altLang="zh-CN" sz="2000" b="1" dirty="0" err="1">
                <a:solidFill>
                  <a:srgbClr val="FF0000"/>
                </a:solidFill>
                <a:latin typeface="Consolas" panose="020B0609020204030204" pitchFamily="49" charset="0"/>
              </a:rPr>
              <a:t>regex_replace</a:t>
            </a:r>
            <a:r>
              <a:rPr lang="en-GB" altLang="zh-CN" sz="2000" b="1" dirty="0">
                <a:latin typeface="Consolas" panose="020B0609020204030204" pitchFamily="49" charset="0"/>
              </a:rPr>
              <a:t>(</a:t>
            </a:r>
            <a:r>
              <a:rPr lang="en-US" altLang="zh-CN" sz="2000" b="1" dirty="0">
                <a:latin typeface="Consolas" panose="020B0609020204030204" pitchFamily="49" charset="0"/>
              </a:rPr>
              <a:t>s</a:t>
            </a:r>
            <a:r>
              <a:rPr lang="en-GB" altLang="zh-CN" sz="2000" b="1" dirty="0">
                <a:latin typeface="Consolas" panose="020B0609020204030204" pitchFamily="49" charset="0"/>
              </a:rPr>
              <a:t>,</a:t>
            </a:r>
            <a:r>
              <a:rPr lang="en-US" altLang="zh-CN" sz="2000" b="1" dirty="0">
                <a:latin typeface="Consolas" panose="020B0609020204030204" pitchFamily="49" charset="0"/>
              </a:rPr>
              <a:t>e</a:t>
            </a:r>
            <a:r>
              <a:rPr lang="en-GB" altLang="zh-CN" sz="2000" b="1" dirty="0">
                <a:latin typeface="Consolas" panose="020B0609020204030204" pitchFamily="49" charset="0"/>
              </a:rPr>
              <a:t>,</a:t>
            </a:r>
            <a:r>
              <a:rPr lang="en-US" altLang="zh-CN" sz="2000" b="1" dirty="0">
                <a:latin typeface="Consolas" panose="020B0609020204030204" pitchFamily="49" charset="0"/>
              </a:rPr>
              <a:t>"$1"</a:t>
            </a:r>
            <a:r>
              <a:rPr lang="en-GB" altLang="zh-CN" sz="2000" b="1" dirty="0">
                <a:latin typeface="Consolas" panose="020B0609020204030204" pitchFamily="49" charset="0"/>
              </a:rPr>
              <a: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pPr lvl="1"/>
            <a:r>
              <a:rPr lang="en-US" altLang="zh-CN" sz="2000" b="1" dirty="0" err="1">
                <a:latin typeface="Consolas" panose="020B0609020204030204" pitchFamily="49" charset="0"/>
              </a:rPr>
              <a:t>cout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GB" altLang="zh-CN" sz="2000" b="1" dirty="0" err="1">
                <a:solidFill>
                  <a:srgbClr val="FF0000"/>
                </a:solidFill>
                <a:latin typeface="Consolas" panose="020B0609020204030204" pitchFamily="49" charset="0"/>
              </a:rPr>
              <a:t>regex_replace</a:t>
            </a:r>
            <a:r>
              <a:rPr lang="en-GB" altLang="zh-CN" sz="2000" b="1" dirty="0">
                <a:latin typeface="Consolas" panose="020B0609020204030204" pitchFamily="49" charset="0"/>
              </a:rPr>
              <a:t>(</a:t>
            </a:r>
            <a:r>
              <a:rPr lang="en-US" altLang="zh-CN" sz="2000" b="1" dirty="0">
                <a:latin typeface="Consolas" panose="020B0609020204030204" pitchFamily="49" charset="0"/>
              </a:rPr>
              <a:t>s</a:t>
            </a:r>
            <a:r>
              <a:rPr lang="en-GB" altLang="zh-CN" sz="2000" b="1" dirty="0">
                <a:latin typeface="Consolas" panose="020B0609020204030204" pitchFamily="49" charset="0"/>
              </a:rPr>
              <a:t>,</a:t>
            </a:r>
            <a:r>
              <a:rPr lang="en-US" altLang="zh-CN" sz="2000" b="1" dirty="0">
                <a:latin typeface="Consolas" panose="020B0609020204030204" pitchFamily="49" charset="0"/>
              </a:rPr>
              <a:t>e</a:t>
            </a:r>
            <a:r>
              <a:rPr lang="en-GB" altLang="zh-CN" sz="2000" b="1" dirty="0">
                <a:latin typeface="Consolas" panose="020B0609020204030204" pitchFamily="49" charset="0"/>
              </a:rPr>
              <a:t>,</a:t>
            </a:r>
            <a:r>
              <a:rPr lang="en-US" altLang="zh-CN" sz="2000" b="1" dirty="0">
                <a:latin typeface="Consolas" panose="020B0609020204030204" pitchFamily="49" charset="0"/>
              </a:rPr>
              <a:t>"$2"</a:t>
            </a:r>
            <a:r>
              <a:rPr lang="en-GB" altLang="zh-CN" sz="2000" b="1" dirty="0">
                <a:latin typeface="Consolas" panose="020B0609020204030204" pitchFamily="49" charset="0"/>
              </a:rPr>
              <a: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pPr lvl="1"/>
            <a:r>
              <a:rPr lang="en-US" altLang="zh-CN" sz="2000" b="1" dirty="0" err="1">
                <a:latin typeface="Consolas" panose="020B0609020204030204" pitchFamily="49" charset="0"/>
              </a:rPr>
              <a:t>cout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GB" altLang="zh-CN" sz="2000" b="1" dirty="0" err="1">
                <a:solidFill>
                  <a:srgbClr val="FF0000"/>
                </a:solidFill>
                <a:latin typeface="Consolas" panose="020B0609020204030204" pitchFamily="49" charset="0"/>
              </a:rPr>
              <a:t>regex_replace</a:t>
            </a:r>
            <a:r>
              <a:rPr lang="en-GB" altLang="zh-CN" sz="2000" b="1" dirty="0">
                <a:latin typeface="Consolas" panose="020B0609020204030204" pitchFamily="49" charset="0"/>
              </a:rPr>
              <a:t>(</a:t>
            </a:r>
            <a:r>
              <a:rPr lang="en-US" altLang="zh-CN" sz="2000" b="1" dirty="0">
                <a:latin typeface="Consolas" panose="020B0609020204030204" pitchFamily="49" charset="0"/>
              </a:rPr>
              <a:t>s</a:t>
            </a:r>
            <a:r>
              <a:rPr lang="en-GB" altLang="zh-CN" sz="2000" b="1" dirty="0">
                <a:latin typeface="Consolas" panose="020B0609020204030204" pitchFamily="49" charset="0"/>
              </a:rPr>
              <a:t>,</a:t>
            </a:r>
            <a:r>
              <a:rPr lang="en-US" altLang="zh-CN" sz="2000" b="1" dirty="0">
                <a:latin typeface="Consolas" panose="020B0609020204030204" pitchFamily="49" charset="0"/>
              </a:rPr>
              <a:t>e</a:t>
            </a:r>
            <a:r>
              <a:rPr lang="en-GB" altLang="zh-CN" sz="2000" b="1" dirty="0">
                <a:latin typeface="Consolas" panose="020B0609020204030204" pitchFamily="49" charset="0"/>
              </a:rPr>
              <a:t>,</a:t>
            </a:r>
            <a:r>
              <a:rPr lang="en-US" altLang="zh-CN" sz="2000" b="1" dirty="0">
                <a:latin typeface="Consolas" panose="020B0609020204030204" pitchFamily="49" charset="0"/>
              </a:rPr>
              <a:t>"$1</a:t>
            </a:r>
            <a:r>
              <a:rPr lang="zh-CN" altLang="en-US" sz="2000" b="1" dirty="0">
                <a:latin typeface="Consolas" panose="020B0609020204030204" pitchFamily="49" charset="0"/>
              </a:rPr>
              <a:t> </a:t>
            </a:r>
            <a:r>
              <a:rPr lang="en-US" altLang="zh-CN" sz="2000" b="1" dirty="0">
                <a:latin typeface="Consolas" panose="020B0609020204030204" pitchFamily="49" charset="0"/>
              </a:rPr>
              <a:t>and</a:t>
            </a:r>
            <a:r>
              <a:rPr lang="zh-CN" altLang="en-US" sz="2000" b="1" dirty="0">
                <a:latin typeface="Consolas" panose="020B0609020204030204" pitchFamily="49" charset="0"/>
              </a:rPr>
              <a:t> </a:t>
            </a:r>
            <a:r>
              <a:rPr lang="en-US" altLang="zh-CN" sz="2000" b="1" dirty="0">
                <a:latin typeface="Consolas" panose="020B0609020204030204" pitchFamily="49" charset="0"/>
              </a:rPr>
              <a:t>[$2]"</a:t>
            </a:r>
            <a:r>
              <a:rPr lang="en-GB" altLang="zh-CN" sz="2000" b="1" dirty="0">
                <a:latin typeface="Consolas" panose="020B0609020204030204" pitchFamily="49" charset="0"/>
              </a:rPr>
              <a:t>)</a:t>
            </a:r>
            <a:r>
              <a:rPr lang="zh-CN" altLang="en-US" sz="2000" b="1" dirty="0">
                <a:latin typeface="Consolas" panose="020B0609020204030204" pitchFamily="49" charset="0"/>
              </a:rPr>
              <a:t> </a:t>
            </a:r>
            <a:r>
              <a:rPr lang="en-US" altLang="zh-CN" sz="2000" b="1" dirty="0">
                <a:latin typeface="Consolas" panose="020B0609020204030204" pitchFamily="49" charset="0"/>
              </a:rPr>
              <a:t>&lt;&lt;</a:t>
            </a:r>
            <a:r>
              <a:rPr lang="zh-CN" altLang="en-US" sz="2000" b="1" dirty="0">
                <a:latin typeface="Consolas" panose="020B0609020204030204" pitchFamily="49" charset="0"/>
              </a:rPr>
              <a:t> </a:t>
            </a:r>
            <a:r>
              <a:rPr lang="en-US" altLang="zh-CN" sz="2000" b="1" dirty="0" err="1">
                <a:latin typeface="Consolas" panose="020B0609020204030204" pitchFamily="49" charset="0"/>
              </a:rPr>
              <a:t>endl</a:t>
            </a:r>
            <a:r>
              <a:rPr lang="en-US" altLang="zh-CN" sz="2000" b="1" dirty="0">
                <a:latin typeface="Consolas" panose="020B0609020204030204" pitchFamily="49" charset="0"/>
              </a:rPr>
              <a:t>;</a:t>
            </a:r>
          </a:p>
          <a:p>
            <a:pPr lvl="1"/>
            <a:r>
              <a:rPr lang="en-US" altLang="zh-CN" sz="2000" b="1" dirty="0">
                <a:latin typeface="Consolas" panose="020B0609020204030204" pitchFamily="49" charset="0"/>
              </a:rPr>
              <a:t>return 0;</a:t>
            </a:r>
          </a:p>
          <a:p>
            <a:r>
              <a:rPr lang="en-US" altLang="zh-CN" sz="2000" b="1" dirty="0">
                <a:latin typeface="Consolas" panose="020B0609020204030204" pitchFamily="49" charset="0"/>
              </a:rPr>
              <a:t>}</a:t>
            </a:r>
          </a:p>
        </p:txBody>
      </p:sp>
      <p:sp>
        <p:nvSpPr>
          <p:cNvPr id="3" name="矩形 2"/>
          <p:cNvSpPr/>
          <p:nvPr/>
        </p:nvSpPr>
        <p:spPr>
          <a:xfrm>
            <a:off x="3635896" y="451880"/>
            <a:ext cx="5831482" cy="1754326"/>
          </a:xfrm>
          <a:prstGeom prst="rect">
            <a:avLst/>
          </a:prstGeom>
        </p:spPr>
        <p:txBody>
          <a:bodyPr wrap="square">
            <a:spAutoFit/>
          </a:bodyPr>
          <a:lstStyle/>
          <a:p>
            <a:r>
              <a:rPr lang="zh-CN" altLang="en-US" b="1" dirty="0">
                <a:solidFill>
                  <a:srgbClr val="00CC00"/>
                </a:solidFill>
                <a:latin typeface="Consolas" panose="020B0609020204030204" pitchFamily="49" charset="0"/>
              </a:rPr>
              <a:t>输出：</a:t>
            </a:r>
            <a:endParaRPr lang="en-US" altLang="zh-CN" b="1" dirty="0">
              <a:solidFill>
                <a:srgbClr val="00CC00"/>
              </a:solidFill>
              <a:latin typeface="Consolas" panose="020B0609020204030204" pitchFamily="49" charset="0"/>
            </a:endParaRPr>
          </a:p>
          <a:p>
            <a:r>
              <a:rPr lang="en-GB" altLang="zh-CN" b="1" dirty="0">
                <a:solidFill>
                  <a:srgbClr val="00CC00"/>
                </a:solidFill>
                <a:latin typeface="Consolas" panose="020B0609020204030204" pitchFamily="49" charset="0"/>
              </a:rPr>
              <a:t>this SUBJECT has a SUBJECT</a:t>
            </a:r>
          </a:p>
          <a:p>
            <a:r>
              <a:rPr lang="en-GB" altLang="zh-CN" b="1" dirty="0">
                <a:solidFill>
                  <a:srgbClr val="00CC00"/>
                </a:solidFill>
                <a:latin typeface="Consolas" panose="020B0609020204030204" pitchFamily="49" charset="0"/>
              </a:rPr>
              <a:t>this [subject] has a [submarine]</a:t>
            </a:r>
          </a:p>
          <a:p>
            <a:r>
              <a:rPr lang="en-GB" altLang="zh-CN" b="1" dirty="0">
                <a:solidFill>
                  <a:srgbClr val="00CC00"/>
                </a:solidFill>
                <a:latin typeface="Consolas" panose="020B0609020204030204" pitchFamily="49" charset="0"/>
              </a:rPr>
              <a:t>this sub has a sub</a:t>
            </a:r>
          </a:p>
          <a:p>
            <a:r>
              <a:rPr lang="en-US" altLang="zh-CN" b="1" dirty="0">
                <a:solidFill>
                  <a:srgbClr val="00CC00"/>
                </a:solidFill>
                <a:latin typeface="Consolas" panose="020B0609020204030204" pitchFamily="49" charset="0"/>
              </a:rPr>
              <a:t>this</a:t>
            </a:r>
            <a:r>
              <a:rPr lang="zh-CN" altLang="en-US" b="1" dirty="0">
                <a:solidFill>
                  <a:srgbClr val="00CC00"/>
                </a:solidFill>
                <a:latin typeface="Consolas" panose="020B0609020204030204" pitchFamily="49" charset="0"/>
              </a:rPr>
              <a:t> </a:t>
            </a:r>
            <a:r>
              <a:rPr lang="en-US" altLang="zh-CN" b="1" dirty="0" err="1">
                <a:solidFill>
                  <a:srgbClr val="00CC00"/>
                </a:solidFill>
                <a:latin typeface="Consolas" panose="020B0609020204030204" pitchFamily="49" charset="0"/>
              </a:rPr>
              <a:t>ject</a:t>
            </a:r>
            <a:r>
              <a:rPr lang="zh-CN" altLang="en-US" b="1" dirty="0">
                <a:solidFill>
                  <a:srgbClr val="00CC00"/>
                </a:solidFill>
                <a:latin typeface="Consolas" panose="020B0609020204030204" pitchFamily="49" charset="0"/>
              </a:rPr>
              <a:t> </a:t>
            </a:r>
            <a:r>
              <a:rPr lang="en-US" altLang="zh-CN" b="1" dirty="0">
                <a:solidFill>
                  <a:srgbClr val="00CC00"/>
                </a:solidFill>
                <a:latin typeface="Consolas" panose="020B0609020204030204" pitchFamily="49" charset="0"/>
              </a:rPr>
              <a:t>has</a:t>
            </a:r>
            <a:r>
              <a:rPr lang="zh-CN" altLang="en-US" b="1" dirty="0">
                <a:solidFill>
                  <a:srgbClr val="00CC00"/>
                </a:solidFill>
                <a:latin typeface="Consolas" panose="020B0609020204030204" pitchFamily="49" charset="0"/>
              </a:rPr>
              <a:t> </a:t>
            </a:r>
            <a:r>
              <a:rPr lang="en-US" altLang="zh-CN" b="1" dirty="0">
                <a:solidFill>
                  <a:srgbClr val="00CC00"/>
                </a:solidFill>
                <a:latin typeface="Consolas" panose="020B0609020204030204" pitchFamily="49" charset="0"/>
              </a:rPr>
              <a:t>a</a:t>
            </a:r>
            <a:r>
              <a:rPr lang="zh-CN" altLang="en-US" b="1" dirty="0">
                <a:solidFill>
                  <a:srgbClr val="00CC00"/>
                </a:solidFill>
                <a:latin typeface="Consolas" panose="020B0609020204030204" pitchFamily="49" charset="0"/>
              </a:rPr>
              <a:t> </a:t>
            </a:r>
            <a:r>
              <a:rPr lang="en-US" altLang="zh-CN" b="1" dirty="0">
                <a:solidFill>
                  <a:srgbClr val="00CC00"/>
                </a:solidFill>
                <a:latin typeface="Consolas" panose="020B0609020204030204" pitchFamily="49" charset="0"/>
              </a:rPr>
              <a:t>marine</a:t>
            </a:r>
            <a:endParaRPr lang="en-GB" altLang="zh-CN" b="1" dirty="0">
              <a:solidFill>
                <a:srgbClr val="00CC00"/>
              </a:solidFill>
              <a:latin typeface="Consolas" panose="020B0609020204030204" pitchFamily="49" charset="0"/>
            </a:endParaRPr>
          </a:p>
          <a:p>
            <a:r>
              <a:rPr lang="en-GB" altLang="zh-CN" b="1" dirty="0">
                <a:solidFill>
                  <a:srgbClr val="00CC00"/>
                </a:solidFill>
                <a:latin typeface="Consolas" panose="020B0609020204030204" pitchFamily="49" charset="0"/>
              </a:rPr>
              <a:t>this sub and [</a:t>
            </a:r>
            <a:r>
              <a:rPr lang="en-GB" altLang="zh-CN" b="1" dirty="0" err="1">
                <a:solidFill>
                  <a:srgbClr val="00CC00"/>
                </a:solidFill>
                <a:latin typeface="Consolas" panose="020B0609020204030204" pitchFamily="49" charset="0"/>
              </a:rPr>
              <a:t>ject</a:t>
            </a:r>
            <a:r>
              <a:rPr lang="en-GB" altLang="zh-CN" b="1" dirty="0">
                <a:solidFill>
                  <a:srgbClr val="00CC00"/>
                </a:solidFill>
                <a:latin typeface="Consolas" panose="020B0609020204030204" pitchFamily="49" charset="0"/>
              </a:rPr>
              <a:t>] has a sub and [marine]</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4C3BD7-260C-4BC9-9C17-940D7F59C4D1}" type="slidenum">
              <a:rPr lang="en-US" altLang="zh-CN" smtClean="0"/>
              <a:t>103</a:t>
            </a:fld>
            <a:endParaRPr lang="en-US" altLang="zh-CN"/>
          </a:p>
        </p:txBody>
      </p:sp>
      <p:sp>
        <p:nvSpPr>
          <p:cNvPr id="4" name="内容占位符 2"/>
          <p:cNvSpPr txBox="1"/>
          <p:nvPr/>
        </p:nvSpPr>
        <p:spPr>
          <a:xfrm>
            <a:off x="228092" y="1212983"/>
            <a:ext cx="8915908" cy="3292475"/>
          </a:xfrm>
          <a:prstGeom prst="rect">
            <a:avLst/>
          </a:prstGeom>
        </p:spPr>
        <p:txBody>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Consolas" panose="020B0609020204030204" pitchFamily="49" charset="0"/>
                <a:ea typeface="华文楷体" panose="02010600040101010101" pitchFamily="2" charset="-122"/>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Consolas" panose="020B0609020204030204" pitchFamily="49" charset="0"/>
                <a:ea typeface="华文楷体" panose="02010600040101010101" pitchFamily="2" charset="-122"/>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Consolas" panose="020B0609020204030204" pitchFamily="49" charset="0"/>
                <a:ea typeface="华文楷体" panose="02010600040101010101" pitchFamily="2" charset="-122"/>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Consolas" panose="020B0609020204030204" pitchFamily="49" charset="0"/>
                <a:ea typeface="华文楷体" panose="02010600040101010101" pitchFamily="2" charset="-122"/>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Consolas" panose="020B0609020204030204" pitchFamily="49" charset="0"/>
                <a:ea typeface="华文楷体"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400" dirty="0"/>
              <a:t>从多个同学的自我介绍中分别提取以下信息：名字、出生年月、电话号码、邮箱。这些自我介绍满足以下特点：</a:t>
            </a:r>
            <a:endParaRPr lang="en-US" altLang="zh-CN" sz="2400" dirty="0"/>
          </a:p>
          <a:p>
            <a:pPr marL="914400" lvl="1" indent="-457200"/>
            <a:r>
              <a:rPr lang="zh-CN" altLang="en-US" dirty="0"/>
              <a:t>姓名：大家都会以“</a:t>
            </a:r>
            <a:r>
              <a:rPr lang="en-GB" altLang="zh-CN" dirty="0"/>
              <a:t>I am xxx.”</a:t>
            </a:r>
            <a:r>
              <a:rPr lang="zh-CN" altLang="en-US" dirty="0"/>
              <a:t>或者“</a:t>
            </a:r>
            <a:r>
              <a:rPr lang="en-GB" altLang="zh-CN" dirty="0"/>
              <a:t>My name is xxx.”</a:t>
            </a:r>
            <a:r>
              <a:rPr lang="zh-CN" altLang="en-US" dirty="0"/>
              <a:t>的语句开头。</a:t>
            </a:r>
            <a:endParaRPr lang="en-US" altLang="zh-CN" dirty="0"/>
          </a:p>
          <a:p>
            <a:pPr marL="914400" lvl="1" indent="-457200"/>
            <a:r>
              <a:rPr lang="zh-CN" altLang="en-US" dirty="0"/>
              <a:t>出生日期：</a:t>
            </a:r>
            <a:r>
              <a:rPr lang="en-GB" altLang="zh-CN" dirty="0" err="1"/>
              <a:t>yyyy</a:t>
            </a:r>
            <a:r>
              <a:rPr lang="en-GB" altLang="zh-CN" dirty="0"/>
              <a:t>-mm-dd</a:t>
            </a:r>
            <a:r>
              <a:rPr lang="zh-CN" altLang="en-GB" dirty="0"/>
              <a:t>、</a:t>
            </a:r>
            <a:r>
              <a:rPr lang="en-GB" altLang="zh-CN" dirty="0"/>
              <a:t>yyyy.mm.dd</a:t>
            </a:r>
            <a:r>
              <a:rPr lang="zh-CN" altLang="en-GB" dirty="0"/>
              <a:t>。</a:t>
            </a:r>
            <a:endParaRPr lang="en-US" altLang="zh-CN" dirty="0"/>
          </a:p>
          <a:p>
            <a:pPr marL="914400" lvl="1" indent="-457200"/>
            <a:r>
              <a:rPr lang="zh-CN" altLang="en-US" dirty="0"/>
              <a:t>电话：</a:t>
            </a:r>
            <a:r>
              <a:rPr lang="en-US" altLang="zh-CN" dirty="0"/>
              <a:t>11</a:t>
            </a:r>
            <a:r>
              <a:rPr lang="zh-CN" altLang="en-US" dirty="0"/>
              <a:t>位数字，不以</a:t>
            </a:r>
            <a:r>
              <a:rPr lang="en-US" altLang="zh-CN" dirty="0"/>
              <a:t>0</a:t>
            </a:r>
            <a:r>
              <a:rPr lang="zh-CN" altLang="en-US" dirty="0"/>
              <a:t>开头。</a:t>
            </a:r>
            <a:endParaRPr lang="en-US" altLang="zh-CN" dirty="0"/>
          </a:p>
          <a:p>
            <a:pPr marL="914400" lvl="1" indent="-457200"/>
            <a:r>
              <a:rPr lang="zh-CN" altLang="en-US" dirty="0"/>
              <a:t>邮箱：由数字、字母、</a:t>
            </a:r>
            <a:r>
              <a:rPr lang="en-US" altLang="zh-CN" dirty="0"/>
              <a:t>@</a:t>
            </a:r>
            <a:r>
              <a:rPr lang="zh-CN" altLang="en-US" dirty="0"/>
              <a:t>、</a:t>
            </a:r>
            <a:r>
              <a:rPr lang="en-US" altLang="zh-CN" dirty="0"/>
              <a:t>. </a:t>
            </a:r>
            <a:r>
              <a:rPr lang="zh-CN" altLang="en-US" dirty="0"/>
              <a:t>组成，不含其它字符。介绍中只会包含一个邮箱。</a:t>
            </a:r>
          </a:p>
          <a:p>
            <a:endParaRPr lang="zh-CN" altLang="en-US" sz="2400" dirty="0"/>
          </a:p>
          <a:p>
            <a:pPr defTabSz="914400" eaLnBrk="1" hangingPunct="1"/>
            <a:endParaRPr lang="zh-CN" altLang="en-US" b="1" dirty="0"/>
          </a:p>
        </p:txBody>
      </p:sp>
      <p:sp>
        <p:nvSpPr>
          <p:cNvPr id="7" name="矩形 6"/>
          <p:cNvSpPr/>
          <p:nvPr/>
        </p:nvSpPr>
        <p:spPr>
          <a:xfrm>
            <a:off x="611560" y="4828238"/>
            <a:ext cx="8352928" cy="1200329"/>
          </a:xfrm>
          <a:prstGeom prst="rect">
            <a:avLst/>
          </a:prstGeom>
        </p:spPr>
        <p:txBody>
          <a:bodyPr wrap="square">
            <a:spAutoFit/>
          </a:bodyPr>
          <a:lstStyle/>
          <a:p>
            <a:r>
              <a:rPr lang="en-GB" altLang="zh-CN" sz="2400" dirty="0">
                <a:latin typeface="Consolas" panose="020B0609020204030204" pitchFamily="49" charset="0"/>
                <a:ea typeface="华文楷体" panose="02010600040101010101" pitchFamily="2" charset="-122"/>
              </a:rPr>
              <a:t>I am </a:t>
            </a:r>
            <a:r>
              <a:rPr lang="en-GB" altLang="zh-CN" sz="2400" b="1" dirty="0" err="1">
                <a:solidFill>
                  <a:srgbClr val="C00000"/>
                </a:solidFill>
                <a:latin typeface="Consolas" panose="020B0609020204030204" pitchFamily="49" charset="0"/>
                <a:ea typeface="华文楷体" panose="02010600040101010101" pitchFamily="2" charset="-122"/>
              </a:rPr>
              <a:t>zhangshuaishuai</a:t>
            </a:r>
            <a:r>
              <a:rPr lang="en-GB" altLang="zh-CN" sz="2400" dirty="0">
                <a:latin typeface="Consolas" panose="020B0609020204030204" pitchFamily="49" charset="0"/>
                <a:ea typeface="华文楷体" panose="02010600040101010101" pitchFamily="2" charset="-122"/>
              </a:rPr>
              <a:t>. I was born on </a:t>
            </a:r>
            <a:r>
              <a:rPr lang="en-GB" altLang="zh-CN" sz="2400" b="1" dirty="0">
                <a:solidFill>
                  <a:srgbClr val="C00000"/>
                </a:solidFill>
                <a:latin typeface="Consolas" panose="020B0609020204030204" pitchFamily="49" charset="0"/>
                <a:ea typeface="华文楷体" panose="02010600040101010101" pitchFamily="2" charset="-122"/>
              </a:rPr>
              <a:t>2000.10.</a:t>
            </a:r>
            <a:r>
              <a:rPr lang="en-US" altLang="zh-CN" sz="2400" b="1" dirty="0">
                <a:solidFill>
                  <a:srgbClr val="C00000"/>
                </a:solidFill>
                <a:latin typeface="Consolas" panose="020B0609020204030204" pitchFamily="49" charset="0"/>
                <a:ea typeface="华文楷体" panose="02010600040101010101" pitchFamily="2" charset="-122"/>
              </a:rPr>
              <a:t>2</a:t>
            </a:r>
            <a:r>
              <a:rPr lang="en-GB" altLang="zh-CN" sz="2400" dirty="0">
                <a:latin typeface="Consolas" panose="020B0609020204030204" pitchFamily="49" charset="0"/>
                <a:ea typeface="华文楷体" panose="02010600040101010101" pitchFamily="2" charset="-122"/>
              </a:rPr>
              <a:t>. My phone number is </a:t>
            </a:r>
            <a:r>
              <a:rPr lang="en-GB" altLang="zh-CN" sz="2400" b="1" dirty="0">
                <a:solidFill>
                  <a:srgbClr val="C00000"/>
                </a:solidFill>
                <a:latin typeface="Consolas" panose="020B0609020204030204" pitchFamily="49" charset="0"/>
                <a:ea typeface="华文楷体" panose="02010600040101010101" pitchFamily="2" charset="-122"/>
              </a:rPr>
              <a:t>18866667777</a:t>
            </a:r>
            <a:r>
              <a:rPr lang="en-GB" altLang="zh-CN" sz="2400" dirty="0">
                <a:latin typeface="Consolas" panose="020B0609020204030204" pitchFamily="49" charset="0"/>
                <a:ea typeface="华文楷体" panose="02010600040101010101" pitchFamily="2" charset="-122"/>
              </a:rPr>
              <a:t> and you can also reach me by my email:</a:t>
            </a:r>
            <a:r>
              <a:rPr lang="zh-CN" altLang="en-US" sz="2400" dirty="0">
                <a:latin typeface="Consolas" panose="020B0609020204030204" pitchFamily="49" charset="0"/>
                <a:ea typeface="华文楷体" panose="02010600040101010101" pitchFamily="2" charset="-122"/>
              </a:rPr>
              <a:t> </a:t>
            </a:r>
            <a:r>
              <a:rPr lang="en-GB" altLang="zh-CN" sz="2400" b="1" dirty="0" err="1">
                <a:solidFill>
                  <a:srgbClr val="C00000"/>
                </a:solidFill>
                <a:latin typeface="Consolas" panose="020B0609020204030204" pitchFamily="49" charset="0"/>
                <a:ea typeface="华文楷体" panose="02010600040101010101" pitchFamily="2" charset="-122"/>
              </a:rPr>
              <a:t>zhangss</a:t>
            </a:r>
            <a:r>
              <a:rPr lang="en-US" altLang="zh-CN" sz="2400" b="1" dirty="0">
                <a:solidFill>
                  <a:srgbClr val="C00000"/>
                </a:solidFill>
                <a:latin typeface="Consolas" panose="020B0609020204030204" pitchFamily="49" charset="0"/>
                <a:ea typeface="华文楷体" panose="02010600040101010101" pitchFamily="2" charset="-122"/>
              </a:rPr>
              <a:t>@tsinghua.edu.cn</a:t>
            </a:r>
            <a:endParaRPr lang="en-GB" altLang="zh-CN" sz="2400" dirty="0">
              <a:latin typeface="Consolas" panose="020B0609020204030204" pitchFamily="49" charset="0"/>
              <a:ea typeface="华文楷体" panose="02010600040101010101" pitchFamily="2" charset="-122"/>
            </a:endParaRPr>
          </a:p>
        </p:txBody>
      </p:sp>
      <p:sp>
        <p:nvSpPr>
          <p:cNvPr id="8" name="标题 1"/>
          <p:cNvSpPr txBox="1"/>
          <p:nvPr/>
        </p:nvSpPr>
        <p:spPr>
          <a:xfrm>
            <a:off x="251520" y="136525"/>
            <a:ext cx="7886700" cy="1325563"/>
          </a:xfrm>
          <a:prstGeom prst="rect">
            <a:avLst/>
          </a:prstGeom>
        </p:spPr>
        <p:txBody>
          <a:bodyPr/>
          <a:lstStyle>
            <a:lvl1pPr algn="l" rtl="0" fontAlgn="base">
              <a:lnSpc>
                <a:spcPct val="90000"/>
              </a:lnSpc>
              <a:spcBef>
                <a:spcPct val="0"/>
              </a:spcBef>
              <a:spcAft>
                <a:spcPct val="0"/>
              </a:spcAft>
              <a:defRPr sz="4400" b="1" kern="1200">
                <a:solidFill>
                  <a:schemeClr val="tx1"/>
                </a:solidFill>
                <a:latin typeface="微软雅黑" panose="020B0503020204020204" pitchFamily="34" charset="-122"/>
                <a:ea typeface="微软雅黑" panose="020B0503020204020204" pitchFamily="34" charset="-122"/>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914400" eaLnBrk="1" hangingPunct="1"/>
            <a:r>
              <a:rPr lang="zh-CN" altLang="en-US" dirty="0"/>
              <a:t>例题：学生信息整理</a:t>
            </a:r>
          </a:p>
        </p:txBody>
      </p:sp>
      <p:sp>
        <p:nvSpPr>
          <p:cNvPr id="3" name="文本框 2"/>
          <p:cNvSpPr txBox="1"/>
          <p:nvPr/>
        </p:nvSpPr>
        <p:spPr>
          <a:xfrm>
            <a:off x="395536" y="4305018"/>
            <a:ext cx="1620957" cy="523220"/>
          </a:xfrm>
          <a:prstGeom prst="rect">
            <a:avLst/>
          </a:prstGeom>
          <a:noFill/>
        </p:spPr>
        <p:txBody>
          <a:bodyPr wrap="none" rtlCol="0">
            <a:spAutoFit/>
          </a:bodyPr>
          <a:lstStyle/>
          <a:p>
            <a:r>
              <a:rPr lang="zh-CN" altLang="en-US" sz="2800" b="1" dirty="0"/>
              <a:t>样例输入</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4C3BD7-260C-4BC9-9C17-940D7F59C4D1}" type="slidenum">
              <a:rPr lang="en-US" altLang="zh-CN" smtClean="0"/>
              <a:t>104</a:t>
            </a:fld>
            <a:endParaRPr lang="en-US" altLang="zh-CN"/>
          </a:p>
        </p:txBody>
      </p:sp>
      <p:sp>
        <p:nvSpPr>
          <p:cNvPr id="5" name="矩形 4"/>
          <p:cNvSpPr/>
          <p:nvPr/>
        </p:nvSpPr>
        <p:spPr>
          <a:xfrm>
            <a:off x="323528" y="165834"/>
            <a:ext cx="10441160" cy="6555641"/>
          </a:xfrm>
          <a:prstGeom prst="rect">
            <a:avLst/>
          </a:prstGeom>
        </p:spPr>
        <p:txBody>
          <a:bodyPr wrap="square">
            <a:spAutoFit/>
          </a:bodyPr>
          <a:lstStyle/>
          <a:p>
            <a:r>
              <a:rPr lang="en-GB" altLang="zh-CN" sz="2000" dirty="0">
                <a:solidFill>
                  <a:srgbClr val="C00000"/>
                </a:solidFill>
                <a:latin typeface="Consolas" panose="020B0609020204030204" pitchFamily="49" charset="0"/>
                <a:ea typeface="微软雅黑" panose="020B0503020204020204" pitchFamily="34" charset="-122"/>
              </a:rPr>
              <a:t>void</a:t>
            </a:r>
            <a:r>
              <a:rPr lang="en-GB" altLang="zh-CN" sz="2000" dirty="0">
                <a:solidFill>
                  <a:srgbClr val="000000"/>
                </a:solidFill>
                <a:latin typeface="Consolas" panose="020B0609020204030204" pitchFamily="49" charset="0"/>
                <a:ea typeface="微软雅黑" panose="020B0503020204020204" pitchFamily="34" charset="-122"/>
              </a:rPr>
              <a:t> extract(</a:t>
            </a:r>
            <a:r>
              <a:rPr lang="en-GB" altLang="zh-CN" sz="2000" dirty="0">
                <a:solidFill>
                  <a:srgbClr val="C00000"/>
                </a:solidFill>
                <a:latin typeface="Consolas" panose="020B0609020204030204" pitchFamily="49" charset="0"/>
                <a:ea typeface="微软雅黑" panose="020B0503020204020204" pitchFamily="34" charset="-122"/>
              </a:rPr>
              <a:t>string</a:t>
            </a:r>
            <a:r>
              <a:rPr lang="en-GB" altLang="zh-CN" sz="2000" dirty="0">
                <a:solidFill>
                  <a:srgbClr val="000000"/>
                </a:solidFill>
                <a:latin typeface="Consolas" panose="020B0609020204030204" pitchFamily="49" charset="0"/>
                <a:ea typeface="微软雅黑" panose="020B0503020204020204" pitchFamily="34" charset="-122"/>
              </a:rPr>
              <a:t> input) {</a:t>
            </a:r>
          </a:p>
          <a:p>
            <a:r>
              <a:rPr lang="en-GB" altLang="zh-CN" sz="2000" dirty="0">
                <a:solidFill>
                  <a:srgbClr val="000000"/>
                </a:solidFill>
                <a:latin typeface="Consolas" panose="020B0609020204030204" pitchFamily="49" charset="0"/>
                <a:ea typeface="微软雅黑" panose="020B0503020204020204" pitchFamily="34" charset="-122"/>
              </a:rPr>
              <a:t>	</a:t>
            </a:r>
            <a:r>
              <a:rPr lang="en-GB" altLang="zh-CN" sz="2000" dirty="0" err="1">
                <a:solidFill>
                  <a:srgbClr val="000000"/>
                </a:solidFill>
                <a:latin typeface="Consolas" panose="020B0609020204030204" pitchFamily="49" charset="0"/>
                <a:ea typeface="微软雅黑" panose="020B0503020204020204" pitchFamily="34" charset="-122"/>
              </a:rPr>
              <a:t>smatch</a:t>
            </a:r>
            <a:r>
              <a:rPr lang="en-GB" altLang="zh-CN" sz="2000" dirty="0">
                <a:solidFill>
                  <a:srgbClr val="000000"/>
                </a:solidFill>
                <a:latin typeface="Consolas" panose="020B0609020204030204" pitchFamily="49" charset="0"/>
                <a:ea typeface="微软雅黑" panose="020B0503020204020204" pitchFamily="34" charset="-122"/>
              </a:rPr>
              <a:t> </a:t>
            </a:r>
            <a:r>
              <a:rPr lang="en-GB" altLang="zh-CN" sz="2000" dirty="0" err="1">
                <a:solidFill>
                  <a:srgbClr val="000000"/>
                </a:solidFill>
                <a:latin typeface="Consolas" panose="020B0609020204030204" pitchFamily="49" charset="0"/>
                <a:ea typeface="微软雅黑" panose="020B0503020204020204" pitchFamily="34" charset="-122"/>
              </a:rPr>
              <a:t>sm</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dirty="0">
                <a:solidFill>
                  <a:srgbClr val="000000"/>
                </a:solidFill>
                <a:latin typeface="Consolas" panose="020B0609020204030204" pitchFamily="49" charset="0"/>
                <a:ea typeface="微软雅黑" panose="020B0503020204020204" pitchFamily="34" charset="-122"/>
              </a:rPr>
              <a:t>	regex get_name(R"</a:t>
            </a:r>
            <a:r>
              <a:rPr lang="en-GB" altLang="zh-CN" sz="2000" dirty="0">
                <a:solidFill>
                  <a:srgbClr val="C00000"/>
                </a:solidFill>
                <a:latin typeface="Consolas" panose="020B0609020204030204" pitchFamily="49" charset="0"/>
                <a:ea typeface="微软雅黑" panose="020B0503020204020204" pitchFamily="34" charset="-122"/>
              </a:rPr>
              <a:t>((My name is |I am )(\w+)\.)</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dirty="0">
                <a:solidFill>
                  <a:srgbClr val="000000"/>
                </a:solidFill>
                <a:latin typeface="Consolas" panose="020B0609020204030204" pitchFamily="49" charset="0"/>
                <a:ea typeface="微软雅黑" panose="020B0503020204020204" pitchFamily="34" charset="-122"/>
              </a:rPr>
              <a:t>	regex get_date(R"</a:t>
            </a:r>
            <a:r>
              <a:rPr lang="en-GB" altLang="zh-CN" sz="2000" dirty="0">
                <a:solidFill>
                  <a:srgbClr val="C00000"/>
                </a:solidFill>
                <a:latin typeface="Consolas" panose="020B0609020204030204" pitchFamily="49" charset="0"/>
                <a:ea typeface="微软雅黑" panose="020B0503020204020204" pitchFamily="34" charset="-122"/>
              </a:rPr>
              <a:t>((\d{4})[\.-](\d{1,2})[\.-](\d{1,2}))</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dirty="0">
                <a:solidFill>
                  <a:srgbClr val="000000"/>
                </a:solidFill>
                <a:latin typeface="Consolas" panose="020B0609020204030204" pitchFamily="49" charset="0"/>
                <a:ea typeface="微软雅黑" panose="020B0503020204020204" pitchFamily="34" charset="-122"/>
              </a:rPr>
              <a:t>	regex get_mobile(R"</a:t>
            </a:r>
            <a:r>
              <a:rPr lang="en-GB" altLang="zh-CN" sz="2000" dirty="0">
                <a:solidFill>
                  <a:srgbClr val="C00000"/>
                </a:solidFill>
                <a:latin typeface="Consolas" panose="020B0609020204030204" pitchFamily="49" charset="0"/>
                <a:ea typeface="微软雅黑" panose="020B0503020204020204" pitchFamily="34" charset="-122"/>
              </a:rPr>
              <a:t>([1-9]\d{10})</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a:solidFill>
                  <a:srgbClr val="000000"/>
                </a:solidFill>
                <a:latin typeface="Consolas" panose="020B0609020204030204" pitchFamily="49" charset="0"/>
                <a:ea typeface="微软雅黑" panose="020B0503020204020204" pitchFamily="34" charset="-122"/>
              </a:rPr>
              <a:t>	</a:t>
            </a:r>
            <a:r>
              <a:rPr lang="en" altLang="zh-CN" sz="2000">
                <a:solidFill>
                  <a:srgbClr val="000000"/>
                </a:solidFill>
                <a:latin typeface="Consolas" panose="020B0609020204030204" pitchFamily="49" charset="0"/>
                <a:ea typeface="微软雅黑" panose="020B0503020204020204" pitchFamily="34" charset="-122"/>
              </a:rPr>
              <a:t>regex </a:t>
            </a:r>
            <a:r>
              <a:rPr lang="en" altLang="zh-CN" sz="2000" dirty="0">
                <a:solidFill>
                  <a:srgbClr val="000000"/>
                </a:solidFill>
                <a:latin typeface="Consolas" panose="020B0609020204030204" pitchFamily="49" charset="0"/>
                <a:ea typeface="微软雅黑" panose="020B0503020204020204" pitchFamily="34" charset="-122"/>
              </a:rPr>
              <a:t>get_email(R"</a:t>
            </a:r>
            <a:r>
              <a:rPr lang="en-US" altLang="zh-CN" sz="2000" dirty="0">
                <a:solidFill>
                  <a:srgbClr val="C00000"/>
                </a:solidFill>
                <a:latin typeface="Consolas" panose="020B0609020204030204" pitchFamily="49" charset="0"/>
                <a:ea typeface="微软雅黑" panose="020B0503020204020204" pitchFamily="34" charset="-122"/>
              </a:rPr>
              <a:t>([\w]+@(\w+\.)+\w+)</a:t>
            </a:r>
            <a:r>
              <a:rPr lang="en" altLang="zh-CN" sz="2000" dirty="0">
                <a:solidFill>
                  <a:srgbClr val="000000"/>
                </a:solidFill>
                <a:latin typeface="Consolas" panose="020B0609020204030204" pitchFamily="49" charset="0"/>
                <a:ea typeface="微软雅黑" panose="020B0503020204020204" pitchFamily="34" charset="-122"/>
              </a:rPr>
              <a:t>");</a:t>
            </a:r>
            <a:br>
              <a:rPr lang="en-GB" altLang="zh-CN" sz="2000" dirty="0">
                <a:solidFill>
                  <a:srgbClr val="000000"/>
                </a:solidFill>
                <a:latin typeface="Consolas" panose="020B0609020204030204" pitchFamily="49" charset="0"/>
                <a:ea typeface="微软雅黑" panose="020B0503020204020204" pitchFamily="34" charset="-122"/>
              </a:rPr>
            </a:br>
            <a:r>
              <a:rPr lang="en-GB" altLang="zh-CN" sz="2000" dirty="0">
                <a:solidFill>
                  <a:srgbClr val="000000"/>
                </a:solidFill>
                <a:latin typeface="Consolas" panose="020B0609020204030204" pitchFamily="49" charset="0"/>
                <a:ea typeface="微软雅黑" panose="020B0503020204020204" pitchFamily="34" charset="-122"/>
              </a:rPr>
              <a:t>	</a:t>
            </a:r>
          </a:p>
          <a:p>
            <a:r>
              <a:rPr lang="en-GB" altLang="zh-CN" sz="2000" dirty="0">
                <a:solidFill>
                  <a:srgbClr val="000000"/>
                </a:solidFill>
                <a:latin typeface="Consolas" panose="020B0609020204030204" pitchFamily="49" charset="0"/>
                <a:ea typeface="微软雅黑" panose="020B0503020204020204" pitchFamily="34" charset="-122"/>
              </a:rPr>
              <a:t>	if (std::regex_search(input, sm, get_name))</a:t>
            </a:r>
          </a:p>
          <a:p>
            <a:r>
              <a:rPr lang="en-GB" altLang="zh-CN" sz="2000" dirty="0">
                <a:solidFill>
                  <a:srgbClr val="000000"/>
                </a:solidFill>
                <a:latin typeface="Consolas" panose="020B0609020204030204" pitchFamily="49" charset="0"/>
                <a:ea typeface="微软雅黑" panose="020B0503020204020204" pitchFamily="34" charset="-122"/>
              </a:rPr>
              <a:t>		cout &lt;&lt; sm[2] &lt;&lt; </a:t>
            </a:r>
            <a:r>
              <a:rPr lang="en-US" altLang="zh-CN" sz="2000" dirty="0" err="1">
                <a:solidFill>
                  <a:srgbClr val="000000"/>
                </a:solidFill>
                <a:latin typeface="Consolas" panose="020B0609020204030204" pitchFamily="49" charset="0"/>
                <a:ea typeface="微软雅黑" panose="020B0503020204020204" pitchFamily="34" charset="-122"/>
              </a:rPr>
              <a:t>endl</a:t>
            </a:r>
            <a:r>
              <a:rPr lang="en-GB" altLang="zh-CN" sz="2000" dirty="0">
                <a:solidFill>
                  <a:srgbClr val="000000"/>
                </a:solidFill>
                <a:latin typeface="Consolas" panose="020B0609020204030204" pitchFamily="49" charset="0"/>
                <a:ea typeface="微软雅黑" panose="020B0503020204020204" pitchFamily="34" charset="-122"/>
              </a:rPr>
              <a:t>;</a:t>
            </a:r>
            <a:br>
              <a:rPr lang="en-GB" altLang="zh-CN" sz="2000" dirty="0">
                <a:solidFill>
                  <a:srgbClr val="000000"/>
                </a:solidFill>
                <a:latin typeface="Consolas" panose="020B0609020204030204" pitchFamily="49" charset="0"/>
                <a:ea typeface="微软雅黑" panose="020B0503020204020204" pitchFamily="34" charset="-122"/>
              </a:rPr>
            </a:br>
            <a:r>
              <a:rPr lang="en-GB" altLang="zh-CN" sz="2000" dirty="0">
                <a:solidFill>
                  <a:srgbClr val="000000"/>
                </a:solidFill>
                <a:latin typeface="Consolas" panose="020B0609020204030204" pitchFamily="49" charset="0"/>
                <a:ea typeface="微软雅黑" panose="020B0503020204020204" pitchFamily="34" charset="-122"/>
              </a:rPr>
              <a:t>	int date[3] = {0};</a:t>
            </a:r>
            <a:br>
              <a:rPr lang="en-GB" altLang="zh-CN" sz="2000" dirty="0">
                <a:solidFill>
                  <a:srgbClr val="000000"/>
                </a:solidFill>
                <a:latin typeface="Consolas" panose="020B0609020204030204" pitchFamily="49" charset="0"/>
                <a:ea typeface="微软雅黑" panose="020B0503020204020204" pitchFamily="34" charset="-122"/>
              </a:rPr>
            </a:br>
            <a:r>
              <a:rPr lang="en-GB" altLang="zh-CN" sz="2000" dirty="0">
                <a:solidFill>
                  <a:srgbClr val="000000"/>
                </a:solidFill>
                <a:latin typeface="Consolas" panose="020B0609020204030204" pitchFamily="49" charset="0"/>
                <a:ea typeface="微软雅黑" panose="020B0503020204020204" pitchFamily="34" charset="-122"/>
              </a:rPr>
              <a:t>	if (regex_search(input, sm, get_date)){</a:t>
            </a:r>
          </a:p>
          <a:p>
            <a:r>
              <a:rPr lang="en-GB" altLang="zh-CN" sz="2000" dirty="0">
                <a:solidFill>
                  <a:srgbClr val="000000"/>
                </a:solidFill>
                <a:latin typeface="Consolas" panose="020B0609020204030204" pitchFamily="49" charset="0"/>
                <a:ea typeface="微软雅黑" panose="020B0503020204020204" pitchFamily="34" charset="-122"/>
              </a:rPr>
              <a:t>		for (int </a:t>
            </a:r>
            <a:r>
              <a:rPr lang="en-GB" altLang="zh-CN" sz="2000" dirty="0" err="1">
                <a:solidFill>
                  <a:srgbClr val="000000"/>
                </a:solidFill>
                <a:latin typeface="Consolas" panose="020B0609020204030204" pitchFamily="49" charset="0"/>
                <a:ea typeface="微软雅黑" panose="020B0503020204020204" pitchFamily="34" charset="-122"/>
              </a:rPr>
              <a:t>i</a:t>
            </a:r>
            <a:r>
              <a:rPr lang="en-GB" altLang="zh-CN" sz="2000" dirty="0">
                <a:solidFill>
                  <a:srgbClr val="000000"/>
                </a:solidFill>
                <a:latin typeface="Consolas" panose="020B0609020204030204" pitchFamily="49" charset="0"/>
                <a:ea typeface="微软雅黑" panose="020B0503020204020204" pitchFamily="34" charset="-122"/>
              </a:rPr>
              <a:t> = 1; </a:t>
            </a:r>
            <a:r>
              <a:rPr lang="en-GB" altLang="zh-CN" sz="2000" dirty="0" err="1">
                <a:solidFill>
                  <a:srgbClr val="000000"/>
                </a:solidFill>
                <a:latin typeface="Consolas" panose="020B0609020204030204" pitchFamily="49" charset="0"/>
                <a:ea typeface="微软雅黑" panose="020B0503020204020204" pitchFamily="34" charset="-122"/>
              </a:rPr>
              <a:t>i</a:t>
            </a:r>
            <a:r>
              <a:rPr lang="en-GB" altLang="zh-CN" sz="2000" dirty="0">
                <a:solidFill>
                  <a:srgbClr val="000000"/>
                </a:solidFill>
                <a:latin typeface="Consolas" panose="020B0609020204030204" pitchFamily="49" charset="0"/>
                <a:ea typeface="微软雅黑" panose="020B0503020204020204" pitchFamily="34" charset="-122"/>
              </a:rPr>
              <a:t> &lt;= 3; </a:t>
            </a:r>
            <a:r>
              <a:rPr lang="en-GB" altLang="zh-CN" sz="2000" dirty="0" err="1">
                <a:solidFill>
                  <a:srgbClr val="000000"/>
                </a:solidFill>
                <a:latin typeface="Consolas" panose="020B0609020204030204" pitchFamily="49" charset="0"/>
                <a:ea typeface="微软雅黑" panose="020B0503020204020204" pitchFamily="34" charset="-122"/>
              </a:rPr>
              <a:t>i</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dirty="0">
                <a:solidFill>
                  <a:srgbClr val="000000"/>
                </a:solidFill>
                <a:latin typeface="Consolas" panose="020B0609020204030204" pitchFamily="49" charset="0"/>
                <a:ea typeface="微软雅黑" panose="020B0503020204020204" pitchFamily="34" charset="-122"/>
              </a:rPr>
              <a:t>			date[</a:t>
            </a:r>
            <a:r>
              <a:rPr lang="en-GB" altLang="zh-CN" sz="2000" dirty="0" err="1">
                <a:solidFill>
                  <a:srgbClr val="000000"/>
                </a:solidFill>
                <a:latin typeface="Consolas" panose="020B0609020204030204" pitchFamily="49" charset="0"/>
                <a:ea typeface="微软雅黑" panose="020B0503020204020204" pitchFamily="34" charset="-122"/>
              </a:rPr>
              <a:t>i</a:t>
            </a:r>
            <a:r>
              <a:rPr lang="en-GB" altLang="zh-CN" sz="2000" dirty="0">
                <a:solidFill>
                  <a:srgbClr val="000000"/>
                </a:solidFill>
                <a:latin typeface="Consolas" panose="020B0609020204030204" pitchFamily="49" charset="0"/>
                <a:ea typeface="微软雅黑" panose="020B0503020204020204" pitchFamily="34" charset="-122"/>
              </a:rPr>
              <a:t> - 1] = </a:t>
            </a:r>
            <a:r>
              <a:rPr lang="en-GB" altLang="zh-CN" sz="2000" dirty="0" err="1">
                <a:solidFill>
                  <a:srgbClr val="000000"/>
                </a:solidFill>
                <a:latin typeface="Consolas" panose="020B0609020204030204" pitchFamily="49" charset="0"/>
                <a:ea typeface="微软雅黑" panose="020B0503020204020204" pitchFamily="34" charset="-122"/>
              </a:rPr>
              <a:t>stoi</a:t>
            </a:r>
            <a:r>
              <a:rPr lang="en-GB" altLang="zh-CN" sz="2000" dirty="0">
                <a:solidFill>
                  <a:srgbClr val="000000"/>
                </a:solidFill>
                <a:latin typeface="Consolas" panose="020B0609020204030204" pitchFamily="49" charset="0"/>
                <a:ea typeface="微软雅黑" panose="020B0503020204020204" pitchFamily="34" charset="-122"/>
              </a:rPr>
              <a:t>(</a:t>
            </a:r>
            <a:r>
              <a:rPr lang="en-GB" altLang="zh-CN" sz="2000" dirty="0" err="1">
                <a:solidFill>
                  <a:srgbClr val="000000"/>
                </a:solidFill>
                <a:latin typeface="Consolas" panose="020B0609020204030204" pitchFamily="49" charset="0"/>
                <a:ea typeface="微软雅黑" panose="020B0503020204020204" pitchFamily="34" charset="-122"/>
              </a:rPr>
              <a:t>sm</a:t>
            </a:r>
            <a:r>
              <a:rPr lang="en-GB" altLang="zh-CN" sz="2000" dirty="0">
                <a:solidFill>
                  <a:srgbClr val="000000"/>
                </a:solidFill>
                <a:latin typeface="Consolas" panose="020B0609020204030204" pitchFamily="49" charset="0"/>
                <a:ea typeface="微软雅黑" panose="020B0503020204020204" pitchFamily="34" charset="-122"/>
              </a:rPr>
              <a:t>[</a:t>
            </a:r>
            <a:r>
              <a:rPr lang="en-GB" altLang="zh-CN" sz="2000" dirty="0" err="1">
                <a:solidFill>
                  <a:srgbClr val="000000"/>
                </a:solidFill>
                <a:latin typeface="Consolas" panose="020B0609020204030204" pitchFamily="49" charset="0"/>
                <a:ea typeface="微软雅黑" panose="020B0503020204020204" pitchFamily="34" charset="-122"/>
              </a:rPr>
              <a:t>i</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dirty="0">
                <a:solidFill>
                  <a:srgbClr val="000000"/>
                </a:solidFill>
                <a:latin typeface="Consolas" panose="020B0609020204030204" pitchFamily="49" charset="0"/>
                <a:ea typeface="微软雅黑" panose="020B0503020204020204" pitchFamily="34" charset="-122"/>
              </a:rPr>
              <a:t>		cout &lt;&lt; date[0] &lt;&lt; "." &lt;&lt; date[1] &lt;&lt; "." &lt;&lt; </a:t>
            </a:r>
          </a:p>
          <a:p>
            <a:r>
              <a:rPr lang="en-GB" altLang="zh-CN" sz="2000" dirty="0">
                <a:solidFill>
                  <a:srgbClr val="000000"/>
                </a:solidFill>
                <a:latin typeface="Consolas" panose="020B0609020204030204" pitchFamily="49" charset="0"/>
                <a:ea typeface="微软雅黑" panose="020B0503020204020204" pitchFamily="34" charset="-122"/>
              </a:rPr>
              <a:t>					date[2] &lt;&lt;endl;</a:t>
            </a:r>
          </a:p>
          <a:p>
            <a:r>
              <a:rPr lang="en-GB" altLang="zh-CN" sz="2000" dirty="0">
                <a:solidFill>
                  <a:srgbClr val="000000"/>
                </a:solidFill>
                <a:latin typeface="Consolas" panose="020B0609020204030204" pitchFamily="49" charset="0"/>
                <a:ea typeface="微软雅黑" panose="020B0503020204020204" pitchFamily="34" charset="-122"/>
              </a:rPr>
              <a:t>	}</a:t>
            </a:r>
            <a:br>
              <a:rPr lang="en-GB" altLang="zh-CN" sz="2000" dirty="0">
                <a:solidFill>
                  <a:srgbClr val="000000"/>
                </a:solidFill>
                <a:latin typeface="Consolas" panose="020B0609020204030204" pitchFamily="49" charset="0"/>
                <a:ea typeface="微软雅黑" panose="020B0503020204020204" pitchFamily="34" charset="-122"/>
              </a:rPr>
            </a:br>
            <a:r>
              <a:rPr lang="en-GB" altLang="zh-CN" sz="2000" dirty="0">
                <a:solidFill>
                  <a:srgbClr val="000000"/>
                </a:solidFill>
                <a:latin typeface="Consolas" panose="020B0609020204030204" pitchFamily="49" charset="0"/>
                <a:ea typeface="微软雅黑" panose="020B0503020204020204" pitchFamily="34" charset="-122"/>
              </a:rPr>
              <a:t>	if (</a:t>
            </a:r>
            <a:r>
              <a:rPr lang="en-GB" altLang="zh-CN" sz="2000" dirty="0" err="1">
                <a:solidFill>
                  <a:srgbClr val="000000"/>
                </a:solidFill>
                <a:latin typeface="Consolas" panose="020B0609020204030204" pitchFamily="49" charset="0"/>
                <a:ea typeface="微软雅黑" panose="020B0503020204020204" pitchFamily="34" charset="-122"/>
              </a:rPr>
              <a:t>regex_search</a:t>
            </a:r>
            <a:r>
              <a:rPr lang="en-GB" altLang="zh-CN" sz="2000" dirty="0">
                <a:solidFill>
                  <a:srgbClr val="000000"/>
                </a:solidFill>
                <a:latin typeface="Consolas" panose="020B0609020204030204" pitchFamily="49" charset="0"/>
                <a:ea typeface="微软雅黑" panose="020B0503020204020204" pitchFamily="34" charset="-122"/>
              </a:rPr>
              <a:t>(input, </a:t>
            </a:r>
            <a:r>
              <a:rPr lang="en-GB" altLang="zh-CN" sz="2000" dirty="0" err="1">
                <a:solidFill>
                  <a:srgbClr val="000000"/>
                </a:solidFill>
                <a:latin typeface="Consolas" panose="020B0609020204030204" pitchFamily="49" charset="0"/>
                <a:ea typeface="微软雅黑" panose="020B0503020204020204" pitchFamily="34" charset="-122"/>
              </a:rPr>
              <a:t>sm</a:t>
            </a:r>
            <a:r>
              <a:rPr lang="en-GB" altLang="zh-CN" sz="2000" dirty="0">
                <a:solidFill>
                  <a:srgbClr val="000000"/>
                </a:solidFill>
                <a:latin typeface="Consolas" panose="020B0609020204030204" pitchFamily="49" charset="0"/>
                <a:ea typeface="微软雅黑" panose="020B0503020204020204" pitchFamily="34" charset="-122"/>
              </a:rPr>
              <a:t>, </a:t>
            </a:r>
            <a:r>
              <a:rPr lang="en-GB" altLang="zh-CN" sz="2000" dirty="0" err="1">
                <a:solidFill>
                  <a:srgbClr val="000000"/>
                </a:solidFill>
                <a:latin typeface="Consolas" panose="020B0609020204030204" pitchFamily="49" charset="0"/>
                <a:ea typeface="微软雅黑" panose="020B0503020204020204" pitchFamily="34" charset="-122"/>
              </a:rPr>
              <a:t>get_mobile</a:t>
            </a:r>
            <a:r>
              <a:rPr lang="en-GB" altLang="zh-CN" sz="2000" dirty="0">
                <a:solidFill>
                  <a:srgbClr val="000000"/>
                </a:solidFill>
                <a:latin typeface="Consolas" panose="020B0609020204030204" pitchFamily="49" charset="0"/>
                <a:ea typeface="微软雅黑" panose="020B0503020204020204" pitchFamily="34" charset="-122"/>
              </a:rPr>
              <a:t>))</a:t>
            </a:r>
          </a:p>
          <a:p>
            <a:r>
              <a:rPr lang="en-GB" altLang="zh-CN" sz="2000" dirty="0">
                <a:solidFill>
                  <a:srgbClr val="000000"/>
                </a:solidFill>
                <a:latin typeface="Consolas" panose="020B0609020204030204" pitchFamily="49" charset="0"/>
                <a:ea typeface="微软雅黑" panose="020B0503020204020204" pitchFamily="34" charset="-122"/>
              </a:rPr>
              <a:t>		cout &lt;&lt; sm[0] &lt;&lt; endl;</a:t>
            </a:r>
            <a:br>
              <a:rPr lang="en-GB" altLang="zh-CN" sz="2000" dirty="0">
                <a:solidFill>
                  <a:srgbClr val="000000"/>
                </a:solidFill>
                <a:latin typeface="Consolas" panose="020B0609020204030204" pitchFamily="49" charset="0"/>
                <a:ea typeface="微软雅黑" panose="020B0503020204020204" pitchFamily="34" charset="-122"/>
              </a:rPr>
            </a:br>
            <a:r>
              <a:rPr lang="en-GB" altLang="zh-CN" sz="2000" dirty="0">
                <a:solidFill>
                  <a:srgbClr val="000000"/>
                </a:solidFill>
                <a:latin typeface="Consolas" panose="020B0609020204030204" pitchFamily="49" charset="0"/>
                <a:ea typeface="微软雅黑" panose="020B0503020204020204" pitchFamily="34" charset="-122"/>
              </a:rPr>
              <a:t>	if (regex_search(input, sm, get_email))</a:t>
            </a:r>
          </a:p>
          <a:p>
            <a:r>
              <a:rPr lang="en-GB" altLang="zh-CN" sz="2000" dirty="0">
                <a:solidFill>
                  <a:srgbClr val="000000"/>
                </a:solidFill>
                <a:latin typeface="Consolas" panose="020B0609020204030204" pitchFamily="49" charset="0"/>
                <a:ea typeface="微软雅黑" panose="020B0503020204020204" pitchFamily="34" charset="-122"/>
              </a:rPr>
              <a:t>		cout &lt;&lt; sm[0] &lt;&lt; endl;</a:t>
            </a:r>
          </a:p>
          <a:p>
            <a:r>
              <a:rPr lang="en-GB" altLang="zh-CN" sz="2000" dirty="0">
                <a:solidFill>
                  <a:srgbClr val="000000"/>
                </a:solidFill>
                <a:latin typeface="Consolas" panose="020B0609020204030204" pitchFamily="49" charset="0"/>
                <a:ea typeface="微软雅黑" panose="020B0503020204020204" pitchFamily="34" charset="-122"/>
              </a:rPr>
              <a: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34C3BD7-260C-4BC9-9C17-940D7F59C4D1}" type="slidenum">
              <a:rPr lang="en-US" altLang="zh-CN" smtClean="0"/>
              <a:t>105</a:t>
            </a:fld>
            <a:endParaRPr lang="en-US" altLang="zh-CN"/>
          </a:p>
        </p:txBody>
      </p:sp>
      <p:sp>
        <p:nvSpPr>
          <p:cNvPr id="3" name="文本框 2"/>
          <p:cNvSpPr txBox="1"/>
          <p:nvPr/>
        </p:nvSpPr>
        <p:spPr>
          <a:xfrm>
            <a:off x="561928" y="332656"/>
            <a:ext cx="8020144" cy="4093428"/>
          </a:xfrm>
          <a:prstGeom prst="rect">
            <a:avLst/>
          </a:prstGeom>
          <a:noFill/>
        </p:spPr>
        <p:txBody>
          <a:bodyPr wrap="none" rtlCol="0">
            <a:spAutoFit/>
          </a:bodyPr>
          <a:lstStyle/>
          <a:p>
            <a:r>
              <a:rPr lang="en-US" altLang="zh-CN" sz="2000" dirty="0">
                <a:solidFill>
                  <a:srgbClr val="C00000"/>
                </a:solidFill>
                <a:latin typeface="Consolas" panose="020B0609020204030204" pitchFamily="49" charset="0"/>
              </a:rPr>
              <a:t>#include </a:t>
            </a:r>
            <a:r>
              <a:rPr lang="en-US" altLang="zh-CN" sz="2000" dirty="0">
                <a:latin typeface="Consolas" panose="020B0609020204030204" pitchFamily="49" charset="0"/>
              </a:rPr>
              <a:t>&lt;iostream&gt;</a:t>
            </a:r>
          </a:p>
          <a:p>
            <a:r>
              <a:rPr lang="en-US" altLang="zh-CN" sz="2000" dirty="0">
                <a:solidFill>
                  <a:srgbClr val="C00000"/>
                </a:solidFill>
                <a:latin typeface="Consolas" panose="020B0609020204030204" pitchFamily="49" charset="0"/>
              </a:rPr>
              <a:t>#include </a:t>
            </a:r>
            <a:r>
              <a:rPr lang="en-US" altLang="zh-CN" sz="2000" dirty="0">
                <a:latin typeface="Consolas" panose="020B0609020204030204" pitchFamily="49" charset="0"/>
              </a:rPr>
              <a:t>&lt;regex&gt;</a:t>
            </a:r>
          </a:p>
          <a:p>
            <a:r>
              <a:rPr lang="en-US" altLang="zh-CN" sz="2000" dirty="0">
                <a:solidFill>
                  <a:srgbClr val="C00000"/>
                </a:solidFill>
                <a:latin typeface="Consolas" panose="020B0609020204030204" pitchFamily="49" charset="0"/>
              </a:rPr>
              <a:t>#include </a:t>
            </a:r>
            <a:r>
              <a:rPr lang="en-US" altLang="zh-CN" sz="2000" dirty="0">
                <a:latin typeface="Consolas" panose="020B0609020204030204" pitchFamily="49" charset="0"/>
              </a:rPr>
              <a:t>&lt;string&gt;</a:t>
            </a:r>
          </a:p>
          <a:p>
            <a:r>
              <a:rPr lang="en-US" altLang="zh-CN" sz="2000" dirty="0">
                <a:latin typeface="Consolas" panose="020B0609020204030204" pitchFamily="49" charset="0"/>
              </a:rPr>
              <a:t>using namespace std;</a:t>
            </a:r>
          </a:p>
          <a:p>
            <a:r>
              <a:rPr lang="en-US" altLang="zh-CN" sz="2000" dirty="0">
                <a:latin typeface="Consolas" panose="020B0609020204030204" pitchFamily="49" charset="0"/>
              </a:rPr>
              <a:t>void extract(string input);</a:t>
            </a:r>
          </a:p>
          <a:p>
            <a:r>
              <a:rPr lang="en-US" altLang="zh-CN" sz="2000" dirty="0">
                <a:latin typeface="Consolas" panose="020B0609020204030204" pitchFamily="49" charset="0"/>
              </a:rPr>
              <a:t>int main() {</a:t>
            </a:r>
          </a:p>
          <a:p>
            <a:r>
              <a:rPr lang="en-US" altLang="zh-CN" sz="2000" dirty="0">
                <a:latin typeface="Consolas" panose="020B0609020204030204" pitchFamily="49" charset="0"/>
              </a:rPr>
              <a:t>    string str(</a:t>
            </a:r>
            <a:r>
              <a:rPr lang="en-US" altLang="zh-CN" sz="2000" dirty="0">
                <a:solidFill>
                  <a:srgbClr val="C00000"/>
                </a:solidFill>
                <a:latin typeface="Consolas" panose="020B0609020204030204" pitchFamily="49" charset="0"/>
              </a:rPr>
              <a:t>"I am </a:t>
            </a:r>
            <a:r>
              <a:rPr lang="en-US" altLang="zh-CN" sz="2000" dirty="0" err="1">
                <a:solidFill>
                  <a:srgbClr val="C00000"/>
                </a:solidFill>
                <a:latin typeface="Consolas" panose="020B0609020204030204" pitchFamily="49" charset="0"/>
              </a:rPr>
              <a:t>zhangshuaishuai</a:t>
            </a:r>
            <a:r>
              <a:rPr lang="en-US" altLang="zh-CN" sz="2000" dirty="0">
                <a:solidFill>
                  <a:srgbClr val="C00000"/>
                </a:solidFill>
                <a:latin typeface="Consolas" panose="020B0609020204030204" pitchFamily="49" charset="0"/>
              </a:rPr>
              <a:t>. \</a:t>
            </a:r>
          </a:p>
          <a:p>
            <a:r>
              <a:rPr lang="en-US" altLang="zh-CN" sz="2000" dirty="0">
                <a:solidFill>
                  <a:srgbClr val="C00000"/>
                </a:solidFill>
                <a:latin typeface="Consolas" panose="020B0609020204030204" pitchFamily="49" charset="0"/>
              </a:rPr>
              <a:t>		I was born on 2000.10.2. \</a:t>
            </a:r>
          </a:p>
          <a:p>
            <a:r>
              <a:rPr lang="en-US" altLang="zh-CN" sz="2000" dirty="0">
                <a:solidFill>
                  <a:srgbClr val="C00000"/>
                </a:solidFill>
                <a:latin typeface="Consolas" panose="020B0609020204030204" pitchFamily="49" charset="0"/>
              </a:rPr>
              <a:t>		My phone number is 18866667777 and you can also \</a:t>
            </a:r>
          </a:p>
          <a:p>
            <a:r>
              <a:rPr lang="en-US" altLang="zh-CN" sz="2000" dirty="0">
                <a:solidFill>
                  <a:srgbClr val="C00000"/>
                </a:solidFill>
                <a:latin typeface="Consolas" panose="020B0609020204030204" pitchFamily="49" charset="0"/>
              </a:rPr>
              <a:t>		reach me by my email: zhangss@tsinghua.edu.cn"</a:t>
            </a:r>
            <a:r>
              <a:rPr lang="en-US" altLang="zh-CN" sz="2000" dirty="0">
                <a:latin typeface="Consolas" panose="020B0609020204030204" pitchFamily="49" charset="0"/>
              </a:rPr>
              <a:t>);</a:t>
            </a:r>
          </a:p>
          <a:p>
            <a:r>
              <a:rPr lang="en-US" altLang="zh-CN" sz="2000" dirty="0">
                <a:latin typeface="Consolas" panose="020B0609020204030204" pitchFamily="49" charset="0"/>
              </a:rPr>
              <a:t>    extract(str);</a:t>
            </a:r>
          </a:p>
          <a:p>
            <a:r>
              <a:rPr lang="en-US" altLang="zh-CN" sz="2000" dirty="0">
                <a:latin typeface="Consolas" panose="020B0609020204030204" pitchFamily="49" charset="0"/>
              </a:rPr>
              <a:t>    return 0;</a:t>
            </a:r>
          </a:p>
          <a:p>
            <a:r>
              <a:rPr lang="en-US" altLang="zh-CN" sz="2000" dirty="0">
                <a:latin typeface="Consolas" panose="020B0609020204030204" pitchFamily="49" charset="0"/>
              </a:rPr>
              <a:t>}</a:t>
            </a:r>
            <a:endParaRPr lang="zh-CN" altLang="en-US" sz="2000" dirty="0">
              <a:latin typeface="Consolas" panose="020B0609020204030204" pitchFamily="49" charset="0"/>
            </a:endParaRPr>
          </a:p>
        </p:txBody>
      </p:sp>
      <p:sp>
        <p:nvSpPr>
          <p:cNvPr id="4" name="文本框 3"/>
          <p:cNvSpPr txBox="1"/>
          <p:nvPr/>
        </p:nvSpPr>
        <p:spPr>
          <a:xfrm>
            <a:off x="1187624" y="4725144"/>
            <a:ext cx="902811" cy="523220"/>
          </a:xfrm>
          <a:prstGeom prst="rect">
            <a:avLst/>
          </a:prstGeom>
          <a:noFill/>
        </p:spPr>
        <p:txBody>
          <a:bodyPr wrap="none" rtlCol="0">
            <a:spAutoFit/>
          </a:bodyPr>
          <a:lstStyle/>
          <a:p>
            <a:r>
              <a:rPr lang="zh-CN" altLang="en-US" sz="2800" b="1" dirty="0"/>
              <a:t>输出</a:t>
            </a:r>
          </a:p>
        </p:txBody>
      </p:sp>
      <p:sp>
        <p:nvSpPr>
          <p:cNvPr id="5" name="文本框 4"/>
          <p:cNvSpPr txBox="1"/>
          <p:nvPr/>
        </p:nvSpPr>
        <p:spPr>
          <a:xfrm>
            <a:off x="2499156" y="4657935"/>
            <a:ext cx="4145687" cy="1815882"/>
          </a:xfrm>
          <a:prstGeom prst="rect">
            <a:avLst/>
          </a:prstGeom>
          <a:noFill/>
        </p:spPr>
        <p:txBody>
          <a:bodyPr wrap="none" rtlCol="0">
            <a:spAutoFit/>
          </a:bodyPr>
          <a:lstStyle/>
          <a:p>
            <a:r>
              <a:rPr lang="en-US" altLang="zh-CN" sz="2800" b="1" dirty="0" err="1"/>
              <a:t>zhangshuaishuai</a:t>
            </a:r>
            <a:endParaRPr lang="en-US" altLang="zh-CN" sz="2800" b="1" dirty="0"/>
          </a:p>
          <a:p>
            <a:r>
              <a:rPr lang="en-US" altLang="zh-CN" sz="2800" b="1" dirty="0"/>
              <a:t>2000.10.2</a:t>
            </a:r>
          </a:p>
          <a:p>
            <a:r>
              <a:rPr lang="en-US" altLang="zh-CN" sz="2800" b="1" dirty="0"/>
              <a:t>18866667777</a:t>
            </a:r>
          </a:p>
          <a:p>
            <a:r>
              <a:rPr lang="en-US" altLang="zh-CN" sz="2800" b="1" dirty="0"/>
              <a:t>zhangss@tsinghua.edu.cn</a:t>
            </a:r>
            <a:endParaRPr lang="zh-CN" altLang="en-US" sz="2800" b="1"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520" y="-315416"/>
            <a:ext cx="7886700" cy="1325563"/>
          </a:xfrm>
        </p:spPr>
        <p:txBody>
          <a:bodyPr/>
          <a:lstStyle/>
          <a:p>
            <a:r>
              <a:rPr lang="zh-CN" altLang="en-US" dirty="0"/>
              <a:t>字符簇（自学）</a:t>
            </a:r>
            <a:endParaRPr kumimoji="1" lang="zh-CN" altLang="en-US" dirty="0"/>
          </a:p>
        </p:txBody>
      </p:sp>
      <p:sp>
        <p:nvSpPr>
          <p:cNvPr id="3" name="内容占位符 2"/>
          <p:cNvSpPr>
            <a:spLocks noGrp="1"/>
          </p:cNvSpPr>
          <p:nvPr>
            <p:ph idx="1"/>
          </p:nvPr>
        </p:nvSpPr>
        <p:spPr>
          <a:xfrm>
            <a:off x="98959" y="620688"/>
            <a:ext cx="9045041" cy="4749029"/>
          </a:xfrm>
        </p:spPr>
        <p:txBody>
          <a:bodyPr/>
          <a:lstStyle/>
          <a:p>
            <a:r>
              <a:rPr lang="zh-CN" altLang="en-US" dirty="0"/>
              <a:t>转义字符</a:t>
            </a:r>
            <a:endParaRPr lang="en-US" altLang="zh-CN" dirty="0"/>
          </a:p>
          <a:p>
            <a:pPr lvl="1"/>
            <a:r>
              <a:rPr lang="en-US" altLang="zh-CN" dirty="0"/>
              <a:t>\n</a:t>
            </a:r>
            <a:r>
              <a:rPr lang="zh-CN" altLang="en-US" dirty="0"/>
              <a:t>表示换行、</a:t>
            </a:r>
            <a:r>
              <a:rPr lang="en-US" altLang="zh-CN" dirty="0"/>
              <a:t>\t</a:t>
            </a:r>
            <a:r>
              <a:rPr lang="zh-CN" altLang="en-US" dirty="0"/>
              <a:t>表示制表符</a:t>
            </a:r>
            <a:endParaRPr lang="en-US" altLang="zh-CN" dirty="0"/>
          </a:p>
          <a:p>
            <a:r>
              <a:rPr lang="zh-CN" altLang="en-US" dirty="0"/>
              <a:t>范围取反</a:t>
            </a:r>
            <a:endParaRPr lang="en-US" altLang="zh-CN" dirty="0"/>
          </a:p>
          <a:p>
            <a:pPr lvl="1"/>
            <a:r>
              <a:rPr lang="en-US" altLang="zh-CN" dirty="0"/>
              <a:t>[^a-z]:</a:t>
            </a:r>
            <a:r>
              <a:rPr lang="zh-CN" altLang="en-US" dirty="0"/>
              <a:t> 匹配所有非小写字母的单个字符</a:t>
            </a:r>
            <a:endParaRPr lang="en-US" altLang="zh-CN" dirty="0"/>
          </a:p>
          <a:p>
            <a:pPr lvl="1"/>
            <a:r>
              <a:rPr lang="en-US" altLang="zh-CN" dirty="0"/>
              <a:t>[^c]</a:t>
            </a:r>
            <a:r>
              <a:rPr lang="en-US" altLang="zh-CN" dirty="0" err="1"/>
              <a:t>ar</a:t>
            </a:r>
            <a:r>
              <a:rPr lang="en-US" altLang="zh-CN" dirty="0"/>
              <a:t>:</a:t>
            </a:r>
            <a:r>
              <a:rPr lang="zh-CN" altLang="en-US" dirty="0"/>
              <a:t> </a:t>
            </a:r>
            <a:r>
              <a:rPr lang="en-US" altLang="zh-CN" dirty="0"/>
              <a:t>The car </a:t>
            </a:r>
            <a:r>
              <a:rPr lang="en-US" altLang="zh-CN" b="1" dirty="0">
                <a:solidFill>
                  <a:srgbClr val="0070C0"/>
                </a:solidFill>
              </a:rPr>
              <a:t>par</a:t>
            </a:r>
            <a:r>
              <a:rPr lang="en-US" altLang="zh-CN" dirty="0"/>
              <a:t>ked in the </a:t>
            </a:r>
            <a:r>
              <a:rPr lang="en-US" altLang="zh-CN" b="1" dirty="0">
                <a:solidFill>
                  <a:srgbClr val="0070C0"/>
                </a:solidFill>
              </a:rPr>
              <a:t>gar</a:t>
            </a:r>
            <a:r>
              <a:rPr lang="en-US" altLang="zh-CN" dirty="0"/>
              <a:t>age.</a:t>
            </a:r>
          </a:p>
          <a:p>
            <a:pPr lvl="1"/>
            <a:r>
              <a:rPr lang="en-US" altLang="zh-CN" dirty="0"/>
              <a:t>^[^0-9][0-9]$:</a:t>
            </a:r>
            <a:r>
              <a:rPr lang="zh-CN" altLang="en-US" dirty="0"/>
              <a:t> 匹配长度为</a:t>
            </a:r>
            <a:r>
              <a:rPr lang="en-US" altLang="zh-CN" dirty="0"/>
              <a:t>2</a:t>
            </a:r>
            <a:r>
              <a:rPr lang="zh-CN" altLang="en-US" dirty="0"/>
              <a:t>的内容，且第一个不为数字，第二个为数字</a:t>
            </a:r>
            <a:endParaRPr lang="en-US" altLang="zh-CN" dirty="0"/>
          </a:p>
          <a:p>
            <a:r>
              <a:rPr lang="zh-CN" altLang="en-US" dirty="0"/>
              <a:t>特殊字符</a:t>
            </a:r>
            <a:endParaRPr lang="en-US" altLang="zh-CN" dirty="0"/>
          </a:p>
          <a:p>
            <a:pPr lvl="1"/>
            <a:r>
              <a:rPr lang="en-US" altLang="zh-CN" dirty="0"/>
              <a:t>\D</a:t>
            </a:r>
            <a:r>
              <a:rPr lang="zh-CN" altLang="en-US" dirty="0"/>
              <a:t> 等价</a:t>
            </a:r>
            <a:r>
              <a:rPr lang="en-US" altLang="zh-CN" dirty="0"/>
              <a:t>[^0-9]</a:t>
            </a:r>
            <a:r>
              <a:rPr lang="zh-CN" altLang="en-US" dirty="0"/>
              <a:t>，匹配所有单个非数字</a:t>
            </a:r>
            <a:endParaRPr lang="en-US" altLang="zh-CN" dirty="0"/>
          </a:p>
          <a:p>
            <a:pPr lvl="1"/>
            <a:r>
              <a:rPr lang="en-US" altLang="zh-CN" dirty="0"/>
              <a:t>\s </a:t>
            </a:r>
            <a:r>
              <a:rPr lang="zh-CN" altLang="en-US" dirty="0"/>
              <a:t>匹配所有空白字符，如</a:t>
            </a:r>
            <a:r>
              <a:rPr lang="en-US" altLang="zh-CN" dirty="0"/>
              <a:t>\t,\n</a:t>
            </a:r>
          </a:p>
          <a:p>
            <a:pPr lvl="1"/>
            <a:r>
              <a:rPr lang="en-US" altLang="zh-CN" dirty="0"/>
              <a:t>\S </a:t>
            </a:r>
            <a:r>
              <a:rPr lang="zh-CN" altLang="en-US" dirty="0"/>
              <a:t>匹配所有非空白字符</a:t>
            </a:r>
            <a:endParaRPr lang="en-US" altLang="zh-CN" dirty="0"/>
          </a:p>
          <a:p>
            <a:pPr lvl="1"/>
            <a:r>
              <a:rPr lang="en-US" altLang="zh-CN" dirty="0"/>
              <a:t>\W </a:t>
            </a:r>
            <a:r>
              <a:rPr lang="zh-CN" altLang="en-US" dirty="0"/>
              <a:t>匹配非字母、数字、下划线，等价</a:t>
            </a:r>
            <a:r>
              <a:rPr lang="en-US" altLang="zh-CN" dirty="0"/>
              <a:t>[^a-zA-Z0-9_]</a:t>
            </a:r>
          </a:p>
          <a:p>
            <a:pPr lvl="1"/>
            <a:r>
              <a:rPr lang="en-US" altLang="zh-CN" dirty="0"/>
              <a:t>^</a:t>
            </a:r>
            <a:r>
              <a:rPr lang="zh-CN" altLang="en-US" dirty="0"/>
              <a:t>代表字符串开头，</a:t>
            </a:r>
            <a:r>
              <a:rPr lang="en-US" altLang="zh-CN" dirty="0"/>
              <a:t>$</a:t>
            </a:r>
            <a:r>
              <a:rPr lang="zh-CN" altLang="en-US" dirty="0"/>
              <a:t>代表字符串结尾</a:t>
            </a:r>
            <a:endParaRPr lang="en-US" altLang="zh-CN" dirty="0"/>
          </a:p>
          <a:p>
            <a:pPr lvl="2"/>
            <a:r>
              <a:rPr lang="zh-CN" altLang="en-US" sz="2400" dirty="0"/>
              <a:t>如：</a:t>
            </a:r>
            <a:r>
              <a:rPr lang="en-US" altLang="zh-CN" sz="2400" dirty="0"/>
              <a:t>^\t</a:t>
            </a:r>
            <a:r>
              <a:rPr lang="zh-CN" altLang="en-US" sz="2400" dirty="0"/>
              <a:t>只能匹配到以制表符开头的内容</a:t>
            </a:r>
            <a:endParaRPr lang="en-US" altLang="zh-CN" sz="2400" dirty="0"/>
          </a:p>
          <a:p>
            <a:pPr lvl="2"/>
            <a:r>
              <a:rPr lang="zh-CN" altLang="en-US" sz="2400" dirty="0"/>
              <a:t>如：</a:t>
            </a:r>
            <a:r>
              <a:rPr lang="en-US" altLang="zh-CN" sz="2400" dirty="0"/>
              <a:t>^bucket$</a:t>
            </a:r>
            <a:r>
              <a:rPr lang="zh-CN" altLang="en-US" sz="2400" dirty="0"/>
              <a:t>只能匹配到只含</a:t>
            </a:r>
            <a:r>
              <a:rPr lang="en-US" altLang="zh-CN" sz="2400" dirty="0"/>
              <a:t>bucket</a:t>
            </a:r>
            <a:r>
              <a:rPr lang="zh-CN" altLang="en-US" sz="2400" dirty="0"/>
              <a:t>的内容</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106</a:t>
            </a:fld>
            <a:endParaRPr lang="en-US" altLang="zh-CN"/>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重复模式（自学）</a:t>
            </a:r>
          </a:p>
        </p:txBody>
      </p:sp>
      <p:sp>
        <p:nvSpPr>
          <p:cNvPr id="3" name="内容占位符 2"/>
          <p:cNvSpPr>
            <a:spLocks noGrp="1"/>
          </p:cNvSpPr>
          <p:nvPr>
            <p:ph idx="1"/>
          </p:nvPr>
        </p:nvSpPr>
        <p:spPr>
          <a:xfrm>
            <a:off x="633880" y="1439865"/>
            <a:ext cx="8510120" cy="4968552"/>
          </a:xfrm>
        </p:spPr>
        <p:txBody>
          <a:bodyPr/>
          <a:lstStyle/>
          <a:p>
            <a:r>
              <a:rPr lang="en-US" altLang="zh-CN" dirty="0"/>
              <a:t>x{</a:t>
            </a:r>
            <a:r>
              <a:rPr lang="en-US" altLang="zh-CN" dirty="0" err="1"/>
              <a:t>n,m</a:t>
            </a:r>
            <a:r>
              <a:rPr lang="en-US" altLang="zh-CN" dirty="0"/>
              <a:t>}</a:t>
            </a:r>
            <a:r>
              <a:rPr lang="zh-CN" altLang="en-US" dirty="0"/>
              <a:t>代表前面内容出现次数重复</a:t>
            </a:r>
            <a:r>
              <a:rPr lang="en-US" altLang="zh-CN" dirty="0" err="1"/>
              <a:t>n~m</a:t>
            </a:r>
            <a:r>
              <a:rPr lang="zh-CN" altLang="en-US" dirty="0"/>
              <a:t>次，可扩展到字符簇</a:t>
            </a:r>
            <a:endParaRPr lang="en-US" altLang="zh-CN" dirty="0"/>
          </a:p>
          <a:p>
            <a:pPr lvl="1"/>
            <a:r>
              <a:rPr lang="en-US" altLang="zh-CN" dirty="0"/>
              <a:t>[a-z]{5,12} </a:t>
            </a:r>
            <a:r>
              <a:rPr lang="zh-CN" altLang="en-US" dirty="0"/>
              <a:t>代表为长度为</a:t>
            </a:r>
            <a:r>
              <a:rPr lang="en-US" altLang="zh-CN" dirty="0"/>
              <a:t>5~12</a:t>
            </a:r>
            <a:r>
              <a:rPr lang="zh-CN" altLang="en-US" dirty="0"/>
              <a:t>的英文字母组合</a:t>
            </a:r>
            <a:endParaRPr lang="en-US" altLang="zh-CN" dirty="0"/>
          </a:p>
          <a:p>
            <a:pPr lvl="1"/>
            <a:r>
              <a:rPr lang="en-US" altLang="zh-CN" dirty="0"/>
              <a:t>.{5} </a:t>
            </a:r>
            <a:r>
              <a:rPr lang="zh-CN" altLang="en-US" dirty="0"/>
              <a:t>所有长度为</a:t>
            </a:r>
            <a:r>
              <a:rPr lang="en-US" altLang="zh-CN" dirty="0"/>
              <a:t>5</a:t>
            </a:r>
            <a:r>
              <a:rPr lang="zh-CN" altLang="en-US" dirty="0"/>
              <a:t>的字符</a:t>
            </a:r>
            <a:endParaRPr lang="en-US" altLang="zh-CN" dirty="0"/>
          </a:p>
          <a:p>
            <a:pPr lvl="1"/>
            <a:endParaRPr lang="en-US" altLang="zh-CN" dirty="0"/>
          </a:p>
          <a:p>
            <a:r>
              <a:rPr lang="zh-CN" altLang="en-US" dirty="0"/>
              <a:t>特殊字符</a:t>
            </a:r>
            <a:endParaRPr lang="en-US" altLang="zh-CN" dirty="0"/>
          </a:p>
          <a:p>
            <a:pPr lvl="1"/>
            <a:r>
              <a:rPr lang="en-US" altLang="zh-CN" dirty="0"/>
              <a:t>? </a:t>
            </a:r>
            <a:r>
              <a:rPr lang="zh-CN" altLang="en-US" dirty="0"/>
              <a:t>出现</a:t>
            </a:r>
            <a:r>
              <a:rPr lang="en-US" altLang="zh-CN" dirty="0"/>
              <a:t>0</a:t>
            </a:r>
            <a:r>
              <a:rPr lang="zh-CN" altLang="en-US" dirty="0"/>
              <a:t>次或</a:t>
            </a:r>
            <a:r>
              <a:rPr lang="en-US" altLang="zh-CN" dirty="0"/>
              <a:t>1</a:t>
            </a:r>
            <a:r>
              <a:rPr lang="zh-CN" altLang="en-US" dirty="0"/>
              <a:t>次</a:t>
            </a:r>
            <a:endParaRPr lang="en-US" altLang="zh-CN" dirty="0"/>
          </a:p>
          <a:p>
            <a:pPr lvl="2"/>
            <a:r>
              <a:rPr lang="en-US" altLang="zh-CN" dirty="0"/>
              <a:t>[T]?he:</a:t>
            </a:r>
            <a:r>
              <a:rPr lang="zh-CN" altLang="en-US" dirty="0"/>
              <a:t> </a:t>
            </a:r>
            <a:r>
              <a:rPr lang="en-US" altLang="zh-CN" b="1" dirty="0">
                <a:solidFill>
                  <a:srgbClr val="0070C0"/>
                </a:solidFill>
              </a:rPr>
              <a:t>The</a:t>
            </a:r>
            <a:r>
              <a:rPr lang="en-US" altLang="zh-CN" dirty="0"/>
              <a:t> car parked in t</a:t>
            </a:r>
            <a:r>
              <a:rPr lang="en-US" altLang="zh-CN" b="1" dirty="0">
                <a:solidFill>
                  <a:srgbClr val="0070C0"/>
                </a:solidFill>
              </a:rPr>
              <a:t>he</a:t>
            </a:r>
            <a:r>
              <a:rPr lang="en-US" altLang="zh-CN" dirty="0"/>
              <a:t> garage.</a:t>
            </a:r>
          </a:p>
          <a:p>
            <a:pPr lvl="1"/>
            <a:r>
              <a:rPr lang="en-US" altLang="zh-CN" dirty="0"/>
              <a:t>+</a:t>
            </a:r>
            <a:r>
              <a:rPr lang="zh-CN" altLang="en-US" dirty="0"/>
              <a:t> 至少连续出现</a:t>
            </a:r>
            <a:r>
              <a:rPr lang="en-US" altLang="zh-CN" dirty="0"/>
              <a:t>1</a:t>
            </a:r>
            <a:r>
              <a:rPr lang="zh-CN" altLang="en-US" dirty="0"/>
              <a:t>次及以上</a:t>
            </a:r>
            <a:endParaRPr lang="en-US" altLang="zh-CN" dirty="0"/>
          </a:p>
          <a:p>
            <a:pPr lvl="2"/>
            <a:r>
              <a:rPr lang="en-US" altLang="zh-CN" dirty="0" err="1"/>
              <a:t>c.+e</a:t>
            </a:r>
            <a:r>
              <a:rPr lang="en-US" altLang="zh-CN" dirty="0"/>
              <a:t>:</a:t>
            </a:r>
            <a:r>
              <a:rPr lang="zh-CN" altLang="en-US" dirty="0"/>
              <a:t> </a:t>
            </a:r>
            <a:r>
              <a:rPr lang="en-US" altLang="zh-CN" dirty="0"/>
              <a:t>The </a:t>
            </a:r>
            <a:r>
              <a:rPr lang="en-US" altLang="zh-CN" b="1" dirty="0">
                <a:solidFill>
                  <a:srgbClr val="0070C0"/>
                </a:solidFill>
              </a:rPr>
              <a:t>car parked in the garage</a:t>
            </a:r>
            <a:r>
              <a:rPr lang="en-US" altLang="zh-CN" dirty="0"/>
              <a:t>.</a:t>
            </a:r>
          </a:p>
          <a:p>
            <a:pPr lvl="1"/>
            <a:r>
              <a:rPr lang="en-US" altLang="zh-CN" dirty="0"/>
              <a:t>* </a:t>
            </a:r>
            <a:r>
              <a:rPr lang="zh-CN" altLang="en-US" dirty="0"/>
              <a:t>至少连续出现</a:t>
            </a:r>
            <a:r>
              <a:rPr lang="en-US" altLang="zh-CN" dirty="0"/>
              <a:t>0</a:t>
            </a:r>
            <a:r>
              <a:rPr lang="zh-CN" altLang="en-US" dirty="0"/>
              <a:t>次及以上</a:t>
            </a:r>
            <a:endParaRPr lang="en-US" altLang="zh-CN" dirty="0"/>
          </a:p>
          <a:p>
            <a:pPr lvl="2"/>
            <a:r>
              <a:rPr lang="en-US" altLang="zh-CN" dirty="0"/>
              <a:t>[a-z]</a:t>
            </a:r>
            <a:r>
              <a:rPr lang="zh-CN" altLang="en-US" dirty="0"/>
              <a:t>*</a:t>
            </a:r>
            <a:r>
              <a:rPr lang="en-US" altLang="zh-CN" dirty="0"/>
              <a:t>:</a:t>
            </a:r>
            <a:r>
              <a:rPr lang="zh-CN" altLang="en-US" dirty="0"/>
              <a:t> </a:t>
            </a:r>
            <a:r>
              <a:rPr lang="en-US" altLang="zh-CN" dirty="0"/>
              <a:t>T</a:t>
            </a:r>
            <a:r>
              <a:rPr lang="en-US" altLang="zh-CN" b="1" dirty="0">
                <a:solidFill>
                  <a:srgbClr val="0070C0"/>
                </a:solidFill>
              </a:rPr>
              <a:t>he car parked in the garage</a:t>
            </a:r>
            <a:r>
              <a:rPr lang="en-US" altLang="zh-CN" dirty="0"/>
              <a:t>.</a:t>
            </a:r>
          </a:p>
          <a:p>
            <a:pPr lvl="1"/>
            <a:endParaRPr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107</a:t>
            </a:fld>
            <a:endParaRPr lang="en-US" altLang="zh-CN"/>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或连接符（自学）</a:t>
            </a:r>
          </a:p>
        </p:txBody>
      </p:sp>
      <p:sp>
        <p:nvSpPr>
          <p:cNvPr id="3" name="内容占位符 2"/>
          <p:cNvSpPr>
            <a:spLocks noGrp="1"/>
          </p:cNvSpPr>
          <p:nvPr>
            <p:ph idx="1"/>
          </p:nvPr>
        </p:nvSpPr>
        <p:spPr/>
        <p:txBody>
          <a:bodyPr/>
          <a:lstStyle/>
          <a:p>
            <a:r>
              <a:rPr lang="zh-CN" altLang="en-US" dirty="0"/>
              <a:t>匹配模式可以使用</a:t>
            </a:r>
            <a:r>
              <a:rPr lang="en-US" altLang="zh-CN" dirty="0"/>
              <a:t>'|'</a:t>
            </a:r>
            <a:r>
              <a:rPr lang="zh-CN" altLang="en-US" dirty="0"/>
              <a:t>进行连接</a:t>
            </a:r>
            <a:endParaRPr lang="en-US" altLang="zh-CN" dirty="0"/>
          </a:p>
          <a:p>
            <a:pPr lvl="1"/>
            <a:r>
              <a:rPr lang="fr-FR" altLang="zh-CN" dirty="0"/>
              <a:t>(Chapter|Section) [1-9][0-9]</a:t>
            </a:r>
            <a:r>
              <a:rPr lang="en-US" altLang="zh-CN" dirty="0"/>
              <a:t>?</a:t>
            </a:r>
            <a:endParaRPr lang="fr-FR" altLang="zh-CN" dirty="0"/>
          </a:p>
          <a:p>
            <a:pPr marL="457200" lvl="1" indent="0">
              <a:buNone/>
            </a:pPr>
            <a:r>
              <a:rPr lang="fr-FR" altLang="zh-CN" dirty="0"/>
              <a:t>	</a:t>
            </a:r>
            <a:r>
              <a:rPr lang="zh-CN" altLang="en-US" dirty="0"/>
              <a:t>可以匹配</a:t>
            </a:r>
            <a:r>
              <a:rPr lang="en-US" altLang="zh-CN" dirty="0"/>
              <a:t>Chapter 1</a:t>
            </a:r>
            <a:r>
              <a:rPr lang="zh-CN" altLang="en-US" dirty="0"/>
              <a:t>、</a:t>
            </a:r>
            <a:r>
              <a:rPr lang="en-US" altLang="zh-CN" dirty="0"/>
              <a:t>Section 10</a:t>
            </a:r>
            <a:r>
              <a:rPr lang="zh-CN" altLang="en-US" dirty="0"/>
              <a:t>等</a:t>
            </a:r>
            <a:endParaRPr lang="fr-FR" altLang="zh-CN" dirty="0"/>
          </a:p>
          <a:p>
            <a:pPr lvl="1"/>
            <a:r>
              <a:rPr lang="en-US" altLang="zh-CN" dirty="0"/>
              <a:t>0\d{2}-\d{8}|0\d{3}-\d{7}</a:t>
            </a:r>
          </a:p>
          <a:p>
            <a:pPr marL="457200" lvl="1" indent="0">
              <a:buNone/>
            </a:pPr>
            <a:r>
              <a:rPr lang="en-US" altLang="zh-CN" dirty="0"/>
              <a:t>	</a:t>
            </a:r>
            <a:r>
              <a:rPr lang="zh-CN" altLang="en-US" dirty="0"/>
              <a:t>可以匹配</a:t>
            </a:r>
            <a:r>
              <a:rPr lang="en-US" altLang="zh-CN" dirty="0"/>
              <a:t>010-12345678</a:t>
            </a:r>
            <a:r>
              <a:rPr lang="zh-CN" altLang="en-US" dirty="0"/>
              <a:t>、</a:t>
            </a:r>
            <a:r>
              <a:rPr lang="en-US" altLang="zh-CN" dirty="0"/>
              <a:t>0376-2233445</a:t>
            </a:r>
          </a:p>
          <a:p>
            <a:pPr lvl="1"/>
            <a:r>
              <a:rPr lang="en-US" altLang="zh-CN" dirty="0"/>
              <a:t>(</a:t>
            </a:r>
            <a:r>
              <a:rPr lang="en-US" altLang="zh-CN" dirty="0" err="1"/>
              <a:t>c|g|p</a:t>
            </a:r>
            <a:r>
              <a:rPr lang="en-US" altLang="zh-CN" dirty="0"/>
              <a:t>)</a:t>
            </a:r>
            <a:r>
              <a:rPr lang="en-US" altLang="zh-CN" dirty="0" err="1"/>
              <a:t>ar</a:t>
            </a:r>
            <a:r>
              <a:rPr lang="en-US" altLang="zh-CN" dirty="0"/>
              <a:t>:</a:t>
            </a:r>
            <a:r>
              <a:rPr lang="zh-CN" altLang="en-US" dirty="0"/>
              <a:t> </a:t>
            </a:r>
            <a:r>
              <a:rPr lang="en-US" altLang="zh-CN" dirty="0"/>
              <a:t>The </a:t>
            </a:r>
            <a:r>
              <a:rPr lang="en-US" altLang="zh-CN" b="1" dirty="0">
                <a:solidFill>
                  <a:srgbClr val="0070C0"/>
                </a:solidFill>
              </a:rPr>
              <a:t>car</a:t>
            </a:r>
            <a:r>
              <a:rPr lang="en-US" altLang="zh-CN" dirty="0"/>
              <a:t> </a:t>
            </a:r>
            <a:r>
              <a:rPr lang="en-US" altLang="zh-CN" b="1" dirty="0">
                <a:solidFill>
                  <a:srgbClr val="0070C0"/>
                </a:solidFill>
              </a:rPr>
              <a:t>par</a:t>
            </a:r>
            <a:r>
              <a:rPr lang="en-US" altLang="zh-CN" dirty="0"/>
              <a:t>ked in the </a:t>
            </a:r>
            <a:r>
              <a:rPr lang="en-US" altLang="zh-CN" b="1" dirty="0">
                <a:solidFill>
                  <a:srgbClr val="0070C0"/>
                </a:solidFill>
              </a:rPr>
              <a:t>gar</a:t>
            </a:r>
            <a:r>
              <a:rPr lang="en-US" altLang="zh-CN" dirty="0"/>
              <a:t>age.</a:t>
            </a:r>
          </a:p>
          <a:p>
            <a:endParaRPr lang="en-US" altLang="zh-CN" dirty="0"/>
          </a:p>
          <a:p>
            <a:r>
              <a:rPr lang="zh-CN" altLang="en-US" dirty="0"/>
              <a:t>使用</a:t>
            </a:r>
            <a:r>
              <a:rPr lang="en-US" altLang="zh-CN" dirty="0"/>
              <a:t>()</a:t>
            </a:r>
            <a:r>
              <a:rPr lang="zh-CN" altLang="en-US" dirty="0"/>
              <a:t>改变优先级</a:t>
            </a:r>
            <a:endParaRPr lang="en-US" altLang="zh-CN" dirty="0"/>
          </a:p>
          <a:p>
            <a:pPr lvl="1"/>
            <a:r>
              <a:rPr lang="en-US" altLang="zh-CN" dirty="0" err="1"/>
              <a:t>m|food</a:t>
            </a:r>
            <a:r>
              <a:rPr lang="en-US" altLang="zh-CN" dirty="0"/>
              <a:t> </a:t>
            </a:r>
            <a:r>
              <a:rPr lang="zh-CN" altLang="en-US" dirty="0"/>
              <a:t>可以匹配 </a:t>
            </a:r>
            <a:r>
              <a:rPr lang="en-US" altLang="zh-CN" dirty="0"/>
              <a:t>m </a:t>
            </a:r>
            <a:r>
              <a:rPr lang="zh-CN" altLang="en-US" dirty="0"/>
              <a:t>或者 </a:t>
            </a:r>
            <a:r>
              <a:rPr lang="en-US" altLang="zh-CN" dirty="0"/>
              <a:t>food</a:t>
            </a:r>
          </a:p>
          <a:p>
            <a:pPr lvl="1"/>
            <a:r>
              <a:rPr lang="en-US" altLang="zh-CN" dirty="0"/>
              <a:t>(</a:t>
            </a:r>
            <a:r>
              <a:rPr lang="en-US" altLang="zh-CN" dirty="0" err="1"/>
              <a:t>m|f</a:t>
            </a:r>
            <a:r>
              <a:rPr lang="en-US" altLang="zh-CN" dirty="0"/>
              <a:t>)</a:t>
            </a:r>
            <a:r>
              <a:rPr lang="en-US" altLang="zh-CN" dirty="0" err="1"/>
              <a:t>ood</a:t>
            </a:r>
            <a:r>
              <a:rPr lang="en-US" altLang="zh-CN" dirty="0"/>
              <a:t> </a:t>
            </a:r>
            <a:r>
              <a:rPr lang="zh-CN" altLang="en-US" dirty="0"/>
              <a:t>可以匹配 </a:t>
            </a:r>
            <a:r>
              <a:rPr lang="en-US" altLang="zh-CN" dirty="0"/>
              <a:t>mood</a:t>
            </a:r>
            <a:r>
              <a:rPr lang="zh-CN" altLang="en-US" dirty="0"/>
              <a:t> 或者 </a:t>
            </a:r>
            <a:r>
              <a:rPr lang="en-US" altLang="zh-CN" dirty="0"/>
              <a:t>food</a:t>
            </a:r>
          </a:p>
          <a:p>
            <a:pPr lvl="1"/>
            <a:r>
              <a:rPr lang="en-US" altLang="zh-CN" dirty="0"/>
              <a:t>(</a:t>
            </a:r>
            <a:r>
              <a:rPr lang="en-US" altLang="zh-CN" dirty="0" err="1"/>
              <a:t>T|t</a:t>
            </a:r>
            <a:r>
              <a:rPr lang="en-US" altLang="zh-CN" dirty="0"/>
              <a:t>)</a:t>
            </a:r>
            <a:r>
              <a:rPr lang="en-US" altLang="zh-CN" dirty="0" err="1"/>
              <a:t>he|car</a:t>
            </a:r>
            <a:r>
              <a:rPr lang="en-US" altLang="zh-CN" dirty="0"/>
              <a:t>:</a:t>
            </a:r>
            <a:r>
              <a:rPr lang="zh-CN" altLang="en-US" dirty="0"/>
              <a:t> </a:t>
            </a:r>
            <a:r>
              <a:rPr lang="en-US" altLang="zh-CN" b="1" dirty="0">
                <a:solidFill>
                  <a:srgbClr val="0070C0"/>
                </a:solidFill>
              </a:rPr>
              <a:t>The car </a:t>
            </a:r>
            <a:r>
              <a:rPr lang="en-US" altLang="zh-CN" dirty="0"/>
              <a:t>parked in </a:t>
            </a:r>
            <a:r>
              <a:rPr lang="en-US" altLang="zh-CN" b="1" dirty="0">
                <a:solidFill>
                  <a:srgbClr val="0070C0"/>
                </a:solidFill>
              </a:rPr>
              <a:t>the</a:t>
            </a:r>
            <a:r>
              <a:rPr lang="en-US" altLang="zh-CN" dirty="0"/>
              <a:t> garage.</a:t>
            </a:r>
          </a:p>
          <a:p>
            <a:endParaRPr kumimoji="1" lang="zh-CN" altLang="en-US" dirty="0"/>
          </a:p>
          <a:p>
            <a:pPr lvl="1"/>
            <a:endParaRPr lang="en-US" altLang="zh-CN" dirty="0"/>
          </a:p>
          <a:p>
            <a:pPr marL="457200" lvl="1" indent="0">
              <a:buNone/>
            </a:pPr>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108</a:t>
            </a:fld>
            <a:endParaRPr lang="en-US" altLang="zh-CN"/>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捕获和分组</a:t>
            </a:r>
            <a:r>
              <a:rPr lang="zh-CN" altLang="en-US" dirty="0"/>
              <a:t>（自学）</a:t>
            </a:r>
            <a:endParaRPr kumimoji="1" lang="zh-CN" altLang="en-US" dirty="0"/>
          </a:p>
        </p:txBody>
      </p:sp>
      <p:sp>
        <p:nvSpPr>
          <p:cNvPr id="3" name="内容占位符 2"/>
          <p:cNvSpPr>
            <a:spLocks noGrp="1"/>
          </p:cNvSpPr>
          <p:nvPr>
            <p:ph idx="1"/>
          </p:nvPr>
        </p:nvSpPr>
        <p:spPr/>
        <p:txBody>
          <a:bodyPr/>
          <a:lstStyle/>
          <a:p>
            <a:r>
              <a:rPr lang="zh-CN" altLang="en-US" dirty="0"/>
              <a:t>分组会按顺序标号</a:t>
            </a:r>
            <a:endParaRPr lang="en-US" altLang="zh-CN" dirty="0"/>
          </a:p>
          <a:p>
            <a:pPr lvl="1"/>
            <a:r>
              <a:rPr lang="en-US" altLang="zh-CN" dirty="0"/>
              <a:t>0</a:t>
            </a:r>
            <a:r>
              <a:rPr lang="zh-CN" altLang="en-US" dirty="0"/>
              <a:t>号永远是匹配的字符串本身</a:t>
            </a:r>
            <a:endParaRPr lang="en-US" altLang="zh-CN" dirty="0"/>
          </a:p>
          <a:p>
            <a:pPr lvl="1"/>
            <a:r>
              <a:rPr lang="en-US" altLang="zh-CN" dirty="0"/>
              <a:t>(a)(</a:t>
            </a:r>
            <a:r>
              <a:rPr lang="en-US" altLang="zh-CN" dirty="0" err="1"/>
              <a:t>pple</a:t>
            </a:r>
            <a:r>
              <a:rPr lang="en-US" altLang="zh-CN" dirty="0"/>
              <a:t>)</a:t>
            </a:r>
            <a:r>
              <a:rPr lang="zh-CN" altLang="en-US" dirty="0"/>
              <a:t>：</a:t>
            </a:r>
            <a:r>
              <a:rPr lang="en-US" altLang="zh-CN" dirty="0"/>
              <a:t> 0</a:t>
            </a:r>
            <a:r>
              <a:rPr lang="zh-CN" altLang="en-US" dirty="0"/>
              <a:t>号为</a:t>
            </a:r>
            <a:r>
              <a:rPr lang="en-US" altLang="zh-CN" dirty="0"/>
              <a:t>apple</a:t>
            </a:r>
            <a:r>
              <a:rPr lang="zh-CN" altLang="en-US" dirty="0"/>
              <a:t>，</a:t>
            </a:r>
            <a:r>
              <a:rPr lang="en-US" altLang="zh-CN" dirty="0"/>
              <a:t>1</a:t>
            </a:r>
            <a:r>
              <a:rPr lang="zh-CN" altLang="en-US" dirty="0"/>
              <a:t>号为</a:t>
            </a:r>
            <a:r>
              <a:rPr lang="en-US" altLang="zh-CN" dirty="0"/>
              <a:t>a</a:t>
            </a:r>
            <a:r>
              <a:rPr lang="zh-CN" altLang="en-US" dirty="0"/>
              <a:t>，</a:t>
            </a:r>
            <a:r>
              <a:rPr lang="en-US" altLang="zh-CN" dirty="0"/>
              <a:t>2</a:t>
            </a:r>
            <a:r>
              <a:rPr lang="zh-CN" altLang="en-US" dirty="0"/>
              <a:t>号为</a:t>
            </a:r>
            <a:r>
              <a:rPr lang="en-US" altLang="zh-CN" dirty="0" err="1"/>
              <a:t>pple</a:t>
            </a:r>
            <a:endParaRPr lang="en-US" altLang="zh-CN" dirty="0"/>
          </a:p>
          <a:p>
            <a:pPr lvl="1"/>
            <a:r>
              <a:rPr lang="zh-CN" altLang="en-US" dirty="0"/>
              <a:t>用</a:t>
            </a:r>
            <a:r>
              <a:rPr lang="en-US" altLang="zh-CN" dirty="0"/>
              <a:t>(sub)(.*)</a:t>
            </a:r>
            <a:r>
              <a:rPr lang="zh-CN" altLang="en-US" dirty="0"/>
              <a:t>匹配</a:t>
            </a:r>
            <a:r>
              <a:rPr lang="en-US" altLang="zh-CN" dirty="0"/>
              <a:t>subject</a:t>
            </a:r>
            <a:r>
              <a:rPr lang="zh-CN" altLang="en-US" dirty="0"/>
              <a:t>：</a:t>
            </a:r>
            <a:r>
              <a:rPr lang="en-US" altLang="zh-CN" dirty="0"/>
              <a:t>0</a:t>
            </a:r>
            <a:r>
              <a:rPr lang="zh-CN" altLang="en-US" dirty="0"/>
              <a:t>号为</a:t>
            </a:r>
            <a:r>
              <a:rPr lang="en-US" altLang="zh-CN" dirty="0"/>
              <a:t>subject</a:t>
            </a:r>
            <a:r>
              <a:rPr lang="zh-CN" altLang="en-US" dirty="0"/>
              <a:t>，</a:t>
            </a:r>
            <a:r>
              <a:rPr lang="en-US" altLang="zh-CN" dirty="0"/>
              <a:t>1</a:t>
            </a:r>
            <a:r>
              <a:rPr lang="zh-CN" altLang="en-US" dirty="0"/>
              <a:t>号为</a:t>
            </a:r>
            <a:r>
              <a:rPr lang="en-US" altLang="zh-CN" dirty="0"/>
              <a:t>sub</a:t>
            </a:r>
            <a:r>
              <a:rPr lang="zh-CN" altLang="en-US" dirty="0"/>
              <a:t>，</a:t>
            </a:r>
            <a:r>
              <a:rPr lang="en-US" altLang="zh-CN" dirty="0"/>
              <a:t>2</a:t>
            </a:r>
            <a:r>
              <a:rPr lang="zh-CN" altLang="en-US" dirty="0"/>
              <a:t>号为</a:t>
            </a:r>
            <a:r>
              <a:rPr lang="en-US" altLang="zh-CN" dirty="0" err="1"/>
              <a:t>ject</a:t>
            </a:r>
            <a:endParaRPr lang="en-US" altLang="zh-CN" dirty="0"/>
          </a:p>
          <a:p>
            <a:endParaRPr lang="en-US" altLang="zh-CN" dirty="0"/>
          </a:p>
          <a:p>
            <a:r>
              <a:rPr lang="zh-CN" altLang="en-US" dirty="0"/>
              <a:t>如果需要括号，又不想捕获该分组，可以使用</a:t>
            </a:r>
            <a:r>
              <a:rPr lang="en-US" altLang="zh-CN" dirty="0"/>
              <a:t>(?:pattern)</a:t>
            </a:r>
          </a:p>
          <a:p>
            <a:pPr lvl="1"/>
            <a:r>
              <a:rPr lang="zh-CN" altLang="en-US" dirty="0"/>
              <a:t>用</a:t>
            </a:r>
            <a:r>
              <a:rPr lang="en-US" altLang="zh-CN" dirty="0"/>
              <a:t>(?:sub)(.*)</a:t>
            </a:r>
            <a:r>
              <a:rPr lang="zh-CN" altLang="en-US" dirty="0"/>
              <a:t>匹配</a:t>
            </a:r>
            <a:r>
              <a:rPr lang="en-US" altLang="zh-CN" dirty="0"/>
              <a:t>subject</a:t>
            </a:r>
            <a:r>
              <a:rPr lang="zh-CN" altLang="en-US" dirty="0"/>
              <a:t>：</a:t>
            </a:r>
            <a:r>
              <a:rPr lang="en-US" altLang="zh-CN" dirty="0"/>
              <a:t>0</a:t>
            </a:r>
            <a:r>
              <a:rPr lang="zh-CN" altLang="en-US" dirty="0"/>
              <a:t>号为</a:t>
            </a:r>
            <a:r>
              <a:rPr lang="en-US" altLang="zh-CN" dirty="0"/>
              <a:t>subject</a:t>
            </a:r>
            <a:r>
              <a:rPr lang="zh-CN" altLang="en-US" dirty="0"/>
              <a:t>，</a:t>
            </a:r>
            <a:r>
              <a:rPr lang="en-US" altLang="zh-CN" dirty="0"/>
              <a:t>1</a:t>
            </a:r>
            <a:r>
              <a:rPr lang="zh-CN" altLang="en-US" dirty="0"/>
              <a:t>号为</a:t>
            </a:r>
            <a:r>
              <a:rPr lang="en-US" altLang="zh-CN" dirty="0" err="1"/>
              <a:t>ject</a:t>
            </a:r>
            <a:endParaRPr lang="en-US" altLang="zh-CN" dirty="0"/>
          </a:p>
          <a:p>
            <a:endParaRPr kumimoji="1" lang="zh-CN" altLang="en-US" dirty="0"/>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109</a:t>
            </a:fld>
            <a:endParaRPr lang="en-US" altLang="zh-CN"/>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更多内容（自学）</a:t>
            </a:r>
          </a:p>
        </p:txBody>
      </p:sp>
      <p:sp>
        <p:nvSpPr>
          <p:cNvPr id="3" name="内容占位符 2"/>
          <p:cNvSpPr>
            <a:spLocks noGrp="1"/>
          </p:cNvSpPr>
          <p:nvPr>
            <p:ph idx="1"/>
          </p:nvPr>
        </p:nvSpPr>
        <p:spPr>
          <a:xfrm>
            <a:off x="628650" y="1628800"/>
            <a:ext cx="8191822" cy="4749029"/>
          </a:xfrm>
        </p:spPr>
        <p:txBody>
          <a:bodyPr/>
          <a:lstStyle/>
          <a:p>
            <a:r>
              <a:rPr lang="zh-CN" altLang="en-US" dirty="0"/>
              <a:t>预查</a:t>
            </a:r>
            <a:endParaRPr lang="en-US" altLang="zh-CN" dirty="0"/>
          </a:p>
          <a:p>
            <a:pPr lvl="1"/>
            <a:r>
              <a:rPr lang="zh-CN" altLang="en-US" dirty="0"/>
              <a:t>正向预查</a:t>
            </a:r>
            <a:r>
              <a:rPr lang="en-US" altLang="zh-CN" dirty="0"/>
              <a:t>(?=pattern) (?!pattern)</a:t>
            </a:r>
          </a:p>
          <a:p>
            <a:pPr lvl="1"/>
            <a:r>
              <a:rPr lang="zh-CN" altLang="en-US" dirty="0"/>
              <a:t>反向预查</a:t>
            </a:r>
            <a:r>
              <a:rPr lang="en-US" altLang="zh-CN" dirty="0"/>
              <a:t>(?&lt;=pattern) (?&lt;!pattern)</a:t>
            </a:r>
          </a:p>
          <a:p>
            <a:endParaRPr lang="en-US" altLang="zh-CN" dirty="0"/>
          </a:p>
          <a:p>
            <a:r>
              <a:rPr lang="zh-CN" altLang="en-US" dirty="0"/>
              <a:t>后向引用</a:t>
            </a:r>
            <a:endParaRPr lang="en-US" altLang="zh-CN" dirty="0"/>
          </a:p>
          <a:p>
            <a:pPr lvl="1"/>
            <a:r>
              <a:rPr lang="pl-PL" altLang="zh-CN" dirty="0"/>
              <a:t>\b(\w+)\b\s+\1\b</a:t>
            </a:r>
            <a:r>
              <a:rPr lang="en-US" altLang="zh-CN" dirty="0"/>
              <a:t> </a:t>
            </a:r>
            <a:r>
              <a:rPr lang="zh-CN" altLang="en-US" dirty="0"/>
              <a:t>匹配重复两遍的单词</a:t>
            </a:r>
            <a:endParaRPr lang="en-US" altLang="zh-CN" dirty="0"/>
          </a:p>
          <a:p>
            <a:pPr lvl="1"/>
            <a:r>
              <a:rPr lang="zh-CN" altLang="en-US" dirty="0"/>
              <a:t>比如</a:t>
            </a:r>
            <a:r>
              <a:rPr lang="en-US" altLang="zh-CN" dirty="0"/>
              <a:t>go </a:t>
            </a:r>
            <a:r>
              <a:rPr lang="en-US" altLang="zh-CN" dirty="0" err="1"/>
              <a:t>go</a:t>
            </a:r>
            <a:r>
              <a:rPr lang="en-US" altLang="zh-CN" dirty="0"/>
              <a:t> </a:t>
            </a:r>
            <a:r>
              <a:rPr lang="zh-CN" altLang="en-US" dirty="0"/>
              <a:t>或 </a:t>
            </a:r>
            <a:r>
              <a:rPr lang="en-US" altLang="zh-CN" dirty="0"/>
              <a:t>kitty </a:t>
            </a:r>
            <a:r>
              <a:rPr lang="en-US" altLang="zh-CN" dirty="0" err="1"/>
              <a:t>kitty</a:t>
            </a:r>
            <a:endParaRPr lang="en-US" altLang="zh-CN" dirty="0"/>
          </a:p>
          <a:p>
            <a:pPr lvl="1"/>
            <a:endParaRPr lang="en-US" altLang="zh-CN" dirty="0"/>
          </a:p>
          <a:p>
            <a:r>
              <a:rPr lang="zh-CN" altLang="en-US" dirty="0"/>
              <a:t>贪婪与懒惰</a:t>
            </a:r>
            <a:endParaRPr lang="en-US" altLang="zh-CN" dirty="0"/>
          </a:p>
          <a:p>
            <a:pPr lvl="1"/>
            <a:r>
              <a:rPr lang="zh-CN" altLang="en-US" dirty="0"/>
              <a:t>默认多次重复为贪婪匹配，即匹配次数最多</a:t>
            </a:r>
            <a:endParaRPr lang="en-US" altLang="zh-CN" dirty="0"/>
          </a:p>
          <a:p>
            <a:pPr lvl="1"/>
            <a:r>
              <a:rPr lang="zh-CN" altLang="en-US" dirty="0"/>
              <a:t>在重复模式后加？可以变为懒惰匹配，即匹配次数最少</a:t>
            </a:r>
          </a:p>
        </p:txBody>
      </p:sp>
      <p:sp>
        <p:nvSpPr>
          <p:cNvPr id="4" name="灯片编号占位符 3"/>
          <p:cNvSpPr>
            <a:spLocks noGrp="1"/>
          </p:cNvSpPr>
          <p:nvPr>
            <p:ph type="sldNum" sz="quarter" idx="12"/>
          </p:nvPr>
        </p:nvSpPr>
        <p:spPr/>
        <p:txBody>
          <a:bodyPr/>
          <a:lstStyle/>
          <a:p>
            <a:pPr>
              <a:defRPr/>
            </a:pPr>
            <a:fld id="{BFD7BE51-03DD-4CCA-8227-D775462981B4}" type="slidenum">
              <a:rPr lang="en-US" altLang="zh-CN" smtClean="0"/>
              <a:t>110</a:t>
            </a:fld>
            <a:endParaRPr lang="en-US" altLang="zh-CN"/>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3CD2F1-DB74-4299-9792-B4DC88F78F8E}"/>
              </a:ext>
            </a:extLst>
          </p:cNvPr>
          <p:cNvSpPr>
            <a:spLocks noGrp="1"/>
          </p:cNvSpPr>
          <p:nvPr>
            <p:ph type="title"/>
          </p:nvPr>
        </p:nvSpPr>
        <p:spPr/>
        <p:txBody>
          <a:bodyPr/>
          <a:lstStyle/>
          <a:p>
            <a:r>
              <a:rPr lang="zh-CN" altLang="en-US" dirty="0"/>
              <a:t>拓展阅读</a:t>
            </a:r>
          </a:p>
        </p:txBody>
      </p:sp>
      <p:sp>
        <p:nvSpPr>
          <p:cNvPr id="3" name="内容占位符 2">
            <a:extLst>
              <a:ext uri="{FF2B5EF4-FFF2-40B4-BE49-F238E27FC236}">
                <a16:creationId xmlns:a16="http://schemas.microsoft.com/office/drawing/2014/main" id="{2D561AE1-194C-4B27-B0BF-497CCF0F0857}"/>
              </a:ext>
            </a:extLst>
          </p:cNvPr>
          <p:cNvSpPr>
            <a:spLocks noGrp="1"/>
          </p:cNvSpPr>
          <p:nvPr>
            <p:ph idx="1"/>
          </p:nvPr>
        </p:nvSpPr>
        <p:spPr/>
        <p:txBody>
          <a:bodyPr/>
          <a:lstStyle/>
          <a:p>
            <a:r>
              <a:rPr lang="zh-CN" altLang="en-US" dirty="0"/>
              <a:t>智能指针来自于</a:t>
            </a:r>
            <a:r>
              <a:rPr lang="en-US" altLang="zh-CN" dirty="0"/>
              <a:t>&lt;memory&gt;</a:t>
            </a:r>
            <a:r>
              <a:rPr lang="zh-CN" altLang="en-US" dirty="0"/>
              <a:t>库，负责对动态内存管理的封装</a:t>
            </a:r>
            <a:endParaRPr lang="en-US" altLang="zh-CN" dirty="0"/>
          </a:p>
          <a:p>
            <a:pPr lvl="1"/>
            <a:r>
              <a:rPr lang="en-US" altLang="zh-CN" sz="2000" dirty="0">
                <a:hlinkClick r:id="rId2"/>
              </a:rPr>
              <a:t>http://www.cplusplus.com/reference/memory/</a:t>
            </a:r>
            <a:endParaRPr lang="en-US" altLang="zh-CN" sz="2000" dirty="0"/>
          </a:p>
          <a:p>
            <a:r>
              <a:rPr lang="zh-CN" altLang="en-US" dirty="0"/>
              <a:t>主要包含四个部分</a:t>
            </a:r>
            <a:endParaRPr lang="en-US" altLang="zh-CN" dirty="0"/>
          </a:p>
          <a:p>
            <a:pPr lvl="1"/>
            <a:r>
              <a:rPr lang="en-US" altLang="zh-CN" dirty="0"/>
              <a:t>Allocators  </a:t>
            </a:r>
            <a:r>
              <a:rPr lang="zh-CN" altLang="en-US" dirty="0"/>
              <a:t>内存创建</a:t>
            </a:r>
            <a:endParaRPr lang="en-US" altLang="zh-CN" dirty="0"/>
          </a:p>
          <a:p>
            <a:pPr lvl="1"/>
            <a:r>
              <a:rPr lang="en-US" altLang="zh-CN" dirty="0">
                <a:solidFill>
                  <a:srgbClr val="C00000"/>
                </a:solidFill>
              </a:rPr>
              <a:t>Manage Pointers  </a:t>
            </a:r>
            <a:r>
              <a:rPr lang="zh-CN" altLang="en-US" dirty="0">
                <a:solidFill>
                  <a:srgbClr val="C00000"/>
                </a:solidFill>
              </a:rPr>
              <a:t>智能指针，本节内容</a:t>
            </a:r>
            <a:br>
              <a:rPr lang="en-US" altLang="zh-CN" dirty="0">
                <a:solidFill>
                  <a:srgbClr val="C00000"/>
                </a:solidFill>
              </a:rPr>
            </a:br>
            <a:r>
              <a:rPr lang="en-US" altLang="zh-CN" dirty="0">
                <a:solidFill>
                  <a:srgbClr val="C00000"/>
                </a:solidFill>
              </a:rPr>
              <a:t>          </a:t>
            </a:r>
            <a:r>
              <a:rPr lang="zh-CN" altLang="en-US" dirty="0">
                <a:solidFill>
                  <a:srgbClr val="C00000"/>
                </a:solidFill>
              </a:rPr>
              <a:t>还包含一些辅助智能指针使用的函数</a:t>
            </a:r>
            <a:endParaRPr lang="en-US" altLang="zh-CN" dirty="0">
              <a:solidFill>
                <a:srgbClr val="C00000"/>
              </a:solidFill>
            </a:endParaRPr>
          </a:p>
          <a:p>
            <a:pPr lvl="1"/>
            <a:r>
              <a:rPr lang="en-US" altLang="zh-CN" dirty="0"/>
              <a:t>Uninitialized Memory  </a:t>
            </a:r>
            <a:r>
              <a:rPr lang="zh-CN" altLang="en-US" dirty="0"/>
              <a:t>对未初始化内存的操作</a:t>
            </a:r>
            <a:endParaRPr lang="en-US" altLang="zh-CN" dirty="0"/>
          </a:p>
          <a:p>
            <a:pPr lvl="1"/>
            <a:r>
              <a:rPr lang="en-US" altLang="zh-CN" dirty="0"/>
              <a:t>Memory Model   </a:t>
            </a:r>
            <a:r>
              <a:rPr lang="zh-CN" altLang="en-US" dirty="0"/>
              <a:t>其他内存管理</a:t>
            </a:r>
          </a:p>
        </p:txBody>
      </p:sp>
      <p:sp>
        <p:nvSpPr>
          <p:cNvPr id="4" name="灯片编号占位符 3">
            <a:extLst>
              <a:ext uri="{FF2B5EF4-FFF2-40B4-BE49-F238E27FC236}">
                <a16:creationId xmlns:a16="http://schemas.microsoft.com/office/drawing/2014/main" id="{17380D3C-0383-4C7F-AF07-8AD0733D5EC5}"/>
              </a:ext>
            </a:extLst>
          </p:cNvPr>
          <p:cNvSpPr>
            <a:spLocks noGrp="1"/>
          </p:cNvSpPr>
          <p:nvPr>
            <p:ph type="sldNum" sz="quarter" idx="12"/>
          </p:nvPr>
        </p:nvSpPr>
        <p:spPr/>
        <p:txBody>
          <a:bodyPr/>
          <a:lstStyle/>
          <a:p>
            <a:pPr>
              <a:defRPr/>
            </a:pPr>
            <a:fld id="{BFD7BE51-03DD-4CCA-8227-D775462981B4}" type="slidenum">
              <a:rPr lang="en-US" altLang="zh-CN" smtClean="0"/>
              <a:pPr>
                <a:defRPr/>
              </a:pPr>
              <a:t>111</a:t>
            </a:fld>
            <a:endParaRPr lang="en-US" altLang="zh-CN" dirty="0"/>
          </a:p>
        </p:txBody>
      </p:sp>
    </p:spTree>
    <p:extLst>
      <p:ext uri="{BB962C8B-B14F-4D97-AF65-F5344CB8AC3E}">
        <p14:creationId xmlns:p14="http://schemas.microsoft.com/office/powerpoint/2010/main" val="378515381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p:txBody>
          <a:bodyPr/>
          <a:lstStyle/>
          <a:p>
            <a:r>
              <a:rPr lang="zh-CN" altLang="en-US" dirty="0"/>
              <a:t>以下哪些能正常编译？</a:t>
            </a:r>
            <a:endParaRPr lang="en-US" altLang="zh-CN" dirty="0"/>
          </a:p>
          <a:p>
            <a:endParaRPr lang="zh-CN" altLang="en-US" dirty="0"/>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112</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846699" y="2340163"/>
            <a:ext cx="7874271" cy="4401205"/>
          </a:xfrm>
          <a:prstGeom prst="rect">
            <a:avLst/>
          </a:prstGeom>
          <a:noFill/>
        </p:spPr>
        <p:txBody>
          <a:bodyPr wrap="none" rtlCol="0">
            <a:spAutoFit/>
          </a:bodyPr>
          <a:lstStyle/>
          <a:p>
            <a:r>
              <a:rPr lang="en-US" altLang="zh-CN" sz="2800" b="1" dirty="0">
                <a:latin typeface="Consolas" panose="020B0609020204030204" pitchFamily="49" charset="0"/>
              </a:rPr>
              <a:t>int func1(const int &amp;x, int &amp;b) {...};</a:t>
            </a:r>
          </a:p>
          <a:p>
            <a:r>
              <a:rPr lang="en-US" altLang="zh-CN" sz="2800" b="1" dirty="0">
                <a:latin typeface="Consolas" panose="020B0609020204030204" pitchFamily="49" charset="0"/>
              </a:rPr>
              <a:t>function&lt;______&gt; pf1 = func1;</a:t>
            </a:r>
          </a:p>
          <a:p>
            <a:endParaRPr lang="en-US" altLang="zh-CN" sz="2800" b="1" dirty="0">
              <a:latin typeface="Consolas" panose="020B0609020204030204" pitchFamily="49" charset="0"/>
            </a:endParaRPr>
          </a:p>
          <a:p>
            <a:pPr marL="514350" indent="-514350">
              <a:buAutoNum type="alphaUcPeriod"/>
            </a:pPr>
            <a:r>
              <a:rPr lang="en-US" altLang="zh-CN" sz="2800" b="1" dirty="0">
                <a:latin typeface="Consolas" panose="020B0609020204030204" pitchFamily="49" charset="0"/>
              </a:rPr>
              <a:t>int(int, int)</a:t>
            </a:r>
          </a:p>
          <a:p>
            <a:pPr marL="514350" indent="-514350">
              <a:buFontTx/>
              <a:buAutoNum type="alphaUcPeriod"/>
            </a:pPr>
            <a:r>
              <a:rPr lang="en-US" altLang="zh-CN" sz="2800" b="1" dirty="0">
                <a:latin typeface="Consolas" panose="020B0609020204030204" pitchFamily="49" charset="0"/>
              </a:rPr>
              <a:t>int(int, int&amp;)</a:t>
            </a:r>
          </a:p>
          <a:p>
            <a:pPr marL="514350" indent="-514350">
              <a:buFontTx/>
              <a:buAutoNum type="alphaUcPeriod"/>
            </a:pPr>
            <a:r>
              <a:rPr lang="en-US" altLang="zh-CN" sz="2800" b="1" dirty="0">
                <a:latin typeface="Consolas" panose="020B0609020204030204" pitchFamily="49" charset="0"/>
              </a:rPr>
              <a:t>int(int&amp;, int&amp;)</a:t>
            </a:r>
          </a:p>
          <a:p>
            <a:pPr marL="514350" indent="-514350">
              <a:buFontTx/>
              <a:buAutoNum type="alphaUcPeriod"/>
            </a:pPr>
            <a:r>
              <a:rPr lang="en-US" altLang="zh-CN" sz="2800" b="1" dirty="0">
                <a:latin typeface="Consolas" panose="020B0609020204030204" pitchFamily="49" charset="0"/>
              </a:rPr>
              <a:t>int(const int&amp;, int&amp;)</a:t>
            </a:r>
          </a:p>
          <a:p>
            <a:pPr marL="514350" indent="-514350">
              <a:buFontTx/>
              <a:buAutoNum type="alphaUcPeriod"/>
            </a:pPr>
            <a:r>
              <a:rPr lang="en-US" altLang="zh-CN" sz="2800" b="1" dirty="0">
                <a:latin typeface="Consolas" panose="020B0609020204030204" pitchFamily="49" charset="0"/>
              </a:rPr>
              <a:t>int(const int, int)</a:t>
            </a:r>
          </a:p>
          <a:p>
            <a:pPr marL="514350" indent="-514350">
              <a:buFontTx/>
              <a:buAutoNum type="alphaUcPeriod"/>
            </a:pPr>
            <a:r>
              <a:rPr lang="en-US" altLang="zh-CN" sz="2800" b="1" dirty="0">
                <a:latin typeface="Consolas" panose="020B0609020204030204" pitchFamily="49" charset="0"/>
              </a:rPr>
              <a:t>int&amp;(int, int&amp;)</a:t>
            </a:r>
          </a:p>
          <a:p>
            <a:pPr marL="514350" indent="-514350">
              <a:buAutoNum type="alphaUcPeriod"/>
            </a:pPr>
            <a:endParaRPr lang="en-US" altLang="zh-CN" sz="2800" b="1" dirty="0">
              <a:latin typeface="Consolas" panose="020B0609020204030204" pitchFamily="49" charset="0"/>
            </a:endParaRPr>
          </a:p>
        </p:txBody>
      </p:sp>
    </p:spTree>
    <p:extLst>
      <p:ext uri="{BB962C8B-B14F-4D97-AF65-F5344CB8AC3E}">
        <p14:creationId xmlns:p14="http://schemas.microsoft.com/office/powerpoint/2010/main" val="14747299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p:txBody>
          <a:bodyPr/>
          <a:lstStyle/>
          <a:p>
            <a:r>
              <a:rPr lang="zh-CN" altLang="en-US" dirty="0"/>
              <a:t>以下哪些能正常编译？</a:t>
            </a:r>
            <a:endParaRPr lang="en-US" altLang="zh-CN" dirty="0"/>
          </a:p>
          <a:p>
            <a:endParaRPr lang="zh-CN" altLang="en-US" dirty="0"/>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113</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846699" y="2340163"/>
            <a:ext cx="7874271" cy="4401205"/>
          </a:xfrm>
          <a:prstGeom prst="rect">
            <a:avLst/>
          </a:prstGeom>
          <a:noFill/>
        </p:spPr>
        <p:txBody>
          <a:bodyPr wrap="none" rtlCol="0">
            <a:spAutoFit/>
          </a:bodyPr>
          <a:lstStyle/>
          <a:p>
            <a:r>
              <a:rPr lang="en-US" altLang="zh-CN" sz="2800" b="1" dirty="0">
                <a:latin typeface="Consolas" panose="020B0609020204030204" pitchFamily="49" charset="0"/>
              </a:rPr>
              <a:t>int func1(const int &amp;x, int &amp;b) {...};</a:t>
            </a:r>
          </a:p>
          <a:p>
            <a:r>
              <a:rPr lang="en-US" altLang="zh-CN" sz="2800" b="1" dirty="0">
                <a:latin typeface="Consolas" panose="020B0609020204030204" pitchFamily="49" charset="0"/>
              </a:rPr>
              <a:t>function&lt;______&gt; pf1 = func1;</a:t>
            </a:r>
          </a:p>
          <a:p>
            <a:endParaRPr lang="en-US" altLang="zh-CN" sz="2800" b="1" dirty="0">
              <a:latin typeface="Consolas" panose="020B0609020204030204" pitchFamily="49" charset="0"/>
            </a:endParaRPr>
          </a:p>
          <a:p>
            <a:pPr marL="514350" indent="-514350">
              <a:buAutoNum type="alphaUcPeriod"/>
            </a:pPr>
            <a:r>
              <a:rPr lang="en-US" altLang="zh-CN" sz="2800" b="1" dirty="0">
                <a:solidFill>
                  <a:srgbClr val="C00000"/>
                </a:solidFill>
                <a:latin typeface="Consolas" panose="020B0609020204030204" pitchFamily="49" charset="0"/>
              </a:rPr>
              <a:t>int(int, int)</a:t>
            </a:r>
          </a:p>
          <a:p>
            <a:pPr marL="514350" indent="-514350">
              <a:buFontTx/>
              <a:buAutoNum type="alphaUcPeriod"/>
            </a:pPr>
            <a:r>
              <a:rPr lang="en-US" altLang="zh-CN" sz="2800" b="1" dirty="0">
                <a:solidFill>
                  <a:srgbClr val="008000"/>
                </a:solidFill>
                <a:latin typeface="Consolas" panose="020B0609020204030204" pitchFamily="49" charset="0"/>
              </a:rPr>
              <a:t>int(int, int&amp;)</a:t>
            </a:r>
          </a:p>
          <a:p>
            <a:pPr marL="514350" indent="-514350">
              <a:buFontTx/>
              <a:buAutoNum type="alphaUcPeriod"/>
            </a:pPr>
            <a:r>
              <a:rPr lang="en-US" altLang="zh-CN" sz="2800" b="1" dirty="0">
                <a:solidFill>
                  <a:srgbClr val="008000"/>
                </a:solidFill>
                <a:latin typeface="Consolas" panose="020B0609020204030204" pitchFamily="49" charset="0"/>
              </a:rPr>
              <a:t>int(int&amp;, int&amp;)</a:t>
            </a:r>
          </a:p>
          <a:p>
            <a:pPr marL="514350" indent="-514350">
              <a:buFontTx/>
              <a:buAutoNum type="alphaUcPeriod"/>
            </a:pPr>
            <a:r>
              <a:rPr lang="en-US" altLang="zh-CN" sz="2800" b="1" dirty="0">
                <a:solidFill>
                  <a:srgbClr val="008000"/>
                </a:solidFill>
                <a:latin typeface="Consolas" panose="020B0609020204030204" pitchFamily="49" charset="0"/>
              </a:rPr>
              <a:t>int(const int&amp;, int&amp;)</a:t>
            </a:r>
          </a:p>
          <a:p>
            <a:pPr marL="514350" indent="-514350">
              <a:buFontTx/>
              <a:buAutoNum type="alphaUcPeriod"/>
            </a:pPr>
            <a:r>
              <a:rPr lang="en-US" altLang="zh-CN" sz="2800" b="1" dirty="0">
                <a:solidFill>
                  <a:srgbClr val="C00000"/>
                </a:solidFill>
                <a:latin typeface="Consolas" panose="020B0609020204030204" pitchFamily="49" charset="0"/>
              </a:rPr>
              <a:t>int(const int, int)</a:t>
            </a:r>
          </a:p>
          <a:p>
            <a:pPr marL="514350" indent="-514350">
              <a:buFontTx/>
              <a:buAutoNum type="alphaUcPeriod"/>
            </a:pPr>
            <a:r>
              <a:rPr lang="en-US" altLang="zh-CN" sz="2800" b="1" dirty="0">
                <a:solidFill>
                  <a:srgbClr val="C00000"/>
                </a:solidFill>
                <a:latin typeface="Consolas" panose="020B0609020204030204" pitchFamily="49" charset="0"/>
              </a:rPr>
              <a:t>int&amp;(int, int&amp;)</a:t>
            </a:r>
          </a:p>
          <a:p>
            <a:pPr marL="514350" indent="-514350">
              <a:buAutoNum type="alphaUcPeriod"/>
            </a:pPr>
            <a:endParaRPr lang="en-US" altLang="zh-CN" sz="2800" b="1" dirty="0">
              <a:latin typeface="Consolas" panose="020B0609020204030204" pitchFamily="49" charset="0"/>
            </a:endParaRPr>
          </a:p>
        </p:txBody>
      </p:sp>
    </p:spTree>
    <p:extLst>
      <p:ext uri="{BB962C8B-B14F-4D97-AF65-F5344CB8AC3E}">
        <p14:creationId xmlns:p14="http://schemas.microsoft.com/office/powerpoint/2010/main" val="10971252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9B354-C240-4765-BC29-9D7D795F6A1D}"/>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75A9CB6-6F33-4A64-8E86-42A64C61BEBB}"/>
              </a:ext>
            </a:extLst>
          </p:cNvPr>
          <p:cNvSpPr>
            <a:spLocks noGrp="1"/>
          </p:cNvSpPr>
          <p:nvPr>
            <p:ph idx="1"/>
          </p:nvPr>
        </p:nvSpPr>
        <p:spPr>
          <a:xfrm>
            <a:off x="548097" y="1454068"/>
            <a:ext cx="8047806" cy="4749029"/>
          </a:xfrm>
        </p:spPr>
        <p:txBody>
          <a:bodyPr/>
          <a:lstStyle/>
          <a:p>
            <a:r>
              <a:rPr lang="zh-CN" altLang="en-US" dirty="0"/>
              <a:t>考虑调用时的顺序</a:t>
            </a:r>
          </a:p>
        </p:txBody>
      </p:sp>
      <p:sp>
        <p:nvSpPr>
          <p:cNvPr id="4" name="灯片编号占位符 3">
            <a:extLst>
              <a:ext uri="{FF2B5EF4-FFF2-40B4-BE49-F238E27FC236}">
                <a16:creationId xmlns:a16="http://schemas.microsoft.com/office/drawing/2014/main" id="{749EED10-8947-414F-94FE-0F7585A82799}"/>
              </a:ext>
            </a:extLst>
          </p:cNvPr>
          <p:cNvSpPr>
            <a:spLocks noGrp="1"/>
          </p:cNvSpPr>
          <p:nvPr>
            <p:ph type="sldNum" sz="quarter" idx="12"/>
          </p:nvPr>
        </p:nvSpPr>
        <p:spPr/>
        <p:txBody>
          <a:bodyPr/>
          <a:lstStyle/>
          <a:p>
            <a:pPr>
              <a:defRPr/>
            </a:pPr>
            <a:fld id="{BFD7BE51-03DD-4CCA-8227-D775462981B4}" type="slidenum">
              <a:rPr lang="en-US" altLang="zh-CN" smtClean="0"/>
              <a:pPr>
                <a:defRPr/>
              </a:pPr>
              <a:t>114</a:t>
            </a:fld>
            <a:endParaRPr lang="en-US" altLang="zh-CN"/>
          </a:p>
        </p:txBody>
      </p:sp>
      <p:sp>
        <p:nvSpPr>
          <p:cNvPr id="5" name="文本框 4">
            <a:extLst>
              <a:ext uri="{FF2B5EF4-FFF2-40B4-BE49-F238E27FC236}">
                <a16:creationId xmlns:a16="http://schemas.microsoft.com/office/drawing/2014/main" id="{F1AD4AE0-80C7-49A9-8B1F-7A4FB6ECADD1}"/>
              </a:ext>
            </a:extLst>
          </p:cNvPr>
          <p:cNvSpPr txBox="1"/>
          <p:nvPr/>
        </p:nvSpPr>
        <p:spPr>
          <a:xfrm>
            <a:off x="1734731" y="4696818"/>
            <a:ext cx="6494085" cy="523220"/>
          </a:xfrm>
          <a:prstGeom prst="rect">
            <a:avLst/>
          </a:prstGeom>
          <a:noFill/>
        </p:spPr>
        <p:txBody>
          <a:bodyPr wrap="none" rtlCol="0">
            <a:spAutoFit/>
          </a:bodyPr>
          <a:lstStyle/>
          <a:p>
            <a:r>
              <a:rPr lang="en-US" altLang="zh-CN" sz="2800" b="1" dirty="0">
                <a:latin typeface="Consolas" panose="020B0609020204030204" pitchFamily="49" charset="0"/>
              </a:rPr>
              <a:t>int func1(int x, int &amp;b) {...};</a:t>
            </a:r>
          </a:p>
        </p:txBody>
      </p:sp>
      <p:sp>
        <p:nvSpPr>
          <p:cNvPr id="6" name="文本框 5">
            <a:extLst>
              <a:ext uri="{FF2B5EF4-FFF2-40B4-BE49-F238E27FC236}">
                <a16:creationId xmlns:a16="http://schemas.microsoft.com/office/drawing/2014/main" id="{3891ADFE-49BF-42CD-9495-7B9A9F1BF3E6}"/>
              </a:ext>
            </a:extLst>
          </p:cNvPr>
          <p:cNvSpPr txBox="1"/>
          <p:nvPr/>
        </p:nvSpPr>
        <p:spPr>
          <a:xfrm>
            <a:off x="1904873" y="3342060"/>
            <a:ext cx="4916731" cy="523220"/>
          </a:xfrm>
          <a:prstGeom prst="rect">
            <a:avLst/>
          </a:prstGeom>
          <a:noFill/>
        </p:spPr>
        <p:txBody>
          <a:bodyPr wrap="none" rtlCol="0">
            <a:spAutoFit/>
          </a:bodyPr>
          <a:lstStyle/>
          <a:p>
            <a:r>
              <a:rPr lang="en-US" altLang="zh-CN" sz="2800" b="1" dirty="0">
                <a:latin typeface="Consolas" panose="020B0609020204030204" pitchFamily="49" charset="0"/>
              </a:rPr>
              <a:t>function&lt;int(int, int&amp;)&gt;</a:t>
            </a:r>
          </a:p>
        </p:txBody>
      </p:sp>
      <p:sp>
        <p:nvSpPr>
          <p:cNvPr id="7" name="文本框 6">
            <a:extLst>
              <a:ext uri="{FF2B5EF4-FFF2-40B4-BE49-F238E27FC236}">
                <a16:creationId xmlns:a16="http://schemas.microsoft.com/office/drawing/2014/main" id="{4FFA4439-D0A4-4A1F-9F02-13162F42BD67}"/>
              </a:ext>
            </a:extLst>
          </p:cNvPr>
          <p:cNvSpPr txBox="1"/>
          <p:nvPr/>
        </p:nvSpPr>
        <p:spPr>
          <a:xfrm>
            <a:off x="5425019" y="2011096"/>
            <a:ext cx="902811" cy="523220"/>
          </a:xfrm>
          <a:prstGeom prst="rect">
            <a:avLst/>
          </a:prstGeom>
          <a:noFill/>
        </p:spPr>
        <p:txBody>
          <a:bodyPr wrap="none" rtlCol="0">
            <a:spAutoFit/>
          </a:bodyPr>
          <a:lstStyle/>
          <a:p>
            <a:r>
              <a:rPr lang="zh-CN" altLang="en-US" sz="2800" b="1" dirty="0"/>
              <a:t>参数</a:t>
            </a:r>
          </a:p>
        </p:txBody>
      </p:sp>
      <p:sp>
        <p:nvSpPr>
          <p:cNvPr id="8" name="文本框 7">
            <a:extLst>
              <a:ext uri="{FF2B5EF4-FFF2-40B4-BE49-F238E27FC236}">
                <a16:creationId xmlns:a16="http://schemas.microsoft.com/office/drawing/2014/main" id="{9623F9B2-EE2B-4B3E-BD7D-736F3EC22987}"/>
              </a:ext>
            </a:extLst>
          </p:cNvPr>
          <p:cNvSpPr txBox="1"/>
          <p:nvPr/>
        </p:nvSpPr>
        <p:spPr>
          <a:xfrm>
            <a:off x="3401868" y="2011096"/>
            <a:ext cx="1261884" cy="523220"/>
          </a:xfrm>
          <a:prstGeom prst="rect">
            <a:avLst/>
          </a:prstGeom>
          <a:noFill/>
        </p:spPr>
        <p:txBody>
          <a:bodyPr wrap="none" rtlCol="0">
            <a:spAutoFit/>
          </a:bodyPr>
          <a:lstStyle/>
          <a:p>
            <a:r>
              <a:rPr lang="zh-CN" altLang="en-US" sz="2800" b="1" dirty="0"/>
              <a:t>返回值</a:t>
            </a:r>
          </a:p>
        </p:txBody>
      </p:sp>
      <p:cxnSp>
        <p:nvCxnSpPr>
          <p:cNvPr id="10" name="直接箭头连接符 9">
            <a:extLst>
              <a:ext uri="{FF2B5EF4-FFF2-40B4-BE49-F238E27FC236}">
                <a16:creationId xmlns:a16="http://schemas.microsoft.com/office/drawing/2014/main" id="{D164D064-9890-4A8D-ABB2-BE65F2DBCB8A}"/>
              </a:ext>
            </a:extLst>
          </p:cNvPr>
          <p:cNvCxnSpPr>
            <a:cxnSpLocks/>
            <a:stCxn id="7" idx="2"/>
          </p:cNvCxnSpPr>
          <p:nvPr/>
        </p:nvCxnSpPr>
        <p:spPr>
          <a:xfrm flipH="1">
            <a:off x="5425019" y="2534316"/>
            <a:ext cx="451406" cy="756650"/>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2" name="直接箭头连接符 11">
            <a:extLst>
              <a:ext uri="{FF2B5EF4-FFF2-40B4-BE49-F238E27FC236}">
                <a16:creationId xmlns:a16="http://schemas.microsoft.com/office/drawing/2014/main" id="{5D202703-1FD1-4E27-B691-2A1E4E26C9CC}"/>
              </a:ext>
            </a:extLst>
          </p:cNvPr>
          <p:cNvCxnSpPr/>
          <p:nvPr/>
        </p:nvCxnSpPr>
        <p:spPr>
          <a:xfrm>
            <a:off x="5425019" y="3865280"/>
            <a:ext cx="0" cy="80774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5" name="直接箭头连接符 14">
            <a:extLst>
              <a:ext uri="{FF2B5EF4-FFF2-40B4-BE49-F238E27FC236}">
                <a16:creationId xmlns:a16="http://schemas.microsoft.com/office/drawing/2014/main" id="{5C8D7FBE-D997-4470-9B65-FA66C46460A2}"/>
              </a:ext>
            </a:extLst>
          </p:cNvPr>
          <p:cNvCxnSpPr>
            <a:cxnSpLocks/>
          </p:cNvCxnSpPr>
          <p:nvPr/>
        </p:nvCxnSpPr>
        <p:spPr>
          <a:xfrm flipV="1">
            <a:off x="2141255" y="3835215"/>
            <a:ext cx="1692425" cy="896495"/>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cxnSp>
        <p:nvCxnSpPr>
          <p:cNvPr id="17" name="直接箭头连接符 16">
            <a:extLst>
              <a:ext uri="{FF2B5EF4-FFF2-40B4-BE49-F238E27FC236}">
                <a16:creationId xmlns:a16="http://schemas.microsoft.com/office/drawing/2014/main" id="{B97F9EBD-8CB5-4F71-B959-56490DDC02BC}"/>
              </a:ext>
            </a:extLst>
          </p:cNvPr>
          <p:cNvCxnSpPr>
            <a:endCxn id="8" idx="2"/>
          </p:cNvCxnSpPr>
          <p:nvPr/>
        </p:nvCxnSpPr>
        <p:spPr>
          <a:xfrm flipV="1">
            <a:off x="4028435" y="2534316"/>
            <a:ext cx="4375" cy="807743"/>
          </a:xfrm>
          <a:prstGeom prst="straightConnector1">
            <a:avLst/>
          </a:prstGeom>
          <a:ln w="38100">
            <a:tailEnd type="triangle"/>
          </a:ln>
        </p:spPr>
        <p:style>
          <a:lnRef idx="3">
            <a:schemeClr val="accent1"/>
          </a:lnRef>
          <a:fillRef idx="0">
            <a:schemeClr val="accent1"/>
          </a:fillRef>
          <a:effectRef idx="2">
            <a:schemeClr val="accent1"/>
          </a:effectRef>
          <a:fontRef idx="minor">
            <a:schemeClr val="tx1"/>
          </a:fontRef>
        </p:style>
      </p:cxnSp>
      <p:sp>
        <p:nvSpPr>
          <p:cNvPr id="18" name="矩形 17">
            <a:extLst>
              <a:ext uri="{FF2B5EF4-FFF2-40B4-BE49-F238E27FC236}">
                <a16:creationId xmlns:a16="http://schemas.microsoft.com/office/drawing/2014/main" id="{FE0B796D-BBC7-499B-B1F7-A27204A011D3}"/>
              </a:ext>
            </a:extLst>
          </p:cNvPr>
          <p:cNvSpPr/>
          <p:nvPr/>
        </p:nvSpPr>
        <p:spPr>
          <a:xfrm>
            <a:off x="4365920" y="3372126"/>
            <a:ext cx="2071581" cy="463089"/>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BF081FF2-69AF-4F50-A336-0E34F92ED765}"/>
              </a:ext>
            </a:extLst>
          </p:cNvPr>
          <p:cNvSpPr/>
          <p:nvPr/>
        </p:nvSpPr>
        <p:spPr>
          <a:xfrm>
            <a:off x="3761868" y="4731710"/>
            <a:ext cx="2675633" cy="463089"/>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FFAAD626-B962-49C9-B191-61552845075D}"/>
              </a:ext>
            </a:extLst>
          </p:cNvPr>
          <p:cNvSpPr/>
          <p:nvPr/>
        </p:nvSpPr>
        <p:spPr>
          <a:xfrm>
            <a:off x="1710073" y="4749287"/>
            <a:ext cx="827659" cy="463089"/>
          </a:xfrm>
          <a:prstGeom prst="rect">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CDACEBF5-8C30-4555-8FCA-4194A8D88456}"/>
              </a:ext>
            </a:extLst>
          </p:cNvPr>
          <p:cNvSpPr txBox="1"/>
          <p:nvPr/>
        </p:nvSpPr>
        <p:spPr>
          <a:xfrm>
            <a:off x="5945405" y="2585410"/>
            <a:ext cx="543739" cy="523220"/>
          </a:xfrm>
          <a:prstGeom prst="rect">
            <a:avLst/>
          </a:prstGeom>
          <a:noFill/>
        </p:spPr>
        <p:txBody>
          <a:bodyPr wrap="none" rtlCol="0">
            <a:spAutoFit/>
          </a:bodyPr>
          <a:lstStyle/>
          <a:p>
            <a:r>
              <a:rPr lang="zh-CN" altLang="en-US" sz="2800" b="1" dirty="0"/>
              <a:t>①</a:t>
            </a:r>
          </a:p>
        </p:txBody>
      </p:sp>
      <p:sp>
        <p:nvSpPr>
          <p:cNvPr id="23" name="文本框 22">
            <a:extLst>
              <a:ext uri="{FF2B5EF4-FFF2-40B4-BE49-F238E27FC236}">
                <a16:creationId xmlns:a16="http://schemas.microsoft.com/office/drawing/2014/main" id="{A639DC18-91D4-42F1-A8D4-DEC247218453}"/>
              </a:ext>
            </a:extLst>
          </p:cNvPr>
          <p:cNvSpPr txBox="1"/>
          <p:nvPr/>
        </p:nvSpPr>
        <p:spPr>
          <a:xfrm>
            <a:off x="5676103" y="4031093"/>
            <a:ext cx="543739" cy="523220"/>
          </a:xfrm>
          <a:prstGeom prst="rect">
            <a:avLst/>
          </a:prstGeom>
          <a:noFill/>
        </p:spPr>
        <p:txBody>
          <a:bodyPr wrap="none" rtlCol="0">
            <a:spAutoFit/>
          </a:bodyPr>
          <a:lstStyle/>
          <a:p>
            <a:r>
              <a:rPr lang="zh-CN" altLang="en-US" sz="2800" b="1" dirty="0"/>
              <a:t>②</a:t>
            </a:r>
          </a:p>
        </p:txBody>
      </p:sp>
      <p:sp>
        <p:nvSpPr>
          <p:cNvPr id="24" name="文本框 23">
            <a:extLst>
              <a:ext uri="{FF2B5EF4-FFF2-40B4-BE49-F238E27FC236}">
                <a16:creationId xmlns:a16="http://schemas.microsoft.com/office/drawing/2014/main" id="{3465BB87-6CE6-4E6A-BD45-C2470EB10EA8}"/>
              </a:ext>
            </a:extLst>
          </p:cNvPr>
          <p:cNvSpPr txBox="1"/>
          <p:nvPr/>
        </p:nvSpPr>
        <p:spPr>
          <a:xfrm>
            <a:off x="2119885" y="3955669"/>
            <a:ext cx="543739" cy="523220"/>
          </a:xfrm>
          <a:prstGeom prst="rect">
            <a:avLst/>
          </a:prstGeom>
          <a:noFill/>
        </p:spPr>
        <p:txBody>
          <a:bodyPr wrap="none" rtlCol="0">
            <a:spAutoFit/>
          </a:bodyPr>
          <a:lstStyle/>
          <a:p>
            <a:r>
              <a:rPr lang="zh-CN" altLang="en-US" sz="2800" b="1" dirty="0"/>
              <a:t>③</a:t>
            </a:r>
          </a:p>
        </p:txBody>
      </p:sp>
      <p:sp>
        <p:nvSpPr>
          <p:cNvPr id="25" name="文本框 24">
            <a:extLst>
              <a:ext uri="{FF2B5EF4-FFF2-40B4-BE49-F238E27FC236}">
                <a16:creationId xmlns:a16="http://schemas.microsoft.com/office/drawing/2014/main" id="{788C0567-E677-4905-AC5D-64E653174181}"/>
              </a:ext>
            </a:extLst>
          </p:cNvPr>
          <p:cNvSpPr txBox="1"/>
          <p:nvPr/>
        </p:nvSpPr>
        <p:spPr>
          <a:xfrm>
            <a:off x="3381806" y="2637925"/>
            <a:ext cx="543739" cy="523220"/>
          </a:xfrm>
          <a:prstGeom prst="rect">
            <a:avLst/>
          </a:prstGeom>
          <a:noFill/>
        </p:spPr>
        <p:txBody>
          <a:bodyPr wrap="none" rtlCol="0">
            <a:spAutoFit/>
          </a:bodyPr>
          <a:lstStyle/>
          <a:p>
            <a:r>
              <a:rPr lang="zh-CN" altLang="en-US" sz="2800" b="1" dirty="0"/>
              <a:t>④</a:t>
            </a:r>
          </a:p>
        </p:txBody>
      </p:sp>
      <p:sp>
        <p:nvSpPr>
          <p:cNvPr id="11" name="文本框 10">
            <a:extLst>
              <a:ext uri="{FF2B5EF4-FFF2-40B4-BE49-F238E27FC236}">
                <a16:creationId xmlns:a16="http://schemas.microsoft.com/office/drawing/2014/main" id="{E1FC133E-ECDF-6989-D56C-C05706406C67}"/>
              </a:ext>
            </a:extLst>
          </p:cNvPr>
          <p:cNvSpPr txBox="1"/>
          <p:nvPr/>
        </p:nvSpPr>
        <p:spPr>
          <a:xfrm>
            <a:off x="538598" y="5517232"/>
            <a:ext cx="7620997" cy="954107"/>
          </a:xfrm>
          <a:prstGeom prst="rect">
            <a:avLst/>
          </a:prstGeom>
          <a:noFill/>
        </p:spPr>
        <p:txBody>
          <a:bodyPr wrap="none" rtlCol="0">
            <a:spAutoFit/>
          </a:bodyPr>
          <a:lstStyle/>
          <a:p>
            <a:r>
              <a:rPr lang="zh-CN" altLang="en-US" sz="2800" b="1" dirty="0"/>
              <a:t>准则：  </a:t>
            </a:r>
            <a:r>
              <a:rPr lang="en-US" altLang="zh-CN" sz="2800" b="1" dirty="0"/>
              <a:t>function</a:t>
            </a:r>
            <a:r>
              <a:rPr lang="zh-CN" altLang="en-US" sz="2800" b="1" dirty="0"/>
              <a:t>参数       比  实际参数       </a:t>
            </a:r>
            <a:r>
              <a:rPr lang="zh-CN" altLang="en-US" sz="2800" b="1" dirty="0">
                <a:solidFill>
                  <a:srgbClr val="C00000"/>
                </a:solidFill>
              </a:rPr>
              <a:t>更严格</a:t>
            </a:r>
            <a:endParaRPr lang="en-US" altLang="zh-CN" sz="2800" b="1" dirty="0">
              <a:solidFill>
                <a:srgbClr val="C00000"/>
              </a:solidFill>
            </a:endParaRPr>
          </a:p>
          <a:p>
            <a:r>
              <a:rPr lang="en-US" altLang="zh-CN" sz="2800" b="1" dirty="0"/>
              <a:t>               function</a:t>
            </a:r>
            <a:r>
              <a:rPr lang="zh-CN" altLang="en-US" sz="2800" b="1" dirty="0"/>
              <a:t>返回值   比  实际返回值   </a:t>
            </a:r>
            <a:r>
              <a:rPr lang="zh-CN" altLang="en-US" sz="2800" b="1" dirty="0">
                <a:solidFill>
                  <a:srgbClr val="008000"/>
                </a:solidFill>
              </a:rPr>
              <a:t>更宽松</a:t>
            </a:r>
          </a:p>
        </p:txBody>
      </p:sp>
    </p:spTree>
    <p:extLst>
      <p:ext uri="{BB962C8B-B14F-4D97-AF65-F5344CB8AC3E}">
        <p14:creationId xmlns:p14="http://schemas.microsoft.com/office/powerpoint/2010/main" val="419611156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9B354-C240-4765-BC29-9D7D795F6A1D}"/>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75A9CB6-6F33-4A64-8E86-42A64C61BEBB}"/>
              </a:ext>
            </a:extLst>
          </p:cNvPr>
          <p:cNvSpPr>
            <a:spLocks noGrp="1"/>
          </p:cNvSpPr>
          <p:nvPr>
            <p:ph idx="1"/>
          </p:nvPr>
        </p:nvSpPr>
        <p:spPr>
          <a:xfrm>
            <a:off x="548097" y="1454068"/>
            <a:ext cx="8047806" cy="4749029"/>
          </a:xfrm>
        </p:spPr>
        <p:txBody>
          <a:bodyPr/>
          <a:lstStyle/>
          <a:p>
            <a:r>
              <a:rPr lang="zh-CN" altLang="en-US" dirty="0"/>
              <a:t>严格和宽松如何判定？</a:t>
            </a:r>
          </a:p>
        </p:txBody>
      </p:sp>
      <p:sp>
        <p:nvSpPr>
          <p:cNvPr id="4" name="灯片编号占位符 3">
            <a:extLst>
              <a:ext uri="{FF2B5EF4-FFF2-40B4-BE49-F238E27FC236}">
                <a16:creationId xmlns:a16="http://schemas.microsoft.com/office/drawing/2014/main" id="{749EED10-8947-414F-94FE-0F7585A82799}"/>
              </a:ext>
            </a:extLst>
          </p:cNvPr>
          <p:cNvSpPr>
            <a:spLocks noGrp="1"/>
          </p:cNvSpPr>
          <p:nvPr>
            <p:ph type="sldNum" sz="quarter" idx="12"/>
          </p:nvPr>
        </p:nvSpPr>
        <p:spPr/>
        <p:txBody>
          <a:bodyPr/>
          <a:lstStyle/>
          <a:p>
            <a:pPr>
              <a:defRPr/>
            </a:pPr>
            <a:fld id="{BFD7BE51-03DD-4CCA-8227-D775462981B4}" type="slidenum">
              <a:rPr lang="en-US" altLang="zh-CN" smtClean="0"/>
              <a:pPr>
                <a:defRPr/>
              </a:pPr>
              <a:t>115</a:t>
            </a:fld>
            <a:endParaRPr lang="en-US" altLang="zh-CN"/>
          </a:p>
        </p:txBody>
      </p:sp>
      <p:graphicFrame>
        <p:nvGraphicFramePr>
          <p:cNvPr id="13" name="表格 13">
            <a:extLst>
              <a:ext uri="{FF2B5EF4-FFF2-40B4-BE49-F238E27FC236}">
                <a16:creationId xmlns:a16="http://schemas.microsoft.com/office/drawing/2014/main" id="{47DE09FF-E5B9-1893-C4E3-4EE072D0DBFF}"/>
              </a:ext>
            </a:extLst>
          </p:cNvPr>
          <p:cNvGraphicFramePr>
            <a:graphicFrameLocks noGrp="1"/>
          </p:cNvGraphicFramePr>
          <p:nvPr/>
        </p:nvGraphicFramePr>
        <p:xfrm>
          <a:off x="2411760" y="2583526"/>
          <a:ext cx="3950400" cy="1483360"/>
        </p:xfrm>
        <a:graphic>
          <a:graphicData uri="http://schemas.openxmlformats.org/drawingml/2006/table">
            <a:tbl>
              <a:tblPr firstRow="1" bandRow="1">
                <a:tableStyleId>{5C22544A-7EE6-4342-B048-85BDC9FD1C3A}</a:tableStyleId>
              </a:tblPr>
              <a:tblGrid>
                <a:gridCol w="1512000">
                  <a:extLst>
                    <a:ext uri="{9D8B030D-6E8A-4147-A177-3AD203B41FA5}">
                      <a16:colId xmlns:a16="http://schemas.microsoft.com/office/drawing/2014/main" val="613498943"/>
                    </a:ext>
                  </a:extLst>
                </a:gridCol>
                <a:gridCol w="892696">
                  <a:extLst>
                    <a:ext uri="{9D8B030D-6E8A-4147-A177-3AD203B41FA5}">
                      <a16:colId xmlns:a16="http://schemas.microsoft.com/office/drawing/2014/main" val="1348817956"/>
                    </a:ext>
                  </a:extLst>
                </a:gridCol>
                <a:gridCol w="1545704">
                  <a:extLst>
                    <a:ext uri="{9D8B030D-6E8A-4147-A177-3AD203B41FA5}">
                      <a16:colId xmlns:a16="http://schemas.microsoft.com/office/drawing/2014/main" val="3551517513"/>
                    </a:ext>
                  </a:extLst>
                </a:gridCol>
              </a:tblGrid>
              <a:tr h="370840">
                <a:tc>
                  <a:txBody>
                    <a:bodyPr/>
                    <a:lstStyle/>
                    <a:p>
                      <a:endParaRPr lang="zh-CN" altLang="en-US" dirty="0"/>
                    </a:p>
                  </a:txBody>
                  <a:tcPr/>
                </a:tc>
                <a:tc>
                  <a:txBody>
                    <a:bodyPr/>
                    <a:lstStyle/>
                    <a:p>
                      <a:r>
                        <a:rPr lang="en-US" altLang="zh-CN" dirty="0" err="1"/>
                        <a:t>lvalue</a:t>
                      </a:r>
                      <a:endParaRPr lang="zh-CN" altLang="en-US" dirty="0"/>
                    </a:p>
                  </a:txBody>
                  <a:tcPr/>
                </a:tc>
                <a:tc>
                  <a:txBody>
                    <a:bodyPr/>
                    <a:lstStyle/>
                    <a:p>
                      <a:r>
                        <a:rPr lang="en-US" altLang="zh-CN" dirty="0"/>
                        <a:t>const </a:t>
                      </a:r>
                      <a:r>
                        <a:rPr lang="en-US" altLang="zh-CN" dirty="0" err="1"/>
                        <a:t>lvalue</a:t>
                      </a:r>
                      <a:endParaRPr lang="zh-CN" altLang="en-US" dirty="0"/>
                    </a:p>
                  </a:txBody>
                  <a:tcPr/>
                </a:tc>
                <a:extLst>
                  <a:ext uri="{0D108BD9-81ED-4DB2-BD59-A6C34878D82A}">
                    <a16:rowId xmlns:a16="http://schemas.microsoft.com/office/drawing/2014/main" val="3208400601"/>
                  </a:ext>
                </a:extLst>
              </a:tr>
              <a:tr h="370840">
                <a:tc>
                  <a:txBody>
                    <a:bodyPr/>
                    <a:lstStyle/>
                    <a:p>
                      <a:r>
                        <a:rPr lang="en-US" altLang="zh-CN" dirty="0"/>
                        <a:t>int</a:t>
                      </a:r>
                      <a:endParaRPr lang="zh-CN" altLang="en-US" dirty="0"/>
                    </a:p>
                  </a:txBody>
                  <a:tcPr/>
                </a:tc>
                <a:tc>
                  <a:txBody>
                    <a:bodyPr/>
                    <a:lstStyle/>
                    <a:p>
                      <a:r>
                        <a:rPr lang="zh-CN" altLang="en-US" dirty="0"/>
                        <a:t>√</a:t>
                      </a:r>
                    </a:p>
                  </a:txBody>
                  <a:tcPr/>
                </a:tc>
                <a:tc>
                  <a:txBody>
                    <a:bodyPr/>
                    <a:lstStyle/>
                    <a:p>
                      <a:r>
                        <a:rPr lang="zh-CN" altLang="en-US" dirty="0"/>
                        <a:t>√</a:t>
                      </a:r>
                    </a:p>
                  </a:txBody>
                  <a:tcPr/>
                </a:tc>
                <a:extLst>
                  <a:ext uri="{0D108BD9-81ED-4DB2-BD59-A6C34878D82A}">
                    <a16:rowId xmlns:a16="http://schemas.microsoft.com/office/drawing/2014/main" val="2386495292"/>
                  </a:ext>
                </a:extLst>
              </a:tr>
              <a:tr h="370840">
                <a:tc>
                  <a:txBody>
                    <a:bodyPr/>
                    <a:lstStyle/>
                    <a:p>
                      <a:r>
                        <a:rPr lang="en-US" altLang="zh-CN" dirty="0"/>
                        <a:t>int&amp;</a:t>
                      </a:r>
                      <a:endParaRPr lang="zh-CN" altLang="en-US" dirty="0"/>
                    </a:p>
                  </a:txBody>
                  <a:tcPr/>
                </a:tc>
                <a:tc>
                  <a:txBody>
                    <a:bodyPr/>
                    <a:lstStyle/>
                    <a:p>
                      <a:r>
                        <a:rPr lang="zh-CN" altLang="en-US" dirty="0"/>
                        <a:t>√</a:t>
                      </a:r>
                    </a:p>
                  </a:txBody>
                  <a:tcPr/>
                </a:tc>
                <a:tc>
                  <a:txBody>
                    <a:bodyPr/>
                    <a:lstStyle/>
                    <a:p>
                      <a:endParaRPr lang="zh-CN" altLang="en-US" dirty="0"/>
                    </a:p>
                  </a:txBody>
                  <a:tcPr/>
                </a:tc>
                <a:extLst>
                  <a:ext uri="{0D108BD9-81ED-4DB2-BD59-A6C34878D82A}">
                    <a16:rowId xmlns:a16="http://schemas.microsoft.com/office/drawing/2014/main" val="1049936532"/>
                  </a:ext>
                </a:extLst>
              </a:tr>
              <a:tr h="370840">
                <a:tc>
                  <a:txBody>
                    <a:bodyPr/>
                    <a:lstStyle/>
                    <a:p>
                      <a:r>
                        <a:rPr lang="en-US" altLang="zh-CN" dirty="0"/>
                        <a:t>const int&amp;</a:t>
                      </a:r>
                      <a:endParaRPr lang="zh-CN" altLang="en-US" dirty="0"/>
                    </a:p>
                  </a:txBody>
                  <a:tcPr/>
                </a:tc>
                <a:tc>
                  <a:txBody>
                    <a:bodyPr/>
                    <a:lstStyle/>
                    <a:p>
                      <a:r>
                        <a:rPr lang="zh-CN" altLang="en-US" dirty="0"/>
                        <a:t>√</a:t>
                      </a:r>
                    </a:p>
                  </a:txBody>
                  <a:tcPr/>
                </a:tc>
                <a:tc>
                  <a:txBody>
                    <a:bodyPr/>
                    <a:lstStyle/>
                    <a:p>
                      <a:r>
                        <a:rPr lang="zh-CN" altLang="en-US" dirty="0"/>
                        <a:t>√</a:t>
                      </a:r>
                    </a:p>
                  </a:txBody>
                  <a:tcPr/>
                </a:tc>
                <a:extLst>
                  <a:ext uri="{0D108BD9-81ED-4DB2-BD59-A6C34878D82A}">
                    <a16:rowId xmlns:a16="http://schemas.microsoft.com/office/drawing/2014/main" val="2876349015"/>
                  </a:ext>
                </a:extLst>
              </a:tr>
            </a:tbl>
          </a:graphicData>
        </a:graphic>
      </p:graphicFrame>
      <p:sp>
        <p:nvSpPr>
          <p:cNvPr id="26" name="文本框 25">
            <a:extLst>
              <a:ext uri="{FF2B5EF4-FFF2-40B4-BE49-F238E27FC236}">
                <a16:creationId xmlns:a16="http://schemas.microsoft.com/office/drawing/2014/main" id="{AE9F669D-513C-6573-6128-F142ABFB8824}"/>
              </a:ext>
            </a:extLst>
          </p:cNvPr>
          <p:cNvSpPr txBox="1"/>
          <p:nvPr/>
        </p:nvSpPr>
        <p:spPr>
          <a:xfrm>
            <a:off x="1724169" y="4503846"/>
            <a:ext cx="5695662" cy="1384995"/>
          </a:xfrm>
          <a:prstGeom prst="rect">
            <a:avLst/>
          </a:prstGeom>
          <a:noFill/>
        </p:spPr>
        <p:txBody>
          <a:bodyPr wrap="none" rtlCol="0">
            <a:spAutoFit/>
          </a:bodyPr>
          <a:lstStyle/>
          <a:p>
            <a:r>
              <a:rPr lang="zh-CN" altLang="en-US" sz="2800" b="1" dirty="0"/>
              <a:t>若实际参数为 </a:t>
            </a:r>
            <a:r>
              <a:rPr lang="en-US" altLang="zh-CN" sz="2800" b="1" dirty="0"/>
              <a:t>int</a:t>
            </a:r>
            <a:r>
              <a:rPr lang="zh-CN" altLang="en-US" sz="2800" b="1" dirty="0"/>
              <a:t>，可绑定两种情况</a:t>
            </a:r>
            <a:endParaRPr lang="en-US" altLang="zh-CN" sz="2800" b="1" dirty="0"/>
          </a:p>
          <a:p>
            <a:r>
              <a:rPr lang="en-US" altLang="zh-CN" sz="2800" b="1" dirty="0"/>
              <a:t>function</a:t>
            </a:r>
            <a:r>
              <a:rPr lang="zh-CN" altLang="en-US" sz="2800" b="1" dirty="0"/>
              <a:t>参数为</a:t>
            </a:r>
            <a:r>
              <a:rPr lang="en-US" altLang="zh-CN" sz="2800" b="1" dirty="0"/>
              <a:t>int&amp;</a:t>
            </a:r>
            <a:r>
              <a:rPr lang="zh-CN" altLang="en-US" sz="2800" b="1" dirty="0"/>
              <a:t>，只可绑定左值</a:t>
            </a:r>
            <a:endParaRPr lang="en-US" altLang="zh-CN" sz="2800" b="1" dirty="0"/>
          </a:p>
          <a:p>
            <a:r>
              <a:rPr lang="zh-CN" altLang="en-US" sz="2800" b="1" dirty="0"/>
              <a:t>则</a:t>
            </a:r>
            <a:r>
              <a:rPr lang="en-US" altLang="zh-CN" sz="2800" b="1" dirty="0"/>
              <a:t>int&amp;</a:t>
            </a:r>
            <a:r>
              <a:rPr lang="zh-CN" altLang="en-US" sz="2800" b="1" dirty="0"/>
              <a:t>比</a:t>
            </a:r>
            <a:r>
              <a:rPr lang="en-US" altLang="zh-CN" sz="2800" b="1" dirty="0"/>
              <a:t>int</a:t>
            </a:r>
            <a:r>
              <a:rPr lang="zh-CN" altLang="en-US" sz="2800" b="1" dirty="0"/>
              <a:t>更严格</a:t>
            </a:r>
            <a:endParaRPr lang="en-US" altLang="zh-CN" sz="2800" b="1" dirty="0"/>
          </a:p>
        </p:txBody>
      </p:sp>
      <p:sp>
        <p:nvSpPr>
          <p:cNvPr id="14" name="文本框 13">
            <a:extLst>
              <a:ext uri="{FF2B5EF4-FFF2-40B4-BE49-F238E27FC236}">
                <a16:creationId xmlns:a16="http://schemas.microsoft.com/office/drawing/2014/main" id="{6FA8EEDD-CC03-3122-0B4C-732863278FE6}"/>
              </a:ext>
            </a:extLst>
          </p:cNvPr>
          <p:cNvSpPr txBox="1"/>
          <p:nvPr/>
        </p:nvSpPr>
        <p:spPr>
          <a:xfrm>
            <a:off x="3491880" y="177540"/>
            <a:ext cx="5368906" cy="707886"/>
          </a:xfrm>
          <a:prstGeom prst="rect">
            <a:avLst/>
          </a:prstGeom>
          <a:noFill/>
        </p:spPr>
        <p:txBody>
          <a:bodyPr wrap="none" rtlCol="0">
            <a:spAutoFit/>
          </a:bodyPr>
          <a:lstStyle/>
          <a:p>
            <a:r>
              <a:rPr lang="zh-CN" altLang="en-US" sz="2000" b="1" dirty="0"/>
              <a:t>绑定优先级</a:t>
            </a:r>
            <a:endParaRPr lang="en-US" altLang="zh-CN" sz="2000" b="1" dirty="0"/>
          </a:p>
          <a:p>
            <a:r>
              <a:rPr lang="en-US" altLang="zh-CN" sz="2000" b="1" dirty="0"/>
              <a:t>https://github.com/thu-coai/THUOOP/issues/46</a:t>
            </a:r>
            <a:endParaRPr lang="zh-CN" altLang="en-US" sz="2000" b="1" dirty="0"/>
          </a:p>
        </p:txBody>
      </p:sp>
      <p:sp>
        <p:nvSpPr>
          <p:cNvPr id="16" name="文本框 15">
            <a:extLst>
              <a:ext uri="{FF2B5EF4-FFF2-40B4-BE49-F238E27FC236}">
                <a16:creationId xmlns:a16="http://schemas.microsoft.com/office/drawing/2014/main" id="{51FDFD32-C566-1CFE-8F2D-5838474AB8B5}"/>
              </a:ext>
            </a:extLst>
          </p:cNvPr>
          <p:cNvSpPr txBox="1"/>
          <p:nvPr/>
        </p:nvSpPr>
        <p:spPr>
          <a:xfrm>
            <a:off x="3907174" y="2208738"/>
            <a:ext cx="697627" cy="400110"/>
          </a:xfrm>
          <a:prstGeom prst="rect">
            <a:avLst/>
          </a:prstGeom>
          <a:noFill/>
        </p:spPr>
        <p:txBody>
          <a:bodyPr wrap="none" rtlCol="0">
            <a:spAutoFit/>
          </a:bodyPr>
          <a:lstStyle/>
          <a:p>
            <a:r>
              <a:rPr lang="zh-CN" altLang="en-US" sz="2000" b="1" dirty="0"/>
              <a:t>左值</a:t>
            </a:r>
          </a:p>
        </p:txBody>
      </p:sp>
      <p:sp>
        <p:nvSpPr>
          <p:cNvPr id="29" name="文本框 28">
            <a:extLst>
              <a:ext uri="{FF2B5EF4-FFF2-40B4-BE49-F238E27FC236}">
                <a16:creationId xmlns:a16="http://schemas.microsoft.com/office/drawing/2014/main" id="{276CCCB6-89A4-AB0D-0C05-70BBD17AC874}"/>
              </a:ext>
            </a:extLst>
          </p:cNvPr>
          <p:cNvSpPr txBox="1"/>
          <p:nvPr/>
        </p:nvSpPr>
        <p:spPr>
          <a:xfrm>
            <a:off x="5000866" y="2208738"/>
            <a:ext cx="1210588" cy="400110"/>
          </a:xfrm>
          <a:prstGeom prst="rect">
            <a:avLst/>
          </a:prstGeom>
          <a:noFill/>
        </p:spPr>
        <p:txBody>
          <a:bodyPr wrap="none" rtlCol="0">
            <a:spAutoFit/>
          </a:bodyPr>
          <a:lstStyle/>
          <a:p>
            <a:r>
              <a:rPr lang="zh-CN" altLang="en-US" sz="2000" b="1" dirty="0"/>
              <a:t>常量左值</a:t>
            </a:r>
          </a:p>
        </p:txBody>
      </p:sp>
    </p:spTree>
    <p:extLst>
      <p:ext uri="{BB962C8B-B14F-4D97-AF65-F5344CB8AC3E}">
        <p14:creationId xmlns:p14="http://schemas.microsoft.com/office/powerpoint/2010/main" val="150109023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a:xfrm>
            <a:off x="497692" y="1442195"/>
            <a:ext cx="8047806" cy="4749029"/>
          </a:xfrm>
        </p:spPr>
        <p:txBody>
          <a:bodyPr/>
          <a:lstStyle/>
          <a:p>
            <a:r>
              <a:rPr lang="zh-CN" altLang="en-US" dirty="0"/>
              <a:t>准则应用</a:t>
            </a:r>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116</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868396" y="1844824"/>
            <a:ext cx="7677102" cy="5262979"/>
          </a:xfrm>
          <a:prstGeom prst="rect">
            <a:avLst/>
          </a:prstGeom>
          <a:noFill/>
        </p:spPr>
        <p:txBody>
          <a:bodyPr wrap="none" rtlCol="0">
            <a:spAutoFit/>
          </a:bodyPr>
          <a:lstStyle/>
          <a:p>
            <a:r>
              <a:rPr lang="en-US" altLang="zh-CN" sz="2800" b="1" dirty="0">
                <a:latin typeface="Consolas" panose="020B0609020204030204" pitchFamily="49" charset="0"/>
              </a:rPr>
              <a:t>int func1(const int &amp;x, int &amp;b) {...};</a:t>
            </a:r>
          </a:p>
          <a:p>
            <a:r>
              <a:rPr lang="en-US" altLang="zh-CN" sz="2800" b="1" dirty="0">
                <a:latin typeface="Consolas" panose="020B0609020204030204" pitchFamily="49" charset="0"/>
              </a:rPr>
              <a:t>function&lt;______&gt; pf1 = func1;</a:t>
            </a:r>
          </a:p>
          <a:p>
            <a:endParaRPr lang="en-US" altLang="zh-CN" sz="2800" b="1" dirty="0">
              <a:latin typeface="Consolas" panose="020B0609020204030204" pitchFamily="49" charset="0"/>
            </a:endParaRPr>
          </a:p>
          <a:p>
            <a:pPr marL="514350" indent="-514350">
              <a:buAutoNum type="alphaUcPeriod"/>
            </a:pPr>
            <a:r>
              <a:rPr lang="en-US" altLang="zh-CN" sz="2800" b="1" dirty="0">
                <a:solidFill>
                  <a:srgbClr val="C00000"/>
                </a:solidFill>
                <a:latin typeface="Consolas" panose="020B0609020204030204" pitchFamily="49" charset="0"/>
              </a:rPr>
              <a:t>int(int, int)</a:t>
            </a:r>
          </a:p>
          <a:p>
            <a:pPr lvl="1"/>
            <a:r>
              <a:rPr lang="zh-CN" altLang="en-US" sz="2800" b="1" dirty="0">
                <a:latin typeface="Consolas" panose="020B0609020204030204" pitchFamily="49" charset="0"/>
              </a:rPr>
              <a:t>第一参数：</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const int&amp;</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a:r>
              <a:rPr lang="zh-CN" altLang="en-US" sz="2800" b="1" dirty="0">
                <a:solidFill>
                  <a:srgbClr val="C00000"/>
                </a:solidFill>
                <a:latin typeface="Consolas" panose="020B0609020204030204" pitchFamily="49" charset="0"/>
              </a:rPr>
              <a:t>第二参数：</a:t>
            </a:r>
            <a:r>
              <a:rPr lang="en-US" altLang="zh-CN" sz="2800" b="1" dirty="0">
                <a:solidFill>
                  <a:srgbClr val="C00000"/>
                </a:solidFill>
                <a:latin typeface="Consolas" panose="020B0609020204030204" pitchFamily="49" charset="0"/>
              </a:rPr>
              <a:t>int</a:t>
            </a:r>
            <a:r>
              <a:rPr lang="zh-CN" altLang="en-US" sz="2800" b="1" dirty="0">
                <a:solidFill>
                  <a:srgbClr val="C00000"/>
                </a:solidFill>
                <a:latin typeface="Consolas" panose="020B0609020204030204" pitchFamily="49" charset="0"/>
              </a:rPr>
              <a:t>比</a:t>
            </a:r>
            <a:r>
              <a:rPr lang="en-US" altLang="zh-CN" sz="2800" b="1" dirty="0">
                <a:solidFill>
                  <a:srgbClr val="C00000"/>
                </a:solidFill>
                <a:latin typeface="Consolas" panose="020B0609020204030204" pitchFamily="49" charset="0"/>
              </a:rPr>
              <a:t>int&amp;</a:t>
            </a:r>
            <a:r>
              <a:rPr lang="zh-CN" altLang="en-US" sz="2800" b="1" dirty="0">
                <a:solidFill>
                  <a:srgbClr val="C00000"/>
                </a:solidFill>
                <a:latin typeface="Consolas" panose="020B0609020204030204" pitchFamily="49" charset="0"/>
              </a:rPr>
              <a:t>更宽松</a:t>
            </a:r>
            <a:r>
              <a:rPr lang="en-US" altLang="zh-CN" sz="2800" b="1" dirty="0">
                <a:solidFill>
                  <a:srgbClr val="C00000"/>
                </a:solidFill>
                <a:latin typeface="Consolas" panose="020B0609020204030204" pitchFamily="49" charset="0"/>
              </a:rPr>
              <a:t>  </a:t>
            </a:r>
            <a:r>
              <a:rPr lang="zh-CN" altLang="en-US" sz="2800" b="1" dirty="0">
                <a:solidFill>
                  <a:srgbClr val="C00000"/>
                </a:solidFill>
                <a:latin typeface="Consolas" panose="020B0609020204030204" pitchFamily="49" charset="0"/>
              </a:rPr>
              <a:t>因此错误</a:t>
            </a:r>
            <a:endParaRPr lang="en-US" altLang="zh-CN" sz="2800" b="1" dirty="0">
              <a:solidFill>
                <a:srgbClr val="C00000"/>
              </a:solidFill>
              <a:latin typeface="Consolas" panose="020B0609020204030204" pitchFamily="49" charset="0"/>
            </a:endParaRPr>
          </a:p>
          <a:p>
            <a:pPr lvl="1"/>
            <a:r>
              <a:rPr lang="zh-CN" altLang="en-US" sz="2800" b="1" dirty="0">
                <a:latin typeface="Consolas" panose="020B0609020204030204" pitchFamily="49" charset="0"/>
              </a:rPr>
              <a:t>返回值：</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int</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marL="514350" indent="-514350">
              <a:buFontTx/>
              <a:buAutoNum type="alphaUcPeriod"/>
            </a:pPr>
            <a:r>
              <a:rPr lang="en-US" altLang="zh-CN" sz="2800" b="1" dirty="0">
                <a:solidFill>
                  <a:srgbClr val="008000"/>
                </a:solidFill>
                <a:latin typeface="Consolas" panose="020B0609020204030204" pitchFamily="49" charset="0"/>
              </a:rPr>
              <a:t>int(int, int&amp;)  </a:t>
            </a:r>
          </a:p>
          <a:p>
            <a:pPr lvl="1"/>
            <a:r>
              <a:rPr lang="zh-CN" altLang="en-US" sz="2800" b="1" dirty="0">
                <a:latin typeface="Consolas" panose="020B0609020204030204" pitchFamily="49" charset="0"/>
              </a:rPr>
              <a:t>第一参数：</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const int&amp;</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a:r>
              <a:rPr lang="zh-CN" altLang="en-US" sz="2800" b="1" dirty="0">
                <a:latin typeface="Consolas" panose="020B0609020204030204" pitchFamily="49" charset="0"/>
              </a:rPr>
              <a:t>第二参数：</a:t>
            </a:r>
            <a:r>
              <a:rPr lang="en-US" altLang="zh-CN" sz="2800" b="1" dirty="0">
                <a:latin typeface="Consolas" panose="020B0609020204030204" pitchFamily="49" charset="0"/>
              </a:rPr>
              <a:t>int&amp;</a:t>
            </a:r>
            <a:r>
              <a:rPr lang="zh-CN" altLang="en-US" sz="2800" b="1" dirty="0">
                <a:latin typeface="Consolas" panose="020B0609020204030204" pitchFamily="49" charset="0"/>
              </a:rPr>
              <a:t>和</a:t>
            </a:r>
            <a:r>
              <a:rPr lang="en-US" altLang="zh-CN" sz="2800" b="1" dirty="0">
                <a:latin typeface="Consolas" panose="020B0609020204030204" pitchFamily="49" charset="0"/>
              </a:rPr>
              <a:t>int&amp;</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a:r>
              <a:rPr lang="zh-CN" altLang="en-US" sz="2800" b="1" dirty="0">
                <a:latin typeface="Consolas" panose="020B0609020204030204" pitchFamily="49" charset="0"/>
              </a:rPr>
              <a:t>返回值：</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int</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endParaRPr lang="en-US" altLang="zh-CN" sz="2800" b="1"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272009874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a:xfrm>
            <a:off x="497692" y="1442195"/>
            <a:ext cx="8047806" cy="4749029"/>
          </a:xfrm>
        </p:spPr>
        <p:txBody>
          <a:bodyPr/>
          <a:lstStyle/>
          <a:p>
            <a:r>
              <a:rPr lang="zh-CN" altLang="en-US" dirty="0"/>
              <a:t>准则应用</a:t>
            </a:r>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117</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868396" y="1844824"/>
            <a:ext cx="7677102" cy="3970318"/>
          </a:xfrm>
          <a:prstGeom prst="rect">
            <a:avLst/>
          </a:prstGeom>
          <a:noFill/>
        </p:spPr>
        <p:txBody>
          <a:bodyPr wrap="none" rtlCol="0">
            <a:spAutoFit/>
          </a:bodyPr>
          <a:lstStyle/>
          <a:p>
            <a:r>
              <a:rPr lang="en-US" altLang="zh-CN" sz="2800" b="1" dirty="0">
                <a:latin typeface="Consolas" panose="020B0609020204030204" pitchFamily="49" charset="0"/>
              </a:rPr>
              <a:t>int func1(const int &amp;x, int &amp;b) {...};</a:t>
            </a:r>
          </a:p>
          <a:p>
            <a:r>
              <a:rPr lang="en-US" altLang="zh-CN" sz="2800" b="1" dirty="0">
                <a:latin typeface="Consolas" panose="020B0609020204030204" pitchFamily="49" charset="0"/>
              </a:rPr>
              <a:t>function&lt;______&gt; pf1 = func1;</a:t>
            </a:r>
          </a:p>
          <a:p>
            <a:endParaRPr lang="en-US" altLang="zh-CN" sz="2800" b="1" dirty="0">
              <a:latin typeface="Consolas" panose="020B0609020204030204" pitchFamily="49" charset="0"/>
            </a:endParaRPr>
          </a:p>
          <a:p>
            <a:r>
              <a:rPr lang="en-US" altLang="zh-CN" sz="2800" b="1" dirty="0">
                <a:solidFill>
                  <a:srgbClr val="008000"/>
                </a:solidFill>
                <a:latin typeface="Consolas" panose="020B0609020204030204" pitchFamily="49" charset="0"/>
              </a:rPr>
              <a:t>C. int(int&amp;, int&amp;)</a:t>
            </a:r>
          </a:p>
          <a:p>
            <a:pPr lvl="1"/>
            <a:r>
              <a:rPr lang="zh-CN" altLang="en-US" sz="2800" b="1" dirty="0">
                <a:latin typeface="Consolas" panose="020B0609020204030204" pitchFamily="49" charset="0"/>
              </a:rPr>
              <a:t>第一参数：</a:t>
            </a:r>
            <a:r>
              <a:rPr lang="en-US" altLang="zh-CN" sz="2800" b="1" dirty="0">
                <a:latin typeface="Consolas" panose="020B0609020204030204" pitchFamily="49" charset="0"/>
              </a:rPr>
              <a:t>int&amp;</a:t>
            </a:r>
            <a:r>
              <a:rPr lang="zh-CN" altLang="en-US" sz="2800" b="1" dirty="0">
                <a:latin typeface="Consolas" panose="020B0609020204030204" pitchFamily="49" charset="0"/>
              </a:rPr>
              <a:t>比</a:t>
            </a:r>
            <a:r>
              <a:rPr lang="en-US" altLang="zh-CN" sz="2800" b="1" dirty="0">
                <a:latin typeface="Consolas" panose="020B0609020204030204" pitchFamily="49" charset="0"/>
              </a:rPr>
              <a:t>const int&amp;</a:t>
            </a:r>
            <a:r>
              <a:rPr lang="zh-CN" altLang="en-US" sz="2800" b="1" dirty="0">
                <a:latin typeface="Consolas" panose="020B0609020204030204" pitchFamily="49" charset="0"/>
              </a:rPr>
              <a:t>严格</a:t>
            </a:r>
            <a:endParaRPr lang="en-US" altLang="zh-CN" sz="2800" b="1" dirty="0">
              <a:latin typeface="Consolas" panose="020B0609020204030204" pitchFamily="49" charset="0"/>
            </a:endParaRPr>
          </a:p>
          <a:p>
            <a:pPr lvl="1"/>
            <a:r>
              <a:rPr lang="zh-CN" altLang="en-US" sz="2800" b="1" dirty="0">
                <a:latin typeface="Consolas" panose="020B0609020204030204" pitchFamily="49" charset="0"/>
              </a:rPr>
              <a:t>第二参数：</a:t>
            </a:r>
            <a:r>
              <a:rPr lang="en-US" altLang="zh-CN" sz="2800" b="1" dirty="0">
                <a:latin typeface="Consolas" panose="020B0609020204030204" pitchFamily="49" charset="0"/>
              </a:rPr>
              <a:t>int&amp;</a:t>
            </a:r>
            <a:r>
              <a:rPr lang="zh-CN" altLang="en-US" sz="2800" b="1" dirty="0">
                <a:latin typeface="Consolas" panose="020B0609020204030204" pitchFamily="49" charset="0"/>
              </a:rPr>
              <a:t>和</a:t>
            </a:r>
            <a:r>
              <a:rPr lang="en-US" altLang="zh-CN" sz="2800" b="1" dirty="0">
                <a:latin typeface="Consolas" panose="020B0609020204030204" pitchFamily="49" charset="0"/>
              </a:rPr>
              <a:t>int&amp;</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a:r>
              <a:rPr lang="zh-CN" altLang="en-US" sz="2800" b="1" dirty="0">
                <a:latin typeface="Consolas" panose="020B0609020204030204" pitchFamily="49" charset="0"/>
              </a:rPr>
              <a:t>返回值：</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int</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indent="-457200"/>
            <a:r>
              <a:rPr lang="en-US" altLang="zh-CN" sz="2800" b="1" dirty="0">
                <a:solidFill>
                  <a:srgbClr val="008000"/>
                </a:solidFill>
                <a:latin typeface="Consolas" panose="020B0609020204030204" pitchFamily="49" charset="0"/>
              </a:rPr>
              <a:t>D. int(const int&amp;, int&amp;)</a:t>
            </a:r>
            <a:endParaRPr lang="en-US" altLang="zh-CN" sz="2800" b="1" dirty="0">
              <a:latin typeface="Consolas" panose="020B0609020204030204" pitchFamily="49" charset="0"/>
            </a:endParaRPr>
          </a:p>
          <a:p>
            <a:pPr lvl="1"/>
            <a:r>
              <a:rPr lang="zh-CN" altLang="en-US" sz="2800" b="1" dirty="0">
                <a:latin typeface="Consolas" panose="020B0609020204030204" pitchFamily="49" charset="0"/>
              </a:rPr>
              <a:t>所有参数都一致</a:t>
            </a:r>
            <a:endParaRPr lang="en-US" altLang="zh-CN" sz="2800" b="1" dirty="0">
              <a:solidFill>
                <a:srgbClr val="008000"/>
              </a:solidFill>
              <a:latin typeface="Consolas" panose="020B0609020204030204" pitchFamily="49" charset="0"/>
            </a:endParaRPr>
          </a:p>
        </p:txBody>
      </p:sp>
    </p:spTree>
    <p:extLst>
      <p:ext uri="{BB962C8B-B14F-4D97-AF65-F5344CB8AC3E}">
        <p14:creationId xmlns:p14="http://schemas.microsoft.com/office/powerpoint/2010/main" val="208693702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a:xfrm>
            <a:off x="497692" y="1442195"/>
            <a:ext cx="8047806" cy="4749029"/>
          </a:xfrm>
        </p:spPr>
        <p:txBody>
          <a:bodyPr/>
          <a:lstStyle/>
          <a:p>
            <a:r>
              <a:rPr lang="zh-CN" altLang="en-US" dirty="0"/>
              <a:t>准则应用</a:t>
            </a:r>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118</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868396" y="1844824"/>
            <a:ext cx="7677102" cy="4832092"/>
          </a:xfrm>
          <a:prstGeom prst="rect">
            <a:avLst/>
          </a:prstGeom>
          <a:noFill/>
        </p:spPr>
        <p:txBody>
          <a:bodyPr wrap="none" rtlCol="0">
            <a:spAutoFit/>
          </a:bodyPr>
          <a:lstStyle/>
          <a:p>
            <a:r>
              <a:rPr lang="en-US" altLang="zh-CN" sz="2800" b="1" dirty="0">
                <a:latin typeface="Consolas" panose="020B0609020204030204" pitchFamily="49" charset="0"/>
              </a:rPr>
              <a:t>int func1(const int &amp;x, int &amp;b) {...};</a:t>
            </a:r>
          </a:p>
          <a:p>
            <a:r>
              <a:rPr lang="en-US" altLang="zh-CN" sz="2800" b="1" dirty="0">
                <a:latin typeface="Consolas" panose="020B0609020204030204" pitchFamily="49" charset="0"/>
              </a:rPr>
              <a:t>function&lt;______&gt; pf1 = func1;</a:t>
            </a:r>
          </a:p>
          <a:p>
            <a:endParaRPr lang="en-US" altLang="zh-CN" sz="2800" b="1" dirty="0">
              <a:latin typeface="Consolas" panose="020B0609020204030204" pitchFamily="49" charset="0"/>
            </a:endParaRPr>
          </a:p>
          <a:p>
            <a:r>
              <a:rPr lang="en-US" altLang="zh-CN" sz="2800" b="1" dirty="0">
                <a:solidFill>
                  <a:srgbClr val="C00000"/>
                </a:solidFill>
                <a:latin typeface="Consolas" panose="020B0609020204030204" pitchFamily="49" charset="0"/>
              </a:rPr>
              <a:t>E. int(const int, int)</a:t>
            </a:r>
          </a:p>
          <a:p>
            <a:pPr lvl="1"/>
            <a:r>
              <a:rPr lang="zh-CN" altLang="en-US" sz="2800" b="1" dirty="0">
                <a:latin typeface="Consolas" panose="020B0609020204030204" pitchFamily="49" charset="0"/>
              </a:rPr>
              <a:t>第一参数：</a:t>
            </a:r>
            <a:r>
              <a:rPr lang="en-US" altLang="zh-CN" sz="2800" b="1" dirty="0">
                <a:latin typeface="Consolas" panose="020B0609020204030204" pitchFamily="49" charset="0"/>
              </a:rPr>
              <a:t>const int</a:t>
            </a:r>
            <a:r>
              <a:rPr lang="zh-CN" altLang="en-US" sz="2800" b="1" dirty="0">
                <a:latin typeface="Consolas" panose="020B0609020204030204" pitchFamily="49" charset="0"/>
              </a:rPr>
              <a:t>比</a:t>
            </a:r>
            <a:r>
              <a:rPr lang="en-US" altLang="zh-CN" sz="2800" b="1" dirty="0">
                <a:latin typeface="Consolas" panose="020B0609020204030204" pitchFamily="49" charset="0"/>
              </a:rPr>
              <a:t>const int&amp;</a:t>
            </a:r>
            <a:r>
              <a:rPr lang="zh-CN" altLang="en-US" sz="2800" b="1" dirty="0">
                <a:latin typeface="Consolas" panose="020B0609020204030204" pitchFamily="49" charset="0"/>
              </a:rPr>
              <a:t>严格</a:t>
            </a:r>
            <a:endParaRPr lang="en-US" altLang="zh-CN" sz="2800" b="1" dirty="0">
              <a:latin typeface="Consolas" panose="020B0609020204030204" pitchFamily="49" charset="0"/>
            </a:endParaRPr>
          </a:p>
          <a:p>
            <a:pPr lvl="1"/>
            <a:r>
              <a:rPr lang="zh-CN" altLang="en-US" sz="2800" b="1" dirty="0">
                <a:solidFill>
                  <a:srgbClr val="C00000"/>
                </a:solidFill>
                <a:latin typeface="Consolas" panose="020B0609020204030204" pitchFamily="49" charset="0"/>
              </a:rPr>
              <a:t>第二参数：</a:t>
            </a:r>
            <a:r>
              <a:rPr lang="en-US" altLang="zh-CN" sz="2800" b="1" dirty="0">
                <a:solidFill>
                  <a:srgbClr val="C00000"/>
                </a:solidFill>
                <a:latin typeface="Consolas" panose="020B0609020204030204" pitchFamily="49" charset="0"/>
              </a:rPr>
              <a:t>int</a:t>
            </a:r>
            <a:r>
              <a:rPr lang="zh-CN" altLang="en-US" sz="2800" b="1" dirty="0">
                <a:solidFill>
                  <a:srgbClr val="C00000"/>
                </a:solidFill>
                <a:latin typeface="Consolas" panose="020B0609020204030204" pitchFamily="49" charset="0"/>
              </a:rPr>
              <a:t>比</a:t>
            </a:r>
            <a:r>
              <a:rPr lang="en-US" altLang="zh-CN" sz="2800" b="1" dirty="0">
                <a:solidFill>
                  <a:srgbClr val="C00000"/>
                </a:solidFill>
                <a:latin typeface="Consolas" panose="020B0609020204030204" pitchFamily="49" charset="0"/>
              </a:rPr>
              <a:t>int&amp;</a:t>
            </a:r>
            <a:r>
              <a:rPr lang="zh-CN" altLang="en-US" sz="2800" b="1" dirty="0">
                <a:solidFill>
                  <a:srgbClr val="C00000"/>
                </a:solidFill>
                <a:latin typeface="Consolas" panose="020B0609020204030204" pitchFamily="49" charset="0"/>
              </a:rPr>
              <a:t>宽松，因此错误</a:t>
            </a:r>
            <a:endParaRPr lang="en-US" altLang="zh-CN" sz="2800" b="1" dirty="0">
              <a:solidFill>
                <a:srgbClr val="C00000"/>
              </a:solidFill>
              <a:latin typeface="Consolas" panose="020B0609020204030204" pitchFamily="49" charset="0"/>
            </a:endParaRPr>
          </a:p>
          <a:p>
            <a:pPr lvl="1"/>
            <a:r>
              <a:rPr lang="zh-CN" altLang="en-US" sz="2800" b="1" dirty="0">
                <a:latin typeface="Consolas" panose="020B0609020204030204" pitchFamily="49" charset="0"/>
              </a:rPr>
              <a:t>返回值：</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int</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r>
              <a:rPr lang="en-US" altLang="zh-CN" sz="2800" b="1" dirty="0">
                <a:solidFill>
                  <a:srgbClr val="C00000"/>
                </a:solidFill>
                <a:latin typeface="Consolas" panose="020B0609020204030204" pitchFamily="49" charset="0"/>
              </a:rPr>
              <a:t>F. int&amp;(int, int&amp;)</a:t>
            </a:r>
          </a:p>
          <a:p>
            <a:pPr lvl="1"/>
            <a:r>
              <a:rPr lang="zh-CN" altLang="en-US" sz="2800" b="1" dirty="0">
                <a:latin typeface="Consolas" panose="020B0609020204030204" pitchFamily="49" charset="0"/>
              </a:rPr>
              <a:t>第一参数：</a:t>
            </a:r>
            <a:r>
              <a:rPr lang="en-US" altLang="zh-CN" sz="2800" b="1" dirty="0">
                <a:latin typeface="Consolas" panose="020B0609020204030204" pitchFamily="49" charset="0"/>
              </a:rPr>
              <a:t>int</a:t>
            </a:r>
            <a:r>
              <a:rPr lang="zh-CN" altLang="en-US" sz="2800" b="1" dirty="0">
                <a:latin typeface="Consolas" panose="020B0609020204030204" pitchFamily="49" charset="0"/>
              </a:rPr>
              <a:t>和</a:t>
            </a:r>
            <a:r>
              <a:rPr lang="en-US" altLang="zh-CN" sz="2800" b="1" dirty="0">
                <a:latin typeface="Consolas" panose="020B0609020204030204" pitchFamily="49" charset="0"/>
              </a:rPr>
              <a:t>const int&amp;</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a:r>
              <a:rPr lang="zh-CN" altLang="en-US" sz="2800" b="1" dirty="0">
                <a:latin typeface="Consolas" panose="020B0609020204030204" pitchFamily="49" charset="0"/>
              </a:rPr>
              <a:t>第二参数：</a:t>
            </a:r>
            <a:r>
              <a:rPr lang="en-US" altLang="zh-CN" sz="2800" b="1" dirty="0">
                <a:latin typeface="Consolas" panose="020B0609020204030204" pitchFamily="49" charset="0"/>
              </a:rPr>
              <a:t>int&amp;</a:t>
            </a:r>
            <a:r>
              <a:rPr lang="zh-CN" altLang="en-US" sz="2800" b="1" dirty="0">
                <a:latin typeface="Consolas" panose="020B0609020204030204" pitchFamily="49" charset="0"/>
              </a:rPr>
              <a:t>和</a:t>
            </a:r>
            <a:r>
              <a:rPr lang="en-US" altLang="zh-CN" sz="2800" b="1" dirty="0">
                <a:latin typeface="Consolas" panose="020B0609020204030204" pitchFamily="49" charset="0"/>
              </a:rPr>
              <a:t>int&amp;</a:t>
            </a:r>
            <a:r>
              <a:rPr lang="zh-CN" altLang="en-US" sz="2800" b="1" dirty="0">
                <a:latin typeface="Consolas" panose="020B0609020204030204" pitchFamily="49" charset="0"/>
              </a:rPr>
              <a:t>范围一致</a:t>
            </a:r>
            <a:endParaRPr lang="en-US" altLang="zh-CN" sz="2800" b="1" dirty="0">
              <a:latin typeface="Consolas" panose="020B0609020204030204" pitchFamily="49" charset="0"/>
            </a:endParaRPr>
          </a:p>
          <a:p>
            <a:pPr lvl="1"/>
            <a:r>
              <a:rPr lang="zh-CN" altLang="en-US" sz="2800" b="1" dirty="0">
                <a:solidFill>
                  <a:srgbClr val="C00000"/>
                </a:solidFill>
                <a:latin typeface="Consolas" panose="020B0609020204030204" pitchFamily="49" charset="0"/>
              </a:rPr>
              <a:t>返回值：</a:t>
            </a:r>
            <a:r>
              <a:rPr lang="en-US" altLang="zh-CN" sz="2800" b="1" dirty="0">
                <a:solidFill>
                  <a:srgbClr val="C00000"/>
                </a:solidFill>
                <a:latin typeface="Consolas" panose="020B0609020204030204" pitchFamily="49" charset="0"/>
              </a:rPr>
              <a:t>int&amp;</a:t>
            </a:r>
            <a:r>
              <a:rPr lang="zh-CN" altLang="en-US" sz="2800" b="1" dirty="0">
                <a:solidFill>
                  <a:srgbClr val="C00000"/>
                </a:solidFill>
                <a:latin typeface="Consolas" panose="020B0609020204030204" pitchFamily="49" charset="0"/>
              </a:rPr>
              <a:t>比</a:t>
            </a:r>
            <a:r>
              <a:rPr lang="en-US" altLang="zh-CN" sz="2800" b="1" dirty="0">
                <a:solidFill>
                  <a:srgbClr val="C00000"/>
                </a:solidFill>
                <a:latin typeface="Consolas" panose="020B0609020204030204" pitchFamily="49" charset="0"/>
              </a:rPr>
              <a:t>int</a:t>
            </a:r>
            <a:r>
              <a:rPr lang="zh-CN" altLang="en-US" sz="2800" b="1" dirty="0">
                <a:solidFill>
                  <a:srgbClr val="C00000"/>
                </a:solidFill>
                <a:latin typeface="Consolas" panose="020B0609020204030204" pitchFamily="49" charset="0"/>
              </a:rPr>
              <a:t>严格，因此错误</a:t>
            </a:r>
            <a:endParaRPr lang="en-US" altLang="zh-CN" sz="2800" b="1"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123191333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B3403-3ACD-A506-AF24-C4DB5BD75956}"/>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10716516-8E15-38A7-24D5-233762E659A7}"/>
              </a:ext>
            </a:extLst>
          </p:cNvPr>
          <p:cNvSpPr>
            <a:spLocks noGrp="1"/>
          </p:cNvSpPr>
          <p:nvPr>
            <p:ph idx="1"/>
          </p:nvPr>
        </p:nvSpPr>
        <p:spPr>
          <a:xfrm>
            <a:off x="490314" y="2625221"/>
            <a:ext cx="8515350" cy="3668909"/>
          </a:xfrm>
        </p:spPr>
        <p:txBody>
          <a:bodyPr/>
          <a:lstStyle/>
          <a:p>
            <a:r>
              <a:rPr lang="zh-CN" altLang="en-US" dirty="0"/>
              <a:t>这个准则的原因是什么？</a:t>
            </a:r>
            <a:endParaRPr lang="en-US" altLang="zh-CN" dirty="0"/>
          </a:p>
          <a:p>
            <a:pPr lvl="1"/>
            <a:r>
              <a:rPr lang="zh-CN" altLang="en-US" dirty="0"/>
              <a:t>所有能被</a:t>
            </a:r>
            <a:r>
              <a:rPr lang="en-US" altLang="zh-CN" dirty="0"/>
              <a:t>function</a:t>
            </a:r>
            <a:r>
              <a:rPr lang="zh-CN" altLang="en-US" dirty="0"/>
              <a:t>接受的参数，都应被实际函数接受</a:t>
            </a:r>
            <a:endParaRPr lang="en-US" altLang="zh-CN" dirty="0"/>
          </a:p>
          <a:p>
            <a:pPr lvl="1"/>
            <a:r>
              <a:rPr lang="zh-CN" altLang="en-US" dirty="0"/>
              <a:t>所有可能的实际函数的返回值，都可能被</a:t>
            </a:r>
            <a:r>
              <a:rPr lang="en-US" altLang="zh-CN" dirty="0"/>
              <a:t>function</a:t>
            </a:r>
            <a:r>
              <a:rPr lang="zh-CN" altLang="en-US" dirty="0"/>
              <a:t>返回</a:t>
            </a:r>
            <a:endParaRPr lang="en-US" altLang="zh-CN" dirty="0"/>
          </a:p>
          <a:p>
            <a:pPr lvl="1"/>
            <a:endParaRPr lang="en-US" altLang="zh-CN" dirty="0"/>
          </a:p>
          <a:p>
            <a:pPr lvl="1"/>
            <a:r>
              <a:rPr lang="zh-CN" altLang="en-US" dirty="0"/>
              <a:t>不满足这个条件的后果？</a:t>
            </a:r>
          </a:p>
        </p:txBody>
      </p:sp>
      <p:sp>
        <p:nvSpPr>
          <p:cNvPr id="4" name="灯片编号占位符 3">
            <a:extLst>
              <a:ext uri="{FF2B5EF4-FFF2-40B4-BE49-F238E27FC236}">
                <a16:creationId xmlns:a16="http://schemas.microsoft.com/office/drawing/2014/main" id="{3BCC423C-585E-E01F-9F2C-F4603A9432E7}"/>
              </a:ext>
            </a:extLst>
          </p:cNvPr>
          <p:cNvSpPr>
            <a:spLocks noGrp="1"/>
          </p:cNvSpPr>
          <p:nvPr>
            <p:ph type="sldNum" sz="quarter" idx="12"/>
          </p:nvPr>
        </p:nvSpPr>
        <p:spPr/>
        <p:txBody>
          <a:bodyPr/>
          <a:lstStyle/>
          <a:p>
            <a:pPr>
              <a:defRPr/>
            </a:pPr>
            <a:fld id="{BFD7BE51-03DD-4CCA-8227-D775462981B4}" type="slidenum">
              <a:rPr lang="en-US" altLang="zh-CN" smtClean="0"/>
              <a:pPr>
                <a:defRPr/>
              </a:pPr>
              <a:t>119</a:t>
            </a:fld>
            <a:endParaRPr lang="en-US" altLang="zh-CN"/>
          </a:p>
        </p:txBody>
      </p:sp>
      <p:sp>
        <p:nvSpPr>
          <p:cNvPr id="5" name="文本框 4">
            <a:extLst>
              <a:ext uri="{FF2B5EF4-FFF2-40B4-BE49-F238E27FC236}">
                <a16:creationId xmlns:a16="http://schemas.microsoft.com/office/drawing/2014/main" id="{5AC109C4-53E9-E3D2-FA60-080146DE6EDD}"/>
              </a:ext>
            </a:extLst>
          </p:cNvPr>
          <p:cNvSpPr txBox="1"/>
          <p:nvPr/>
        </p:nvSpPr>
        <p:spPr>
          <a:xfrm>
            <a:off x="628650" y="1444218"/>
            <a:ext cx="7620997" cy="954107"/>
          </a:xfrm>
          <a:prstGeom prst="rect">
            <a:avLst/>
          </a:prstGeom>
          <a:noFill/>
        </p:spPr>
        <p:txBody>
          <a:bodyPr wrap="none" rtlCol="0">
            <a:spAutoFit/>
          </a:bodyPr>
          <a:lstStyle/>
          <a:p>
            <a:r>
              <a:rPr lang="zh-CN" altLang="en-US" sz="2800" b="1" dirty="0"/>
              <a:t>准则：  </a:t>
            </a:r>
            <a:r>
              <a:rPr lang="en-US" altLang="zh-CN" sz="2800" b="1" dirty="0"/>
              <a:t>function</a:t>
            </a:r>
            <a:r>
              <a:rPr lang="zh-CN" altLang="en-US" sz="2800" b="1" dirty="0"/>
              <a:t>参数       比  实际参数       </a:t>
            </a:r>
            <a:r>
              <a:rPr lang="zh-CN" altLang="en-US" sz="2800" b="1" dirty="0">
                <a:solidFill>
                  <a:srgbClr val="C00000"/>
                </a:solidFill>
              </a:rPr>
              <a:t>更严格</a:t>
            </a:r>
            <a:endParaRPr lang="en-US" altLang="zh-CN" sz="2800" b="1" dirty="0">
              <a:solidFill>
                <a:srgbClr val="C00000"/>
              </a:solidFill>
            </a:endParaRPr>
          </a:p>
          <a:p>
            <a:r>
              <a:rPr lang="en-US" altLang="zh-CN" sz="2800" b="1" dirty="0"/>
              <a:t>               function</a:t>
            </a:r>
            <a:r>
              <a:rPr lang="zh-CN" altLang="en-US" sz="2800" b="1" dirty="0"/>
              <a:t>返回值   比  实际返回值   </a:t>
            </a:r>
            <a:r>
              <a:rPr lang="zh-CN" altLang="en-US" sz="2800" b="1" dirty="0">
                <a:solidFill>
                  <a:srgbClr val="008000"/>
                </a:solidFill>
              </a:rPr>
              <a:t>更宽松</a:t>
            </a:r>
          </a:p>
        </p:txBody>
      </p:sp>
      <p:sp>
        <p:nvSpPr>
          <p:cNvPr id="7" name="文本框 6">
            <a:extLst>
              <a:ext uri="{FF2B5EF4-FFF2-40B4-BE49-F238E27FC236}">
                <a16:creationId xmlns:a16="http://schemas.microsoft.com/office/drawing/2014/main" id="{4CFDC7FD-B2EF-CE5C-44E8-D02C4F096F45}"/>
              </a:ext>
            </a:extLst>
          </p:cNvPr>
          <p:cNvSpPr txBox="1"/>
          <p:nvPr/>
        </p:nvSpPr>
        <p:spPr>
          <a:xfrm>
            <a:off x="1446785" y="4752062"/>
            <a:ext cx="6250429" cy="1323439"/>
          </a:xfrm>
          <a:prstGeom prst="rect">
            <a:avLst/>
          </a:prstGeom>
          <a:noFill/>
        </p:spPr>
        <p:txBody>
          <a:bodyPr wrap="none" rtlCol="0">
            <a:spAutoFit/>
          </a:bodyPr>
          <a:lstStyle/>
          <a:p>
            <a:r>
              <a:rPr lang="en-US" altLang="zh-CN" sz="2000" b="1" dirty="0">
                <a:latin typeface="Consolas" panose="020B0609020204030204" pitchFamily="49" charset="0"/>
              </a:rPr>
              <a:t>int func1(const int &amp;x, int &amp;b) {...};</a:t>
            </a:r>
          </a:p>
          <a:p>
            <a:r>
              <a:rPr lang="en-US" altLang="zh-CN" sz="2000" b="1" dirty="0">
                <a:latin typeface="Consolas" panose="020B0609020204030204" pitchFamily="49" charset="0"/>
              </a:rPr>
              <a:t>function&lt;int(int, int)&gt; pf1 = func1;</a:t>
            </a:r>
          </a:p>
          <a:p>
            <a:endParaRPr lang="en-US" altLang="zh-CN" sz="2000" b="1" dirty="0">
              <a:latin typeface="Consolas" panose="020B0609020204030204" pitchFamily="49" charset="0"/>
            </a:endParaRPr>
          </a:p>
          <a:p>
            <a:r>
              <a:rPr lang="en-US" altLang="zh-CN" sz="2000" b="1" dirty="0">
                <a:latin typeface="Consolas" panose="020B0609020204030204" pitchFamily="49" charset="0"/>
              </a:rPr>
              <a:t>pf1(x, b); //b</a:t>
            </a:r>
            <a:r>
              <a:rPr lang="zh-CN" altLang="en-US" sz="2000" b="1" dirty="0">
                <a:latin typeface="Consolas" panose="020B0609020204030204" pitchFamily="49" charset="0"/>
              </a:rPr>
              <a:t>可能会被</a:t>
            </a:r>
            <a:r>
              <a:rPr lang="en-US" altLang="zh-CN" sz="2000" b="1" dirty="0">
                <a:latin typeface="Consolas" panose="020B0609020204030204" pitchFamily="49" charset="0"/>
              </a:rPr>
              <a:t>func1</a:t>
            </a:r>
            <a:r>
              <a:rPr lang="zh-CN" altLang="en-US" sz="2000" b="1" dirty="0">
                <a:latin typeface="Consolas" panose="020B0609020204030204" pitchFamily="49" charset="0"/>
              </a:rPr>
              <a:t>修改</a:t>
            </a:r>
            <a:r>
              <a:rPr lang="en-US" altLang="zh-CN" sz="2000" b="1" dirty="0">
                <a:latin typeface="Consolas" panose="020B0609020204030204" pitchFamily="49" charset="0"/>
              </a:rPr>
              <a:t>?</a:t>
            </a:r>
            <a:r>
              <a:rPr lang="zh-CN" altLang="en-US" sz="2000" b="1" dirty="0">
                <a:latin typeface="Consolas" panose="020B0609020204030204" pitchFamily="49" charset="0"/>
              </a:rPr>
              <a:t>和</a:t>
            </a:r>
            <a:r>
              <a:rPr lang="en-US" altLang="zh-CN" sz="2000" b="1" dirty="0">
                <a:latin typeface="Consolas" panose="020B0609020204030204" pitchFamily="49" charset="0"/>
              </a:rPr>
              <a:t>pf1</a:t>
            </a:r>
            <a:r>
              <a:rPr lang="zh-CN" altLang="en-US" sz="2000" b="1" dirty="0">
                <a:latin typeface="Consolas" panose="020B0609020204030204" pitchFamily="49" charset="0"/>
              </a:rPr>
              <a:t>声明不符</a:t>
            </a:r>
            <a:endParaRPr lang="en-US" altLang="zh-CN" sz="2000" b="1" dirty="0">
              <a:latin typeface="Consolas" panose="020B0609020204030204" pitchFamily="49" charset="0"/>
            </a:endParaRPr>
          </a:p>
        </p:txBody>
      </p:sp>
    </p:spTree>
    <p:extLst>
      <p:ext uri="{BB962C8B-B14F-4D97-AF65-F5344CB8AC3E}">
        <p14:creationId xmlns:p14="http://schemas.microsoft.com/office/powerpoint/2010/main" val="32866404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p:txBody>
          <a:bodyPr/>
          <a:lstStyle/>
          <a:p>
            <a:r>
              <a:rPr lang="zh-CN" altLang="en-US" dirty="0"/>
              <a:t>以下哪些能正常编译？</a:t>
            </a:r>
            <a:endParaRPr lang="en-US" altLang="zh-CN" dirty="0"/>
          </a:p>
          <a:p>
            <a:endParaRPr lang="zh-CN" altLang="en-US" dirty="0"/>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120</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1096632" y="2128288"/>
            <a:ext cx="7744428" cy="4401205"/>
          </a:xfrm>
          <a:prstGeom prst="rect">
            <a:avLst/>
          </a:prstGeom>
          <a:noFill/>
        </p:spPr>
        <p:txBody>
          <a:bodyPr wrap="none" rtlCol="0">
            <a:spAutoFit/>
          </a:bodyPr>
          <a:lstStyle/>
          <a:p>
            <a:r>
              <a:rPr lang="en-US" altLang="zh-CN" sz="2800" b="1" dirty="0">
                <a:latin typeface="Consolas" panose="020B0609020204030204" pitchFamily="49" charset="0"/>
              </a:rPr>
              <a:t>class Func2{</a:t>
            </a:r>
          </a:p>
          <a:p>
            <a:r>
              <a:rPr lang="en-US" altLang="zh-CN" sz="2800" b="1" dirty="0">
                <a:latin typeface="Consolas" panose="020B0609020204030204" pitchFamily="49" charset="0"/>
              </a:rPr>
              <a:t>public:</a:t>
            </a:r>
          </a:p>
          <a:p>
            <a:r>
              <a:rPr lang="en-US" altLang="zh-CN" sz="2800" b="1" dirty="0">
                <a:latin typeface="Consolas" panose="020B0609020204030204" pitchFamily="49" charset="0"/>
              </a:rPr>
              <a:t>	int&amp; operator()(int &amp;&amp;b) const {...}</a:t>
            </a:r>
          </a:p>
          <a:p>
            <a:r>
              <a:rPr lang="en-US" altLang="zh-CN" sz="2800" b="1" dirty="0">
                <a:latin typeface="Consolas" panose="020B0609020204030204" pitchFamily="49" charset="0"/>
              </a:rPr>
              <a:t>};</a:t>
            </a:r>
          </a:p>
          <a:p>
            <a:r>
              <a:rPr lang="en-US" altLang="zh-CN" sz="2800" b="1" dirty="0">
                <a:latin typeface="Consolas" panose="020B0609020204030204" pitchFamily="49" charset="0"/>
              </a:rPr>
              <a:t>function&lt;______&gt; pf2 = Func2();</a:t>
            </a:r>
          </a:p>
          <a:p>
            <a:endParaRPr lang="en-US" altLang="zh-CN" sz="2800" b="1" dirty="0">
              <a:latin typeface="Consolas" panose="020B0609020204030204" pitchFamily="49" charset="0"/>
            </a:endParaRPr>
          </a:p>
          <a:p>
            <a:pPr marL="514350" indent="-514350">
              <a:buAutoNum type="alphaUcPeriod"/>
            </a:pPr>
            <a:r>
              <a:rPr lang="en-US" altLang="zh-CN" sz="2800" b="1" dirty="0">
                <a:latin typeface="Consolas" panose="020B0609020204030204" pitchFamily="49" charset="0"/>
              </a:rPr>
              <a:t>int&amp;(int&amp;&amp;)</a:t>
            </a:r>
          </a:p>
          <a:p>
            <a:pPr marL="514350" indent="-514350">
              <a:buAutoNum type="alphaUcPeriod"/>
            </a:pPr>
            <a:r>
              <a:rPr lang="en-US" altLang="zh-CN" sz="2800" b="1" dirty="0">
                <a:latin typeface="Consolas" panose="020B0609020204030204" pitchFamily="49" charset="0"/>
              </a:rPr>
              <a:t>int(int&amp;&amp;)</a:t>
            </a:r>
          </a:p>
          <a:p>
            <a:pPr marL="514350" indent="-514350">
              <a:buAutoNum type="alphaUcPeriod"/>
            </a:pPr>
            <a:r>
              <a:rPr lang="en-US" altLang="zh-CN" sz="2800" b="1" dirty="0">
                <a:latin typeface="Consolas" panose="020B0609020204030204" pitchFamily="49" charset="0"/>
              </a:rPr>
              <a:t>int&amp;(int&amp;)</a:t>
            </a:r>
          </a:p>
          <a:p>
            <a:pPr marL="514350" indent="-514350">
              <a:buAutoNum type="alphaUcPeriod"/>
            </a:pPr>
            <a:r>
              <a:rPr lang="en-US" altLang="zh-CN" sz="2800" b="1" dirty="0">
                <a:latin typeface="Consolas" panose="020B0609020204030204" pitchFamily="49" charset="0"/>
              </a:rPr>
              <a:t>int(int&amp;)</a:t>
            </a:r>
            <a:endParaRPr lang="zh-CN" altLang="en-US" sz="2800" b="1" dirty="0">
              <a:latin typeface="Consolas" panose="020B0609020204030204" pitchFamily="49" charset="0"/>
            </a:endParaRPr>
          </a:p>
        </p:txBody>
      </p:sp>
    </p:spTree>
    <p:extLst>
      <p:ext uri="{BB962C8B-B14F-4D97-AF65-F5344CB8AC3E}">
        <p14:creationId xmlns:p14="http://schemas.microsoft.com/office/powerpoint/2010/main" val="30505945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3495D5-4A90-4448-8325-A5FCE292BF41}"/>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A6B39670-17A8-425E-9964-C6AB0DE6C3D5}"/>
              </a:ext>
            </a:extLst>
          </p:cNvPr>
          <p:cNvSpPr>
            <a:spLocks noGrp="1"/>
          </p:cNvSpPr>
          <p:nvPr>
            <p:ph idx="1"/>
          </p:nvPr>
        </p:nvSpPr>
        <p:spPr/>
        <p:txBody>
          <a:bodyPr/>
          <a:lstStyle/>
          <a:p>
            <a:r>
              <a:rPr lang="zh-CN" altLang="en-US" dirty="0"/>
              <a:t>以下哪些能正常编译？</a:t>
            </a:r>
            <a:endParaRPr lang="en-US" altLang="zh-CN" dirty="0"/>
          </a:p>
          <a:p>
            <a:endParaRPr lang="zh-CN" altLang="en-US" dirty="0"/>
          </a:p>
        </p:txBody>
      </p:sp>
      <p:sp>
        <p:nvSpPr>
          <p:cNvPr id="4" name="灯片编号占位符 3">
            <a:extLst>
              <a:ext uri="{FF2B5EF4-FFF2-40B4-BE49-F238E27FC236}">
                <a16:creationId xmlns:a16="http://schemas.microsoft.com/office/drawing/2014/main" id="{32A7AB9D-DFC4-46E9-8871-FEC299BD9A58}"/>
              </a:ext>
            </a:extLst>
          </p:cNvPr>
          <p:cNvSpPr>
            <a:spLocks noGrp="1"/>
          </p:cNvSpPr>
          <p:nvPr>
            <p:ph type="sldNum" sz="quarter" idx="12"/>
          </p:nvPr>
        </p:nvSpPr>
        <p:spPr/>
        <p:txBody>
          <a:bodyPr/>
          <a:lstStyle/>
          <a:p>
            <a:pPr>
              <a:defRPr/>
            </a:pPr>
            <a:fld id="{BFD7BE51-03DD-4CCA-8227-D775462981B4}" type="slidenum">
              <a:rPr lang="en-US" altLang="zh-CN" smtClean="0"/>
              <a:pPr>
                <a:defRPr/>
              </a:pPr>
              <a:t>121</a:t>
            </a:fld>
            <a:endParaRPr lang="en-US" altLang="zh-CN"/>
          </a:p>
        </p:txBody>
      </p:sp>
      <p:sp>
        <p:nvSpPr>
          <p:cNvPr id="6" name="文本框 5">
            <a:extLst>
              <a:ext uri="{FF2B5EF4-FFF2-40B4-BE49-F238E27FC236}">
                <a16:creationId xmlns:a16="http://schemas.microsoft.com/office/drawing/2014/main" id="{03175E72-CE2E-4ED5-AED0-9A3533B8D334}"/>
              </a:ext>
            </a:extLst>
          </p:cNvPr>
          <p:cNvSpPr txBox="1"/>
          <p:nvPr/>
        </p:nvSpPr>
        <p:spPr>
          <a:xfrm>
            <a:off x="1096632" y="2128288"/>
            <a:ext cx="7744428" cy="4401205"/>
          </a:xfrm>
          <a:prstGeom prst="rect">
            <a:avLst/>
          </a:prstGeom>
          <a:noFill/>
        </p:spPr>
        <p:txBody>
          <a:bodyPr wrap="none" rtlCol="0">
            <a:spAutoFit/>
          </a:bodyPr>
          <a:lstStyle/>
          <a:p>
            <a:r>
              <a:rPr lang="en-US" altLang="zh-CN" sz="2800" b="1" dirty="0">
                <a:latin typeface="Consolas" panose="020B0609020204030204" pitchFamily="49" charset="0"/>
              </a:rPr>
              <a:t>class Func2{</a:t>
            </a:r>
          </a:p>
          <a:p>
            <a:r>
              <a:rPr lang="en-US" altLang="zh-CN" sz="2800" b="1" dirty="0">
                <a:latin typeface="Consolas" panose="020B0609020204030204" pitchFamily="49" charset="0"/>
              </a:rPr>
              <a:t>public:</a:t>
            </a:r>
          </a:p>
          <a:p>
            <a:r>
              <a:rPr lang="en-US" altLang="zh-CN" sz="2800" b="1" dirty="0">
                <a:latin typeface="Consolas" panose="020B0609020204030204" pitchFamily="49" charset="0"/>
              </a:rPr>
              <a:t>	int&amp; operator()(int &amp;&amp;b) const {...}</a:t>
            </a:r>
          </a:p>
          <a:p>
            <a:r>
              <a:rPr lang="en-US" altLang="zh-CN" sz="2800" b="1" dirty="0">
                <a:latin typeface="Consolas" panose="020B0609020204030204" pitchFamily="49" charset="0"/>
              </a:rPr>
              <a:t>};</a:t>
            </a:r>
          </a:p>
          <a:p>
            <a:r>
              <a:rPr lang="en-US" altLang="zh-CN" sz="2800" b="1" dirty="0">
                <a:latin typeface="Consolas" panose="020B0609020204030204" pitchFamily="49" charset="0"/>
              </a:rPr>
              <a:t>function&lt;______&gt; pf2 = Func2();</a:t>
            </a:r>
          </a:p>
          <a:p>
            <a:endParaRPr lang="en-US" altLang="zh-CN" sz="2800" b="1" dirty="0">
              <a:latin typeface="Consolas" panose="020B0609020204030204" pitchFamily="49" charset="0"/>
            </a:endParaRPr>
          </a:p>
          <a:p>
            <a:pPr marL="514350" indent="-514350">
              <a:buAutoNum type="alphaUcPeriod"/>
            </a:pPr>
            <a:r>
              <a:rPr lang="en-US" altLang="zh-CN" sz="2800" b="1" dirty="0">
                <a:solidFill>
                  <a:srgbClr val="1D9A78"/>
                </a:solidFill>
                <a:latin typeface="Consolas" panose="020B0609020204030204" pitchFamily="49" charset="0"/>
              </a:rPr>
              <a:t>int&amp;(int&amp;&amp;)</a:t>
            </a:r>
          </a:p>
          <a:p>
            <a:pPr marL="514350" indent="-514350">
              <a:buAutoNum type="alphaUcPeriod"/>
            </a:pPr>
            <a:r>
              <a:rPr lang="en-US" altLang="zh-CN" sz="2800" b="1" dirty="0">
                <a:solidFill>
                  <a:srgbClr val="1D9A78"/>
                </a:solidFill>
                <a:latin typeface="Consolas" panose="020B0609020204030204" pitchFamily="49" charset="0"/>
              </a:rPr>
              <a:t>int(int&amp;&amp;)</a:t>
            </a:r>
          </a:p>
          <a:p>
            <a:pPr marL="514350" indent="-514350">
              <a:buAutoNum type="alphaUcPeriod"/>
            </a:pPr>
            <a:r>
              <a:rPr lang="en-US" altLang="zh-CN" sz="2800" b="1" dirty="0">
                <a:solidFill>
                  <a:srgbClr val="C00000"/>
                </a:solidFill>
                <a:latin typeface="Consolas" panose="020B0609020204030204" pitchFamily="49" charset="0"/>
              </a:rPr>
              <a:t>int&amp;(int&amp;)</a:t>
            </a:r>
          </a:p>
          <a:p>
            <a:pPr marL="514350" indent="-514350">
              <a:buAutoNum type="alphaUcPeriod"/>
            </a:pPr>
            <a:r>
              <a:rPr lang="en-US" altLang="zh-CN" sz="2800" b="1" dirty="0">
                <a:solidFill>
                  <a:srgbClr val="C00000"/>
                </a:solidFill>
                <a:latin typeface="Consolas" panose="020B0609020204030204" pitchFamily="49" charset="0"/>
              </a:rPr>
              <a:t>int(int&amp;)</a:t>
            </a:r>
            <a:endParaRPr lang="zh-CN" altLang="en-US" sz="2800" b="1"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123043819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B620F3-7ACC-B2B1-88B0-B4B9BE899D6A}"/>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79163C1F-9E43-E2A1-BA26-E5175919FB7E}"/>
              </a:ext>
            </a:extLst>
          </p:cNvPr>
          <p:cNvSpPr>
            <a:spLocks noGrp="1"/>
          </p:cNvSpPr>
          <p:nvPr>
            <p:ph idx="1"/>
          </p:nvPr>
        </p:nvSpPr>
        <p:spPr/>
        <p:txBody>
          <a:bodyPr/>
          <a:lstStyle/>
          <a:p>
            <a:r>
              <a:rPr lang="zh-CN" altLang="en-US" dirty="0"/>
              <a:t>关于右值的判定</a:t>
            </a:r>
          </a:p>
        </p:txBody>
      </p:sp>
      <p:sp>
        <p:nvSpPr>
          <p:cNvPr id="4" name="灯片编号占位符 3">
            <a:extLst>
              <a:ext uri="{FF2B5EF4-FFF2-40B4-BE49-F238E27FC236}">
                <a16:creationId xmlns:a16="http://schemas.microsoft.com/office/drawing/2014/main" id="{8DCC185F-24E0-6640-16DF-3D65B4A01A4E}"/>
              </a:ext>
            </a:extLst>
          </p:cNvPr>
          <p:cNvSpPr>
            <a:spLocks noGrp="1"/>
          </p:cNvSpPr>
          <p:nvPr>
            <p:ph type="sldNum" sz="quarter" idx="12"/>
          </p:nvPr>
        </p:nvSpPr>
        <p:spPr/>
        <p:txBody>
          <a:bodyPr/>
          <a:lstStyle/>
          <a:p>
            <a:pPr>
              <a:defRPr/>
            </a:pPr>
            <a:fld id="{BFD7BE51-03DD-4CCA-8227-D775462981B4}" type="slidenum">
              <a:rPr lang="en-US" altLang="zh-CN" smtClean="0"/>
              <a:pPr>
                <a:defRPr/>
              </a:pPr>
              <a:t>122</a:t>
            </a:fld>
            <a:endParaRPr lang="en-US" altLang="zh-CN"/>
          </a:p>
        </p:txBody>
      </p:sp>
      <p:graphicFrame>
        <p:nvGraphicFramePr>
          <p:cNvPr id="5" name="表格 13">
            <a:extLst>
              <a:ext uri="{FF2B5EF4-FFF2-40B4-BE49-F238E27FC236}">
                <a16:creationId xmlns:a16="http://schemas.microsoft.com/office/drawing/2014/main" id="{A0655FB5-D3FF-0C22-2C0F-6E7EF252B42E}"/>
              </a:ext>
            </a:extLst>
          </p:cNvPr>
          <p:cNvGraphicFramePr>
            <a:graphicFrameLocks noGrp="1"/>
          </p:cNvGraphicFramePr>
          <p:nvPr/>
        </p:nvGraphicFramePr>
        <p:xfrm>
          <a:off x="1259632" y="2687320"/>
          <a:ext cx="5894841" cy="2225040"/>
        </p:xfrm>
        <a:graphic>
          <a:graphicData uri="http://schemas.openxmlformats.org/drawingml/2006/table">
            <a:tbl>
              <a:tblPr firstRow="1" bandRow="1">
                <a:tableStyleId>{5C22544A-7EE6-4342-B048-85BDC9FD1C3A}</a:tableStyleId>
              </a:tblPr>
              <a:tblGrid>
                <a:gridCol w="1360602">
                  <a:extLst>
                    <a:ext uri="{9D8B030D-6E8A-4147-A177-3AD203B41FA5}">
                      <a16:colId xmlns:a16="http://schemas.microsoft.com/office/drawing/2014/main" val="613498943"/>
                    </a:ext>
                  </a:extLst>
                </a:gridCol>
                <a:gridCol w="803308">
                  <a:extLst>
                    <a:ext uri="{9D8B030D-6E8A-4147-A177-3AD203B41FA5}">
                      <a16:colId xmlns:a16="http://schemas.microsoft.com/office/drawing/2014/main" val="1348817956"/>
                    </a:ext>
                  </a:extLst>
                </a:gridCol>
                <a:gridCol w="1390931">
                  <a:extLst>
                    <a:ext uri="{9D8B030D-6E8A-4147-A177-3AD203B41FA5}">
                      <a16:colId xmlns:a16="http://schemas.microsoft.com/office/drawing/2014/main" val="3551517513"/>
                    </a:ext>
                  </a:extLst>
                </a:gridCol>
                <a:gridCol w="900000">
                  <a:extLst>
                    <a:ext uri="{9D8B030D-6E8A-4147-A177-3AD203B41FA5}">
                      <a16:colId xmlns:a16="http://schemas.microsoft.com/office/drawing/2014/main" val="629702501"/>
                    </a:ext>
                  </a:extLst>
                </a:gridCol>
                <a:gridCol w="1440000">
                  <a:extLst>
                    <a:ext uri="{9D8B030D-6E8A-4147-A177-3AD203B41FA5}">
                      <a16:colId xmlns:a16="http://schemas.microsoft.com/office/drawing/2014/main" val="2792570198"/>
                    </a:ext>
                  </a:extLst>
                </a:gridCol>
              </a:tblGrid>
              <a:tr h="370840">
                <a:tc>
                  <a:txBody>
                    <a:bodyPr/>
                    <a:lstStyle/>
                    <a:p>
                      <a:endParaRPr lang="zh-CN" altLang="en-US" dirty="0"/>
                    </a:p>
                  </a:txBody>
                  <a:tcPr/>
                </a:tc>
                <a:tc>
                  <a:txBody>
                    <a:bodyPr/>
                    <a:lstStyle/>
                    <a:p>
                      <a:r>
                        <a:rPr lang="en-US" altLang="zh-CN" dirty="0" err="1"/>
                        <a:t>lvalue</a:t>
                      </a:r>
                      <a:endParaRPr lang="zh-CN" altLang="en-US" dirty="0"/>
                    </a:p>
                  </a:txBody>
                  <a:tcPr/>
                </a:tc>
                <a:tc>
                  <a:txBody>
                    <a:bodyPr/>
                    <a:lstStyle/>
                    <a:p>
                      <a:r>
                        <a:rPr lang="en-US" altLang="zh-CN" dirty="0"/>
                        <a:t>const </a:t>
                      </a:r>
                      <a:r>
                        <a:rPr lang="en-US" altLang="zh-CN" dirty="0" err="1"/>
                        <a:t>lvalue</a:t>
                      </a:r>
                      <a:endParaRPr lang="zh-CN" altLang="en-US" dirty="0"/>
                    </a:p>
                  </a:txBody>
                  <a:tcPr/>
                </a:tc>
                <a:tc>
                  <a:txBody>
                    <a:bodyPr/>
                    <a:lstStyle/>
                    <a:p>
                      <a:r>
                        <a:rPr lang="en-US" altLang="zh-CN" dirty="0" err="1"/>
                        <a:t>rvalue</a:t>
                      </a:r>
                      <a:endParaRPr lang="zh-CN" altLang="en-US" dirty="0"/>
                    </a:p>
                  </a:txBody>
                  <a:tcPr/>
                </a:tc>
                <a:tc>
                  <a:txBody>
                    <a:bodyPr/>
                    <a:lstStyle/>
                    <a:p>
                      <a:r>
                        <a:rPr lang="en-US" altLang="zh-CN" dirty="0"/>
                        <a:t>const </a:t>
                      </a:r>
                      <a:r>
                        <a:rPr lang="en-US" altLang="zh-CN" dirty="0" err="1"/>
                        <a:t>rvalue</a:t>
                      </a:r>
                      <a:endParaRPr lang="zh-CN" altLang="en-US" dirty="0"/>
                    </a:p>
                  </a:txBody>
                  <a:tcPr/>
                </a:tc>
                <a:extLst>
                  <a:ext uri="{0D108BD9-81ED-4DB2-BD59-A6C34878D82A}">
                    <a16:rowId xmlns:a16="http://schemas.microsoft.com/office/drawing/2014/main" val="3208400601"/>
                  </a:ext>
                </a:extLst>
              </a:tr>
              <a:tr h="370840">
                <a:tc>
                  <a:txBody>
                    <a:bodyPr/>
                    <a:lstStyle/>
                    <a:p>
                      <a:r>
                        <a:rPr lang="en-US" altLang="zh-CN" dirty="0"/>
                        <a:t>int</a:t>
                      </a:r>
                      <a:endParaRPr lang="zh-CN" altLang="en-US" dirty="0"/>
                    </a:p>
                  </a:txBody>
                  <a:tcPr/>
                </a:tc>
                <a:tc>
                  <a:txBody>
                    <a:bodyPr/>
                    <a:lstStyle/>
                    <a:p>
                      <a:r>
                        <a:rPr lang="zh-CN" altLang="en-US" dirty="0"/>
                        <a:t>√</a:t>
                      </a:r>
                    </a:p>
                  </a:txBody>
                  <a:tcPr/>
                </a:tc>
                <a:tc>
                  <a:txBody>
                    <a:bodyPr/>
                    <a:lstStyle/>
                    <a:p>
                      <a:r>
                        <a:rPr lang="zh-CN" altLang="en-US" dirty="0"/>
                        <a:t>√</a:t>
                      </a:r>
                    </a:p>
                  </a:txBody>
                  <a:tcPr/>
                </a:tc>
                <a:tc>
                  <a:txBody>
                    <a:bodyPr/>
                    <a:lstStyle/>
                    <a:p>
                      <a:r>
                        <a:rPr lang="zh-CN" altLang="en-US" dirty="0"/>
                        <a:t>√</a:t>
                      </a:r>
                    </a:p>
                  </a:txBody>
                  <a:tcPr/>
                </a:tc>
                <a:tc>
                  <a:txBody>
                    <a:bodyPr/>
                    <a:lstStyle/>
                    <a:p>
                      <a:r>
                        <a:rPr lang="zh-CN" altLang="en-US" dirty="0"/>
                        <a:t>√</a:t>
                      </a:r>
                    </a:p>
                  </a:txBody>
                  <a:tcPr/>
                </a:tc>
                <a:extLst>
                  <a:ext uri="{0D108BD9-81ED-4DB2-BD59-A6C34878D82A}">
                    <a16:rowId xmlns:a16="http://schemas.microsoft.com/office/drawing/2014/main" val="2386495292"/>
                  </a:ext>
                </a:extLst>
              </a:tr>
              <a:tr h="370840">
                <a:tc>
                  <a:txBody>
                    <a:bodyPr/>
                    <a:lstStyle/>
                    <a:p>
                      <a:r>
                        <a:rPr lang="en-US" altLang="zh-CN" dirty="0"/>
                        <a:t>int&amp;</a:t>
                      </a:r>
                      <a:endParaRPr lang="zh-CN" altLang="en-US" dirty="0"/>
                    </a:p>
                  </a:txBody>
                  <a:tcPr/>
                </a:tc>
                <a:tc>
                  <a:txBody>
                    <a:bodyPr/>
                    <a:lstStyle/>
                    <a:p>
                      <a:r>
                        <a:rPr lang="zh-CN" altLang="en-US" dirty="0"/>
                        <a:t>√</a:t>
                      </a:r>
                    </a:p>
                  </a:txBody>
                  <a:tcPr/>
                </a:tc>
                <a:tc>
                  <a:txBody>
                    <a:bodyPr/>
                    <a:lstStyle/>
                    <a:p>
                      <a:endParaRPr lang="zh-CN" altLang="en-US" dirty="0"/>
                    </a:p>
                  </a:txBody>
                  <a:tcPr/>
                </a:tc>
                <a:tc>
                  <a:txBody>
                    <a:bodyPr/>
                    <a:lstStyle/>
                    <a:p>
                      <a:endParaRPr lang="zh-CN" altLang="en-US" dirty="0"/>
                    </a:p>
                  </a:txBody>
                  <a:tcPr/>
                </a:tc>
                <a:tc>
                  <a:txBody>
                    <a:bodyPr/>
                    <a:lstStyle/>
                    <a:p>
                      <a:endParaRPr lang="zh-CN" altLang="en-US" dirty="0"/>
                    </a:p>
                  </a:txBody>
                  <a:tcPr/>
                </a:tc>
                <a:extLst>
                  <a:ext uri="{0D108BD9-81ED-4DB2-BD59-A6C34878D82A}">
                    <a16:rowId xmlns:a16="http://schemas.microsoft.com/office/drawing/2014/main" val="1049936532"/>
                  </a:ext>
                </a:extLst>
              </a:tr>
              <a:tr h="370840">
                <a:tc>
                  <a:txBody>
                    <a:bodyPr/>
                    <a:lstStyle/>
                    <a:p>
                      <a:r>
                        <a:rPr lang="en-US" altLang="zh-CN" dirty="0"/>
                        <a:t>const int&amp;</a:t>
                      </a:r>
                      <a:endParaRPr lang="zh-CN" altLang="en-US" dirty="0"/>
                    </a:p>
                  </a:txBody>
                  <a:tcPr/>
                </a:tc>
                <a:tc>
                  <a:txBody>
                    <a:bodyPr/>
                    <a:lstStyle/>
                    <a:p>
                      <a:r>
                        <a:rPr lang="zh-CN" altLang="en-US" dirty="0"/>
                        <a:t>√</a:t>
                      </a:r>
                    </a:p>
                  </a:txBody>
                  <a:tcPr/>
                </a:tc>
                <a:tc>
                  <a:txBody>
                    <a:bodyPr/>
                    <a:lstStyle/>
                    <a:p>
                      <a:r>
                        <a:rPr lang="zh-CN" altLang="en-US" dirty="0"/>
                        <a:t>√</a:t>
                      </a:r>
                    </a:p>
                  </a:txBody>
                  <a:tcPr/>
                </a:tc>
                <a:tc>
                  <a:txBody>
                    <a:bodyPr/>
                    <a:lstStyle/>
                    <a:p>
                      <a:r>
                        <a:rPr lang="zh-CN" altLang="en-US" dirty="0"/>
                        <a:t>√</a:t>
                      </a:r>
                    </a:p>
                  </a:txBody>
                  <a:tcPr/>
                </a:tc>
                <a:tc>
                  <a:txBody>
                    <a:bodyPr/>
                    <a:lstStyle/>
                    <a:p>
                      <a:r>
                        <a:rPr lang="zh-CN" altLang="en-US" dirty="0"/>
                        <a:t>√</a:t>
                      </a:r>
                    </a:p>
                  </a:txBody>
                  <a:tcPr/>
                </a:tc>
                <a:extLst>
                  <a:ext uri="{0D108BD9-81ED-4DB2-BD59-A6C34878D82A}">
                    <a16:rowId xmlns:a16="http://schemas.microsoft.com/office/drawing/2014/main" val="2876349015"/>
                  </a:ext>
                </a:extLst>
              </a:tr>
              <a:tr h="370840">
                <a:tc>
                  <a:txBody>
                    <a:bodyPr/>
                    <a:lstStyle/>
                    <a:p>
                      <a:r>
                        <a:rPr lang="en-US" altLang="zh-CN" dirty="0"/>
                        <a:t>int&amp;&amp;</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p>
                  </a:txBody>
                  <a:tcPr/>
                </a:tc>
                <a:tc>
                  <a:txBody>
                    <a:bodyPr/>
                    <a:lstStyle/>
                    <a:p>
                      <a:endParaRPr lang="zh-CN" altLang="en-US" dirty="0"/>
                    </a:p>
                  </a:txBody>
                  <a:tcPr/>
                </a:tc>
                <a:extLst>
                  <a:ext uri="{0D108BD9-81ED-4DB2-BD59-A6C34878D82A}">
                    <a16:rowId xmlns:a16="http://schemas.microsoft.com/office/drawing/2014/main" val="4052049484"/>
                  </a:ext>
                </a:extLst>
              </a:tr>
              <a:tr h="370840">
                <a:tc>
                  <a:txBody>
                    <a:bodyPr/>
                    <a:lstStyle/>
                    <a:p>
                      <a:r>
                        <a:rPr lang="en-US" altLang="zh-CN" dirty="0"/>
                        <a:t>const int&amp;&amp;</a:t>
                      </a:r>
                      <a:endParaRPr lang="zh-CN" altLang="en-US" dirty="0"/>
                    </a:p>
                  </a:txBody>
                  <a:tcPr/>
                </a:tc>
                <a:tc>
                  <a:txBody>
                    <a:bodyPr/>
                    <a:lstStyle/>
                    <a:p>
                      <a:endParaRPr lang="zh-CN" altLang="en-US" dirty="0"/>
                    </a:p>
                  </a:txBody>
                  <a:tcPr/>
                </a:tc>
                <a:tc>
                  <a:txBody>
                    <a:bodyPr/>
                    <a:lstStyle/>
                    <a:p>
                      <a:endParaRPr lang="zh-CN" alt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a:t>
                      </a:r>
                    </a:p>
                  </a:txBody>
                  <a:tcPr/>
                </a:tc>
                <a:extLst>
                  <a:ext uri="{0D108BD9-81ED-4DB2-BD59-A6C34878D82A}">
                    <a16:rowId xmlns:a16="http://schemas.microsoft.com/office/drawing/2014/main" val="2589139465"/>
                  </a:ext>
                </a:extLst>
              </a:tr>
            </a:tbl>
          </a:graphicData>
        </a:graphic>
      </p:graphicFrame>
      <p:sp>
        <p:nvSpPr>
          <p:cNvPr id="6" name="文本框 5">
            <a:extLst>
              <a:ext uri="{FF2B5EF4-FFF2-40B4-BE49-F238E27FC236}">
                <a16:creationId xmlns:a16="http://schemas.microsoft.com/office/drawing/2014/main" id="{5B4F70EE-DBE9-1360-ED9D-28EA4A8CC5DD}"/>
              </a:ext>
            </a:extLst>
          </p:cNvPr>
          <p:cNvSpPr txBox="1"/>
          <p:nvPr/>
        </p:nvSpPr>
        <p:spPr>
          <a:xfrm>
            <a:off x="2755046" y="2312532"/>
            <a:ext cx="697627" cy="400110"/>
          </a:xfrm>
          <a:prstGeom prst="rect">
            <a:avLst/>
          </a:prstGeom>
          <a:noFill/>
        </p:spPr>
        <p:txBody>
          <a:bodyPr wrap="none" rtlCol="0">
            <a:spAutoFit/>
          </a:bodyPr>
          <a:lstStyle/>
          <a:p>
            <a:r>
              <a:rPr lang="zh-CN" altLang="en-US" sz="2000" b="1" dirty="0"/>
              <a:t>左值</a:t>
            </a:r>
          </a:p>
        </p:txBody>
      </p:sp>
      <p:sp>
        <p:nvSpPr>
          <p:cNvPr id="7" name="文本框 6">
            <a:extLst>
              <a:ext uri="{FF2B5EF4-FFF2-40B4-BE49-F238E27FC236}">
                <a16:creationId xmlns:a16="http://schemas.microsoft.com/office/drawing/2014/main" id="{326033B1-D719-6480-B49B-5C8EC7E49307}"/>
              </a:ext>
            </a:extLst>
          </p:cNvPr>
          <p:cNvSpPr txBox="1"/>
          <p:nvPr/>
        </p:nvSpPr>
        <p:spPr>
          <a:xfrm>
            <a:off x="3517568" y="2312532"/>
            <a:ext cx="1210588" cy="400110"/>
          </a:xfrm>
          <a:prstGeom prst="rect">
            <a:avLst/>
          </a:prstGeom>
          <a:noFill/>
        </p:spPr>
        <p:txBody>
          <a:bodyPr wrap="none" rtlCol="0">
            <a:spAutoFit/>
          </a:bodyPr>
          <a:lstStyle/>
          <a:p>
            <a:r>
              <a:rPr lang="zh-CN" altLang="en-US" sz="2000" b="1" dirty="0"/>
              <a:t>常量左值</a:t>
            </a:r>
          </a:p>
        </p:txBody>
      </p:sp>
      <p:sp>
        <p:nvSpPr>
          <p:cNvPr id="8" name="文本框 7">
            <a:extLst>
              <a:ext uri="{FF2B5EF4-FFF2-40B4-BE49-F238E27FC236}">
                <a16:creationId xmlns:a16="http://schemas.microsoft.com/office/drawing/2014/main" id="{B7AF80F0-FE61-6033-C288-7D20B366F6D1}"/>
              </a:ext>
            </a:extLst>
          </p:cNvPr>
          <p:cNvSpPr txBox="1"/>
          <p:nvPr/>
        </p:nvSpPr>
        <p:spPr>
          <a:xfrm>
            <a:off x="5757480" y="2301080"/>
            <a:ext cx="1210588" cy="400110"/>
          </a:xfrm>
          <a:prstGeom prst="rect">
            <a:avLst/>
          </a:prstGeom>
          <a:noFill/>
        </p:spPr>
        <p:txBody>
          <a:bodyPr wrap="none" rtlCol="0">
            <a:spAutoFit/>
          </a:bodyPr>
          <a:lstStyle/>
          <a:p>
            <a:r>
              <a:rPr lang="zh-CN" altLang="en-US" sz="2000" b="1" dirty="0"/>
              <a:t>常量右值</a:t>
            </a:r>
          </a:p>
        </p:txBody>
      </p:sp>
      <p:sp>
        <p:nvSpPr>
          <p:cNvPr id="9" name="文本框 8">
            <a:extLst>
              <a:ext uri="{FF2B5EF4-FFF2-40B4-BE49-F238E27FC236}">
                <a16:creationId xmlns:a16="http://schemas.microsoft.com/office/drawing/2014/main" id="{EAA121F3-BEC1-D716-846A-40B590C2B6D6}"/>
              </a:ext>
            </a:extLst>
          </p:cNvPr>
          <p:cNvSpPr txBox="1"/>
          <p:nvPr/>
        </p:nvSpPr>
        <p:spPr>
          <a:xfrm>
            <a:off x="4883853" y="2301080"/>
            <a:ext cx="697627" cy="400110"/>
          </a:xfrm>
          <a:prstGeom prst="rect">
            <a:avLst/>
          </a:prstGeom>
          <a:noFill/>
        </p:spPr>
        <p:txBody>
          <a:bodyPr wrap="none" rtlCol="0">
            <a:spAutoFit/>
          </a:bodyPr>
          <a:lstStyle/>
          <a:p>
            <a:r>
              <a:rPr lang="zh-CN" altLang="en-US" sz="2000" b="1" dirty="0"/>
              <a:t>右值</a:t>
            </a:r>
          </a:p>
        </p:txBody>
      </p:sp>
      <p:sp>
        <p:nvSpPr>
          <p:cNvPr id="10" name="文本框 9">
            <a:extLst>
              <a:ext uri="{FF2B5EF4-FFF2-40B4-BE49-F238E27FC236}">
                <a16:creationId xmlns:a16="http://schemas.microsoft.com/office/drawing/2014/main" id="{3E8A4834-2411-7084-E4F7-56E05FBB2D31}"/>
              </a:ext>
            </a:extLst>
          </p:cNvPr>
          <p:cNvSpPr txBox="1"/>
          <p:nvPr/>
        </p:nvSpPr>
        <p:spPr>
          <a:xfrm>
            <a:off x="467544" y="4960046"/>
            <a:ext cx="3462358" cy="338554"/>
          </a:xfrm>
          <a:prstGeom prst="rect">
            <a:avLst/>
          </a:prstGeom>
          <a:noFill/>
        </p:spPr>
        <p:txBody>
          <a:bodyPr wrap="none" rtlCol="0">
            <a:spAutoFit/>
          </a:bodyPr>
          <a:lstStyle/>
          <a:p>
            <a:r>
              <a:rPr lang="zh-CN" altLang="en-US" sz="1600" b="1" dirty="0"/>
              <a:t>一般不使用</a:t>
            </a:r>
            <a:r>
              <a:rPr lang="en-US" altLang="zh-CN" sz="1600" b="1" dirty="0"/>
              <a:t>const int&amp;&amp;</a:t>
            </a:r>
            <a:r>
              <a:rPr lang="zh-CN" altLang="en-US" sz="1600" b="1" dirty="0"/>
              <a:t>，无实际意义</a:t>
            </a:r>
          </a:p>
        </p:txBody>
      </p:sp>
      <p:sp>
        <p:nvSpPr>
          <p:cNvPr id="11" name="文本框 10">
            <a:extLst>
              <a:ext uri="{FF2B5EF4-FFF2-40B4-BE49-F238E27FC236}">
                <a16:creationId xmlns:a16="http://schemas.microsoft.com/office/drawing/2014/main" id="{8AE29BDA-DD97-E0B4-1A15-AA5C7D5B2CBB}"/>
              </a:ext>
            </a:extLst>
          </p:cNvPr>
          <p:cNvSpPr txBox="1"/>
          <p:nvPr/>
        </p:nvSpPr>
        <p:spPr>
          <a:xfrm>
            <a:off x="971600" y="5545149"/>
            <a:ext cx="7007046" cy="523220"/>
          </a:xfrm>
          <a:prstGeom prst="rect">
            <a:avLst/>
          </a:prstGeom>
          <a:noFill/>
        </p:spPr>
        <p:txBody>
          <a:bodyPr wrap="none" rtlCol="0">
            <a:spAutoFit/>
          </a:bodyPr>
          <a:lstStyle/>
          <a:p>
            <a:r>
              <a:rPr lang="zh-CN" altLang="en-US" sz="2800" b="1" dirty="0"/>
              <a:t>大家可以参照此表，用准则验证上一页答案</a:t>
            </a:r>
          </a:p>
        </p:txBody>
      </p:sp>
      <p:sp>
        <p:nvSpPr>
          <p:cNvPr id="12" name="文本框 11">
            <a:extLst>
              <a:ext uri="{FF2B5EF4-FFF2-40B4-BE49-F238E27FC236}">
                <a16:creationId xmlns:a16="http://schemas.microsoft.com/office/drawing/2014/main" id="{91A3B685-BB6C-B321-5618-50F8BF5BB0C9}"/>
              </a:ext>
            </a:extLst>
          </p:cNvPr>
          <p:cNvSpPr txBox="1"/>
          <p:nvPr/>
        </p:nvSpPr>
        <p:spPr>
          <a:xfrm>
            <a:off x="3491880" y="177540"/>
            <a:ext cx="5368906" cy="707886"/>
          </a:xfrm>
          <a:prstGeom prst="rect">
            <a:avLst/>
          </a:prstGeom>
          <a:noFill/>
        </p:spPr>
        <p:txBody>
          <a:bodyPr wrap="none" rtlCol="0">
            <a:spAutoFit/>
          </a:bodyPr>
          <a:lstStyle/>
          <a:p>
            <a:r>
              <a:rPr lang="zh-CN" altLang="en-US" sz="2000" b="1" dirty="0"/>
              <a:t>绑定优先级</a:t>
            </a:r>
            <a:endParaRPr lang="en-US" altLang="zh-CN" sz="2000" b="1" dirty="0"/>
          </a:p>
          <a:p>
            <a:r>
              <a:rPr lang="en-US" altLang="zh-CN" sz="2000" b="1" dirty="0"/>
              <a:t>https://github.com/thu-coai/THUOOP/issues/46</a:t>
            </a:r>
            <a:endParaRPr lang="zh-CN" altLang="en-US" sz="2000" b="1" dirty="0"/>
          </a:p>
        </p:txBody>
      </p:sp>
    </p:spTree>
    <p:extLst>
      <p:ext uri="{BB962C8B-B14F-4D97-AF65-F5344CB8AC3E}">
        <p14:creationId xmlns:p14="http://schemas.microsoft.com/office/powerpoint/2010/main" val="23161496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D3E75-8648-F262-7E00-5F2AD6B7C588}"/>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3A9E18DA-095A-B208-D6A8-189A879AB6F8}"/>
              </a:ext>
            </a:extLst>
          </p:cNvPr>
          <p:cNvSpPr>
            <a:spLocks noGrp="1"/>
          </p:cNvSpPr>
          <p:nvPr>
            <p:ph idx="1"/>
          </p:nvPr>
        </p:nvSpPr>
        <p:spPr/>
        <p:txBody>
          <a:bodyPr/>
          <a:lstStyle/>
          <a:p>
            <a:r>
              <a:rPr lang="zh-CN" altLang="en-US" dirty="0"/>
              <a:t>例外</a:t>
            </a:r>
          </a:p>
        </p:txBody>
      </p:sp>
      <p:sp>
        <p:nvSpPr>
          <p:cNvPr id="4" name="灯片编号占位符 3">
            <a:extLst>
              <a:ext uri="{FF2B5EF4-FFF2-40B4-BE49-F238E27FC236}">
                <a16:creationId xmlns:a16="http://schemas.microsoft.com/office/drawing/2014/main" id="{D5F468DF-259C-54FC-EC0F-BC0F218292E0}"/>
              </a:ext>
            </a:extLst>
          </p:cNvPr>
          <p:cNvSpPr>
            <a:spLocks noGrp="1"/>
          </p:cNvSpPr>
          <p:nvPr>
            <p:ph type="sldNum" sz="quarter" idx="12"/>
          </p:nvPr>
        </p:nvSpPr>
        <p:spPr/>
        <p:txBody>
          <a:bodyPr/>
          <a:lstStyle/>
          <a:p>
            <a:pPr>
              <a:defRPr/>
            </a:pPr>
            <a:fld id="{BFD7BE51-03DD-4CCA-8227-D775462981B4}" type="slidenum">
              <a:rPr lang="en-US" altLang="zh-CN" smtClean="0"/>
              <a:pPr>
                <a:defRPr/>
              </a:pPr>
              <a:t>123</a:t>
            </a:fld>
            <a:endParaRPr lang="en-US" altLang="zh-CN"/>
          </a:p>
        </p:txBody>
      </p:sp>
      <p:sp>
        <p:nvSpPr>
          <p:cNvPr id="6" name="文本框 5">
            <a:extLst>
              <a:ext uri="{FF2B5EF4-FFF2-40B4-BE49-F238E27FC236}">
                <a16:creationId xmlns:a16="http://schemas.microsoft.com/office/drawing/2014/main" id="{03CC015E-70A0-CEE4-BDE4-8A7A6ADCBE55}"/>
              </a:ext>
            </a:extLst>
          </p:cNvPr>
          <p:cNvSpPr txBox="1"/>
          <p:nvPr/>
        </p:nvSpPr>
        <p:spPr>
          <a:xfrm>
            <a:off x="1096632" y="2128288"/>
            <a:ext cx="7744428" cy="2677656"/>
          </a:xfrm>
          <a:prstGeom prst="rect">
            <a:avLst/>
          </a:prstGeom>
          <a:noFill/>
        </p:spPr>
        <p:txBody>
          <a:bodyPr wrap="none" rtlCol="0">
            <a:spAutoFit/>
          </a:bodyPr>
          <a:lstStyle/>
          <a:p>
            <a:r>
              <a:rPr lang="en-US" altLang="zh-CN" sz="2800" b="1" dirty="0">
                <a:latin typeface="Consolas" panose="020B0609020204030204" pitchFamily="49" charset="0"/>
              </a:rPr>
              <a:t>class Func2{</a:t>
            </a:r>
          </a:p>
          <a:p>
            <a:r>
              <a:rPr lang="en-US" altLang="zh-CN" sz="2800" b="1" dirty="0">
                <a:latin typeface="Consolas" panose="020B0609020204030204" pitchFamily="49" charset="0"/>
              </a:rPr>
              <a:t>public:</a:t>
            </a:r>
          </a:p>
          <a:p>
            <a:r>
              <a:rPr lang="en-US" altLang="zh-CN" sz="2800" b="1" dirty="0">
                <a:latin typeface="Consolas" panose="020B0609020204030204" pitchFamily="49" charset="0"/>
              </a:rPr>
              <a:t>	int&amp; operator()(int &amp;&amp;b) const {...}</a:t>
            </a:r>
          </a:p>
          <a:p>
            <a:r>
              <a:rPr lang="en-US" altLang="zh-CN" sz="2800" b="1" dirty="0">
                <a:latin typeface="Consolas" panose="020B0609020204030204" pitchFamily="49" charset="0"/>
              </a:rPr>
              <a:t>};</a:t>
            </a:r>
          </a:p>
          <a:p>
            <a:r>
              <a:rPr lang="en-US" altLang="zh-CN" sz="2800" b="1" dirty="0">
                <a:latin typeface="Consolas" panose="020B0609020204030204" pitchFamily="49" charset="0"/>
              </a:rPr>
              <a:t>function&lt;______&gt; pf2 = Func2();</a:t>
            </a:r>
          </a:p>
          <a:p>
            <a:endParaRPr lang="en-US" altLang="zh-CN" sz="2800" b="1" dirty="0">
              <a:latin typeface="Consolas" panose="020B0609020204030204" pitchFamily="49" charset="0"/>
            </a:endParaRPr>
          </a:p>
        </p:txBody>
      </p:sp>
      <p:sp>
        <p:nvSpPr>
          <p:cNvPr id="7" name="文本框 6">
            <a:extLst>
              <a:ext uri="{FF2B5EF4-FFF2-40B4-BE49-F238E27FC236}">
                <a16:creationId xmlns:a16="http://schemas.microsoft.com/office/drawing/2014/main" id="{AFBC03E8-B100-B404-9112-AA8EF2CF6E72}"/>
              </a:ext>
            </a:extLst>
          </p:cNvPr>
          <p:cNvSpPr txBox="1"/>
          <p:nvPr/>
        </p:nvSpPr>
        <p:spPr>
          <a:xfrm>
            <a:off x="1531653" y="4967590"/>
            <a:ext cx="5416611" cy="523220"/>
          </a:xfrm>
          <a:prstGeom prst="rect">
            <a:avLst/>
          </a:prstGeom>
          <a:noFill/>
        </p:spPr>
        <p:txBody>
          <a:bodyPr wrap="none" rtlCol="0">
            <a:spAutoFit/>
          </a:bodyPr>
          <a:lstStyle/>
          <a:p>
            <a:r>
              <a:rPr lang="zh-CN" altLang="en-US" sz="2800" b="1" dirty="0"/>
              <a:t>请自己尝试：</a:t>
            </a:r>
            <a:r>
              <a:rPr lang="en-US" altLang="zh-CN" sz="2800" b="1" dirty="0"/>
              <a:t>int&amp;(int)</a:t>
            </a:r>
            <a:r>
              <a:rPr lang="zh-CN" altLang="en-US" sz="2800" b="1" dirty="0"/>
              <a:t>是否可以？</a:t>
            </a:r>
            <a:endParaRPr lang="en-US" altLang="zh-CN" sz="2800" b="1" dirty="0"/>
          </a:p>
        </p:txBody>
      </p:sp>
    </p:spTree>
    <p:extLst>
      <p:ext uri="{BB962C8B-B14F-4D97-AF65-F5344CB8AC3E}">
        <p14:creationId xmlns:p14="http://schemas.microsoft.com/office/powerpoint/2010/main" val="244988411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CD3E75-8648-F262-7E00-5F2AD6B7C588}"/>
              </a:ext>
            </a:extLst>
          </p:cNvPr>
          <p:cNvSpPr>
            <a:spLocks noGrp="1"/>
          </p:cNvSpPr>
          <p:nvPr>
            <p:ph type="title"/>
          </p:nvPr>
        </p:nvSpPr>
        <p:spPr/>
        <p:txBody>
          <a:bodyPr/>
          <a:lstStyle/>
          <a:p>
            <a:r>
              <a:rPr lang="zh-CN" altLang="en-US" dirty="0"/>
              <a:t>拓展自学</a:t>
            </a:r>
          </a:p>
        </p:txBody>
      </p:sp>
      <p:sp>
        <p:nvSpPr>
          <p:cNvPr id="3" name="内容占位符 2">
            <a:extLst>
              <a:ext uri="{FF2B5EF4-FFF2-40B4-BE49-F238E27FC236}">
                <a16:creationId xmlns:a16="http://schemas.microsoft.com/office/drawing/2014/main" id="{3A9E18DA-095A-B208-D6A8-189A879AB6F8}"/>
              </a:ext>
            </a:extLst>
          </p:cNvPr>
          <p:cNvSpPr>
            <a:spLocks noGrp="1"/>
          </p:cNvSpPr>
          <p:nvPr>
            <p:ph idx="1"/>
          </p:nvPr>
        </p:nvSpPr>
        <p:spPr/>
        <p:txBody>
          <a:bodyPr/>
          <a:lstStyle/>
          <a:p>
            <a:r>
              <a:rPr lang="zh-CN" altLang="en-US" dirty="0"/>
              <a:t>例外</a:t>
            </a:r>
          </a:p>
        </p:txBody>
      </p:sp>
      <p:sp>
        <p:nvSpPr>
          <p:cNvPr id="4" name="灯片编号占位符 3">
            <a:extLst>
              <a:ext uri="{FF2B5EF4-FFF2-40B4-BE49-F238E27FC236}">
                <a16:creationId xmlns:a16="http://schemas.microsoft.com/office/drawing/2014/main" id="{D5F468DF-259C-54FC-EC0F-BC0F218292E0}"/>
              </a:ext>
            </a:extLst>
          </p:cNvPr>
          <p:cNvSpPr>
            <a:spLocks noGrp="1"/>
          </p:cNvSpPr>
          <p:nvPr>
            <p:ph type="sldNum" sz="quarter" idx="12"/>
          </p:nvPr>
        </p:nvSpPr>
        <p:spPr/>
        <p:txBody>
          <a:bodyPr/>
          <a:lstStyle/>
          <a:p>
            <a:pPr>
              <a:defRPr/>
            </a:pPr>
            <a:fld id="{BFD7BE51-03DD-4CCA-8227-D775462981B4}" type="slidenum">
              <a:rPr lang="en-US" altLang="zh-CN" smtClean="0"/>
              <a:pPr>
                <a:defRPr/>
              </a:pPr>
              <a:t>124</a:t>
            </a:fld>
            <a:endParaRPr lang="en-US" altLang="zh-CN"/>
          </a:p>
        </p:txBody>
      </p:sp>
      <p:sp>
        <p:nvSpPr>
          <p:cNvPr id="6" name="文本框 5">
            <a:extLst>
              <a:ext uri="{FF2B5EF4-FFF2-40B4-BE49-F238E27FC236}">
                <a16:creationId xmlns:a16="http://schemas.microsoft.com/office/drawing/2014/main" id="{03CC015E-70A0-CEE4-BDE4-8A7A6ADCBE55}"/>
              </a:ext>
            </a:extLst>
          </p:cNvPr>
          <p:cNvSpPr txBox="1"/>
          <p:nvPr/>
        </p:nvSpPr>
        <p:spPr>
          <a:xfrm>
            <a:off x="1096632" y="2128288"/>
            <a:ext cx="7744428" cy="2677656"/>
          </a:xfrm>
          <a:prstGeom prst="rect">
            <a:avLst/>
          </a:prstGeom>
          <a:noFill/>
        </p:spPr>
        <p:txBody>
          <a:bodyPr wrap="none" rtlCol="0">
            <a:spAutoFit/>
          </a:bodyPr>
          <a:lstStyle/>
          <a:p>
            <a:r>
              <a:rPr lang="en-US" altLang="zh-CN" sz="2800" b="1" dirty="0">
                <a:latin typeface="Consolas" panose="020B0609020204030204" pitchFamily="49" charset="0"/>
              </a:rPr>
              <a:t>class Func2{</a:t>
            </a:r>
          </a:p>
          <a:p>
            <a:r>
              <a:rPr lang="en-US" altLang="zh-CN" sz="2800" b="1" dirty="0">
                <a:latin typeface="Consolas" panose="020B0609020204030204" pitchFamily="49" charset="0"/>
              </a:rPr>
              <a:t>public:</a:t>
            </a:r>
          </a:p>
          <a:p>
            <a:r>
              <a:rPr lang="en-US" altLang="zh-CN" sz="2800" b="1" dirty="0">
                <a:latin typeface="Consolas" panose="020B0609020204030204" pitchFamily="49" charset="0"/>
              </a:rPr>
              <a:t>	int&amp; operator()(int &amp;&amp;b) const {...}</a:t>
            </a:r>
          </a:p>
          <a:p>
            <a:r>
              <a:rPr lang="en-US" altLang="zh-CN" sz="2800" b="1" dirty="0">
                <a:latin typeface="Consolas" panose="020B0609020204030204" pitchFamily="49" charset="0"/>
              </a:rPr>
              <a:t>};</a:t>
            </a:r>
          </a:p>
          <a:p>
            <a:r>
              <a:rPr lang="en-US" altLang="zh-CN" sz="2800" b="1" dirty="0">
                <a:solidFill>
                  <a:srgbClr val="008000"/>
                </a:solidFill>
                <a:latin typeface="Consolas" panose="020B0609020204030204" pitchFamily="49" charset="0"/>
              </a:rPr>
              <a:t>function&lt;</a:t>
            </a:r>
            <a:r>
              <a:rPr lang="en-US" altLang="zh-CN" sz="2800" b="1" dirty="0">
                <a:solidFill>
                  <a:srgbClr val="008000"/>
                </a:solidFill>
              </a:rPr>
              <a:t>int&amp;(int)</a:t>
            </a:r>
            <a:r>
              <a:rPr lang="en-US" altLang="zh-CN" sz="2800" b="1" dirty="0">
                <a:solidFill>
                  <a:srgbClr val="008000"/>
                </a:solidFill>
                <a:latin typeface="Consolas" panose="020B0609020204030204" pitchFamily="49" charset="0"/>
              </a:rPr>
              <a:t>&gt; pf2 = Func2();</a:t>
            </a:r>
          </a:p>
          <a:p>
            <a:endParaRPr lang="en-US" altLang="zh-CN" sz="2800" b="1" dirty="0">
              <a:latin typeface="Consolas" panose="020B0609020204030204" pitchFamily="49" charset="0"/>
            </a:endParaRPr>
          </a:p>
        </p:txBody>
      </p:sp>
      <p:sp>
        <p:nvSpPr>
          <p:cNvPr id="7" name="文本框 6">
            <a:extLst>
              <a:ext uri="{FF2B5EF4-FFF2-40B4-BE49-F238E27FC236}">
                <a16:creationId xmlns:a16="http://schemas.microsoft.com/office/drawing/2014/main" id="{AFBC03E8-B100-B404-9112-AA8EF2CF6E72}"/>
              </a:ext>
            </a:extLst>
          </p:cNvPr>
          <p:cNvSpPr txBox="1"/>
          <p:nvPr/>
        </p:nvSpPr>
        <p:spPr>
          <a:xfrm>
            <a:off x="637076" y="4805944"/>
            <a:ext cx="8039380" cy="1261884"/>
          </a:xfrm>
          <a:prstGeom prst="rect">
            <a:avLst/>
          </a:prstGeom>
          <a:noFill/>
        </p:spPr>
        <p:txBody>
          <a:bodyPr wrap="none" rtlCol="0">
            <a:spAutoFit/>
          </a:bodyPr>
          <a:lstStyle/>
          <a:p>
            <a:r>
              <a:rPr lang="zh-CN" altLang="en-US" sz="2800" b="1" dirty="0"/>
              <a:t>例外：当实际参数为</a:t>
            </a:r>
            <a:r>
              <a:rPr lang="en-US" altLang="zh-CN" sz="2800" b="1" dirty="0"/>
              <a:t>T&amp;&amp;</a:t>
            </a:r>
            <a:r>
              <a:rPr lang="zh-CN" altLang="en-US" sz="2800" b="1" dirty="0"/>
              <a:t>时，</a:t>
            </a:r>
            <a:r>
              <a:rPr lang="en-US" altLang="zh-CN" sz="2800" b="1" dirty="0"/>
              <a:t>function</a:t>
            </a:r>
            <a:r>
              <a:rPr lang="zh-CN" altLang="en-US" sz="2800" b="1" dirty="0"/>
              <a:t>参数可以为</a:t>
            </a:r>
            <a:r>
              <a:rPr lang="en-US" altLang="zh-CN" sz="2800" b="1" dirty="0"/>
              <a:t>T</a:t>
            </a:r>
          </a:p>
          <a:p>
            <a:endParaRPr lang="en-US" altLang="zh-CN" sz="2800" b="1" dirty="0"/>
          </a:p>
          <a:p>
            <a:r>
              <a:rPr lang="en-US" altLang="zh-CN" sz="2000" dirty="0"/>
              <a:t>pf2</a:t>
            </a:r>
            <a:r>
              <a:rPr lang="zh-CN" altLang="en-US" sz="2000" dirty="0"/>
              <a:t>的在内部拷贝了一份参数，然后将该参数的右值传给</a:t>
            </a:r>
            <a:r>
              <a:rPr lang="en-US" altLang="zh-CN" sz="2000" dirty="0"/>
              <a:t>Func2()</a:t>
            </a:r>
            <a:endParaRPr lang="en-US" altLang="zh-CN" sz="3200" b="1" dirty="0"/>
          </a:p>
        </p:txBody>
      </p:sp>
    </p:spTree>
    <p:extLst>
      <p:ext uri="{BB962C8B-B14F-4D97-AF65-F5344CB8AC3E}">
        <p14:creationId xmlns:p14="http://schemas.microsoft.com/office/powerpoint/2010/main" val="16365144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RkOWI0ZDVhODk5OWZmYTlmNWZlOGI1NDY0YzQxODcifQ=="/>
</p:tagLst>
</file>

<file path=ppt/tags/tag2.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A 第二个参数可以是，T、T&amp;、&#10;const T、const T &amp;&#10;&#10;B cin是istream类的对象&#10;cout是ostream类的对象&#10;&#10;D endl还会对cout调用flush&#10;函数&#10;"/>
</p:tagLst>
</file>

<file path=ppt/tags/tag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2.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3.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14.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15.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1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7.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8.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 name="PROBLEMHASREMARK" val="True"/>
  <p:tag name="PROBLEMREMARK" val="D ifstream是istream的子类&#10;只能读入，不能写出"/>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5.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6.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77.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78.xml><?xml version="1.0" encoding="utf-8"?>
<p:tagLst xmlns:a="http://schemas.openxmlformats.org/drawingml/2006/main" xmlns:r="http://schemas.openxmlformats.org/officeDocument/2006/relationships" xmlns:p="http://schemas.openxmlformats.org/presentationml/2006/main">
  <p:tag name="RAINPROBLEM" val="ProblemRemark"/>
</p:tagLst>
</file>

<file path=ppt/tags/tag7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2.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0.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91.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sz="28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177</TotalTime>
  <Words>12882</Words>
  <Application>Microsoft Macintosh PowerPoint</Application>
  <PresentationFormat>全屏显示(4:3)</PresentationFormat>
  <Paragraphs>2236</Paragraphs>
  <Slides>124</Slides>
  <Notes>49</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124</vt:i4>
      </vt:variant>
    </vt:vector>
  </HeadingPairs>
  <TitlesOfParts>
    <vt:vector size="136" baseType="lpstr">
      <vt:lpstr>宋体</vt:lpstr>
      <vt:lpstr>宋体</vt:lpstr>
      <vt:lpstr>Microsoft YaHei</vt:lpstr>
      <vt:lpstr>Microsoft YaHei</vt:lpstr>
      <vt:lpstr>Kaiti SC</vt:lpstr>
      <vt:lpstr>Arial</vt:lpstr>
      <vt:lpstr>Calibri</vt:lpstr>
      <vt:lpstr>Calibri Light</vt:lpstr>
      <vt:lpstr>Consolas</vt:lpstr>
      <vt:lpstr>Helvetica Neue</vt:lpstr>
      <vt:lpstr>Wingdings</vt:lpstr>
      <vt:lpstr>Office Theme</vt:lpstr>
      <vt:lpstr>STL ：函数对象和智能指针 （OOP）</vt:lpstr>
      <vt:lpstr>上期要点回顾</vt:lpstr>
      <vt:lpstr>本讲内容提要</vt:lpstr>
      <vt:lpstr>iostream 输入输出流</vt:lpstr>
      <vt:lpstr>回忆：重载输出流运算符</vt:lpstr>
      <vt:lpstr>STL输入输出流</vt:lpstr>
      <vt:lpstr>从ostream和cout开始</vt:lpstr>
      <vt:lpstr>实现自己的ostream</vt:lpstr>
      <vt:lpstr>格式化输出</vt:lpstr>
      <vt:lpstr>格式化输出</vt:lpstr>
      <vt:lpstr>流操纵算子(stream manipulator)</vt:lpstr>
      <vt:lpstr>流操纵算子：endl</vt:lpstr>
      <vt:lpstr>流操纵算子：endl</vt:lpstr>
      <vt:lpstr>不能复制的cout</vt:lpstr>
      <vt:lpstr>不能复制的cout</vt:lpstr>
      <vt:lpstr>PowerPoint 演示文稿</vt:lpstr>
      <vt:lpstr>文件输入输出流</vt:lpstr>
      <vt:lpstr>读入示例</vt:lpstr>
      <vt:lpstr>其他操作</vt:lpstr>
      <vt:lpstr>istream与scanf</vt:lpstr>
      <vt:lpstr>字符串输入输出流</vt:lpstr>
      <vt:lpstr>stringstream</vt:lpstr>
      <vt:lpstr>使用示例</vt:lpstr>
      <vt:lpstr>获取stringstream的buffer</vt:lpstr>
      <vt:lpstr>实现一个类型转换函数</vt:lpstr>
      <vt:lpstr>实现一个类型转换函数</vt:lpstr>
      <vt:lpstr>PowerPoint 演示文稿</vt:lpstr>
      <vt:lpstr>函数对象</vt:lpstr>
      <vt:lpstr>回忆：什么是函数</vt:lpstr>
      <vt:lpstr>回忆：什么是函数</vt:lpstr>
      <vt:lpstr>回忆：什么是函数</vt:lpstr>
      <vt:lpstr>回忆：什么是函数</vt:lpstr>
      <vt:lpstr>函数作为变量</vt:lpstr>
      <vt:lpstr>函数作为变量</vt:lpstr>
      <vt:lpstr>函数作为变量</vt:lpstr>
      <vt:lpstr>函数作为变量</vt:lpstr>
      <vt:lpstr>函数对象</vt:lpstr>
      <vt:lpstr>如何实现函数对象</vt:lpstr>
      <vt:lpstr>如何实现函数对象</vt:lpstr>
      <vt:lpstr>实现自己的sort</vt:lpstr>
      <vt:lpstr>实现自己的sort</vt:lpstr>
      <vt:lpstr>自定义类型的排序</vt:lpstr>
      <vt:lpstr>自定义类型的排序</vt:lpstr>
      <vt:lpstr>自定义类型的排序</vt:lpstr>
      <vt:lpstr>自定义类型的排序</vt:lpstr>
      <vt:lpstr>例子：一个简单计算器</vt:lpstr>
      <vt:lpstr>例子：一个简单计算器</vt:lpstr>
      <vt:lpstr>例子：一个简单计算器</vt:lpstr>
      <vt:lpstr>例子：一个简单计算器</vt:lpstr>
      <vt:lpstr>使用模板函数</vt:lpstr>
      <vt:lpstr>例子：一个简单计算器</vt:lpstr>
      <vt:lpstr>std::function类</vt:lpstr>
      <vt:lpstr>std::function类</vt:lpstr>
      <vt:lpstr>使用function</vt:lpstr>
      <vt:lpstr>对比几种实现方式</vt:lpstr>
      <vt:lpstr>std::function的意义</vt:lpstr>
      <vt:lpstr>STL与函数对象</vt:lpstr>
      <vt:lpstr>智能指针与 引用计数</vt:lpstr>
      <vt:lpstr>指针的销毁</vt:lpstr>
      <vt:lpstr>智能指针</vt:lpstr>
      <vt:lpstr>引用计数</vt:lpstr>
      <vt:lpstr>运行过程</vt:lpstr>
      <vt:lpstr>运行过程</vt:lpstr>
      <vt:lpstr>运行过程</vt:lpstr>
      <vt:lpstr>运行过程</vt:lpstr>
      <vt:lpstr>实现自己的引用计数</vt:lpstr>
      <vt:lpstr>实现自己的引用计数</vt:lpstr>
      <vt:lpstr>实现自己的引用计数</vt:lpstr>
      <vt:lpstr>shared_ptr的其他用法</vt:lpstr>
      <vt:lpstr>智能指针不总是智能</vt:lpstr>
      <vt:lpstr>智能指针不总是智能</vt:lpstr>
      <vt:lpstr>智能指针不总是智能</vt:lpstr>
      <vt:lpstr>智能指针不总是智能</vt:lpstr>
      <vt:lpstr>智能指针不总是智能</vt:lpstr>
      <vt:lpstr>智能指针不总是智能</vt:lpstr>
      <vt:lpstr>智能指针不总是智能</vt:lpstr>
      <vt:lpstr>智能指针不总是智能</vt:lpstr>
      <vt:lpstr>弱引用</vt:lpstr>
      <vt:lpstr>例子：弱引用</vt:lpstr>
      <vt:lpstr>独享所有权</vt:lpstr>
      <vt:lpstr>智能指针总结</vt:lpstr>
      <vt:lpstr>结 束</vt:lpstr>
      <vt:lpstr>字符串处理与 正则表达式（自学）</vt:lpstr>
      <vt:lpstr>用户名注册</vt:lpstr>
      <vt:lpstr>正则表达式</vt:lpstr>
      <vt:lpstr>正则表达式</vt:lpstr>
      <vt:lpstr>字符簇</vt:lpstr>
      <vt:lpstr>字符簇</vt:lpstr>
      <vt:lpstr>重复模式</vt:lpstr>
      <vt:lpstr>正则表达式辅助工具</vt:lpstr>
      <vt:lpstr>正则表达式库 &lt;regex&gt;</vt:lpstr>
      <vt:lpstr>原生字符串</vt:lpstr>
      <vt:lpstr>正则表达式库 &lt;regex&gt;</vt:lpstr>
      <vt:lpstr>捕获和分组</vt:lpstr>
      <vt:lpstr>正则表达式库 &lt;regex&gt;</vt:lpstr>
      <vt:lpstr>捕获和分组</vt:lpstr>
      <vt:lpstr>正则表达式库 &lt;regex&gt;</vt:lpstr>
      <vt:lpstr>搜索的例子</vt:lpstr>
      <vt:lpstr>正则表达式库 &lt;regex&gt;</vt:lpstr>
      <vt:lpstr>替换的例子</vt:lpstr>
      <vt:lpstr>正则表达式库 &lt;regex&gt;</vt:lpstr>
      <vt:lpstr>替换的例子</vt:lpstr>
      <vt:lpstr>PowerPoint 演示文稿</vt:lpstr>
      <vt:lpstr>PowerPoint 演示文稿</vt:lpstr>
      <vt:lpstr>PowerPoint 演示文稿</vt:lpstr>
      <vt:lpstr>字符簇（自学）</vt:lpstr>
      <vt:lpstr>重复模式（自学）</vt:lpstr>
      <vt:lpstr>或连接符（自学）</vt:lpstr>
      <vt:lpstr>捕获和分组（自学）</vt:lpstr>
      <vt:lpstr>更多内容（自学）</vt:lpstr>
      <vt:lpstr>拓展阅读</vt:lpstr>
      <vt:lpstr>拓展自学</vt:lpstr>
      <vt:lpstr>拓展自学</vt:lpstr>
      <vt:lpstr>拓展自学</vt:lpstr>
      <vt:lpstr>拓展自学</vt:lpstr>
      <vt:lpstr>拓展自学</vt:lpstr>
      <vt:lpstr>拓展自学</vt:lpstr>
      <vt:lpstr>拓展自学</vt:lpstr>
      <vt:lpstr>拓展自学</vt:lpstr>
      <vt:lpstr>拓展自学</vt:lpstr>
      <vt:lpstr>拓展自学</vt:lpstr>
      <vt:lpstr>拓展自学</vt:lpstr>
      <vt:lpstr>拓展自学</vt:lpstr>
      <vt:lpstr>拓展自学</vt:lpstr>
    </vt:vector>
  </TitlesOfParts>
  <Company>清华大学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课程介绍</dc:title>
  <dc:creator>徐明星</dc:creator>
  <cp:lastModifiedBy>翊哲 赵</cp:lastModifiedBy>
  <cp:revision>3022</cp:revision>
  <cp:lastPrinted>2020-05-09T01:16:00Z</cp:lastPrinted>
  <dcterms:created xsi:type="dcterms:W3CDTF">2002-09-18T00:55:00Z</dcterms:created>
  <dcterms:modified xsi:type="dcterms:W3CDTF">2026-05-08T14:20:15Z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94B8C0FCFD5142B3817300765C57B4EA_12</vt:lpwstr>
  </property>
</Properties>
</file>